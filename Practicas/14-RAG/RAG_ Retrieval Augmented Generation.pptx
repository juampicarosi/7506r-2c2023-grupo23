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5143500" cx="9144000"/>
  <p:notesSz cx="6858000" cy="9144000"/>
  <p:embeddedFontLst>
    <p:embeddedFont>
      <p:font typeface="Amatic SC"/>
      <p:regular r:id="rId61"/>
      <p:bold r:id="rId62"/>
    </p:embeddedFont>
    <p:embeddedFont>
      <p:font typeface="Source Code Pr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FFDB76-63F8-4F99-A623-F813F0D37142}">
  <a:tblStyle styleId="{DAFFDB76-63F8-4F99-A623-F813F0D371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AmaticSC-bold.fntdata"/><Relationship Id="rId61" Type="http://schemas.openxmlformats.org/officeDocument/2006/relationships/font" Target="fonts/AmaticSC-regular.fntdata"/><Relationship Id="rId20" Type="http://schemas.openxmlformats.org/officeDocument/2006/relationships/slide" Target="slides/slide14.xml"/><Relationship Id="rId64" Type="http://schemas.openxmlformats.org/officeDocument/2006/relationships/font" Target="fonts/SourceCodePro-bold.fntdata"/><Relationship Id="rId63" Type="http://schemas.openxmlformats.org/officeDocument/2006/relationships/font" Target="fonts/SourceCodePro-regular.fntdata"/><Relationship Id="rId22" Type="http://schemas.openxmlformats.org/officeDocument/2006/relationships/slide" Target="slides/slide16.xml"/><Relationship Id="rId66" Type="http://schemas.openxmlformats.org/officeDocument/2006/relationships/font" Target="fonts/SourceCodePro-boldItalic.fntdata"/><Relationship Id="rId21" Type="http://schemas.openxmlformats.org/officeDocument/2006/relationships/slide" Target="slides/slide15.xml"/><Relationship Id="rId65" Type="http://schemas.openxmlformats.org/officeDocument/2006/relationships/font" Target="fonts/SourceCodePr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0da8eea23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0da8eea23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0da8eea232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0da8eea232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1f23982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1f23982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0da8eea232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0da8eea232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da8eea23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0da8eea23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0da8eea23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0da8eea23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0da8eea23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0da8eea23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0dadb44f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0dadb44f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0dadb44f5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0dadb44f5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0da8eea23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0da8eea23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0da8eea23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0da8eea23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0da8eea23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0da8eea23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0da8eea23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0da8eea23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0da8eea23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0da8eea23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0da8eea23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0da8eea23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0da8eea23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0da8eea23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0da8eea23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0da8eea23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0da8eea23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0da8eea23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0da8eea23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0da8eea23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0da8eea23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0da8eea23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0da8eea23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0da8eea23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0da8eea232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0da8eea232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0da8eea232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0da8eea232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0da8eea23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0da8eea23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0da8eea232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0da8eea232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38d826a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738d826a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38d826ab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38d826ab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38d826ab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38d826ab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38d826ab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38d826ab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38d826ab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738d826ab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11baeaec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11baeaec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11baeaec7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11baeaec7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0da8eea232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0da8eea232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0da8eea232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0da8eea23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0da8eea23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0da8eea23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0da8eea232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0da8eea232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0da8eea232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0da8eea23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0da8eea232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0da8eea23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738d826ab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738d826ab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11baeaec7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11baeaec7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1baeaec7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1baeaec7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11baeaec7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11baeaec7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11baeaec7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11baeaec7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11baeaec7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11baeaec7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11baeaec7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11baeaec7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11baeaec7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11baeaec7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11baeaec7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11baeaec7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11baeaec7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11baeaec7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11baeaec7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11baeaec7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0dad1dae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0dad1dae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0dad1dae7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0dad1dae7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0dad1dae7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0dad1dae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0dad1dae7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0dad1dae7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ws.amazon.com/es/what-is/retrieval-augmented-generation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ws.amazon.com/es/what-is/retrieval-augmented-generation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hat.lmsys.org/?leaderboard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huggingface.co/spaces/andrewrreed/closed-vs-open-arena-elo" TargetMode="External"/><Relationship Id="rId4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huggingface.co/spaces/mike-ravkine/can-ai-code-results" TargetMode="External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uggingface.co/spaces/bigcode/bigcode-models-leaderboard" TargetMode="External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penai.com/index/gpt-4-research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hyperlink" Target="https://openai.com/index/gpt-4-research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blog.google/technology/ai/google-gemini-next-generation-model-february-2024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huggingface.co/google/gemma-1.1-7b-it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llama.com/" TargetMode="External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llama.com/library/llama3-chatqa:70b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huggingface.co/nvidia/Llama3-ChatQA-1.5-70B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ithub.com/ollama/ollama/blob/main/docs/modelfile.md" TargetMode="External"/><Relationship Id="rId4" Type="http://schemas.openxmlformats.org/officeDocument/2006/relationships/hyperlink" Target="https://github.com/ollama/ollama/tree/main/examples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chatgpt.com/" TargetMode="External"/><Relationship Id="rId4" Type="http://schemas.openxmlformats.org/officeDocument/2006/relationships/image" Target="../media/image11.png"/><Relationship Id="rId5" Type="http://schemas.openxmlformats.org/officeDocument/2006/relationships/hyperlink" Target="https://platform.openai.com/storage/files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Relationship Id="rId4" Type="http://schemas.openxmlformats.org/officeDocument/2006/relationships/hyperlink" Target="https://gemini.google.com/app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cloud.google.com/generative-ai-studio" TargetMode="External"/><Relationship Id="rId4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Relationship Id="rId5" Type="http://schemas.openxmlformats.org/officeDocument/2006/relationships/hyperlink" Target="https://lmstudio.ai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llama.com/" TargetMode="External"/><Relationship Id="rId4" Type="http://schemas.openxmlformats.org/officeDocument/2006/relationships/image" Target="../media/image21.png"/><Relationship Id="rId5" Type="http://schemas.openxmlformats.org/officeDocument/2006/relationships/image" Target="../media/image3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github.com/open-webui/open-webui" TargetMode="External"/><Relationship Id="rId4" Type="http://schemas.openxmlformats.org/officeDocument/2006/relationships/image" Target="../media/image2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github.com/danielmiessler/fabric" TargetMode="External"/><Relationship Id="rId4" Type="http://schemas.openxmlformats.org/officeDocument/2006/relationships/image" Target="../media/image2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blogs.nvidia.com/blog/what-is-retrieval-augmented-generation/" TargetMode="External"/><Relationship Id="rId4" Type="http://schemas.openxmlformats.org/officeDocument/2006/relationships/image" Target="../media/image26.png"/><Relationship Id="rId5" Type="http://schemas.openxmlformats.org/officeDocument/2006/relationships/hyperlink" Target="https://aws.amazon.com/what-is/retrieval-augmented-generation/" TargetMode="External"/><Relationship Id="rId6" Type="http://schemas.openxmlformats.org/officeDocument/2006/relationships/image" Target="../media/image33.png"/><Relationship Id="rId7" Type="http://schemas.openxmlformats.org/officeDocument/2006/relationships/hyperlink" Target="https://learn.microsoft.com/en-us/azure/search/retrieval-augmented-generation-overview" TargetMode="External"/><Relationship Id="rId8" Type="http://schemas.openxmlformats.org/officeDocument/2006/relationships/image" Target="../media/image3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www.youtube.com/watch?v=BrsocJb-fAo" TargetMode="External"/><Relationship Id="rId4" Type="http://schemas.openxmlformats.org/officeDocument/2006/relationships/image" Target="../media/image31.png"/><Relationship Id="rId5" Type="http://schemas.openxmlformats.org/officeDocument/2006/relationships/hyperlink" Target="https://www.youtube.com/watch?v=7ru0oj0qIys" TargetMode="External"/><Relationship Id="rId6" Type="http://schemas.openxmlformats.org/officeDocument/2006/relationships/image" Target="../media/image34.png"/><Relationship Id="rId7" Type="http://schemas.openxmlformats.org/officeDocument/2006/relationships/hyperlink" Target="https://www.youtube.com/watch?v=-ROS6gfYIts" TargetMode="External"/><Relationship Id="rId8" Type="http://schemas.openxmlformats.org/officeDocument/2006/relationships/image" Target="../media/image3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81025"/>
            <a:ext cx="8520600" cy="29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RAG: generación aumentada por recuperación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66"/>
              <a:t>(</a:t>
            </a:r>
            <a:r>
              <a:rPr lang="en" sz="4666"/>
              <a:t>Retrieval-augmented Generation</a:t>
            </a:r>
            <a:r>
              <a:rPr lang="en" sz="4666"/>
              <a:t>)</a:t>
            </a:r>
            <a:endParaRPr sz="4666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es RAG?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La generación mejorada por recuperación (RAG) es el proceso de optimización de la salida de un modelo lingüístico de gran tamaño, de modo que haga referencia a una base de conocimientos autorizada fuera de los orígenes de datos de entrenamiento antes de generar una respuesta.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2898300" y="4703700"/>
            <a:ext cx="59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https://aws.amazon.com/es/what-is/retrieval-augmented-generation/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es RAG?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28675"/>
            <a:ext cx="8520600" cy="15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Los modelos de lenguaje de gran tamaño (LLM) se entrenan con grandes volúmenes de datos y usan miles de millones de parámetros para generar resultados originales en tareas como responder preguntas, traducir idiomas y completar frases.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898300" y="4703700"/>
            <a:ext cx="59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https://aws.amazon.com/es/what-is/retrieval-augmented-generation/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11700" y="2762275"/>
            <a:ext cx="85848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RAG extiende las ya poderosas capacidades de los LLM a dominios específicos o a la base de conocimientos interna de una organización, todo ello sin la necesidad de volver a entrenar el modelo.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 Clase Practica</a:t>
            </a:r>
            <a:endParaRPr/>
          </a:p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https://github.com/juanma1982/rag-tutorial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0506" y="1081393"/>
            <a:ext cx="3900326" cy="21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Modelos existen?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LLM: Grandes Modelos de Lenguaje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)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312" y="1093850"/>
            <a:ext cx="6969370" cy="39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Aerena Elo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28675"/>
            <a:ext cx="8520600" cy="24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FastChat: Cuando un usuario ingresa a la arena, puede chatear con dos modelos anónimos uno al lado del otro. Después de obtener respuestas de los dos modelos, los usuarios pueden continuar chateando o votar por el modelo que consideren mejor.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Una vez que se envíe una votación, se revelarán los nombres de los modelos.</a:t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349625" y="3830425"/>
            <a:ext cx="8678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134F5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 sistema de clasificación Elo es un método para calcular los niveles de habilidad relativos de los jugadores, que ha sido ampliamente adoptado en juegos y deportes competitivos.</a:t>
            </a:r>
            <a:endParaRPr>
              <a:solidFill>
                <a:srgbClr val="134F5C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LLM: Grandes Modelos de Lenguaje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938" y="1093850"/>
            <a:ext cx="7712115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to Code -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)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46250"/>
            <a:ext cx="8839200" cy="330500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50100" y="4630700"/>
            <a:ext cx="904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Generación de código a partir del lenguaje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Code Models Leaderboard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)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46250"/>
            <a:ext cx="8839200" cy="297011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2334300" y="4281075"/>
            <a:ext cx="447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Modelos que se pueden usar para codificar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490250" y="526350"/>
            <a:ext cx="8468100" cy="313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GPT-4</a:t>
            </a:r>
            <a:r>
              <a:rPr lang="en">
                <a:solidFill>
                  <a:srgbClr val="FFFFFF"/>
                </a:solidFill>
              </a:rPr>
              <a:t> </a:t>
            </a:r>
            <a:br>
              <a:rPr lang="en">
                <a:solidFill>
                  <a:srgbClr val="FFFFFF"/>
                </a:solidFill>
              </a:rPr>
            </a:br>
            <a:r>
              <a:rPr lang="en">
                <a:solidFill>
                  <a:srgbClr val="FFFFFF"/>
                </a:solidFill>
              </a:rPr>
              <a:t>(el mejor al día de hoy - 2024-05-23)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GPT-4 </a:t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3950" y="699325"/>
            <a:ext cx="4896093" cy="37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5291100" y="4680425"/>
            <a:ext cx="379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https://openai.com/index/gpt-4-research/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GPT-4 </a:t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38475"/>
            <a:ext cx="3922730" cy="37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4420925" y="1313075"/>
            <a:ext cx="447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Otra forma de ver que tan bien se desempeñan es ponerlos a resolver </a:t>
            </a: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exámenes</a:t>
            </a: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GPT-4 </a:t>
            </a:r>
            <a:endParaRPr/>
          </a:p>
        </p:txBody>
      </p:sp>
      <p:sp>
        <p:nvSpPr>
          <p:cNvPr id="143" name="Google Shape;143;p26"/>
          <p:cNvSpPr txBox="1"/>
          <p:nvPr/>
        </p:nvSpPr>
        <p:spPr>
          <a:xfrm>
            <a:off x="5850525" y="1313075"/>
            <a:ext cx="3045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Revisar el desempeño en los diferentes lenguajes que maneja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75" y="865927"/>
            <a:ext cx="5138700" cy="40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490250" y="526350"/>
            <a:ext cx="8242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Gemini 1.5</a:t>
            </a:r>
            <a:r>
              <a:rPr lang="en">
                <a:solidFill>
                  <a:srgbClr val="FFFFFF"/>
                </a:solidFill>
              </a:rPr>
              <a:t>, la respuesta de Google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Gemini 1.5</a:t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750" y="1093850"/>
            <a:ext cx="6272191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490250" y="526350"/>
            <a:ext cx="8577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Gemma</a:t>
            </a:r>
            <a:r>
              <a:rPr lang="en">
                <a:solidFill>
                  <a:srgbClr val="FFFFFF"/>
                </a:solidFill>
              </a:rPr>
              <a:t>: el hermano menor de Gemini y es Open Source!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Gemma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009650"/>
            <a:ext cx="8520600" cy="16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Gemma es un modelo abierto, liviano y de última generación. Creado por de Google a partir de la misma investigación y tecnología utilizada para crear Gemini. </a:t>
            </a:r>
            <a:endParaRPr sz="20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Modelos de lenguaje de texto a texto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solo decodificadores en inglés</a:t>
            </a:r>
            <a:endParaRPr/>
          </a:p>
        </p:txBody>
      </p:sp>
      <p:sp>
        <p:nvSpPr>
          <p:cNvPr id="167" name="Google Shape;167;p30"/>
          <p:cNvSpPr txBox="1"/>
          <p:nvPr/>
        </p:nvSpPr>
        <p:spPr>
          <a:xfrm>
            <a:off x="311700" y="3701750"/>
            <a:ext cx="8196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 tamaño relativamente pequeño permite implementarlos en entornos con recursos limitados</a:t>
            </a:r>
            <a:endParaRPr sz="1700"/>
          </a:p>
        </p:txBody>
      </p:sp>
      <p:sp>
        <p:nvSpPr>
          <p:cNvPr id="168" name="Google Shape;168;p30"/>
          <p:cNvSpPr txBox="1"/>
          <p:nvPr/>
        </p:nvSpPr>
        <p:spPr>
          <a:xfrm>
            <a:off x="311700" y="2571750"/>
            <a:ext cx="81249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Los modelos Gemma son adecuados para una variedad de tareas de generación de texto: respuesta a preguntas, resumen y razonamiento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490250" y="526350"/>
            <a:ext cx="8158500" cy="26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Llama 3</a:t>
            </a:r>
            <a:r>
              <a:rPr lang="en">
                <a:solidFill>
                  <a:srgbClr val="FFFFFF"/>
                </a:solidFill>
              </a:rPr>
              <a:t> 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8900" y="629850"/>
            <a:ext cx="172402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 txBox="1"/>
          <p:nvPr/>
        </p:nvSpPr>
        <p:spPr>
          <a:xfrm>
            <a:off x="657225" y="3257550"/>
            <a:ext cx="8039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Es el mejor modelo Open Source o libre. Fue creado y entrenado por META</a:t>
            </a:r>
            <a:endParaRPr sz="2000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Llama 3</a:t>
            </a:r>
            <a:endParaRPr/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925" y="900700"/>
            <a:ext cx="7305677" cy="410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Llama 3</a:t>
            </a:r>
            <a:endParaRPr/>
          </a:p>
        </p:txBody>
      </p:sp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50" y="1246250"/>
            <a:ext cx="8839200" cy="3728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llama3-chatqa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8400" y="133350"/>
            <a:ext cx="172402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6813" y="3757651"/>
            <a:ext cx="4367201" cy="81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4"/>
          <p:cNvSpPr/>
          <p:nvPr/>
        </p:nvSpPr>
        <p:spPr>
          <a:xfrm>
            <a:off x="5951713" y="2735988"/>
            <a:ext cx="857400" cy="8574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llama3-chatqa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311700" y="12286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Un modelo de NVIDIA basado en Llama 3 que destaca en respuesta a preguntas conversacionales (QA) y </a:t>
            </a:r>
            <a:r>
              <a:rPr i="1" lang="en" sz="2000"/>
              <a:t>retrieval-augmented generation</a:t>
            </a:r>
            <a:r>
              <a:rPr lang="en" sz="2000"/>
              <a:t>(RAG).</a:t>
            </a:r>
            <a:endParaRPr sz="2000"/>
          </a:p>
        </p:txBody>
      </p:sp>
      <p:sp>
        <p:nvSpPr>
          <p:cNvPr id="202" name="Google Shape;202;p35"/>
          <p:cNvSpPr txBox="1"/>
          <p:nvPr/>
        </p:nvSpPr>
        <p:spPr>
          <a:xfrm>
            <a:off x="800100" y="2647975"/>
            <a:ext cx="6886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ChatQA-1.5 tiene dos variantes:</a:t>
            </a:r>
            <a:endParaRPr sz="2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urce Code Pro"/>
              <a:buChar char="●"/>
            </a:pPr>
            <a:r>
              <a:rPr lang="en" sz="2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Llama3-ChatQA-1.5-8B   :8b</a:t>
            </a:r>
            <a:endParaRPr sz="2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urce Code Pro"/>
              <a:buChar char="●"/>
            </a:pPr>
            <a:r>
              <a:rPr lang="en" sz="2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Llama3-ChatQA-1.5-70B  :70b</a:t>
            </a:r>
            <a:endParaRPr sz="15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llama3-chatqa</a:t>
            </a:r>
            <a:endParaRPr/>
          </a:p>
        </p:txBody>
      </p:sp>
      <p:pic>
        <p:nvPicPr>
          <p:cNvPr id="208" name="Google Shape;20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1217675"/>
            <a:ext cx="8420100" cy="33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llama3-chatqa</a:t>
            </a:r>
            <a:endParaRPr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288" y="1093850"/>
            <a:ext cx="5305425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7"/>
          <p:cNvSpPr txBox="1"/>
          <p:nvPr/>
        </p:nvSpPr>
        <p:spPr>
          <a:xfrm>
            <a:off x="161925" y="2876550"/>
            <a:ext cx="87345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 esta evaluación con humanos, se pidió a las personas que verifiquen las respuestas de los modelos sobre determinadas preguntas, (generadas usando RAG) y que determinen qué modelo proporciona una respuesta más precisa a la pregunta. 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Según los resultados, ChatQA-1.0-70B y GPT-4 están empatados la mayor parte del tiempo, aunque GPT-4 logra una tasa de victorias ligeramente mayor.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llama3-chatqa</a:t>
            </a:r>
            <a:endParaRPr/>
          </a:p>
        </p:txBody>
      </p:sp>
      <p:sp>
        <p:nvSpPr>
          <p:cNvPr id="221" name="Google Shape;221;p38"/>
          <p:cNvSpPr txBox="1"/>
          <p:nvPr/>
        </p:nvSpPr>
        <p:spPr>
          <a:xfrm>
            <a:off x="390525" y="1093850"/>
            <a:ext cx="7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¿Cómo usar chatQA para tareas de RA?</a:t>
            </a:r>
            <a:endParaRPr>
              <a:solidFill>
                <a:srgbClr val="0000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22" name="Google Shape;22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075" y="1627400"/>
            <a:ext cx="3046344" cy="33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6944" y="1627400"/>
            <a:ext cx="4391025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personalizados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Crear un modelo tomando llama3 como base</a:t>
            </a:r>
            <a:endParaRPr/>
          </a:p>
        </p:txBody>
      </p:sp>
      <p:sp>
        <p:nvSpPr>
          <p:cNvPr id="234" name="Google Shape;234;p4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Crear un archivo: Modelfile como sigue: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90">
                <a:solidFill>
                  <a:srgbClr val="000000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FROM llama3</a:t>
            </a:r>
            <a:endParaRPr sz="990">
              <a:solidFill>
                <a:srgbClr val="000000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90">
                <a:solidFill>
                  <a:srgbClr val="274E13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# establecer la temperatura en 1 [más alto es más creativo, más bajo es más coherente]</a:t>
            </a:r>
            <a:endParaRPr sz="990">
              <a:solidFill>
                <a:srgbClr val="274E13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90">
                <a:solidFill>
                  <a:srgbClr val="000000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PARAMETER temperature 1</a:t>
            </a:r>
            <a:endParaRPr sz="990">
              <a:solidFill>
                <a:srgbClr val="000000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90">
                <a:solidFill>
                  <a:srgbClr val="274E13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" sz="990">
                <a:solidFill>
                  <a:srgbClr val="274E13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establecer</a:t>
            </a:r>
            <a:r>
              <a:rPr lang="en" sz="990">
                <a:solidFill>
                  <a:srgbClr val="274E13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el mensaje del </a:t>
            </a:r>
            <a:r>
              <a:rPr lang="en" sz="990">
                <a:solidFill>
                  <a:srgbClr val="274E13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sistema</a:t>
            </a:r>
            <a:endParaRPr sz="990">
              <a:solidFill>
                <a:srgbClr val="274E13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90">
                <a:solidFill>
                  <a:srgbClr val="000000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SYSTEM """</a:t>
            </a:r>
            <a:endParaRPr sz="990">
              <a:solidFill>
                <a:srgbClr val="000000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90">
                <a:solidFill>
                  <a:srgbClr val="000000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You are Mario from Super Mario Bros. Answer as Mario, the assistant, only.</a:t>
            </a:r>
            <a:endParaRPr sz="990">
              <a:solidFill>
                <a:srgbClr val="000000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096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90">
                <a:solidFill>
                  <a:srgbClr val="000000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990">
              <a:solidFill>
                <a:srgbClr val="000000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Crear un modelo tomando llama3 como base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1"/>
          <p:cNvSpPr txBox="1"/>
          <p:nvPr>
            <p:ph idx="1" type="body"/>
          </p:nvPr>
        </p:nvSpPr>
        <p:spPr>
          <a:xfrm>
            <a:off x="311700" y="1228675"/>
            <a:ext cx="8520600" cy="3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Usamos el archivo anterior para crear el modelo:</a:t>
            </a:r>
            <a:endParaRPr/>
          </a:p>
          <a:p>
            <a:pPr indent="0" lvl="0" marL="1524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highlight>
                  <a:srgbClr val="D9D9D9"/>
                </a:highlight>
                <a:latin typeface="Consolas"/>
                <a:ea typeface="Consolas"/>
                <a:cs typeface="Consolas"/>
                <a:sym typeface="Consolas"/>
              </a:rPr>
              <a:t>ollama create mario -f ./Modelfile</a:t>
            </a:r>
            <a:endParaRPr sz="1300">
              <a:solidFill>
                <a:srgbClr val="000000"/>
              </a:solidFill>
              <a:highlight>
                <a:srgbClr val="D9D9D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Luego lo ejecutamos</a:t>
            </a:r>
            <a:endParaRPr/>
          </a:p>
          <a:p>
            <a:pPr indent="0" lvl="0" marL="1524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highlight>
                  <a:srgbClr val="D9D9D9"/>
                </a:highlight>
                <a:latin typeface="Consolas"/>
                <a:ea typeface="Consolas"/>
                <a:cs typeface="Consolas"/>
                <a:sym typeface="Consolas"/>
              </a:rPr>
              <a:t>ollama run mario</a:t>
            </a:r>
            <a:endParaRPr sz="1300">
              <a:solidFill>
                <a:srgbClr val="000000"/>
              </a:solidFill>
              <a:highlight>
                <a:srgbClr val="D9D9D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hablamos con él: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&gt;&gt;&gt; hi</a:t>
            </a:r>
            <a:endParaRPr sz="1300">
              <a:solidFill>
                <a:srgbClr val="000000"/>
              </a:solidFill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096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Hello! It's your friend Mario.</a:t>
            </a:r>
            <a:endParaRPr sz="2100"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Crear un modelo tomando llama3 como base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Más </a:t>
            </a:r>
            <a:r>
              <a:rPr lang="en"/>
              <a:t>parámetros</a:t>
            </a:r>
            <a:r>
              <a:rPr lang="en"/>
              <a:t> para crear </a:t>
            </a:r>
            <a:r>
              <a:rPr lang="en"/>
              <a:t>nuestro</a:t>
            </a:r>
            <a:r>
              <a:rPr lang="en"/>
              <a:t> archivo de modelo: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7" name="Google Shape;247;p42"/>
          <p:cNvGraphicFramePr/>
          <p:nvPr/>
        </p:nvGraphicFramePr>
        <p:xfrm>
          <a:off x="350350" y="172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{DAFFDB76-63F8-4F99-A623-F813F0D37142}</a:tableStyleId>
              </a:tblPr>
              <a:tblGrid>
                <a:gridCol w="1875225"/>
                <a:gridCol w="5728975"/>
              </a:tblGrid>
              <a:tr h="40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Instrucción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Descripción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0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FROM (requerido)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Define el modelo base que se utilizará.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PARAMETER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Establece los parámetros sobre cómo Ollama ejecutará el modelo.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TEMPLATE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 prompt </a:t>
                      </a:r>
                      <a:r>
                        <a:rPr i="1" lang="en"/>
                        <a:t>template</a:t>
                      </a:r>
                      <a:r>
                        <a:rPr lang="en"/>
                        <a:t> que se enviará al modelo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SYSTEM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Especifica el mensaje del sistema que se establecerá en el </a:t>
                      </a:r>
                      <a:r>
                        <a:rPr i="1" lang="en"/>
                        <a:t>template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ADAPTER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Define los adaptadores (Q)LoRA que se aplicarán al modelo.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LICENSE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Especifica la licencia legal.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MESSAGE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Especifica el historial de mensajes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Crear un modelo tomando llama3 como base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Más información sobre los </a:t>
            </a:r>
            <a:r>
              <a:rPr lang="en"/>
              <a:t>parámetros</a:t>
            </a:r>
            <a:r>
              <a:rPr lang="en"/>
              <a:t> anteriores: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https://github.com/ollama/ollama/blob/main/docs/modelfile.md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Ejemplos: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https://github.com/ollama/ollama/tree/main/examples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es lo que se viene?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LLama 3 – 400B</a:t>
            </a:r>
            <a:endParaRPr/>
          </a:p>
        </p:txBody>
      </p:sp>
      <p:pic>
        <p:nvPicPr>
          <p:cNvPr id="264" name="Google Shape;26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00" y="988971"/>
            <a:ext cx="3685800" cy="231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1450" y="1813450"/>
            <a:ext cx="5176699" cy="3132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probar los modelos?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 -4 </a:t>
            </a:r>
            <a:endParaRPr/>
          </a:p>
        </p:txBody>
      </p:sp>
      <p:sp>
        <p:nvSpPr>
          <p:cNvPr id="276" name="Google Shape;276;p4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https://chatgpt.com/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325" y="1723425"/>
            <a:ext cx="8067674" cy="342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7"/>
          <p:cNvSpPr txBox="1"/>
          <p:nvPr/>
        </p:nvSpPr>
        <p:spPr>
          <a:xfrm>
            <a:off x="1193400" y="3752850"/>
            <a:ext cx="7638900" cy="1293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299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 queremos comprar </a:t>
            </a: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créditos</a:t>
            </a: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para poder invocar el modelo de forma remota, debemos hacerlo en este sitio: </a:t>
            </a:r>
            <a:r>
              <a:rPr lang="en" sz="1800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5"/>
              </a:rPr>
              <a:t>https://platform.openai.com/storage/files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Gemini 1.5</a:t>
            </a:r>
            <a:endParaRPr/>
          </a:p>
        </p:txBody>
      </p:sp>
      <p:pic>
        <p:nvPicPr>
          <p:cNvPr id="284" name="Google Shape;28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075" y="938800"/>
            <a:ext cx="7434926" cy="420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8"/>
          <p:cNvSpPr txBox="1"/>
          <p:nvPr>
            <p:ph idx="1" type="body"/>
          </p:nvPr>
        </p:nvSpPr>
        <p:spPr>
          <a:xfrm>
            <a:off x="102150" y="20573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https://gemini.google.com/app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Gemini 1.5 - prueba e integración con Google Cloud</a:t>
            </a:r>
            <a:endParaRPr/>
          </a:p>
        </p:txBody>
      </p:sp>
      <p:sp>
        <p:nvSpPr>
          <p:cNvPr id="291" name="Google Shape;291;p49"/>
          <p:cNvSpPr txBox="1"/>
          <p:nvPr>
            <p:ph idx="1" type="body"/>
          </p:nvPr>
        </p:nvSpPr>
        <p:spPr>
          <a:xfrm>
            <a:off x="102150" y="1171575"/>
            <a:ext cx="85206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https://cloud.google.com/generative-ai-studio</a:t>
            </a:r>
            <a:endParaRPr/>
          </a:p>
        </p:txBody>
      </p:sp>
      <p:pic>
        <p:nvPicPr>
          <p:cNvPr id="292" name="Google Shape;29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2600" y="1743075"/>
            <a:ext cx="4578299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Llama 3, Phi , Gemma y Open Source models</a:t>
            </a:r>
            <a:endParaRPr/>
          </a:p>
        </p:txBody>
      </p:sp>
      <p:pic>
        <p:nvPicPr>
          <p:cNvPr id="298" name="Google Shape;29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63" y="1228663"/>
            <a:ext cx="20288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9375" y="1033200"/>
            <a:ext cx="6362701" cy="41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0"/>
          <p:cNvSpPr txBox="1"/>
          <p:nvPr/>
        </p:nvSpPr>
        <p:spPr>
          <a:xfrm>
            <a:off x="400050" y="2200275"/>
            <a:ext cx="1905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Los modelos se </a:t>
            </a: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descargan</a:t>
            </a: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y se corren de forma local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50"/>
          <p:cNvSpPr txBox="1"/>
          <p:nvPr/>
        </p:nvSpPr>
        <p:spPr>
          <a:xfrm>
            <a:off x="311700" y="40083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hlinkClick r:id="rId5"/>
              </a:rPr>
              <a:t>https://lmstudio.ai/</a:t>
            </a:r>
            <a:endParaRPr sz="1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Llama 3, Phi , Gemma y Open Source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https://ollama.com/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Ollama Server</a:t>
            </a:r>
            <a:endParaRPr/>
          </a:p>
        </p:txBody>
      </p:sp>
      <p:pic>
        <p:nvPicPr>
          <p:cNvPr id="308" name="Google Shape;30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9575" y="1018975"/>
            <a:ext cx="4876800" cy="35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118591"/>
            <a:ext cx="9144002" cy="202491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51"/>
          <p:cNvSpPr txBox="1"/>
          <p:nvPr/>
        </p:nvSpPr>
        <p:spPr>
          <a:xfrm>
            <a:off x="311700" y="2133600"/>
            <a:ext cx="453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Probamos los modelos en la consola: </a:t>
            </a:r>
            <a:r>
              <a:rPr i="1" lang="en" sz="1800">
                <a:solidFill>
                  <a:srgbClr val="232F3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ollama run llama3</a:t>
            </a:r>
            <a:endParaRPr i="1" sz="1800">
              <a:solidFill>
                <a:srgbClr val="232F3E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"/>
          <p:cNvSpPr/>
          <p:nvPr/>
        </p:nvSpPr>
        <p:spPr>
          <a:xfrm>
            <a:off x="318550" y="3387550"/>
            <a:ext cx="7163700" cy="149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16" name="Google Shape;316;p5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Llama 3, Phi , Gemma y Open Source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2"/>
          <p:cNvSpPr txBox="1"/>
          <p:nvPr>
            <p:ph idx="1" type="body"/>
          </p:nvPr>
        </p:nvSpPr>
        <p:spPr>
          <a:xfrm>
            <a:off x="311700" y="1228675"/>
            <a:ext cx="85206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Ollama Server:</a:t>
            </a:r>
            <a:endParaRPr/>
          </a:p>
        </p:txBody>
      </p:sp>
      <p:sp>
        <p:nvSpPr>
          <p:cNvPr id="318" name="Google Shape;318;p52"/>
          <p:cNvSpPr txBox="1"/>
          <p:nvPr/>
        </p:nvSpPr>
        <p:spPr>
          <a:xfrm>
            <a:off x="311700" y="1771375"/>
            <a:ext cx="8071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Probamos los modelos usando la API REST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curl http://localhost:11434/api/generate -d '{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"model": "llama3",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"prompt":"Why is the sky blue?"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}'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curl http://localhost:11434/api/chat -d '{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"model": "llama3",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"messages": [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{ "role": "user", "content": "why is the sky blue?"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]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}'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WebUI (Formerly Ollama WebUI)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24" name="Google Shape;32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425" y="1093850"/>
            <a:ext cx="6657509" cy="374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FABRIC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Fabric: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https://github.com/danielmiessler/fabric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5"/>
          <p:cNvSpPr txBox="1"/>
          <p:nvPr>
            <p:ph idx="1" type="body"/>
          </p:nvPr>
        </p:nvSpPr>
        <p:spPr>
          <a:xfrm>
            <a:off x="4164525" y="1228675"/>
            <a:ext cx="46677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 herramienta para trabajar desde la línea de comandos con diferentes modelos de IA (LLM) y conectar la salida de estos usando pipes “|”.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Tiene muchos prompts </a:t>
            </a:r>
            <a:r>
              <a:rPr lang="en"/>
              <a:t>útiles</a:t>
            </a:r>
            <a:r>
              <a:rPr lang="en"/>
              <a:t> y permite crear nuevos y </a:t>
            </a:r>
            <a:r>
              <a:rPr lang="en"/>
              <a:t>guardarlos</a:t>
            </a:r>
            <a:r>
              <a:rPr lang="en"/>
              <a:t>.</a:t>
            </a:r>
            <a:endParaRPr/>
          </a:p>
        </p:txBody>
      </p:sp>
      <p:pic>
        <p:nvPicPr>
          <p:cNvPr id="336" name="Google Shape;33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46250"/>
            <a:ext cx="3859725" cy="350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Fabric</a:t>
            </a:r>
            <a:endParaRPr/>
          </a:p>
        </p:txBody>
      </p:sp>
      <p:sp>
        <p:nvSpPr>
          <p:cNvPr id="342" name="Google Shape;342;p5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Buscar un directorio donde </a:t>
            </a:r>
            <a:r>
              <a:rPr lang="en"/>
              <a:t>queramos</a:t>
            </a:r>
            <a:r>
              <a:rPr lang="en"/>
              <a:t> </a:t>
            </a:r>
            <a:r>
              <a:rPr lang="en"/>
              <a:t>instalar</a:t>
            </a:r>
            <a:r>
              <a:rPr lang="en"/>
              <a:t>:</a:t>
            </a:r>
            <a:endParaRPr/>
          </a:p>
          <a:p>
            <a:pPr indent="-317500" lvl="1" marL="914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cd /home/juanma/proyectos_de_ia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Clonar el repo</a:t>
            </a:r>
            <a:endParaRPr/>
          </a:p>
          <a:p>
            <a:pPr indent="-317500" lvl="1" marL="914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git clone https://github.com/danielmiessler/fabric.git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Acceder al directorio </a:t>
            </a:r>
            <a:r>
              <a:rPr lang="en"/>
              <a:t>recién</a:t>
            </a:r>
            <a:r>
              <a:rPr lang="en"/>
              <a:t> creado:</a:t>
            </a:r>
            <a:endParaRPr/>
          </a:p>
          <a:p>
            <a:pPr indent="-317500" lvl="1" marL="914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cd fabric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Instalar PIPX</a:t>
            </a:r>
            <a:endParaRPr/>
          </a:p>
          <a:p>
            <a:pPr indent="-317500" lvl="1" marL="914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brew install pipx (MAC)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sudo apt install pipx (Linux)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Fabric</a:t>
            </a:r>
            <a:endParaRPr/>
          </a:p>
        </p:txBody>
      </p:sp>
      <p:sp>
        <p:nvSpPr>
          <p:cNvPr id="348" name="Google Shape;348;p5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Instalar</a:t>
            </a:r>
            <a:r>
              <a:rPr lang="en"/>
              <a:t> fabric:</a:t>
            </a:r>
            <a:endParaRPr/>
          </a:p>
          <a:p>
            <a:pPr indent="-317500" lvl="1" marL="9144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pipx install .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Ejecutar la configuración</a:t>
            </a:r>
            <a:endParaRPr/>
          </a:p>
          <a:p>
            <a:pPr indent="-317500" lvl="1" marL="9144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fabric --setup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7. Reiniciar la consola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Fabric: configuración</a:t>
            </a:r>
            <a:endParaRPr/>
          </a:p>
        </p:txBody>
      </p:sp>
      <p:sp>
        <p:nvSpPr>
          <p:cNvPr id="354" name="Google Shape;354;p5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Configurar fabric en cualquier otro momento: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Las claves se almacenan aquí: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32F3E"/>
                </a:solidFill>
              </a:rPr>
              <a:t>~/.config/fabric/.env</a:t>
            </a:r>
            <a:endParaRPr>
              <a:solidFill>
                <a:srgbClr val="232F3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Los patrones se almacenan aquí:</a:t>
            </a:r>
            <a:endParaRPr>
              <a:solidFill>
                <a:srgbClr val="232F3E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32F3E"/>
                </a:solidFill>
              </a:rPr>
              <a:t>~/.config/fabric/patterns</a:t>
            </a:r>
            <a:endParaRPr>
              <a:solidFill>
                <a:srgbClr val="232F3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32F3E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Fabric: comandos</a:t>
            </a:r>
            <a:endParaRPr/>
          </a:p>
        </p:txBody>
      </p:sp>
      <p:sp>
        <p:nvSpPr>
          <p:cNvPr id="360" name="Google Shape;360;p5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fabric --listmodels </a:t>
            </a:r>
            <a:r>
              <a:rPr lang="en">
                <a:solidFill>
                  <a:srgbClr val="188038"/>
                </a:solidFill>
              </a:rPr>
              <a:t>#lista modelos de LLM disponibles</a:t>
            </a:r>
            <a:br>
              <a:rPr lang="en">
                <a:solidFill>
                  <a:srgbClr val="188038"/>
                </a:solidFill>
              </a:rPr>
            </a:b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fabric --</a:t>
            </a:r>
            <a:r>
              <a:rPr lang="en"/>
              <a:t>list </a:t>
            </a:r>
            <a:r>
              <a:rPr lang="en">
                <a:solidFill>
                  <a:srgbClr val="188038"/>
                </a:solidFill>
              </a:rPr>
              <a:t>#lista los prompts templates disponibles</a:t>
            </a:r>
            <a:br>
              <a:rPr lang="en">
                <a:solidFill>
                  <a:srgbClr val="188038"/>
                </a:solidFill>
              </a:rPr>
            </a:b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echo "¿Quien fue el primer egresado de la Facultad de Ingeniería de la UBA?" | fabric -s -p ai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#-s: indica que nos mande el contenido de forma directa a nosotros: stream</a:t>
            </a:r>
            <a:endParaRPr>
              <a:solidFill>
                <a:srgbClr val="188038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88038"/>
                </a:solidFill>
              </a:rPr>
              <a:t>#-p: patrón,en este caso “ai”, es decir nuestro input de forma directa a la AI.</a:t>
            </a:r>
            <a:endParaRPr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Fabric: comandos</a:t>
            </a:r>
            <a:endParaRPr/>
          </a:p>
        </p:txBody>
      </p:sp>
      <p:sp>
        <p:nvSpPr>
          <p:cNvPr id="366" name="Google Shape;366;p6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echo "¿Quien fue el primer egresado de la Facultad de Ingeniería de la UBA?" | fabric -s -p ai --model llama3:latest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#</a:t>
            </a:r>
            <a:r>
              <a:rPr lang="en">
                <a:solidFill>
                  <a:srgbClr val="188038"/>
                </a:solidFill>
              </a:rPr>
              <a:t>--model</a:t>
            </a:r>
            <a:r>
              <a:rPr lang="en">
                <a:solidFill>
                  <a:srgbClr val="188038"/>
                </a:solidFill>
              </a:rPr>
              <a:t>: indica que modelo queremos que use</a:t>
            </a: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yt --transcript https://www.youtube.com/watch?v=rbvmTtq6C3g --lang es </a:t>
            </a:r>
            <a:br>
              <a:rPr lang="en"/>
            </a:br>
            <a:br>
              <a:rPr lang="en"/>
            </a:br>
            <a:r>
              <a:rPr lang="en">
                <a:solidFill>
                  <a:srgbClr val="188038"/>
                </a:solidFill>
              </a:rPr>
              <a:t>#se trata de una herramienta que viene con fabric para recuperar transcripciones de videos de youTube</a:t>
            </a:r>
            <a:endParaRPr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Fabric: comandos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61"/>
          <p:cNvSpPr txBox="1"/>
          <p:nvPr>
            <p:ph idx="1" type="body"/>
          </p:nvPr>
        </p:nvSpPr>
        <p:spPr>
          <a:xfrm>
            <a:off x="311700" y="1228675"/>
            <a:ext cx="85206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yt --transcript https://www.youtube.com/watch?v=rbvmTtq6C3g --lang es | fabric -sp extract_wisdom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</a:rPr>
              <a:t>#lo pasamos por uno de los prompts que vienen por defecto: “</a:t>
            </a:r>
            <a:r>
              <a:rPr lang="en">
                <a:solidFill>
                  <a:srgbClr val="188038"/>
                </a:solidFill>
              </a:rPr>
              <a:t>extract_wisdom</a:t>
            </a:r>
            <a:r>
              <a:rPr lang="en">
                <a:solidFill>
                  <a:srgbClr val="188038"/>
                </a:solidFill>
              </a:rPr>
              <a:t>”</a:t>
            </a: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echo "Eres un experto en árboles de decisión, y eres capaz de organizar la información que lees de forma sintética, concisa, para armar una nota para estudiar." | fabric -sp improve_prompt</a:t>
            </a:r>
            <a:br>
              <a:rPr lang="en"/>
            </a:br>
            <a:br>
              <a:rPr lang="en"/>
            </a:br>
            <a:r>
              <a:rPr lang="en">
                <a:solidFill>
                  <a:srgbClr val="188038"/>
                </a:solidFill>
              </a:rPr>
              <a:t>#mejora cualquier prompt que le damos</a:t>
            </a:r>
            <a:endParaRPr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Fabric: new prompt	</a:t>
            </a:r>
            <a:endParaRPr/>
          </a:p>
        </p:txBody>
      </p:sp>
      <p:sp>
        <p:nvSpPr>
          <p:cNvPr id="378" name="Google Shape;378;p6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nuevo prompt debe de ser almacenado en un archivo: </a:t>
            </a:r>
            <a:r>
              <a:rPr lang="en">
                <a:solidFill>
                  <a:srgbClr val="1F2328"/>
                </a:solidFill>
              </a:rPr>
              <a:t>system.md</a:t>
            </a:r>
            <a:endParaRPr>
              <a:solidFill>
                <a:srgbClr val="1F232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 un directorio de la carpeta:</a:t>
            </a:r>
            <a:r>
              <a:rPr lang="en">
                <a:solidFill>
                  <a:srgbClr val="1F2328"/>
                </a:solidFill>
              </a:rPr>
              <a:t> ~/.config/fabric/patterns</a:t>
            </a:r>
            <a:endParaRPr>
              <a:solidFill>
                <a:srgbClr val="1F2328"/>
              </a:solidFill>
            </a:endParaRPr>
          </a:p>
        </p:txBody>
      </p:sp>
      <p:pic>
        <p:nvPicPr>
          <p:cNvPr id="379" name="Google Shape;37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063" y="2417988"/>
            <a:ext cx="4562475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Bibliografía</a:t>
            </a:r>
            <a:r>
              <a:rPr lang="en"/>
              <a:t> y material adicional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Bibliografía y material adicional</a:t>
            </a:r>
            <a:endParaRPr/>
          </a:p>
        </p:txBody>
      </p:sp>
      <p:sp>
        <p:nvSpPr>
          <p:cNvPr id="390" name="Google Shape;390;p6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Blogs y posts:</a:t>
            </a:r>
            <a:endParaRPr sz="1100"/>
          </a:p>
        </p:txBody>
      </p:sp>
      <p:pic>
        <p:nvPicPr>
          <p:cNvPr id="391" name="Google Shape;391;p6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248" y="1729148"/>
            <a:ext cx="2396275" cy="19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6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3924" y="1383461"/>
            <a:ext cx="2326359" cy="19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6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86875" y="3591650"/>
            <a:ext cx="302895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Bibliografía y material adicional</a:t>
            </a:r>
            <a:endParaRPr/>
          </a:p>
        </p:txBody>
      </p:sp>
      <p:sp>
        <p:nvSpPr>
          <p:cNvPr id="399" name="Google Shape;399;p65"/>
          <p:cNvSpPr txBox="1"/>
          <p:nvPr>
            <p:ph idx="1" type="body"/>
          </p:nvPr>
        </p:nvSpPr>
        <p:spPr>
          <a:xfrm>
            <a:off x="311700" y="1228675"/>
            <a:ext cx="85206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Videos</a:t>
            </a:r>
            <a:r>
              <a:rPr b="1" lang="en"/>
              <a:t>:</a:t>
            </a:r>
            <a:endParaRPr b="1"/>
          </a:p>
        </p:txBody>
      </p:sp>
      <p:pic>
        <p:nvPicPr>
          <p:cNvPr id="400" name="Google Shape;400;p6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53950"/>
            <a:ext cx="2662625" cy="20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65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1000" y="1793612"/>
            <a:ext cx="2662625" cy="2210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65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81350" y="2527766"/>
            <a:ext cx="2662625" cy="2104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¡Gracias!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