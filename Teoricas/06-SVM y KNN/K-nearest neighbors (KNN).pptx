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988e734f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988e734f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988e734f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988e734f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988e734f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988e734f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988e734f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988e734f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988e734f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3988e734f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3988e734f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3988e734f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988e734f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988e734f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988e734f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988e734f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K-vecinos más cercanos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Tenemos un conjunto de datos clasificado, por ejemplo Iris: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374" y="2895206"/>
            <a:ext cx="4030124" cy="14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27000" y="19050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Aparece una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6963825" y="3429000"/>
            <a:ext cx="84600" cy="91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27000" y="23916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clase pertenece?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Veamos a su vecino más cercano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6914450" y="3224400"/>
            <a:ext cx="246900" cy="331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5"/>
          <p:cNvGrpSpPr/>
          <p:nvPr/>
        </p:nvGrpSpPr>
        <p:grpSpPr>
          <a:xfrm>
            <a:off x="6505225" y="3259675"/>
            <a:ext cx="2271900" cy="1063200"/>
            <a:chOff x="6505225" y="3259675"/>
            <a:chExt cx="2271900" cy="1063200"/>
          </a:xfrm>
        </p:grpSpPr>
        <p:sp>
          <p:nvSpPr>
            <p:cNvPr id="107" name="Google Shape;107;p15"/>
            <p:cNvSpPr/>
            <p:nvPr/>
          </p:nvSpPr>
          <p:spPr>
            <a:xfrm>
              <a:off x="7231950" y="3259675"/>
              <a:ext cx="84600" cy="261000"/>
            </a:xfrm>
            <a:prstGeom prst="righ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6505225" y="3707275"/>
              <a:ext cx="2271900" cy="615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Está más cerca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según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la distancia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euclidiana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9" name="Google Shape;109;p15"/>
          <p:cNvSpPr txBox="1"/>
          <p:nvPr/>
        </p:nvSpPr>
        <p:spPr>
          <a:xfrm>
            <a:off x="239900" y="32314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nueva observación está más cerca de un verde, entonces es verde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27000" y="19050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Aparece una nueva observación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6963825" y="3429000"/>
            <a:ext cx="84600" cy="91800"/>
          </a:xfrm>
          <a:prstGeom prst="ellipse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68100" y="2321275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es suficiente con tomar el vecino más cercano?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Qué tal si tomamos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vecinos más cercanos.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k=7, por ejemplo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669825" y="3138600"/>
            <a:ext cx="672600" cy="672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73950" y="3513675"/>
            <a:ext cx="30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Son todos verdes, no cambia nada.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27000" y="190500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¿Qué pasa si la nueva observación está en otra ubicación?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Usemos esta vez k= 9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7422425" y="2892775"/>
            <a:ext cx="84600" cy="91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7128425" y="2602375"/>
            <a:ext cx="672600" cy="672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303400" y="2921000"/>
            <a:ext cx="262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 vecinos verdes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1C232"/>
                </a:solidFill>
                <a:latin typeface="Lato"/>
                <a:ea typeface="Lato"/>
                <a:cs typeface="Lato"/>
                <a:sym typeface="Lato"/>
              </a:rPr>
              <a:t>4 vecinos amarillos</a:t>
            </a:r>
            <a:endParaRPr>
              <a:solidFill>
                <a:srgbClr val="F1C23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862800" y="3536600"/>
            <a:ext cx="10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¡Es verde!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hiperparámetros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 K-NN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0" y="1559275"/>
            <a:ext cx="4659975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7422425" y="2892775"/>
            <a:ext cx="84600" cy="91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7128425" y="2602375"/>
            <a:ext cx="672600" cy="672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952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324550" y="2497675"/>
            <a:ext cx="406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valor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K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tipo de distancia: 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uclídea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Manhattan, etc.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Peso: Los vecinos pueden estar ponderados, siendo que los más cercanos tengan más peso en la votación y los más lejanos menos.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¿Es lo mismo si k=2, que uno de los vecinos esté a 1 cm y el segundo a 2m?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Conjuntos desbalanceados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225" y="1311600"/>
            <a:ext cx="3908225" cy="35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7500050" y="2170500"/>
            <a:ext cx="77700" cy="846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7036100" y="1714500"/>
            <a:ext cx="1005600" cy="996600"/>
          </a:xfrm>
          <a:prstGeom prst="ellipse">
            <a:avLst/>
          </a:prstGeom>
          <a:solidFill>
            <a:srgbClr val="F3D6C7">
              <a:alpha val="24400"/>
            </a:srgbClr>
          </a:solidFill>
          <a:ln cap="flat" cmpd="sng" w="19050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232825" y="2405950"/>
            <a:ext cx="6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k=9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232825" y="2778550"/>
            <a:ext cx="241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3 rojos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6 azules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430375" y="3393525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Es azul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175" y="2636488"/>
            <a:ext cx="3721375" cy="2093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>
            <p:ph type="title"/>
          </p:nvPr>
        </p:nvSpPr>
        <p:spPr>
          <a:xfrm>
            <a:off x="727650" y="128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127000" y="19050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Outliers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232825" y="2405950"/>
            <a:ext cx="6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k=3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232825" y="2778550"/>
            <a:ext cx="24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Lato"/>
              <a:buChar char="●"/>
            </a:pPr>
            <a:r>
              <a:rPr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 rojos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373925" y="3393525"/>
            <a:ext cx="100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 rojo</a:t>
            </a:r>
            <a:endParaRPr b="1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4" name="Google Shape;164;p20"/>
          <p:cNvGrpSpPr/>
          <p:nvPr/>
        </p:nvGrpSpPr>
        <p:grpSpPr>
          <a:xfrm>
            <a:off x="7429500" y="2942300"/>
            <a:ext cx="282300" cy="378300"/>
            <a:chOff x="7429500" y="2942300"/>
            <a:chExt cx="282300" cy="378300"/>
          </a:xfrm>
        </p:grpSpPr>
        <p:cxnSp>
          <p:nvCxnSpPr>
            <p:cNvPr id="165" name="Google Shape;165;p20"/>
            <p:cNvCxnSpPr/>
            <p:nvPr/>
          </p:nvCxnSpPr>
          <p:spPr>
            <a:xfrm flipH="1" rot="10800000">
              <a:off x="7429500" y="3090225"/>
              <a:ext cx="282300" cy="2259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20"/>
            <p:cNvCxnSpPr/>
            <p:nvPr/>
          </p:nvCxnSpPr>
          <p:spPr>
            <a:xfrm flipH="1" rot="10800000">
              <a:off x="7429500" y="3111525"/>
              <a:ext cx="105900" cy="2046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20"/>
            <p:cNvCxnSpPr>
              <a:stCxn id="168" idx="6"/>
            </p:cNvCxnSpPr>
            <p:nvPr/>
          </p:nvCxnSpPr>
          <p:spPr>
            <a:xfrm flipH="1" rot="10800000">
              <a:off x="7471850" y="2942300"/>
              <a:ext cx="169200" cy="378300"/>
            </a:xfrm>
            <a:prstGeom prst="straightConnector1">
              <a:avLst/>
            </a:prstGeom>
            <a:noFill/>
            <a:ln cap="flat" cmpd="sng" w="19050">
              <a:solidFill>
                <a:srgbClr val="434343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68" name="Google Shape;168;p20"/>
          <p:cNvSpPr/>
          <p:nvPr/>
        </p:nvSpPr>
        <p:spPr>
          <a:xfrm>
            <a:off x="7337750" y="3247550"/>
            <a:ext cx="134100" cy="1461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Resumen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Método</a:t>
            </a:r>
            <a:r>
              <a:rPr lang="en"/>
              <a:t> de clasificación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</a:t>
            </a:r>
            <a:r>
              <a:rPr lang="en"/>
              <a:t>sensible</a:t>
            </a:r>
            <a:r>
              <a:rPr lang="en"/>
              <a:t> a conjuntos de datos no balanceados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 sensible a outliers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En </a:t>
            </a:r>
            <a:r>
              <a:rPr b="1" lang="en"/>
              <a:t>scikit-learn</a:t>
            </a:r>
            <a:r>
              <a:rPr lang="en"/>
              <a:t>, k= 5 por defecto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