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5143500" cx="9144000"/>
  <p:notesSz cx="6858000" cy="9144000"/>
  <p:embeddedFontLst>
    <p:embeddedFont>
      <p:font typeface="Nunito"/>
      <p:regular r:id="rId65"/>
      <p:bold r:id="rId66"/>
      <p:italic r:id="rId67"/>
      <p:boldItalic r:id="rId68"/>
    </p:embeddedFont>
    <p:embeddedFont>
      <p:font typeface="Maven Pro"/>
      <p:regular r:id="rId69"/>
      <p:bold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ACEF19-607F-4EBF-9E63-F1DB2006A540}">
  <a:tblStyle styleId="{83ACEF19-607F-4EBF-9E63-F1DB2006A5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MavenPro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Nunito-bold.fntdata"/><Relationship Id="rId21" Type="http://schemas.openxmlformats.org/officeDocument/2006/relationships/slide" Target="slides/slide16.xml"/><Relationship Id="rId65" Type="http://schemas.openxmlformats.org/officeDocument/2006/relationships/font" Target="fonts/Nunito-regular.fntdata"/><Relationship Id="rId24" Type="http://schemas.openxmlformats.org/officeDocument/2006/relationships/slide" Target="slides/slide19.xml"/><Relationship Id="rId68" Type="http://schemas.openxmlformats.org/officeDocument/2006/relationships/font" Target="fonts/Nunito-boldItalic.fntdata"/><Relationship Id="rId23" Type="http://schemas.openxmlformats.org/officeDocument/2006/relationships/slide" Target="slides/slide18.xml"/><Relationship Id="rId67" Type="http://schemas.openxmlformats.org/officeDocument/2006/relationships/font" Target="fonts/Nunito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MavenPro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b6c652de8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b6c652de8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b6c652de8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b6c652de8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b6c652de8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b6c652de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b6c652de8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b6c652de8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b6c652de8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b6c652de8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b6c652de8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b6c652de8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b6c652de8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b6c652de8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b6c652de8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b6c652de8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b6c652de8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b6c652de8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b6c652de8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b6c652de8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b6c652de8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b6c652de8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b6c652de8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b6c652de8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b6c652de8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b6c652de8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b6c652de8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b6c652de8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b6c652de8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b6c652de8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b6c652de8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b6c652de8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b6c652de8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b6c652de8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b6c652de8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b6c652de8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b6c652de8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b6c652de8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b6c652de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b6c652de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b6c652de8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b6c652de8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b6c652de8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b6c652de8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b6c652de8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b6c652de8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b6c652de8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b6c652de8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b6c652de8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b6c652de8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b6c652de8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b6c652de8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b6c652de8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b6c652de8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b6c652de8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b6c652de8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b6c652de8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b6c652de8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b6c652de8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b6c652de8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b6c652de8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b6c652de8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b6c652de8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b6c652de8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b6c652de8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b6c652de8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b6c652de8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b6c652de8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b6c652de8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2b6c652de8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b6c652de8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b6c652de8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b6c652de8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b6c652de8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b6c652de8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b6c652de8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8e2de233c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18e2de233c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18e2de233c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18e2de233c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b6c652de8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b6c652de8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b6c652de8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2b6c652de8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b6c652de8_0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b6c652de8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b6c652de8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b6c652de8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b6c652de8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b6c652de8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b6c652de8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b6c652de8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b6c652de8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b6c652de8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b6c652de8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2b6c652de8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b6c652de8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b6c652de8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b6c652de8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b6c652de8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2b6c652de8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2b6c652de8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b6c652de8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b6c652de8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b6c652de8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b6c652de8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b6c652de8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2b6c652de8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b6c652de8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b6c652de8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b6c652de8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2b6c652de8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b6c652de8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2b6c652de8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b6c652de8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2b6c652de8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Relationship Id="rId4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Relationship Id="rId4" Type="http://schemas.openxmlformats.org/officeDocument/2006/relationships/hyperlink" Target="https://www.youtube.com/watch?v=KuXjwB4LzSA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gif"/><Relationship Id="rId4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png"/><Relationship Id="rId4" Type="http://schemas.openxmlformats.org/officeDocument/2006/relationships/image" Target="../media/image4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3.png"/><Relationship Id="rId4" Type="http://schemas.openxmlformats.org/officeDocument/2006/relationships/image" Target="../media/image4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www.clarifai.com/demo" TargetMode="External"/><Relationship Id="rId4" Type="http://schemas.openxmlformats.org/officeDocument/2006/relationships/hyperlink" Target="http://www.metamind.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423617"/>
            <a:ext cx="7503900" cy="306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 a las redes de aprendizaje profundo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Dr. </a:t>
            </a:r>
            <a:r>
              <a:rPr lang="en" sz="1800"/>
              <a:t>Ing. Juan M. Rodríguez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superficiales</a:t>
            </a:r>
            <a:endParaRPr/>
          </a:p>
        </p:txBody>
      </p:sp>
      <p:pic>
        <p:nvPicPr>
          <p:cNvPr id="284" name="Google Shape;28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163" y="1405175"/>
            <a:ext cx="7987675" cy="348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de aprendizaje profundo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Restricted Boltzmann Machine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Autoencoder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Deep Belief Network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Convolutional Net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Recurrent Net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Recursive Neural Tensor Nets (RNTN)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de aprendizaje profundo</a:t>
            </a:r>
            <a:endParaRPr/>
          </a:p>
        </p:txBody>
      </p:sp>
      <p:pic>
        <p:nvPicPr>
          <p:cNvPr descr="Resultado de imagen para deep learning pattern recognition" id="296" name="Google Shape;2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2564" y="1251650"/>
            <a:ext cx="6358877" cy="371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88625" y="772725"/>
            <a:ext cx="6366900" cy="36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¿Para qué puedo usar una red de aprendizaje profundo?</a:t>
            </a:r>
            <a:endParaRPr sz="4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 txBox="1"/>
          <p:nvPr>
            <p:ph type="title"/>
          </p:nvPr>
        </p:nvSpPr>
        <p:spPr>
          <a:xfrm>
            <a:off x="1303800" y="598575"/>
            <a:ext cx="7030500" cy="7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no supervisado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1565800" y="1303275"/>
            <a:ext cx="5126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(</a:t>
            </a:r>
            <a:r>
              <a:rPr b="1" lang="en" sz="24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extracción de patrones)</a:t>
            </a:r>
            <a:endParaRPr b="1" sz="24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08" name="Google Shape;308;p18"/>
          <p:cNvPicPr preferRelativeResize="0"/>
          <p:nvPr/>
        </p:nvPicPr>
        <p:blipFill rotWithShape="1">
          <a:blip r:embed="rId3">
            <a:alphaModFix/>
          </a:blip>
          <a:srcRect b="0" l="2780" r="0" t="24913"/>
          <a:stretch/>
        </p:blipFill>
        <p:spPr>
          <a:xfrm>
            <a:off x="488025" y="1968175"/>
            <a:ext cx="7846275" cy="30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7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supervisado</a:t>
            </a:r>
            <a:endParaRPr/>
          </a:p>
        </p:txBody>
      </p:sp>
      <p:sp>
        <p:nvSpPr>
          <p:cNvPr id="314" name="Google Shape;314;p19"/>
          <p:cNvSpPr txBox="1"/>
          <p:nvPr/>
        </p:nvSpPr>
        <p:spPr>
          <a:xfrm>
            <a:off x="1565800" y="1303275"/>
            <a:ext cx="5126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(patrones etiquetados)</a:t>
            </a:r>
            <a:endParaRPr b="1" sz="24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275625" y="1994350"/>
            <a:ext cx="4552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Procesamiento de texto (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Análisis de sentimiento, </a:t>
            </a:r>
            <a:r>
              <a:rPr i="1" lang="en">
                <a:latin typeface="Calibri"/>
                <a:ea typeface="Calibri"/>
                <a:cs typeface="Calibri"/>
                <a:sym typeface="Calibri"/>
              </a:rPr>
              <a:t>Parsing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">
                <a:latin typeface="Calibri"/>
                <a:ea typeface="Calibri"/>
                <a:cs typeface="Calibri"/>
                <a:sym typeface="Calibri"/>
              </a:rPr>
              <a:t>Name Entity Recognition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Recurrent Net (a nivel de carácter)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Recursive Neural Tensor Nets (RNTN)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Convolutional Net (para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de sentimiento)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Reconocimiento de imágenes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Deep Belief Network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Convolutional Net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5334300" y="19943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Reconocimiento de objetos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Convolutional Net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Recursive Neural Tensor Nets (RNTN)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Reconocimiento del habla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Recurrent Net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/>
          <p:nvPr>
            <p:ph type="title"/>
          </p:nvPr>
        </p:nvSpPr>
        <p:spPr>
          <a:xfrm>
            <a:off x="1303800" y="598575"/>
            <a:ext cx="7030500" cy="7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general:</a:t>
            </a:r>
            <a:endParaRPr/>
          </a:p>
        </p:txBody>
      </p:sp>
      <p:pic>
        <p:nvPicPr>
          <p:cNvPr id="322" name="Google Shape;3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7450" y="598575"/>
            <a:ext cx="4114800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 txBox="1"/>
          <p:nvPr/>
        </p:nvSpPr>
        <p:spPr>
          <a:xfrm>
            <a:off x="353600" y="1390850"/>
            <a:ext cx="3714000" cy="35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Clasificación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 =&gt;</a:t>
            </a:r>
            <a:r>
              <a:rPr i="1" lang="en" sz="1800">
                <a:latin typeface="Calibri"/>
                <a:ea typeface="Calibri"/>
                <a:cs typeface="Calibri"/>
                <a:sym typeface="Calibri"/>
              </a:rPr>
              <a:t>Deep Belief Networks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y Perceptrones Multicapa con </a:t>
            </a:r>
            <a:r>
              <a:rPr i="1" lang="en" sz="1800">
                <a:latin typeface="Calibri"/>
                <a:ea typeface="Calibri"/>
                <a:cs typeface="Calibri"/>
                <a:sym typeface="Calibri"/>
              </a:rPr>
              <a:t>Rectified Linear Units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RELU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)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Análisis de series de tiempo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=&gt; </a:t>
            </a:r>
            <a:r>
              <a:rPr i="1" lang="en" sz="1800">
                <a:latin typeface="Calibri"/>
                <a:ea typeface="Calibri"/>
                <a:cs typeface="Calibri"/>
                <a:sym typeface="Calibri"/>
              </a:rPr>
              <a:t>Recurrent Net</a:t>
            </a:r>
            <a:endParaRPr i="1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"/>
          <p:cNvSpPr txBox="1"/>
          <p:nvPr>
            <p:ph type="ctrTitle"/>
          </p:nvPr>
        </p:nvSpPr>
        <p:spPr>
          <a:xfrm>
            <a:off x="297050" y="229300"/>
            <a:ext cx="8495700" cy="15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Entrenamiento de Redes Neuronales Profundas</a:t>
            </a:r>
            <a:endParaRPr/>
          </a:p>
        </p:txBody>
      </p:sp>
      <p:sp>
        <p:nvSpPr>
          <p:cNvPr id="329" name="Google Shape;329;p21"/>
          <p:cNvSpPr txBox="1"/>
          <p:nvPr>
            <p:ph idx="1" type="subTitle"/>
          </p:nvPr>
        </p:nvSpPr>
        <p:spPr>
          <a:xfrm>
            <a:off x="524350" y="1777300"/>
            <a:ext cx="8340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¿Por qué tardaron casi 50 años en aparecer?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¿Qué pasa con el método BackPropagation? </a:t>
            </a:r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Problemas en e</a:t>
            </a:r>
            <a:r>
              <a:rPr lang="en"/>
              <a:t>ntrenamiento de Redes Neuronales Profundas</a:t>
            </a:r>
            <a:endParaRPr/>
          </a:p>
        </p:txBody>
      </p:sp>
      <p:sp>
        <p:nvSpPr>
          <p:cNvPr id="335" name="Google Shape;335;p22"/>
          <p:cNvSpPr txBox="1"/>
          <p:nvPr>
            <p:ph idx="1" type="body"/>
          </p:nvPr>
        </p:nvSpPr>
        <p:spPr>
          <a:xfrm>
            <a:off x="638575" y="1990050"/>
            <a:ext cx="3525300" cy="28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Tiempo de Entrenamiento</a:t>
            </a:r>
            <a:endParaRPr b="1"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El entrenamiento de una red de aprendizaje profundo puede tardar meses, pero con modernos GPUs puede tardar menos de una semana.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400"/>
              <a:t>1</a:t>
            </a:r>
            <a:r>
              <a:rPr lang="en" sz="2400"/>
              <a:t> día vs  </a:t>
            </a:r>
            <a:r>
              <a:rPr b="1" lang="en" sz="2400"/>
              <a:t>8</a:t>
            </a:r>
            <a:r>
              <a:rPr lang="en" sz="2400"/>
              <a:t> meses</a:t>
            </a:r>
            <a:endParaRPr sz="2400"/>
          </a:p>
        </p:txBody>
      </p:sp>
      <p:sp>
        <p:nvSpPr>
          <p:cNvPr id="336" name="Google Shape;336;p22"/>
          <p:cNvSpPr txBox="1"/>
          <p:nvPr>
            <p:ph idx="1" type="body"/>
          </p:nvPr>
        </p:nvSpPr>
        <p:spPr>
          <a:xfrm>
            <a:off x="4771075" y="1990050"/>
            <a:ext cx="3525300" cy="4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Desvanecimiento del Gradiente</a:t>
            </a:r>
            <a:endParaRPr b="1"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838" y="2484150"/>
            <a:ext cx="3221775" cy="1891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ctrTitle"/>
          </p:nvPr>
        </p:nvSpPr>
        <p:spPr>
          <a:xfrm>
            <a:off x="290100" y="201154"/>
            <a:ext cx="8563800" cy="47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cambió entre 2006 y 2007 gracias a 3 papers publicados por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Hinton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Lecun 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Bengio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Restricted Boltzmann Machines</a:t>
            </a:r>
            <a:endParaRPr/>
          </a:p>
        </p:txBody>
      </p:sp>
      <p:sp>
        <p:nvSpPr>
          <p:cNvPr id="348" name="Google Shape;348;p24"/>
          <p:cNvSpPr txBox="1"/>
          <p:nvPr>
            <p:ph idx="1" type="body"/>
          </p:nvPr>
        </p:nvSpPr>
        <p:spPr>
          <a:xfrm>
            <a:off x="752700" y="1300950"/>
            <a:ext cx="7030500" cy="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Geoff Hinton</a:t>
            </a:r>
            <a:r>
              <a:rPr lang="en" sz="1400"/>
              <a:t>, fue el primero en encontrar una solución al problema de las redes de aprendizaje profundo. Es considerado el</a:t>
            </a:r>
            <a:r>
              <a:rPr b="1" lang="en" sz="1400"/>
              <a:t> padre del Deep Learning</a:t>
            </a:r>
            <a:r>
              <a:rPr lang="en" sz="1400"/>
              <a:t>.</a:t>
            </a:r>
            <a:endParaRPr sz="1400"/>
          </a:p>
        </p:txBody>
      </p:sp>
      <p:pic>
        <p:nvPicPr>
          <p:cNvPr id="349" name="Google Shape;3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4050" y="2055750"/>
            <a:ext cx="1835381" cy="278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Restricted Boltzmann Machines</a:t>
            </a:r>
            <a:endParaRPr/>
          </a:p>
        </p:txBody>
      </p:sp>
      <p:sp>
        <p:nvSpPr>
          <p:cNvPr id="355" name="Google Shape;355;p25"/>
          <p:cNvSpPr txBox="1"/>
          <p:nvPr>
            <p:ph idx="1" type="body"/>
          </p:nvPr>
        </p:nvSpPr>
        <p:spPr>
          <a:xfrm>
            <a:off x="752700" y="1300950"/>
            <a:ext cx="3930900" cy="31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ejecutar una entrada en sentido directo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hacer la ejecución en sentido inverso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comparar con </a:t>
            </a:r>
            <a:r>
              <a:rPr b="1" lang="en" sz="1400"/>
              <a:t>KL Divergence</a:t>
            </a:r>
            <a:r>
              <a:rPr lang="en" sz="1400"/>
              <a:t> y ajustar pesos y bias, hasta que las salidas de la red invertida coinciden con las entradas, o se acercan lo más posible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356" name="Google Shape;3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675" y="1300950"/>
            <a:ext cx="3650625" cy="318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Belief Nets</a:t>
            </a:r>
            <a:endParaRPr/>
          </a:p>
        </p:txBody>
      </p:sp>
      <p:sp>
        <p:nvSpPr>
          <p:cNvPr id="362" name="Google Shape;362;p26"/>
          <p:cNvSpPr txBox="1"/>
          <p:nvPr>
            <p:ph idx="1" type="body"/>
          </p:nvPr>
        </p:nvSpPr>
        <p:spPr>
          <a:xfrm>
            <a:off x="752700" y="1300950"/>
            <a:ext cx="3930900" cy="31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Concebidas por </a:t>
            </a:r>
            <a:r>
              <a:rPr b="1" lang="en" sz="1400"/>
              <a:t>Geoff Hinton</a:t>
            </a:r>
            <a:r>
              <a:rPr lang="en" sz="1400"/>
              <a:t> como una alternativa al  backpropagation.  Por ello fue inmediatamente contratado por Google.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Una red  </a:t>
            </a:r>
            <a:r>
              <a:rPr b="1" lang="en" sz="1400"/>
              <a:t>Deep Belief Net</a:t>
            </a:r>
            <a:r>
              <a:rPr lang="en" sz="1400"/>
              <a:t> es exactamente igual a un </a:t>
            </a:r>
            <a:r>
              <a:rPr b="1" lang="en" sz="1400"/>
              <a:t>perceptrón multicapa,</a:t>
            </a:r>
            <a:r>
              <a:rPr lang="en" sz="1400"/>
              <a:t> pero su método de entrenamiento es completamente diferente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63" name="Google Shape;3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600" y="674325"/>
            <a:ext cx="4094220" cy="380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Belief Nets</a:t>
            </a:r>
            <a:endParaRPr/>
          </a:p>
        </p:txBody>
      </p:sp>
      <p:graphicFrame>
        <p:nvGraphicFramePr>
          <p:cNvPr id="369" name="Google Shape;369;p27"/>
          <p:cNvGraphicFramePr/>
          <p:nvPr/>
        </p:nvGraphicFramePr>
        <p:xfrm>
          <a:off x="952500" y="135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{83ACEF19-607F-4EBF-9E63-F1DB2006A540}</a:tableStyleId>
              </a:tblPr>
              <a:tblGrid>
                <a:gridCol w="3619500"/>
                <a:gridCol w="3619500"/>
              </a:tblGrid>
              <a:tr h="261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0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Primera RBM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Segunda</a:t>
                      </a:r>
                      <a:r>
                        <a:rPr lang="en"/>
                        <a:t> RBM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70" name="Google Shape;3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850" y="1597877"/>
            <a:ext cx="3067905" cy="245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3525" y="1597875"/>
            <a:ext cx="2783050" cy="24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Belief Nets</a:t>
            </a:r>
            <a:endParaRPr/>
          </a:p>
        </p:txBody>
      </p:sp>
      <p:sp>
        <p:nvSpPr>
          <p:cNvPr id="377" name="Google Shape;377;p28"/>
          <p:cNvSpPr txBox="1"/>
          <p:nvPr>
            <p:ph idx="1" type="body"/>
          </p:nvPr>
        </p:nvSpPr>
        <p:spPr>
          <a:xfrm>
            <a:off x="1303800" y="1312125"/>
            <a:ext cx="7030500" cy="32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</a:t>
            </a:r>
            <a:r>
              <a:rPr lang="en" sz="1800"/>
              <a:t>ada capa aprende el input entero. (Distinto a las redes convolucionales)</a:t>
            </a:r>
            <a:br>
              <a:rPr lang="en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Cuando el entrenamiento concluye, la red aprendió a detectar patrones inherentes en los datos, pero aún no sabemos nada acerca de esos patrones.</a:t>
            </a:r>
            <a:br>
              <a:rPr lang="en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Así que hay una segunda parte de entrenamiento supervisado. Pero con una cantidad pequeña de datos.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Autoencoders</a:t>
            </a:r>
            <a:endParaRPr/>
          </a:p>
        </p:txBody>
      </p:sp>
      <p:sp>
        <p:nvSpPr>
          <p:cNvPr id="383" name="Google Shape;383;p29"/>
          <p:cNvSpPr txBox="1"/>
          <p:nvPr>
            <p:ph idx="1" type="body"/>
          </p:nvPr>
        </p:nvSpPr>
        <p:spPr>
          <a:xfrm>
            <a:off x="1303800" y="1312125"/>
            <a:ext cx="7030500" cy="17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Restricted Boltzmann Machines (</a:t>
            </a:r>
            <a:r>
              <a:rPr b="1" lang="en" sz="1800"/>
              <a:t>RBM</a:t>
            </a:r>
            <a:r>
              <a:rPr lang="en" sz="1800"/>
              <a:t>) y </a:t>
            </a:r>
            <a:r>
              <a:rPr b="1" lang="en" sz="1800"/>
              <a:t>Deep Belief Nets</a:t>
            </a:r>
            <a:r>
              <a:rPr lang="en" sz="1800"/>
              <a:t> pueden usarse como </a:t>
            </a:r>
            <a:r>
              <a:rPr b="1" lang="en" sz="1800"/>
              <a:t>Autoencoders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 autoencoder aprende a producir a la salida exactamente la misma información que recibe a la entrada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Entrada y salida igual número de neuronas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84" name="Google Shape;3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213" y="3126600"/>
            <a:ext cx="273367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Autoencoders</a:t>
            </a:r>
            <a:endParaRPr/>
          </a:p>
        </p:txBody>
      </p:sp>
      <p:sp>
        <p:nvSpPr>
          <p:cNvPr id="390" name="Google Shape;390;p30"/>
          <p:cNvSpPr txBox="1"/>
          <p:nvPr>
            <p:ph idx="1" type="body"/>
          </p:nvPr>
        </p:nvSpPr>
        <p:spPr>
          <a:xfrm>
            <a:off x="1303800" y="1312125"/>
            <a:ext cx="7030500" cy="17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Compresor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Reducción de dimensionalidad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28x28 pixeles tiene 750 =&gt; solo 30 números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Eliminación de ruido</a:t>
            </a:r>
            <a:endParaRPr/>
          </a:p>
        </p:txBody>
      </p:sp>
      <p:pic>
        <p:nvPicPr>
          <p:cNvPr id="391" name="Google Shape;3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3425" y="2739100"/>
            <a:ext cx="2827346" cy="175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Autoencoders</a:t>
            </a:r>
            <a:endParaRPr/>
          </a:p>
        </p:txBody>
      </p:sp>
      <p:sp>
        <p:nvSpPr>
          <p:cNvPr id="397" name="Google Shape;397;p31"/>
          <p:cNvSpPr txBox="1"/>
          <p:nvPr>
            <p:ph idx="1" type="body"/>
          </p:nvPr>
        </p:nvSpPr>
        <p:spPr>
          <a:xfrm>
            <a:off x="559825" y="1312125"/>
            <a:ext cx="3595200" cy="29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Entrenamiento</a:t>
            </a:r>
            <a:r>
              <a:rPr lang="en" sz="1800"/>
              <a:t>: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/>
              <a:t>Se pueden entrenar con </a:t>
            </a:r>
            <a:r>
              <a:rPr b="1" lang="en" sz="1800"/>
              <a:t>Backpropagation</a:t>
            </a:r>
            <a:r>
              <a:rPr lang="en" sz="1800"/>
              <a:t>, pero utilizando una métrica particular llamada “</a:t>
            </a:r>
            <a:r>
              <a:rPr b="1" lang="en" sz="1800"/>
              <a:t>Loss</a:t>
            </a:r>
            <a:r>
              <a:rPr lang="en" sz="1800"/>
              <a:t>” (Cantidad de información que la red perdió al tratar de reconstruir el </a:t>
            </a:r>
            <a:r>
              <a:rPr i="1" lang="en" sz="1800"/>
              <a:t>input</a:t>
            </a:r>
            <a:r>
              <a:rPr lang="en" sz="1800"/>
              <a:t>)</a:t>
            </a:r>
            <a:endParaRPr sz="1800"/>
          </a:p>
        </p:txBody>
      </p:sp>
      <p:pic>
        <p:nvPicPr>
          <p:cNvPr id="398" name="Google Shape;3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8675" y="1036250"/>
            <a:ext cx="4035625" cy="2747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2"/>
          <p:cNvSpPr txBox="1"/>
          <p:nvPr>
            <p:ph idx="1" type="body"/>
          </p:nvPr>
        </p:nvSpPr>
        <p:spPr>
          <a:xfrm>
            <a:off x="1303800" y="1478325"/>
            <a:ext cx="7030500" cy="30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Dominan completamente la visión espacial.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Desarrolladas por </a:t>
            </a:r>
            <a:r>
              <a:rPr b="1" lang="en" sz="1400"/>
              <a:t>Yann Lecun</a:t>
            </a:r>
            <a:r>
              <a:rPr lang="en" sz="1400"/>
              <a:t> of New York University. También es director del departamento de </a:t>
            </a:r>
            <a:r>
              <a:rPr b="1" lang="en" sz="1400"/>
              <a:t>AI de Facebook</a:t>
            </a:r>
            <a:r>
              <a:rPr lang="en" sz="1400"/>
              <a:t> (que usa estas redes para detectar caras en las fotos)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highlight>
                  <a:srgbClr val="CFE2F3"/>
                </a:highlight>
              </a:rPr>
              <a:t>Después de que aunaron esfuerzos en 2015, Microsoft, Google y Baidu lograron que una </a:t>
            </a:r>
            <a:r>
              <a:rPr b="1" lang="en" sz="1400">
                <a:highlight>
                  <a:srgbClr val="CFE2F3"/>
                </a:highlight>
              </a:rPr>
              <a:t>computadora derrote a un humano </a:t>
            </a:r>
            <a:r>
              <a:rPr lang="en" sz="1400">
                <a:highlight>
                  <a:srgbClr val="CFE2F3"/>
                </a:highlight>
              </a:rPr>
              <a:t>en un concurso de reconocimiento visual de objetos. La primera vez en toda la historia de IA.</a:t>
            </a:r>
            <a:endParaRPr sz="1400">
              <a:highlight>
                <a:srgbClr val="CFE2F3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125" y="1597875"/>
            <a:ext cx="6184425" cy="327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6" name="Google Shape;41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900" y="1597875"/>
            <a:ext cx="4553750" cy="311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900" y="1597875"/>
            <a:ext cx="4601275" cy="31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8" name="Google Shape;4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650" y="1597875"/>
            <a:ext cx="4601275" cy="3122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4" name="Google Shape;43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475" y="2043963"/>
            <a:ext cx="3477800" cy="235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3675" y="2043975"/>
            <a:ext cx="3930625" cy="235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1" name="Google Shape;44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650" y="1597875"/>
            <a:ext cx="4658700" cy="3161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8"/>
          <p:cNvSpPr txBox="1"/>
          <p:nvPr/>
        </p:nvSpPr>
        <p:spPr>
          <a:xfrm>
            <a:off x="1875650" y="1189650"/>
            <a:ext cx="4658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aven Pro"/>
                <a:ea typeface="Maven Pro"/>
                <a:cs typeface="Maven Pro"/>
                <a:sym typeface="Maven Pro"/>
              </a:rPr>
              <a:t>Capa Convolucional</a:t>
            </a:r>
            <a:endParaRPr b="1" sz="1800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8" name="Google Shape;44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500" y="1714500"/>
            <a:ext cx="2716750" cy="292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5800" y="1714500"/>
            <a:ext cx="2443250" cy="2928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9"/>
          <p:cNvSpPr txBox="1"/>
          <p:nvPr/>
        </p:nvSpPr>
        <p:spPr>
          <a:xfrm>
            <a:off x="1875650" y="1189650"/>
            <a:ext cx="4658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aven Pro"/>
                <a:ea typeface="Maven Pro"/>
                <a:cs typeface="Maven Pro"/>
                <a:sym typeface="Maven Pro"/>
              </a:rPr>
              <a:t>Capa Convolucional</a:t>
            </a:r>
            <a:endParaRPr b="1" sz="1800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6" name="Google Shape;45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650" y="1597875"/>
            <a:ext cx="2916350" cy="3161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0"/>
          <p:cNvSpPr txBox="1"/>
          <p:nvPr/>
        </p:nvSpPr>
        <p:spPr>
          <a:xfrm>
            <a:off x="1875650" y="1189650"/>
            <a:ext cx="4658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aven Pro"/>
                <a:ea typeface="Maven Pro"/>
                <a:cs typeface="Maven Pro"/>
                <a:sym typeface="Maven Pro"/>
              </a:rPr>
              <a:t>Capa Convolucional</a:t>
            </a:r>
            <a:endParaRPr b="1" sz="1800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1"/>
          <p:cNvSpPr txBox="1"/>
          <p:nvPr/>
        </p:nvSpPr>
        <p:spPr>
          <a:xfrm>
            <a:off x="1875650" y="1189650"/>
            <a:ext cx="4658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aven Pro"/>
                <a:ea typeface="Maven Pro"/>
                <a:cs typeface="Maven Pro"/>
                <a:sym typeface="Maven Pro"/>
              </a:rPr>
              <a:t>Capa RELU: Rectified Linear Unit</a:t>
            </a:r>
            <a:endParaRPr b="1" sz="1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464" name="Google Shape;46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650" y="1597875"/>
            <a:ext cx="4579975" cy="32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1"/>
          <p:cNvSpPr txBox="1"/>
          <p:nvPr/>
        </p:nvSpPr>
        <p:spPr>
          <a:xfrm>
            <a:off x="6823025" y="2212013"/>
            <a:ext cx="1800000" cy="20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 capa se entrena con Backpropagation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2"/>
          <p:cNvSpPr txBox="1"/>
          <p:nvPr/>
        </p:nvSpPr>
        <p:spPr>
          <a:xfrm>
            <a:off x="1875650" y="1189650"/>
            <a:ext cx="4658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aven Pro"/>
                <a:ea typeface="Maven Pro"/>
                <a:cs typeface="Maven Pro"/>
                <a:sym typeface="Maven Pro"/>
              </a:rPr>
              <a:t>Capa Pooling</a:t>
            </a:r>
            <a:endParaRPr b="1" sz="1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472" name="Google Shape;47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650" y="1597875"/>
            <a:ext cx="4567425" cy="3274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2"/>
          <p:cNvSpPr txBox="1"/>
          <p:nvPr/>
        </p:nvSpPr>
        <p:spPr>
          <a:xfrm>
            <a:off x="6534350" y="1872325"/>
            <a:ext cx="22515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aven Pro"/>
                <a:ea typeface="Maven Pro"/>
                <a:cs typeface="Maven Pro"/>
                <a:sym typeface="Maven Pro"/>
              </a:rPr>
              <a:t>R</a:t>
            </a:r>
            <a:r>
              <a:rPr lang="en" sz="1800">
                <a:latin typeface="Maven Pro"/>
                <a:ea typeface="Maven Pro"/>
                <a:cs typeface="Maven Pro"/>
                <a:sym typeface="Maven Pro"/>
              </a:rPr>
              <a:t>educción en la dimensionalidad </a:t>
            </a:r>
            <a:endParaRPr sz="1800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3"/>
          <p:cNvSpPr txBox="1"/>
          <p:nvPr/>
        </p:nvSpPr>
        <p:spPr>
          <a:xfrm>
            <a:off x="1875650" y="1189650"/>
            <a:ext cx="4658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aven Pro"/>
                <a:ea typeface="Maven Pro"/>
                <a:cs typeface="Maven Pro"/>
                <a:sym typeface="Maven Pro"/>
              </a:rPr>
              <a:t>Capa </a:t>
            </a:r>
            <a:r>
              <a:rPr b="1" i="1" lang="en" sz="1800">
                <a:latin typeface="Maven Pro"/>
                <a:ea typeface="Maven Pro"/>
                <a:cs typeface="Maven Pro"/>
                <a:sym typeface="Maven Pro"/>
              </a:rPr>
              <a:t>Fully Connected</a:t>
            </a:r>
            <a:endParaRPr b="1" i="1" sz="1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80" name="Google Shape;480;p43"/>
          <p:cNvSpPr txBox="1"/>
          <p:nvPr/>
        </p:nvSpPr>
        <p:spPr>
          <a:xfrm>
            <a:off x="6534350" y="1872325"/>
            <a:ext cx="22515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aven Pro"/>
                <a:ea typeface="Maven Pro"/>
                <a:cs typeface="Maven Pro"/>
                <a:sym typeface="Maven Pro"/>
              </a:rPr>
              <a:t>Sirve para clasificar los ejemplos</a:t>
            </a:r>
            <a:endParaRPr sz="1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481" name="Google Shape;48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650" y="1597875"/>
            <a:ext cx="4565216" cy="32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/>
        </p:nvSpPr>
        <p:spPr>
          <a:xfrm>
            <a:off x="1875650" y="1189650"/>
            <a:ext cx="4658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aven Pro"/>
                <a:ea typeface="Maven Pro"/>
                <a:cs typeface="Maven Pro"/>
                <a:sym typeface="Maven Pro"/>
              </a:rPr>
              <a:t>Arquitectura típica completa</a:t>
            </a:r>
            <a:endParaRPr b="1" i="1" sz="1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88" name="Google Shape;488;p44"/>
          <p:cNvSpPr txBox="1"/>
          <p:nvPr/>
        </p:nvSpPr>
        <p:spPr>
          <a:xfrm>
            <a:off x="6840500" y="1872325"/>
            <a:ext cx="19455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aven Pro"/>
                <a:ea typeface="Maven Pro"/>
                <a:cs typeface="Maven Pro"/>
                <a:sym typeface="Maven Pro"/>
              </a:rPr>
              <a:t>Múltiples capas: Convolucional, RELU y Pooling pero solo 1 FC</a:t>
            </a:r>
            <a:endParaRPr sz="1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489" name="Google Shape;48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200" y="1672350"/>
            <a:ext cx="5093589" cy="32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5"/>
          <p:cNvSpPr txBox="1"/>
          <p:nvPr/>
        </p:nvSpPr>
        <p:spPr>
          <a:xfrm>
            <a:off x="1875650" y="1189650"/>
            <a:ext cx="4658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Nunito"/>
                <a:ea typeface="Nunito"/>
                <a:cs typeface="Nunito"/>
                <a:sym typeface="Nunito"/>
              </a:rPr>
              <a:t>¿Qué es Convolución?</a:t>
            </a:r>
            <a:endParaRPr sz="24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96" name="Google Shape;496;p45"/>
          <p:cNvSpPr txBox="1"/>
          <p:nvPr>
            <p:ph idx="1" type="body"/>
          </p:nvPr>
        </p:nvSpPr>
        <p:spPr>
          <a:xfrm>
            <a:off x="367375" y="1753800"/>
            <a:ext cx="7966800" cy="5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/>
              <a:t>Es una manera de combinar dos funciones en una nueva</a:t>
            </a:r>
            <a:endParaRPr sz="1800"/>
          </a:p>
        </p:txBody>
      </p:sp>
      <p:pic>
        <p:nvPicPr>
          <p:cNvPr id="497" name="Google Shape;49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9150" y="2353200"/>
            <a:ext cx="1631702" cy="2485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5"/>
          <p:cNvSpPr txBox="1"/>
          <p:nvPr/>
        </p:nvSpPr>
        <p:spPr>
          <a:xfrm>
            <a:off x="4905250" y="4680975"/>
            <a:ext cx="416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https://www.youtube.com/watch?v=KuXjwB4LzSA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4" name="Google Shape;50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738" y="1145875"/>
            <a:ext cx="5264523" cy="380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6"/>
          <p:cNvSpPr txBox="1"/>
          <p:nvPr/>
        </p:nvSpPr>
        <p:spPr>
          <a:xfrm>
            <a:off x="430275" y="2974150"/>
            <a:ext cx="21678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Nunito"/>
                <a:ea typeface="Nunito"/>
                <a:cs typeface="Nunito"/>
                <a:sym typeface="Nunito"/>
              </a:rPr>
              <a:t>Convolución</a:t>
            </a:r>
            <a:endParaRPr sz="24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7"/>
          <p:cNvSpPr txBox="1"/>
          <p:nvPr/>
        </p:nvSpPr>
        <p:spPr>
          <a:xfrm>
            <a:off x="1303800" y="1154675"/>
            <a:ext cx="216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Nunito"/>
                <a:ea typeface="Nunito"/>
                <a:cs typeface="Nunito"/>
                <a:sym typeface="Nunito"/>
              </a:rPr>
              <a:t>Convolución</a:t>
            </a:r>
            <a:endParaRPr sz="24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12" name="Google Shape;51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75" y="1779600"/>
            <a:ext cx="4439255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0425" y="1679375"/>
            <a:ext cx="3953325" cy="152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8"/>
          <p:cNvSpPr txBox="1"/>
          <p:nvPr/>
        </p:nvSpPr>
        <p:spPr>
          <a:xfrm>
            <a:off x="1875650" y="1189650"/>
            <a:ext cx="4658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Nunito"/>
                <a:ea typeface="Nunito"/>
                <a:cs typeface="Nunito"/>
                <a:sym typeface="Nunito"/>
              </a:rPr>
              <a:t>¿Qué es RELU?</a:t>
            </a:r>
            <a:endParaRPr sz="24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20" name="Google Shape;520;p48"/>
          <p:cNvSpPr txBox="1"/>
          <p:nvPr>
            <p:ph idx="1" type="body"/>
          </p:nvPr>
        </p:nvSpPr>
        <p:spPr>
          <a:xfrm>
            <a:off x="367375" y="1753800"/>
            <a:ext cx="7966800" cy="7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Relu es básicamente la función de activación la cual es: </a:t>
            </a:r>
            <a:r>
              <a:rPr b="1" lang="en" sz="1800"/>
              <a:t>y = max(0,x)</a:t>
            </a:r>
            <a:r>
              <a:rPr lang="en" sz="1800"/>
              <a:t>  : dado un x de entrada, devuelve x si x&gt;0 sino devuelve 0:</a:t>
            </a:r>
            <a:endParaRPr sz="18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21" name="Google Shape;52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4038" y="2626950"/>
            <a:ext cx="2841930" cy="22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9"/>
          <p:cNvSpPr txBox="1"/>
          <p:nvPr/>
        </p:nvSpPr>
        <p:spPr>
          <a:xfrm>
            <a:off x="1875650" y="1189650"/>
            <a:ext cx="4658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Nunito"/>
                <a:ea typeface="Nunito"/>
                <a:cs typeface="Nunito"/>
                <a:sym typeface="Nunito"/>
              </a:rPr>
              <a:t>Pooling</a:t>
            </a:r>
            <a:endParaRPr sz="24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28" name="Google Shape;52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650" y="1672350"/>
            <a:ext cx="4658700" cy="319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4" name="Google Shape;53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50" y="1378175"/>
            <a:ext cx="8334299" cy="3765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500" y="2613725"/>
            <a:ext cx="4441501" cy="15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5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</a:t>
            </a:r>
            <a:endParaRPr/>
          </a:p>
        </p:txBody>
      </p:sp>
      <p:sp>
        <p:nvSpPr>
          <p:cNvPr id="541" name="Google Shape;541;p51"/>
          <p:cNvSpPr txBox="1"/>
          <p:nvPr>
            <p:ph idx="1" type="body"/>
          </p:nvPr>
        </p:nvSpPr>
        <p:spPr>
          <a:xfrm>
            <a:off x="1347550" y="1351475"/>
            <a:ext cx="70305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Útiles cuando los patrones en los datos cambian con el tiempo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Estas redes existen hace mucho tiempo pero han ganado popularidad recientemente gracias al trabajo de: </a:t>
            </a:r>
            <a:r>
              <a:rPr b="1" lang="en"/>
              <a:t>Jürgen Schmidhuber</a:t>
            </a:r>
            <a:r>
              <a:rPr lang="en"/>
              <a:t>, </a:t>
            </a:r>
            <a:r>
              <a:rPr b="1" lang="en"/>
              <a:t>Sepp Hochreiter</a:t>
            </a:r>
            <a:r>
              <a:rPr lang="en"/>
              <a:t> y </a:t>
            </a:r>
            <a:r>
              <a:rPr b="1" lang="en"/>
              <a:t>Alex Graves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51"/>
          <p:cNvSpPr txBox="1"/>
          <p:nvPr/>
        </p:nvSpPr>
        <p:spPr>
          <a:xfrm>
            <a:off x="1303800" y="4152300"/>
            <a:ext cx="70743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Pueden recibir una </a:t>
            </a:r>
            <a:r>
              <a:rPr b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secuencia</a:t>
            </a: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de valores como </a:t>
            </a:r>
            <a:r>
              <a:rPr b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entrada</a:t>
            </a: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y pueden también devolver una </a:t>
            </a:r>
            <a:r>
              <a:rPr b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secuencia</a:t>
            </a: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de valores de </a:t>
            </a:r>
            <a:r>
              <a:rPr b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salida</a:t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3" name="Google Shape;543;p51"/>
          <p:cNvSpPr txBox="1"/>
          <p:nvPr/>
        </p:nvSpPr>
        <p:spPr>
          <a:xfrm>
            <a:off x="3340800" y="2371650"/>
            <a:ext cx="259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Red desplegada en el tiempo</a:t>
            </a:r>
            <a:endParaRPr b="1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</a:t>
            </a:r>
            <a:endParaRPr/>
          </a:p>
        </p:txBody>
      </p:sp>
      <p:sp>
        <p:nvSpPr>
          <p:cNvPr id="549" name="Google Shape;549;p52"/>
          <p:cNvSpPr txBox="1"/>
          <p:nvPr>
            <p:ph idx="1" type="body"/>
          </p:nvPr>
        </p:nvSpPr>
        <p:spPr>
          <a:xfrm>
            <a:off x="1347550" y="1351475"/>
            <a:ext cx="70305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Capa de neuronas recurrentes desplegada en el tiempo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50" name="Google Shape;5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23275"/>
            <a:ext cx="8839200" cy="3062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</a:t>
            </a:r>
            <a:endParaRPr/>
          </a:p>
        </p:txBody>
      </p:sp>
      <p:sp>
        <p:nvSpPr>
          <p:cNvPr id="556" name="Google Shape;556;p53"/>
          <p:cNvSpPr txBox="1"/>
          <p:nvPr>
            <p:ph idx="1" type="body"/>
          </p:nvPr>
        </p:nvSpPr>
        <p:spPr>
          <a:xfrm>
            <a:off x="1347550" y="1351475"/>
            <a:ext cx="70305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Ecuación de la salida de una capa recurrente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57" name="Google Shape;55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8788" y="1895050"/>
            <a:ext cx="420052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3"/>
          <p:cNvSpPr txBox="1"/>
          <p:nvPr/>
        </p:nvSpPr>
        <p:spPr>
          <a:xfrm>
            <a:off x="1502825" y="2723450"/>
            <a:ext cx="7429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Celdas de memoria: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La parte de una red neuronal que mantiene algún estado a lo largo de los pasos de tiempo recibe el nombre de “Celda de memoria” 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simplemente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“celda”.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Cómo las redes recurrentes en el paso de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tiempo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es una función de todas las salidas anteriores, se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podría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decir que tiene una especie de memoria….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</a:t>
            </a:r>
            <a:endParaRPr/>
          </a:p>
        </p:txBody>
      </p:sp>
      <p:sp>
        <p:nvSpPr>
          <p:cNvPr id="564" name="Google Shape;564;p54"/>
          <p:cNvSpPr txBox="1"/>
          <p:nvPr>
            <p:ph idx="1" type="body"/>
          </p:nvPr>
        </p:nvSpPr>
        <p:spPr>
          <a:xfrm>
            <a:off x="985700" y="1309025"/>
            <a:ext cx="26718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Entrada</a:t>
            </a:r>
            <a:r>
              <a:rPr lang="en" sz="1800"/>
              <a:t>: secuencia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Salida</a:t>
            </a:r>
            <a:r>
              <a:rPr lang="en" sz="1800"/>
              <a:t>: </a:t>
            </a:r>
            <a:r>
              <a:rPr lang="en" sz="1800"/>
              <a:t>secuencia</a:t>
            </a:r>
            <a:r>
              <a:rPr lang="en" sz="1800"/>
              <a:t>    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5" name="Google Shape;565;p54"/>
          <p:cNvSpPr/>
          <p:nvPr/>
        </p:nvSpPr>
        <p:spPr>
          <a:xfrm>
            <a:off x="3927000" y="2020625"/>
            <a:ext cx="997500" cy="391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6" name="Google Shape;56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700" y="2695075"/>
            <a:ext cx="3352700" cy="19729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7" name="Google Shape;567;p54"/>
          <p:cNvGrpSpPr/>
          <p:nvPr/>
        </p:nvGrpSpPr>
        <p:grpSpPr>
          <a:xfrm>
            <a:off x="4975875" y="506300"/>
            <a:ext cx="3970552" cy="1905525"/>
            <a:chOff x="4975875" y="506300"/>
            <a:chExt cx="3970552" cy="1905525"/>
          </a:xfrm>
        </p:grpSpPr>
        <p:sp>
          <p:nvSpPr>
            <p:cNvPr id="568" name="Google Shape;568;p54"/>
            <p:cNvSpPr txBox="1"/>
            <p:nvPr/>
          </p:nvSpPr>
          <p:spPr>
            <a:xfrm>
              <a:off x="4975875" y="779850"/>
              <a:ext cx="2325300" cy="99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clasificar vídeos</a:t>
              </a:r>
              <a:r>
                <a:rPr lang="en" sz="1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 </a:t>
              </a:r>
              <a:r>
                <a:rPr lang="en" sz="1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cuadro a cuadro</a:t>
              </a:r>
              <a:endParaRPr/>
            </a:p>
          </p:txBody>
        </p:sp>
        <p:pic>
          <p:nvPicPr>
            <p:cNvPr id="569" name="Google Shape;569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29751" y="506300"/>
              <a:ext cx="2116675" cy="1905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0" name="Google Shape;570;p54"/>
          <p:cNvSpPr txBox="1"/>
          <p:nvPr/>
        </p:nvSpPr>
        <p:spPr>
          <a:xfrm>
            <a:off x="5065900" y="2765775"/>
            <a:ext cx="4064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Series temporales: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Por ejemplo, precios de acciones, se introducen los precios de los últimos N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días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y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la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salida deben ser los precios desplazados un día en el futuro (N-1 hasta mañana)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</a:t>
            </a:r>
            <a:endParaRPr/>
          </a:p>
        </p:txBody>
      </p:sp>
      <p:sp>
        <p:nvSpPr>
          <p:cNvPr id="576" name="Google Shape;576;p55"/>
          <p:cNvSpPr txBox="1"/>
          <p:nvPr>
            <p:ph idx="1" type="body"/>
          </p:nvPr>
        </p:nvSpPr>
        <p:spPr>
          <a:xfrm>
            <a:off x="985700" y="1309025"/>
            <a:ext cx="26718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Entrada</a:t>
            </a:r>
            <a:r>
              <a:rPr lang="en" sz="1800"/>
              <a:t>: secuencia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Salida</a:t>
            </a:r>
            <a:r>
              <a:rPr lang="en" sz="1800"/>
              <a:t>: </a:t>
            </a:r>
            <a:r>
              <a:rPr lang="en" sz="1800"/>
              <a:t>singular</a:t>
            </a:r>
            <a:r>
              <a:rPr lang="en" sz="1800"/>
              <a:t>    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7" name="Google Shape;577;p55"/>
          <p:cNvSpPr/>
          <p:nvPr/>
        </p:nvSpPr>
        <p:spPr>
          <a:xfrm>
            <a:off x="3941100" y="1486500"/>
            <a:ext cx="997500" cy="391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55"/>
          <p:cNvSpPr txBox="1"/>
          <p:nvPr/>
        </p:nvSpPr>
        <p:spPr>
          <a:xfrm>
            <a:off x="5173450" y="1309025"/>
            <a:ext cx="37869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clasificación de documentos</a:t>
            </a:r>
            <a:endParaRPr/>
          </a:p>
        </p:txBody>
      </p:sp>
      <p:pic>
        <p:nvPicPr>
          <p:cNvPr id="579" name="Google Shape;57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7325" y="2379200"/>
            <a:ext cx="2806919" cy="253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450" y="2637900"/>
            <a:ext cx="2957766" cy="23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5"/>
          <p:cNvSpPr txBox="1"/>
          <p:nvPr/>
        </p:nvSpPr>
        <p:spPr>
          <a:xfrm>
            <a:off x="3387000" y="2616225"/>
            <a:ext cx="2671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Entrada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Secuencia de palabras de una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crítica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cinematográfica.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Cada palabra en un paso de tiempo.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Salida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un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único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valor entre -1 y 1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(-1[odio], +1[amor])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</a:t>
            </a:r>
            <a:endParaRPr/>
          </a:p>
        </p:txBody>
      </p:sp>
      <p:sp>
        <p:nvSpPr>
          <p:cNvPr id="587" name="Google Shape;587;p56"/>
          <p:cNvSpPr txBox="1"/>
          <p:nvPr>
            <p:ph idx="1" type="body"/>
          </p:nvPr>
        </p:nvSpPr>
        <p:spPr>
          <a:xfrm>
            <a:off x="985700" y="1309025"/>
            <a:ext cx="24762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Entrada</a:t>
            </a:r>
            <a:r>
              <a:rPr lang="en" sz="1800"/>
              <a:t>: singular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Salida</a:t>
            </a:r>
            <a:r>
              <a:rPr lang="en" sz="1800"/>
              <a:t>: secuencia    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8" name="Google Shape;588;p56"/>
          <p:cNvSpPr/>
          <p:nvPr/>
        </p:nvSpPr>
        <p:spPr>
          <a:xfrm>
            <a:off x="3941100" y="1486500"/>
            <a:ext cx="997500" cy="391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56"/>
          <p:cNvSpPr txBox="1"/>
          <p:nvPr/>
        </p:nvSpPr>
        <p:spPr>
          <a:xfrm>
            <a:off x="5143800" y="990325"/>
            <a:ext cx="38610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Etiquetamiento</a:t>
            </a:r>
            <a:endParaRPr/>
          </a:p>
        </p:txBody>
      </p:sp>
      <p:pic>
        <p:nvPicPr>
          <p:cNvPr id="590" name="Google Shape;59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50" y="2652725"/>
            <a:ext cx="3335059" cy="23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6"/>
          <p:cNvSpPr txBox="1"/>
          <p:nvPr/>
        </p:nvSpPr>
        <p:spPr>
          <a:xfrm>
            <a:off x="4268950" y="2101050"/>
            <a:ext cx="4269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Pasamos una imagen una y otra vez (o la salida de un red Convolucional) y va generando una secuencia de palabras que puede ser un título para la imagen.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92" name="Google Shape;59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1900" y="3206253"/>
            <a:ext cx="5592149" cy="18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</a:t>
            </a:r>
            <a:endParaRPr/>
          </a:p>
        </p:txBody>
      </p:sp>
      <p:sp>
        <p:nvSpPr>
          <p:cNvPr id="598" name="Google Shape;598;p57"/>
          <p:cNvSpPr txBox="1"/>
          <p:nvPr/>
        </p:nvSpPr>
        <p:spPr>
          <a:xfrm>
            <a:off x="1222450" y="1309025"/>
            <a:ext cx="6767700" cy="11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Si se introduce una pequeña demora, la red puede de forma estadística, pronosticar la demanda en una cadena de suministros.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99" name="Google Shape;59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2450" y="2294000"/>
            <a:ext cx="6603603" cy="28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</a:t>
            </a:r>
            <a:endParaRPr/>
          </a:p>
        </p:txBody>
      </p:sp>
      <p:sp>
        <p:nvSpPr>
          <p:cNvPr id="605" name="Google Shape;605;p58"/>
          <p:cNvSpPr txBox="1"/>
          <p:nvPr/>
        </p:nvSpPr>
        <p:spPr>
          <a:xfrm>
            <a:off x="1222450" y="1309025"/>
            <a:ext cx="67677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Apilamiento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06" name="Google Shape;60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8488" y="1597875"/>
            <a:ext cx="3947036" cy="33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</a:t>
            </a:r>
            <a:endParaRPr/>
          </a:p>
        </p:txBody>
      </p:sp>
      <p:sp>
        <p:nvSpPr>
          <p:cNvPr id="612" name="Google Shape;612;p59"/>
          <p:cNvSpPr txBox="1"/>
          <p:nvPr/>
        </p:nvSpPr>
        <p:spPr>
          <a:xfrm>
            <a:off x="1222450" y="1309025"/>
            <a:ext cx="67677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Problemas de entrenamiento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el problema del desvanecimiento del gradiente es exponencialmente peor.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3" name="Google Shape;613;p59"/>
          <p:cNvSpPr txBox="1"/>
          <p:nvPr/>
        </p:nvSpPr>
        <p:spPr>
          <a:xfrm>
            <a:off x="1303800" y="2072100"/>
            <a:ext cx="6767700" cy="99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 sola capa con 100 pasos temporales es como entrenar una red de 100 capas de alimentación hacia adelante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14" name="Google Shape;61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825" y="3247425"/>
            <a:ext cx="379095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</a:t>
            </a:r>
            <a:endParaRPr/>
          </a:p>
        </p:txBody>
      </p:sp>
      <p:sp>
        <p:nvSpPr>
          <p:cNvPr id="620" name="Google Shape;620;p60"/>
          <p:cNvSpPr txBox="1"/>
          <p:nvPr/>
        </p:nvSpPr>
        <p:spPr>
          <a:xfrm>
            <a:off x="1188150" y="1201450"/>
            <a:ext cx="67677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Soluciones posibles a los p</a:t>
            </a: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roblemas de entrenamiento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1" name="Google Shape;621;p60"/>
          <p:cNvSpPr txBox="1"/>
          <p:nvPr>
            <p:ph idx="1" type="body"/>
          </p:nvPr>
        </p:nvSpPr>
        <p:spPr>
          <a:xfrm>
            <a:off x="1188150" y="1914125"/>
            <a:ext cx="3096900" cy="20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Gating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LSTM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GRU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Gradient Clipping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Better Optimizers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Steeper gates</a:t>
            </a:r>
            <a:endParaRPr/>
          </a:p>
        </p:txBody>
      </p:sp>
      <p:sp>
        <p:nvSpPr>
          <p:cNvPr id="622" name="Google Shape;622;p60"/>
          <p:cNvSpPr txBox="1"/>
          <p:nvPr>
            <p:ph idx="1" type="body"/>
          </p:nvPr>
        </p:nvSpPr>
        <p:spPr>
          <a:xfrm>
            <a:off x="5075650" y="1914125"/>
            <a:ext cx="3139500" cy="11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/>
              <a:t>Gating es una técnica que le dice a la red cuando olvidar el input y cuando recordarlo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vs. Redes hacia adelante</a:t>
            </a:r>
            <a:endParaRPr/>
          </a:p>
        </p:txBody>
      </p:sp>
      <p:sp>
        <p:nvSpPr>
          <p:cNvPr id="628" name="Google Shape;628;p61"/>
          <p:cNvSpPr txBox="1"/>
          <p:nvPr/>
        </p:nvSpPr>
        <p:spPr>
          <a:xfrm>
            <a:off x="469425" y="1597875"/>
            <a:ext cx="4782300" cy="3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Red hacia adelante: 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Clasificación o regresión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Red Recurrente: 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Serie, predicción, pronóstico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9" name="Google Shape;62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2900" y="1359700"/>
            <a:ext cx="3739925" cy="36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2"/>
          <p:cNvSpPr txBox="1"/>
          <p:nvPr>
            <p:ph type="ctrTitle"/>
          </p:nvPr>
        </p:nvSpPr>
        <p:spPr>
          <a:xfrm>
            <a:off x="824000" y="293409"/>
            <a:ext cx="7302900" cy="319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Neuronales de Tensores Recursivas (</a:t>
            </a:r>
            <a:r>
              <a:rPr i="1" lang="en"/>
              <a:t>Recursive Neural Tensor Nets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3"/>
          <p:cNvSpPr txBox="1"/>
          <p:nvPr>
            <p:ph type="title"/>
          </p:nvPr>
        </p:nvSpPr>
        <p:spPr>
          <a:xfrm>
            <a:off x="1303800" y="598575"/>
            <a:ext cx="70305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Redes Neuronales de Tensores Recursivas</a:t>
            </a:r>
            <a:endParaRPr sz="2400"/>
          </a:p>
        </p:txBody>
      </p:sp>
      <p:sp>
        <p:nvSpPr>
          <p:cNvPr id="640" name="Google Shape;640;p63"/>
          <p:cNvSpPr txBox="1"/>
          <p:nvPr>
            <p:ph idx="1" type="body"/>
          </p:nvPr>
        </p:nvSpPr>
        <p:spPr>
          <a:xfrm>
            <a:off x="404075" y="1501050"/>
            <a:ext cx="4016400" cy="33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</a:t>
            </a:r>
            <a:r>
              <a:rPr lang="en" sz="1400"/>
              <a:t>readas por </a:t>
            </a:r>
            <a:r>
              <a:rPr b="1" lang="en" sz="1400"/>
              <a:t>Richard Socher</a:t>
            </a:r>
            <a:r>
              <a:rPr lang="en" sz="1400"/>
              <a:t> de MetaMind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Para realizar tareas de análisis de sentimiento, tiene en cuenta el </a:t>
            </a:r>
            <a:r>
              <a:rPr b="1" lang="en" sz="1400"/>
              <a:t>orden</a:t>
            </a:r>
            <a:r>
              <a:rPr lang="en" sz="1400"/>
              <a:t> y la </a:t>
            </a:r>
            <a:r>
              <a:rPr b="1" lang="en" sz="1400"/>
              <a:t>agrupación sintáctica</a:t>
            </a:r>
            <a:endParaRPr b="1"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Tienen estructura de árbol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Neuronas raiz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Neuronas Hojas</a:t>
            </a:r>
            <a:endParaRPr sz="1400"/>
          </a:p>
        </p:txBody>
      </p:sp>
      <p:pic>
        <p:nvPicPr>
          <p:cNvPr id="641" name="Google Shape;64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3975" y="1222575"/>
            <a:ext cx="3857200" cy="37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4"/>
          <p:cNvSpPr txBox="1"/>
          <p:nvPr>
            <p:ph type="title"/>
          </p:nvPr>
        </p:nvSpPr>
        <p:spPr>
          <a:xfrm>
            <a:off x="1303800" y="598575"/>
            <a:ext cx="70305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Redes Neuronales de Tensores Recursivas</a:t>
            </a:r>
            <a:endParaRPr sz="2400"/>
          </a:p>
        </p:txBody>
      </p:sp>
      <p:sp>
        <p:nvSpPr>
          <p:cNvPr id="647" name="Google Shape;647;p64"/>
          <p:cNvSpPr txBox="1"/>
          <p:nvPr>
            <p:ph idx="1" type="body"/>
          </p:nvPr>
        </p:nvSpPr>
        <p:spPr>
          <a:xfrm>
            <a:off x="407400" y="1468588"/>
            <a:ext cx="8329200" cy="9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/>
              <a:t>El nodo raíz genera un “score” que es vuelto a ingresar en los nodos hojas de forma recursiva</a:t>
            </a:r>
            <a:endParaRPr b="1" sz="1800"/>
          </a:p>
        </p:txBody>
      </p:sp>
      <p:sp>
        <p:nvSpPr>
          <p:cNvPr id="648" name="Google Shape;648;p64"/>
          <p:cNvSpPr txBox="1"/>
          <p:nvPr>
            <p:ph idx="1" type="body"/>
          </p:nvPr>
        </p:nvSpPr>
        <p:spPr>
          <a:xfrm>
            <a:off x="654450" y="2617000"/>
            <a:ext cx="8329200" cy="15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Veamos un ejemplo con la siguiente frase en inglés</a:t>
            </a:r>
            <a:endParaRPr b="1" sz="1800"/>
          </a:p>
          <a:p>
            <a:pPr indent="0" lvl="0" marL="0" rtl="0" algn="ctr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400"/>
              <a:t>“The car is fast”</a:t>
            </a:r>
            <a:endParaRPr b="1" sz="2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5"/>
          <p:cNvSpPr txBox="1"/>
          <p:nvPr>
            <p:ph type="title"/>
          </p:nvPr>
        </p:nvSpPr>
        <p:spPr>
          <a:xfrm>
            <a:off x="1303800" y="598575"/>
            <a:ext cx="70305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Redes Neuronales de Tensores Recursivas</a:t>
            </a:r>
            <a:endParaRPr sz="2400"/>
          </a:p>
        </p:txBody>
      </p:sp>
      <p:sp>
        <p:nvSpPr>
          <p:cNvPr id="654" name="Google Shape;654;p65"/>
          <p:cNvSpPr txBox="1"/>
          <p:nvPr>
            <p:ph idx="1" type="body"/>
          </p:nvPr>
        </p:nvSpPr>
        <p:spPr>
          <a:xfrm>
            <a:off x="4664900" y="1468629"/>
            <a:ext cx="4071600" cy="30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“Alimentamos” con las dos primeras palabras a los grupos hojas uno y dos respectivamente.</a:t>
            </a:r>
            <a:endParaRPr b="1" sz="1800"/>
          </a:p>
          <a:p>
            <a:pPr indent="0" lvl="0" marL="0" rtl="0" algn="ct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ctr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800"/>
          </a:p>
        </p:txBody>
      </p:sp>
      <p:pic>
        <p:nvPicPr>
          <p:cNvPr id="655" name="Google Shape;65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50" y="1468600"/>
            <a:ext cx="3976200" cy="31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6"/>
          <p:cNvSpPr txBox="1"/>
          <p:nvPr>
            <p:ph type="title"/>
          </p:nvPr>
        </p:nvSpPr>
        <p:spPr>
          <a:xfrm>
            <a:off x="1303800" y="598575"/>
            <a:ext cx="70305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Redes Neuronales de Tensores Recursivas</a:t>
            </a:r>
            <a:endParaRPr sz="2400"/>
          </a:p>
        </p:txBody>
      </p:sp>
      <p:sp>
        <p:nvSpPr>
          <p:cNvPr id="661" name="Google Shape;661;p66"/>
          <p:cNvSpPr txBox="1"/>
          <p:nvPr>
            <p:ph idx="1" type="body"/>
          </p:nvPr>
        </p:nvSpPr>
        <p:spPr>
          <a:xfrm>
            <a:off x="621800" y="4506300"/>
            <a:ext cx="2901300" cy="5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/>
              <a:t>Paso 02</a:t>
            </a:r>
            <a:endParaRPr b="1" sz="1800"/>
          </a:p>
        </p:txBody>
      </p:sp>
      <p:pic>
        <p:nvPicPr>
          <p:cNvPr id="662" name="Google Shape;66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863" y="1485900"/>
            <a:ext cx="2901173" cy="302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4425" y="1485900"/>
            <a:ext cx="2699868" cy="30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66"/>
          <p:cNvSpPr txBox="1"/>
          <p:nvPr>
            <p:ph idx="1" type="body"/>
          </p:nvPr>
        </p:nvSpPr>
        <p:spPr>
          <a:xfrm>
            <a:off x="5533713" y="4447625"/>
            <a:ext cx="2901300" cy="5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/>
              <a:t>Paso 03</a:t>
            </a:r>
            <a:endParaRPr b="1" sz="18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7"/>
          <p:cNvSpPr txBox="1"/>
          <p:nvPr>
            <p:ph type="title"/>
          </p:nvPr>
        </p:nvSpPr>
        <p:spPr>
          <a:xfrm>
            <a:off x="1303800" y="598575"/>
            <a:ext cx="70305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Redes Neuronales de Tensores Recursivas</a:t>
            </a:r>
            <a:endParaRPr sz="2400"/>
          </a:p>
        </p:txBody>
      </p:sp>
      <p:sp>
        <p:nvSpPr>
          <p:cNvPr id="670" name="Google Shape;670;p67"/>
          <p:cNvSpPr txBox="1"/>
          <p:nvPr>
            <p:ph idx="1" type="body"/>
          </p:nvPr>
        </p:nvSpPr>
        <p:spPr>
          <a:xfrm>
            <a:off x="1247700" y="1733150"/>
            <a:ext cx="35541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Etiquetamiento gramatical</a:t>
            </a:r>
            <a:endParaRPr b="1" sz="1800"/>
          </a:p>
          <a:p>
            <a:pPr indent="0" lvl="0" marL="0" rtl="0" algn="ct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Una vez que la red obtuvo el mejor parser, vuelve sobre sus pasos (</a:t>
            </a:r>
            <a:r>
              <a:rPr i="1" lang="en" sz="1400"/>
              <a:t>backtracks</a:t>
            </a:r>
            <a:r>
              <a:rPr lang="en" sz="1400"/>
              <a:t>) a través del parser para obtener las etiquetas gramaticales:</a:t>
            </a:r>
            <a:endParaRPr sz="1400"/>
          </a:p>
          <a:p>
            <a:pPr indent="0" lvl="0" marL="0" rtl="0" algn="ct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ctr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800"/>
          </a:p>
        </p:txBody>
      </p:sp>
      <p:pic>
        <p:nvPicPr>
          <p:cNvPr id="671" name="Google Shape;67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3951" y="1733150"/>
            <a:ext cx="3290948" cy="325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8"/>
          <p:cNvSpPr txBox="1"/>
          <p:nvPr>
            <p:ph type="title"/>
          </p:nvPr>
        </p:nvSpPr>
        <p:spPr>
          <a:xfrm>
            <a:off x="1303800" y="598575"/>
            <a:ext cx="70305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Redes Neuronales de Tensores Recursivas</a:t>
            </a:r>
            <a:endParaRPr sz="2400"/>
          </a:p>
        </p:txBody>
      </p:sp>
      <p:sp>
        <p:nvSpPr>
          <p:cNvPr id="677" name="Google Shape;677;p68"/>
          <p:cNvSpPr txBox="1"/>
          <p:nvPr>
            <p:ph idx="1" type="body"/>
          </p:nvPr>
        </p:nvSpPr>
        <p:spPr>
          <a:xfrm>
            <a:off x="499725" y="3361425"/>
            <a:ext cx="24225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/>
              <a:t>Etiqueta esto como frase nominal</a:t>
            </a:r>
            <a:endParaRPr b="1" sz="1800"/>
          </a:p>
        </p:txBody>
      </p:sp>
      <p:pic>
        <p:nvPicPr>
          <p:cNvPr id="678" name="Google Shape;67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25" y="1824850"/>
            <a:ext cx="2422610" cy="1536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4264" y="1824850"/>
            <a:ext cx="4710816" cy="1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68"/>
          <p:cNvSpPr txBox="1"/>
          <p:nvPr>
            <p:ph idx="1" type="body"/>
          </p:nvPr>
        </p:nvSpPr>
        <p:spPr>
          <a:xfrm>
            <a:off x="3094275" y="3361425"/>
            <a:ext cx="47109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/>
              <a:t>Luego vuelve sobre este paso y etiqueta el árbol como Frase Verbal</a:t>
            </a:r>
            <a:endParaRPr b="1" sz="18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9"/>
          <p:cNvSpPr txBox="1"/>
          <p:nvPr>
            <p:ph type="title"/>
          </p:nvPr>
        </p:nvSpPr>
        <p:spPr>
          <a:xfrm>
            <a:off x="1303800" y="598575"/>
            <a:ext cx="70305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Redes Neuronales de Tensores Recursivas</a:t>
            </a:r>
            <a:endParaRPr sz="2400"/>
          </a:p>
        </p:txBody>
      </p:sp>
      <p:sp>
        <p:nvSpPr>
          <p:cNvPr id="686" name="Google Shape;686;p69"/>
          <p:cNvSpPr txBox="1"/>
          <p:nvPr>
            <p:ph idx="1" type="body"/>
          </p:nvPr>
        </p:nvSpPr>
        <p:spPr>
          <a:xfrm>
            <a:off x="1303800" y="4371525"/>
            <a:ext cx="4069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/>
              <a:t>Etiqueta todo como “S”</a:t>
            </a:r>
            <a:endParaRPr b="1" sz="1800"/>
          </a:p>
        </p:txBody>
      </p:sp>
      <p:pic>
        <p:nvPicPr>
          <p:cNvPr id="687" name="Google Shape;68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384750"/>
            <a:ext cx="4069700" cy="298677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69"/>
          <p:cNvSpPr txBox="1"/>
          <p:nvPr>
            <p:ph idx="1" type="body"/>
          </p:nvPr>
        </p:nvSpPr>
        <p:spPr>
          <a:xfrm>
            <a:off x="5373600" y="1384750"/>
            <a:ext cx="3321000" cy="29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Este tipo de redes utilizan </a:t>
            </a:r>
            <a:r>
              <a:rPr b="1" lang="en" sz="1400"/>
              <a:t>BackPropagation</a:t>
            </a:r>
            <a:r>
              <a:rPr lang="en" sz="1400"/>
              <a:t>. Para ello comparan el árbol de dependencias obtenido con un árbol de dependencias generado a mano para una misma oración de entrada</a:t>
            </a:r>
            <a:endParaRPr sz="1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0"/>
          <p:cNvSpPr txBox="1"/>
          <p:nvPr>
            <p:ph type="title"/>
          </p:nvPr>
        </p:nvSpPr>
        <p:spPr>
          <a:xfrm>
            <a:off x="1303800" y="598575"/>
            <a:ext cx="70305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Redes Neuronales de Tensores Recursivas</a:t>
            </a:r>
            <a:endParaRPr sz="2400"/>
          </a:p>
        </p:txBody>
      </p:sp>
      <p:sp>
        <p:nvSpPr>
          <p:cNvPr id="694" name="Google Shape;694;p70"/>
          <p:cNvSpPr txBox="1"/>
          <p:nvPr>
            <p:ph idx="1" type="body"/>
          </p:nvPr>
        </p:nvSpPr>
        <p:spPr>
          <a:xfrm>
            <a:off x="1303800" y="1134450"/>
            <a:ext cx="623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latin typeface="Maven Pro"/>
                <a:ea typeface="Maven Pro"/>
                <a:cs typeface="Maven Pro"/>
                <a:sym typeface="Maven Pro"/>
              </a:rPr>
              <a:t>Usos</a:t>
            </a:r>
            <a:endParaRPr b="1" sz="2400"/>
          </a:p>
        </p:txBody>
      </p:sp>
      <p:pic>
        <p:nvPicPr>
          <p:cNvPr id="695" name="Google Shape;69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575" y="1705388"/>
            <a:ext cx="4253425" cy="242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5725" y="1697213"/>
            <a:ext cx="4253425" cy="2436428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70"/>
          <p:cNvSpPr txBox="1"/>
          <p:nvPr>
            <p:ph idx="1" type="body"/>
          </p:nvPr>
        </p:nvSpPr>
        <p:spPr>
          <a:xfrm>
            <a:off x="192575" y="4125450"/>
            <a:ext cx="42534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Especialmente Análisis de Sentimientos</a:t>
            </a:r>
            <a:endParaRPr sz="1400"/>
          </a:p>
        </p:txBody>
      </p:sp>
      <p:sp>
        <p:nvSpPr>
          <p:cNvPr id="698" name="Google Shape;698;p70"/>
          <p:cNvSpPr txBox="1"/>
          <p:nvPr>
            <p:ph idx="1" type="body"/>
          </p:nvPr>
        </p:nvSpPr>
        <p:spPr>
          <a:xfrm>
            <a:off x="4715738" y="4125450"/>
            <a:ext cx="42534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Detección de componentes en imágenes</a:t>
            </a:r>
            <a:endParaRPr sz="1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71"/>
          <p:cNvSpPr txBox="1"/>
          <p:nvPr>
            <p:ph type="title"/>
          </p:nvPr>
        </p:nvSpPr>
        <p:spPr>
          <a:xfrm>
            <a:off x="1303800" y="598575"/>
            <a:ext cx="70305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Redes Neuronales de Tensores Recursivas</a:t>
            </a:r>
            <a:endParaRPr sz="2400"/>
          </a:p>
        </p:txBody>
      </p:sp>
      <p:sp>
        <p:nvSpPr>
          <p:cNvPr id="704" name="Google Shape;704;p71"/>
          <p:cNvSpPr txBox="1"/>
          <p:nvPr>
            <p:ph idx="1" type="body"/>
          </p:nvPr>
        </p:nvSpPr>
        <p:spPr>
          <a:xfrm>
            <a:off x="1303800" y="1134450"/>
            <a:ext cx="623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latin typeface="Maven Pro"/>
                <a:ea typeface="Maven Pro"/>
                <a:cs typeface="Maven Pro"/>
                <a:sym typeface="Maven Pro"/>
              </a:rPr>
              <a:t>Usos y ejemplos de aplicaciones</a:t>
            </a:r>
            <a:endParaRPr b="1" sz="2400"/>
          </a:p>
        </p:txBody>
      </p:sp>
      <p:sp>
        <p:nvSpPr>
          <p:cNvPr id="705" name="Google Shape;705;p71"/>
          <p:cNvSpPr txBox="1"/>
          <p:nvPr>
            <p:ph idx="1" type="body"/>
          </p:nvPr>
        </p:nvSpPr>
        <p:spPr>
          <a:xfrm>
            <a:off x="1303800" y="1621850"/>
            <a:ext cx="5903700" cy="33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Reconocimiento de </a:t>
            </a:r>
            <a:r>
              <a:rPr b="1" lang="en" sz="1400"/>
              <a:t>imágenes</a:t>
            </a:r>
            <a:r>
              <a:rPr lang="en" sz="1400"/>
              <a:t>: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https://www.clarifai.com/demo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Análisis de sentimiento en Twitter</a:t>
            </a:r>
            <a:r>
              <a:rPr lang="en" sz="1400"/>
              <a:t>: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http://www.MetaMind.io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Detección de Cáncer</a:t>
            </a:r>
            <a:r>
              <a:rPr lang="en" sz="1400"/>
              <a:t> (más de 6mil factores)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Radiología</a:t>
            </a:r>
            <a:r>
              <a:rPr lang="en" sz="1400"/>
              <a:t> (Usando tomógrafos computados y similares, detectan posibles tumores)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Finanzas</a:t>
            </a:r>
            <a:r>
              <a:rPr lang="en" sz="1400"/>
              <a:t> (predicción de las finanzas)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Publicidad digital</a:t>
            </a:r>
            <a:r>
              <a:rPr lang="en" sz="1400"/>
              <a:t> (optimizar segmentos, clientes, etc.)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Detección de Fraude</a:t>
            </a:r>
            <a:endParaRPr b="1"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Cliente inteligente, ventas por internet etc.</a:t>
            </a:r>
            <a:endParaRPr b="1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