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Nunito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  <p:embeddedFont>
      <p:font typeface="Maven Pro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DEE984-F443-453F-9168-E004540A5E23}">
  <a:tblStyle styleId="{3BDEE984-F443-453F-9168-E004540A5E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venPr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33" Type="http://schemas.openxmlformats.org/officeDocument/2006/relationships/font" Target="fonts/Nunito-italic.fntdata"/><Relationship Id="rId10" Type="http://schemas.openxmlformats.org/officeDocument/2006/relationships/slide" Target="slides/slide4.xml"/><Relationship Id="rId32" Type="http://schemas.openxmlformats.org/officeDocument/2006/relationships/font" Target="fonts/Nunito-bold.fntdata"/><Relationship Id="rId13" Type="http://schemas.openxmlformats.org/officeDocument/2006/relationships/slide" Target="slides/slide7.xml"/><Relationship Id="rId35" Type="http://schemas.openxmlformats.org/officeDocument/2006/relationships/font" Target="fonts/Lato-regular.fntdata"/><Relationship Id="rId12" Type="http://schemas.openxmlformats.org/officeDocument/2006/relationships/slide" Target="slides/slide6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9.xml"/><Relationship Id="rId37" Type="http://schemas.openxmlformats.org/officeDocument/2006/relationships/font" Target="fonts/Lato-italic.fntdata"/><Relationship Id="rId14" Type="http://schemas.openxmlformats.org/officeDocument/2006/relationships/slide" Target="slides/slide8.xml"/><Relationship Id="rId36" Type="http://schemas.openxmlformats.org/officeDocument/2006/relationships/font" Target="fonts/Lato-bold.fntdata"/><Relationship Id="rId17" Type="http://schemas.openxmlformats.org/officeDocument/2006/relationships/slide" Target="slides/slide11.xml"/><Relationship Id="rId39" Type="http://schemas.openxmlformats.org/officeDocument/2006/relationships/font" Target="fonts/MavenPro-regular.fntdata"/><Relationship Id="rId16" Type="http://schemas.openxmlformats.org/officeDocument/2006/relationships/slide" Target="slides/slide10.xml"/><Relationship Id="rId38" Type="http://schemas.openxmlformats.org/officeDocument/2006/relationships/font" Target="fonts/La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b017036b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b017036b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b017036b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b017036b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b017036b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b017036b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b017036b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1b017036b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b017036bb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1b017036bb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400ab74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400ab74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400ab742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400ab742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2400ab742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2400ab742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400ab742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400ab742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2400ab742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2400ab742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400ab742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400ab742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2400ab74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2400ab74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2400ab742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2400ab742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2400ab742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2400ab742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2400ab742e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2400ab742e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400ab742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400ab742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2400ab742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2400ab742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2400ab742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2400ab742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b017036b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1b017036b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Ensambles: Gradient Boost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Gradient Boost crea una cadena de árboles de profundidad fija.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Comienza con un solo valor, un nodo hoja. Y luego calcula árboles para calcular el error cometido por el anterior.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Cada árbol está ponderado por un factor constante llamado </a:t>
            </a:r>
            <a:r>
              <a:rPr b="1" i="1" lang="en" sz="1700"/>
              <a:t>learning rate</a:t>
            </a:r>
            <a:r>
              <a:rPr lang="en" sz="1700"/>
              <a:t> o tasa de aprendizaje.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AutoNum type="alphaLcPeriod"/>
            </a:pPr>
            <a:r>
              <a:rPr lang="en" sz="1700"/>
              <a:t>Los árboles están restringidos en su crecimiento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99" name="Google Shape;99;p15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788475"/>
                <a:gridCol w="788475"/>
                <a:gridCol w="788475"/>
                <a:gridCol w="788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(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5"/>
          <p:cNvSpPr txBox="1"/>
          <p:nvPr/>
        </p:nvSpPr>
        <p:spPr>
          <a:xfrm>
            <a:off x="3499550" y="1996725"/>
            <a:ext cx="533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este ejemplo, queremos determinar un valor en un rango continuo, el peso (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Weight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), por lo tanto estamos ante un problema de regresión.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Gradient Boost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puede usarse para problemas de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regresión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 de clasificación.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3697100" y="3252600"/>
            <a:ext cx="40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1: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una sola hoja de un árbol, que clasifica todos los casos.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Esta hoja es el promedio.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201850" y="44379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08" name="Google Shape;108;p16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  <a:gridCol w="10234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Prediction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" name="Google Shape;109;p16"/>
          <p:cNvSpPr txBox="1"/>
          <p:nvPr/>
        </p:nvSpPr>
        <p:spPr>
          <a:xfrm>
            <a:off x="6039550" y="1799150"/>
            <a:ext cx="3048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2: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error cometido por el estimador hasta ahora.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lo llama: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Residuo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Residuo =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(Peso observado - peso predicho)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039550" y="1446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1" name="Google Shape;111;p16"/>
          <p:cNvCxnSpPr>
            <a:stCxn id="110" idx="1"/>
          </p:cNvCxnSpPr>
          <p:nvPr/>
        </p:nvCxnSpPr>
        <p:spPr>
          <a:xfrm flipH="1">
            <a:off x="4226350" y="1622750"/>
            <a:ext cx="1813200" cy="444600"/>
          </a:xfrm>
          <a:prstGeom prst="curvedConnector3">
            <a:avLst>
              <a:gd fmla="val 9805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p16"/>
          <p:cNvSpPr txBox="1"/>
          <p:nvPr/>
        </p:nvSpPr>
        <p:spPr>
          <a:xfrm>
            <a:off x="6110100" y="3605400"/>
            <a:ext cx="2949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NOTA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: El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término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correcto sería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pseudo-residuo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Los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residuos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son los errores en regresión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lineal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acá se toma la palabra por similitud, pero se le agrega el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pseudo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para entender que es otro modelo.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18" name="Google Shape;118;p17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17"/>
          <p:cNvSpPr txBox="1"/>
          <p:nvPr/>
        </p:nvSpPr>
        <p:spPr>
          <a:xfrm>
            <a:off x="4015525" y="3957050"/>
            <a:ext cx="5023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3: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Construimos un árbol. Para los Residuos.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árbol estará limitado a solo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 hojas.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casos reales se usa un valor entre 8 y 32 hojas.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574" y="7792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/>
          <p:nvPr/>
        </p:nvSpPr>
        <p:spPr>
          <a:xfrm>
            <a:off x="275175" y="335845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75175" y="45299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17"/>
          <p:cNvCxnSpPr>
            <a:stCxn id="121" idx="3"/>
          </p:cNvCxnSpPr>
          <p:nvPr/>
        </p:nvCxnSpPr>
        <p:spPr>
          <a:xfrm flipH="1" rot="10800000">
            <a:off x="3704175" y="2363500"/>
            <a:ext cx="1185300" cy="1164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7"/>
          <p:cNvCxnSpPr>
            <a:stCxn id="122" idx="3"/>
          </p:cNvCxnSpPr>
          <p:nvPr/>
        </p:nvCxnSpPr>
        <p:spPr>
          <a:xfrm flipH="1" rot="10800000">
            <a:off x="3704175" y="2370650"/>
            <a:ext cx="1178400" cy="23286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7"/>
          <p:cNvSpPr txBox="1"/>
          <p:nvPr/>
        </p:nvSpPr>
        <p:spPr>
          <a:xfrm>
            <a:off x="6836850" y="2786950"/>
            <a:ext cx="205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Lato"/>
                <a:ea typeface="Lato"/>
                <a:cs typeface="Lato"/>
                <a:sym typeface="Lato"/>
              </a:rPr>
              <a:t>-14.2 + (-15.2)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-14.7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   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912575" y="2679100"/>
            <a:ext cx="174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Unificamos estos dos valores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Con el promedio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023550" y="21590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133" name="Google Shape;133;p18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4" name="Google Shape;134;p18"/>
          <p:cNvSpPr txBox="1"/>
          <p:nvPr/>
        </p:nvSpPr>
        <p:spPr>
          <a:xfrm>
            <a:off x="4015525" y="3957050"/>
            <a:ext cx="5023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Paso 3: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Construimos un árbol. Para los Residuos.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árbol estará limitado a solo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4 hojas.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 casos reales se usa un valor entre 8 y 32 hojas.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574" y="7792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283775" y="37950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283775" y="4209900"/>
            <a:ext cx="3429000" cy="338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8"/>
          <p:cNvCxnSpPr>
            <a:stCxn id="136" idx="3"/>
          </p:cNvCxnSpPr>
          <p:nvPr/>
        </p:nvCxnSpPr>
        <p:spPr>
          <a:xfrm flipH="1" rot="10800000">
            <a:off x="3712775" y="2596350"/>
            <a:ext cx="3674400" cy="1368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8"/>
          <p:cNvCxnSpPr>
            <a:stCxn id="137" idx="3"/>
          </p:cNvCxnSpPr>
          <p:nvPr/>
        </p:nvCxnSpPr>
        <p:spPr>
          <a:xfrm flipH="1" rot="10800000">
            <a:off x="3712775" y="2630250"/>
            <a:ext cx="3738000" cy="1749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8"/>
          <p:cNvSpPr txBox="1"/>
          <p:nvPr/>
        </p:nvSpPr>
        <p:spPr>
          <a:xfrm>
            <a:off x="6822750" y="2945150"/>
            <a:ext cx="205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latin typeface="Lato"/>
                <a:ea typeface="Lato"/>
                <a:cs typeface="Lato"/>
                <a:sym typeface="Lato"/>
              </a:rPr>
              <a:t>1.8</a:t>
            </a:r>
            <a:r>
              <a:rPr lang="en" u="sng">
                <a:latin typeface="Lato"/>
                <a:ea typeface="Lato"/>
                <a:cs typeface="Lato"/>
                <a:sym typeface="Lato"/>
              </a:rPr>
              <a:t> + 5.8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3.8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        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4015525" y="2630250"/>
            <a:ext cx="157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Unificamos estos dos valores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r>
              <a:rPr lang="en">
                <a:latin typeface="Lato"/>
                <a:ea typeface="Lato"/>
                <a:cs typeface="Lato"/>
                <a:sym typeface="Lato"/>
              </a:rPr>
              <a:t>Con el promedio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023550" y="21590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109150" y="21590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474" y="18538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/>
          <p:nvPr/>
        </p:nvSpPr>
        <p:spPr>
          <a:xfrm>
            <a:off x="4995450" y="32336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081050" y="32336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252200" y="23188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066200" y="22423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4" name="Google Shape;154;p19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5" name="Google Shape;155;p19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7" name="Google Shape;157;p19"/>
          <p:cNvCxnSpPr>
            <a:stCxn id="152" idx="2"/>
            <a:endCxn id="156" idx="0"/>
          </p:cNvCxnSpPr>
          <p:nvPr/>
        </p:nvCxnSpPr>
        <p:spPr>
          <a:xfrm>
            <a:off x="2767300" y="2671650"/>
            <a:ext cx="2256000" cy="17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19"/>
          <p:cNvSpPr/>
          <p:nvPr/>
        </p:nvSpPr>
        <p:spPr>
          <a:xfrm>
            <a:off x="54646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357050" y="1864875"/>
            <a:ext cx="12135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7081050" y="2511700"/>
            <a:ext cx="15198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8050400" y="3158525"/>
            <a:ext cx="8547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19"/>
          <p:cNvCxnSpPr>
            <a:endCxn id="159" idx="1"/>
          </p:cNvCxnSpPr>
          <p:nvPr/>
        </p:nvCxnSpPr>
        <p:spPr>
          <a:xfrm flipH="1" rot="10800000">
            <a:off x="3605450" y="2091825"/>
            <a:ext cx="2751600" cy="1901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3" name="Google Shape;163;p19"/>
          <p:cNvSpPr txBox="1"/>
          <p:nvPr/>
        </p:nvSpPr>
        <p:spPr>
          <a:xfrm>
            <a:off x="5739750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16.8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4" name="Google Shape;164;p19"/>
          <p:cNvCxnSpPr>
            <a:stCxn id="161" idx="2"/>
            <a:endCxn id="163" idx="0"/>
          </p:cNvCxnSpPr>
          <p:nvPr/>
        </p:nvCxnSpPr>
        <p:spPr>
          <a:xfrm flipH="1">
            <a:off x="6085550" y="3612425"/>
            <a:ext cx="2392200" cy="7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9"/>
          <p:cNvSpPr txBox="1"/>
          <p:nvPr/>
        </p:nvSpPr>
        <p:spPr>
          <a:xfrm>
            <a:off x="64545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88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2720475" y="4558475"/>
            <a:ext cx="352800" cy="3528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689925" y="4413300"/>
            <a:ext cx="352800" cy="3528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749" y="1430525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5157725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24332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769125" y="1930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103375" y="18538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6791713" y="3552925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88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968125" y="3200125"/>
            <a:ext cx="338700" cy="352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3760600" y="4021675"/>
            <a:ext cx="38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 modelo predice sospechosamente bien…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675" y="3327400"/>
            <a:ext cx="1013850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729450" y="2078875"/>
            <a:ext cx="8047800" cy="25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endParaRPr sz="27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 error debido al </a:t>
            </a:r>
            <a:r>
              <a:rPr i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un modelo es simplemente la diferencia entre el valor esperado del estimador (es decir, la predicción media del modelo) y el valor real.</a:t>
            </a:r>
            <a:endParaRPr sz="20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Cuando se dice que un modelo tiene un </a:t>
            </a:r>
            <a:r>
              <a:rPr lang="en" sz="2042" u="sng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 muy alto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quiere decir que </a:t>
            </a:r>
            <a:r>
              <a:rPr b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 modelo es muy simple y no se ha ajustado a los datos de entrenamiento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" sz="2042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), por lo que produce un error alto en todas las muestras: entrenamiento, validación y test</a:t>
            </a:r>
            <a:endParaRPr sz="2042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729450" y="2078875"/>
            <a:ext cx="7688700" cy="27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Variance (varianza)</a:t>
            </a:r>
            <a:endParaRPr sz="20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La varianza de un estimador es cuánto varía la predicción según los datos que utilicemos para el entrenamiento.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 modelo con </a:t>
            </a: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varianza baja indica que cambiar los datos de entrenamiento produce cambios pequeños en la estimación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300"/>
              </a:spcBef>
              <a:spcAft>
                <a:spcPts val="4600"/>
              </a:spcAft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 contrario, un modelo con </a:t>
            </a:r>
            <a:r>
              <a:rPr b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varianza alta quiere decir que pequeños cambios en el dataset conlleva a grandes cambios en el output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(suele ser </a:t>
            </a:r>
            <a:r>
              <a:rPr b="1" i="1"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tradeoff</a:t>
            </a:r>
            <a:r>
              <a:rPr lang="en"/>
              <a:t> bias vs variance</a:t>
            </a:r>
            <a:endParaRPr/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775" y="1853850"/>
            <a:ext cx="7670049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698500" y="1799175"/>
            <a:ext cx="2638800" cy="2490600"/>
          </a:xfrm>
          <a:prstGeom prst="ellipse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2667000" y="4056925"/>
            <a:ext cx="4064100" cy="831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Estoy en este caso. El estimador aprendió de memoria los datos de entrenamiento pero no será bueno con nuevos datos nunca antes vistos.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749" y="1430525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/>
          <p:nvPr/>
        </p:nvSpPr>
        <p:spPr>
          <a:xfrm>
            <a:off x="5157725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724332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1864125" y="19303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3198375" y="1853850"/>
            <a:ext cx="505800" cy="505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3" name="Google Shape;213;p24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" name="Google Shape;214;p24"/>
          <p:cNvSpPr txBox="1"/>
          <p:nvPr/>
        </p:nvSpPr>
        <p:spPr>
          <a:xfrm>
            <a:off x="3760600" y="3358450"/>
            <a:ext cx="507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Gradient Boost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maneja el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overfitting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usando un parametro llamado </a:t>
            </a:r>
            <a:r>
              <a:rPr b="1" i="1" lang="en">
                <a:latin typeface="Lato"/>
                <a:ea typeface="Lato"/>
                <a:cs typeface="Lato"/>
                <a:sym typeface="Lato"/>
              </a:rPr>
              <a:t>Learning 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para escalar la contribución de cada árbol.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un valor entre 0 y 1.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732425" y="190665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Learning_Rate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5046725" y="196920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474" y="18538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/>
          <p:nvPr/>
        </p:nvSpPr>
        <p:spPr>
          <a:xfrm>
            <a:off x="4995450" y="3233600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7081050" y="3233600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3042425" y="231885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4219200" y="2318850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7" name="Google Shape;227;p25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8" name="Google Shape;228;p25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0" name="Google Shape;230;p25"/>
          <p:cNvCxnSpPr>
            <a:stCxn id="225" idx="2"/>
            <a:endCxn id="229" idx="0"/>
          </p:cNvCxnSpPr>
          <p:nvPr/>
        </p:nvCxnSpPr>
        <p:spPr>
          <a:xfrm>
            <a:off x="3557525" y="2671650"/>
            <a:ext cx="1465800" cy="171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5"/>
          <p:cNvSpPr/>
          <p:nvPr/>
        </p:nvSpPr>
        <p:spPr>
          <a:xfrm>
            <a:off x="54646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6357050" y="1864875"/>
            <a:ext cx="12135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7081050" y="2511700"/>
            <a:ext cx="15198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8050400" y="3158525"/>
            <a:ext cx="854700" cy="453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25"/>
          <p:cNvCxnSpPr>
            <a:endCxn id="232" idx="1"/>
          </p:cNvCxnSpPr>
          <p:nvPr/>
        </p:nvCxnSpPr>
        <p:spPr>
          <a:xfrm flipH="1" rot="10800000">
            <a:off x="3605450" y="2091825"/>
            <a:ext cx="2751600" cy="1901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36" name="Google Shape;236;p25"/>
          <p:cNvSpPr txBox="1"/>
          <p:nvPr/>
        </p:nvSpPr>
        <p:spPr>
          <a:xfrm>
            <a:off x="5739750" y="4389600"/>
            <a:ext cx="125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16.8)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5"/>
          <p:cNvCxnSpPr>
            <a:stCxn id="234" idx="2"/>
            <a:endCxn id="236" idx="0"/>
          </p:cNvCxnSpPr>
          <p:nvPr/>
        </p:nvCxnSpPr>
        <p:spPr>
          <a:xfrm flipH="1">
            <a:off x="6365750" y="3612425"/>
            <a:ext cx="2112000" cy="7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5"/>
          <p:cNvSpPr txBox="1"/>
          <p:nvPr/>
        </p:nvSpPr>
        <p:spPr>
          <a:xfrm>
            <a:off x="69220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72.9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25"/>
          <p:cNvSpPr txBox="1"/>
          <p:nvPr/>
        </p:nvSpPr>
        <p:spPr>
          <a:xfrm>
            <a:off x="4458900" y="2295150"/>
            <a:ext cx="7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201925" y="235770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106425" y="2159025"/>
            <a:ext cx="23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Elegimos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Lato"/>
                <a:ea typeface="Lato"/>
                <a:cs typeface="Lato"/>
                <a:sym typeface="Lato"/>
              </a:rPr>
              <a:t>Learning_Rate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0.1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47" name="Google Shape;2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974" y="1423450"/>
            <a:ext cx="4020625" cy="176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/>
          <p:nvPr/>
        </p:nvSpPr>
        <p:spPr>
          <a:xfrm>
            <a:off x="5185950" y="2810275"/>
            <a:ext cx="12135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9" name="Google Shape;249;p26"/>
          <p:cNvSpPr/>
          <p:nvPr/>
        </p:nvSpPr>
        <p:spPr>
          <a:xfrm>
            <a:off x="7285675" y="2810275"/>
            <a:ext cx="8214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3305150" y="1945300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4480250" y="1945300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2" name="Google Shape;252;p26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788100"/>
                <a:gridCol w="788100"/>
                <a:gridCol w="788100"/>
                <a:gridCol w="788100"/>
                <a:gridCol w="964475"/>
              </a:tblGrid>
              <a:tr h="54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Predicted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72.9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3" name="Google Shape;253;p26"/>
          <p:cNvSpPr txBox="1"/>
          <p:nvPr/>
        </p:nvSpPr>
        <p:spPr>
          <a:xfrm>
            <a:off x="4721625" y="1921600"/>
            <a:ext cx="74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464650" y="1984150"/>
            <a:ext cx="275100" cy="2751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106425" y="2159025"/>
            <a:ext cx="23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Elegimos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Lato"/>
                <a:ea typeface="Lato"/>
                <a:cs typeface="Lato"/>
                <a:sym typeface="Lato"/>
              </a:rPr>
              <a:t>Learning_Rate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= 0.1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106425" y="2810275"/>
            <a:ext cx="4653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72.9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no es tan buena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predicción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como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88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pero es mejor que la anterior: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71.2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 trata de un pequeño paso en la dirección correcta.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4833050" y="3414900"/>
            <a:ext cx="4064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Segun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Jerome Friedman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el autor de este método, la evidencia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empírica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sugiere que tomar muchos pasos pequeños en la dirección correcta resulta en una mejor predicción en un conjunto de datos de prueba.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Es decir: tendrá una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varianza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baja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729450" y="1318650"/>
            <a:ext cx="3962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263" name="Google Shape;263;p27"/>
          <p:cNvGraphicFramePr/>
          <p:nvPr/>
        </p:nvGraphicFramePr>
        <p:xfrm>
          <a:off x="24695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-13.7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Green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-12.7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4" name="Google Shape;264;p27"/>
          <p:cNvSpPr txBox="1"/>
          <p:nvPr/>
        </p:nvSpPr>
        <p:spPr>
          <a:xfrm>
            <a:off x="4741325" y="1853850"/>
            <a:ext cx="421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Volvemos al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Paso 2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Calculamos el error cometido por el estimador hasta ahora.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Residuo =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(Peso observado - peso predicho)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 flipH="1">
            <a:off x="4620950" y="1453650"/>
            <a:ext cx="33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Generamos un nuevo árbol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3732350" y="2548850"/>
            <a:ext cx="888600" cy="23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graphicFrame>
        <p:nvGraphicFramePr>
          <p:cNvPr id="272" name="Google Shape;272;p28"/>
          <p:cNvGraphicFramePr/>
          <p:nvPr/>
        </p:nvGraphicFramePr>
        <p:xfrm>
          <a:off x="268100" y="204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-15.2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-14.2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3" name="Google Shape;273;p28"/>
          <p:cNvSpPr txBox="1"/>
          <p:nvPr/>
        </p:nvSpPr>
        <p:spPr>
          <a:xfrm>
            <a:off x="1756850" y="1883825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Residuos originales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4" name="Google Shape;274;p28"/>
          <p:cNvCxnSpPr>
            <a:stCxn id="273" idx="2"/>
          </p:cNvCxnSpPr>
          <p:nvPr/>
        </p:nvCxnSpPr>
        <p:spPr>
          <a:xfrm rot="5400000">
            <a:off x="2015150" y="2110475"/>
            <a:ext cx="467700" cy="814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graphicFrame>
        <p:nvGraphicFramePr>
          <p:cNvPr id="275" name="Google Shape;275;p28"/>
          <p:cNvGraphicFramePr/>
          <p:nvPr/>
        </p:nvGraphicFramePr>
        <p:xfrm>
          <a:off x="3626550" y="204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886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Residual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4125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-13.7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5.4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-12.7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6" name="Google Shape;276;p28"/>
          <p:cNvSpPr txBox="1"/>
          <p:nvPr/>
        </p:nvSpPr>
        <p:spPr>
          <a:xfrm>
            <a:off x="4907875" y="2042575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Residuos nuevos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28"/>
          <p:cNvCxnSpPr>
            <a:stCxn id="276" idx="2"/>
          </p:cNvCxnSpPr>
          <p:nvPr/>
        </p:nvCxnSpPr>
        <p:spPr>
          <a:xfrm rot="5400000">
            <a:off x="5166175" y="2269225"/>
            <a:ext cx="467700" cy="814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" name="Google Shape;278;p28"/>
          <p:cNvSpPr txBox="1"/>
          <p:nvPr/>
        </p:nvSpPr>
        <p:spPr>
          <a:xfrm>
            <a:off x="4992625" y="3245575"/>
            <a:ext cx="326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Podemos ver acá que todos los errores (residuos) se redujeron.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Dimos un paso en la dirección correcta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type="title"/>
          </p:nvPr>
        </p:nvSpPr>
        <p:spPr>
          <a:xfrm>
            <a:off x="729450" y="1318650"/>
            <a:ext cx="3652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284" name="Google Shape;2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290" y="1923253"/>
            <a:ext cx="3088710" cy="1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1822543" y="2934519"/>
            <a:ext cx="932100" cy="2016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-14.7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3424735" y="2934519"/>
            <a:ext cx="630900" cy="2016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3.8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142600" y="2091825"/>
            <a:ext cx="1030200" cy="3528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71.2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8" name="Google Shape;288;p29"/>
          <p:cNvSpPr/>
          <p:nvPr/>
        </p:nvSpPr>
        <p:spPr>
          <a:xfrm>
            <a:off x="1172800" y="2091825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9" name="Google Shape;289;p29"/>
          <p:cNvGraphicFramePr/>
          <p:nvPr/>
        </p:nvGraphicFramePr>
        <p:xfrm>
          <a:off x="106425" y="400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{3BDEE984-F443-453F-9168-E004540A5E23}</a:tableStyleId>
              </a:tblPr>
              <a:tblGrid>
                <a:gridCol w="871350"/>
                <a:gridCol w="871350"/>
                <a:gridCol w="871350"/>
                <a:gridCol w="871350"/>
              </a:tblGrid>
              <a:tr h="54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Height (m)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Favorite color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Gender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Weight (kg)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AA84F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0" name="Google Shape;290;p29"/>
          <p:cNvSpPr/>
          <p:nvPr/>
        </p:nvSpPr>
        <p:spPr>
          <a:xfrm>
            <a:off x="3852325" y="4374450"/>
            <a:ext cx="564600" cy="430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46774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71.2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2" name="Google Shape;292;p29"/>
          <p:cNvCxnSpPr>
            <a:stCxn id="287" idx="2"/>
          </p:cNvCxnSpPr>
          <p:nvPr/>
        </p:nvCxnSpPr>
        <p:spPr>
          <a:xfrm>
            <a:off x="657700" y="2444625"/>
            <a:ext cx="4119000" cy="19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/>
          <p:nvPr/>
        </p:nvSpPr>
        <p:spPr>
          <a:xfrm>
            <a:off x="5260625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2868547" y="1931334"/>
            <a:ext cx="9321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3424735" y="2405414"/>
            <a:ext cx="11676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4169406" y="2879494"/>
            <a:ext cx="6567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5494825" y="4402725"/>
            <a:ext cx="12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16.8)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8" name="Google Shape;298;p29"/>
          <p:cNvCxnSpPr>
            <a:stCxn id="296" idx="2"/>
            <a:endCxn id="297" idx="0"/>
          </p:cNvCxnSpPr>
          <p:nvPr/>
        </p:nvCxnSpPr>
        <p:spPr>
          <a:xfrm>
            <a:off x="4497756" y="3212194"/>
            <a:ext cx="1607400" cy="11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9"/>
          <p:cNvSpPr txBox="1"/>
          <p:nvPr/>
        </p:nvSpPr>
        <p:spPr>
          <a:xfrm>
            <a:off x="1525600" y="1988527"/>
            <a:ext cx="5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2042157" y="2103271"/>
            <a:ext cx="211200" cy="2016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065" y="2002003"/>
            <a:ext cx="3088710" cy="1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/>
          <p:nvPr/>
        </p:nvSpPr>
        <p:spPr>
          <a:xfrm>
            <a:off x="5629950" y="2974000"/>
            <a:ext cx="1017300" cy="3012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-13.2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7265700" y="2987050"/>
            <a:ext cx="691500" cy="3012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735322" y="2010084"/>
            <a:ext cx="9321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7291510" y="2484164"/>
            <a:ext cx="11676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8036181" y="2958244"/>
            <a:ext cx="656700" cy="332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5260625" y="2067277"/>
            <a:ext cx="57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0.1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5908932" y="2182021"/>
            <a:ext cx="211200" cy="2016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4866913" y="2091825"/>
            <a:ext cx="352800" cy="352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6697563" y="2987050"/>
            <a:ext cx="5178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4.3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8105613" y="2987050"/>
            <a:ext cx="517800" cy="275100"/>
          </a:xfrm>
          <a:prstGeom prst="roundRect">
            <a:avLst>
              <a:gd fmla="val 16667" name="adj"/>
            </a:avLst>
          </a:prstGeom>
          <a:solidFill>
            <a:srgbClr val="30E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15.1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6647250" y="4452150"/>
            <a:ext cx="275100" cy="2751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841125" y="4389600"/>
            <a:ext cx="12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( 0.1 * 15.1)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4" name="Google Shape;314;p29"/>
          <p:cNvCxnSpPr>
            <a:stCxn id="311" idx="2"/>
            <a:endCxn id="313" idx="0"/>
          </p:cNvCxnSpPr>
          <p:nvPr/>
        </p:nvCxnSpPr>
        <p:spPr>
          <a:xfrm flipH="1">
            <a:off x="7451313" y="3262150"/>
            <a:ext cx="913200" cy="11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29"/>
          <p:cNvSpPr txBox="1"/>
          <p:nvPr/>
        </p:nvSpPr>
        <p:spPr>
          <a:xfrm>
            <a:off x="7931925" y="4389600"/>
            <a:ext cx="6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=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74.4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3647725" y="3458425"/>
            <a:ext cx="4064100" cy="52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Nota: los árboles aquí quedaron iguales, pero podrian ser diferentes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Seguimos añadiendo árboles, hasta que los residuos no cambien significativamente o bien alcanzamos un </a:t>
            </a:r>
            <a:r>
              <a:rPr lang="en" sz="1900"/>
              <a:t>número</a:t>
            </a:r>
            <a:r>
              <a:rPr lang="en" sz="1900"/>
              <a:t> preestablecido de árboles seteado como </a:t>
            </a:r>
            <a:r>
              <a:rPr lang="en" sz="1900"/>
              <a:t>parámetro</a:t>
            </a:r>
            <a:r>
              <a:rPr lang="en" sz="1900"/>
              <a:t>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Finalmente para estimar un nuevo valor, cuando el método termina de entrenar, procedemos como antes, usando el valor inicial y sumando los residuos ponderados de cada árbol.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Boost: ejemplo</a:t>
            </a:r>
            <a:endParaRPr/>
          </a:p>
        </p:txBody>
      </p:sp>
      <p:pic>
        <p:nvPicPr>
          <p:cNvPr id="328" name="Google Shape;3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925" y="1942775"/>
            <a:ext cx="5673236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1"/>
          <p:cNvSpPr txBox="1"/>
          <p:nvPr/>
        </p:nvSpPr>
        <p:spPr>
          <a:xfrm>
            <a:off x="246950" y="1890900"/>
            <a:ext cx="23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 3 árboles quedaría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así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/>
          <p:nvPr/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Video cómo este y muchos otros útiles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3768900" y="3535250"/>
            <a:ext cx="5222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>
                <a:solidFill>
                  <a:srgbClr val="27278B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https://www.youtube.com/channel/UCtYLUTtgS3k1Fg4y5tAhLbw</a:t>
            </a:r>
            <a:endParaRPr sz="17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