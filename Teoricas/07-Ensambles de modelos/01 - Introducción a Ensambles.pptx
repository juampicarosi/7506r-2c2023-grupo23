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623eae57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623eae57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623eae57c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623eae57c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623eae57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623eae57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623eae57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2623eae57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623eae57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623eae57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623eae57c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623eae57c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623eae57c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623eae57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623eae57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623eae57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2623eae57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2623eae57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623eae57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623eae57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623eae57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2623eae57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2623eae57c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2623eae57c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623eae57c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623eae57c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623eae57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2623eae57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623eae57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2623eae57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623eae57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2623eae57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623eae57c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623eae57c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623eae57c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623eae57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623eae57c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623eae57c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623eae57c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623eae57c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623eae57c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623eae57c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623eae57c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2623eae57c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2623eae57c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2623eae57c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623eae57c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623eae57c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623eae57c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623eae57c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623eae57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623eae57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623eae57c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623eae57c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hyperlink" Target="https://quantdare.com/what-is-the-difference-between-bagging-and-boosting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hyperlink" Target="https://towardsdatascience.com/what-is-boosting-in-machine-learning-2244aa19668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304750"/>
            <a:ext cx="8222100" cy="8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sabiduría de las multitudes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En 1906 Galton (primo de Darwin) quería demostrar lo “bruta” que era la gente en base a un experimento.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Este constaba de adivinar el peso de una vaca en una exposición.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Cada participante debía poner su predicción en un buzón, aquel que más se acercarse se la llevaría a la casa.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5" name="Google Shape;75;p14"/>
          <p:cNvSpPr txBox="1"/>
          <p:nvPr/>
        </p:nvSpPr>
        <p:spPr>
          <a:xfrm>
            <a:off x="4107900" y="1300750"/>
            <a:ext cx="50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“The Wisdom of Crowds” James Surowiecki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7085" y="3832735"/>
            <a:ext cx="1636920" cy="131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304750"/>
            <a:ext cx="8222100" cy="8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sabiduría de las multitudes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98"/>
              <a:t>Su hipótesis era que sólo podría ser bueno aquel que estuviese formado y tuviese experiencia en el rubro, el resto serían muy malos, tanto que aún promediando todas sus predicciones estarían muy lejos del valor real y del participante “sabio”</a:t>
            </a:r>
            <a:endParaRPr sz="279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98"/>
              <a:t>Sin embargo...</a:t>
            </a:r>
            <a:endParaRPr sz="279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3" name="Google Shape;83;p15"/>
          <p:cNvSpPr txBox="1"/>
          <p:nvPr/>
        </p:nvSpPr>
        <p:spPr>
          <a:xfrm>
            <a:off x="4107900" y="1300750"/>
            <a:ext cx="50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“The Wisdom of Crowds” James Surowiecki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Entrenar varios modelos, c/u sobre datos distintos.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Cada modelo </a:t>
            </a:r>
            <a:r>
              <a:rPr i="1" lang="en" sz="2500"/>
              <a:t>sobre-ajusta</a:t>
            </a:r>
            <a:r>
              <a:rPr lang="en" sz="2500"/>
              <a:t> de manera diferente.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Cada modelo: bajo sesgo, alta varianza.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Por ejemplo: árboles profundos.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71900" y="1911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endParaRPr sz="27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error debido al </a:t>
            </a:r>
            <a:r>
              <a:rPr i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 un modelo es simplemente la diferencia entre el valor esperado del estimador (es decir, la predicción media del modelo) y el valor real.</a:t>
            </a:r>
            <a:endParaRPr sz="20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Cuando se dice que un modelo tiene un </a:t>
            </a:r>
            <a:r>
              <a:rPr lang="en" sz="2042" u="sng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 muy alto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quiere decir que </a:t>
            </a:r>
            <a:r>
              <a:rPr b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modelo es muy simple y no se ha ajustado a los datos de entrenamiento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), por lo que produce un error alto en todas las muestras: entrenamiento, validación y test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Variance (varianza)</a:t>
            </a:r>
            <a:endParaRPr sz="20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La varianza de un estimador es cuánto varía la predicción según los datos que utilicemos para el entrenamiento.</a:t>
            </a:r>
            <a:endParaRPr sz="13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 modelo con </a:t>
            </a:r>
            <a:r>
              <a:rPr b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varianza baja indica que cambiar los datos de entrenamiento produce cambios pequeños en la estimación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3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460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 contrario, un modelo con </a:t>
            </a:r>
            <a:r>
              <a:rPr b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varianza alta quiere decir que pequeños cambios en el dataset conlleva a grandes cambios en el output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27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tradeoff bias vs variance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75" y="1853850"/>
            <a:ext cx="767004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79175" y="223632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Vuelta a ensambles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548375" y="1868201"/>
            <a:ext cx="3456900" cy="30597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571989" y="2310562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67075" y="2371650"/>
            <a:ext cx="22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 concepto a aprender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22"/>
          <p:cNvCxnSpPr>
            <a:stCxn id="125" idx="0"/>
          </p:cNvCxnSpPr>
          <p:nvPr/>
        </p:nvCxnSpPr>
        <p:spPr>
          <a:xfrm rot="-5400000">
            <a:off x="3290475" y="147000"/>
            <a:ext cx="327600" cy="4121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4548375" y="1868212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4460289" y="223623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5635916" y="1753899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777049" y="203212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6952264" y="314708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277607" y="392812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5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5097134" y="392185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6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4391302" y="3219443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7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5576675" y="2771850"/>
            <a:ext cx="1722300" cy="15714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  8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267075" y="2371650"/>
            <a:ext cx="22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 concepto a aprender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23"/>
          <p:cNvCxnSpPr>
            <a:stCxn id="141" idx="0"/>
          </p:cNvCxnSpPr>
          <p:nvPr/>
        </p:nvCxnSpPr>
        <p:spPr>
          <a:xfrm rot="-5400000">
            <a:off x="3290475" y="147000"/>
            <a:ext cx="327600" cy="4121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00875" y="1752849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312789" y="212087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1488416" y="1638536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2629549" y="191676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2804764" y="3031724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2130107" y="381276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5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949634" y="3806493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6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43802" y="3104081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7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1429175" y="2656487"/>
            <a:ext cx="1722300" cy="15714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  8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5350900" y="1731612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Concepto</a:t>
            </a:r>
            <a:endParaRPr b="1" i="0" sz="1900" u="none" cap="none" strike="noStrike"/>
          </a:p>
        </p:txBody>
      </p:sp>
      <p:sp>
        <p:nvSpPr>
          <p:cNvPr id="158" name="Google Shape;158;p24"/>
          <p:cNvSpPr/>
          <p:nvPr/>
        </p:nvSpPr>
        <p:spPr>
          <a:xfrm>
            <a:off x="4162575" y="1783875"/>
            <a:ext cx="1404900" cy="83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Votación</a:t>
            </a:r>
            <a:r>
              <a:rPr lang="en"/>
              <a:t>: Para una nueva instancia, clasificarla con todos los modelos, y devolver la clase más elegida.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 votación reduce la varianza de la clasificación. (</a:t>
            </a:r>
            <a:r>
              <a:rPr i="1" lang="en"/>
              <a:t>Random Forest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 los modelos individuales devuelven probabilidades, se puede hacer una votación ponderada.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flip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625" y="585067"/>
            <a:ext cx="8000641" cy="4419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  <a:endParaRPr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16482" l="23286" r="18715" t="26188"/>
          <a:stretch/>
        </p:blipFill>
        <p:spPr>
          <a:xfrm>
            <a:off x="4034160" y="2302200"/>
            <a:ext cx="5109480" cy="284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118925" y="1791300"/>
            <a:ext cx="3915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Es una técnica que consiste en construir nuevos conjuntos de entrenamiento usando </a:t>
            </a:r>
            <a:r>
              <a:rPr b="1" i="1" lang="en" sz="2300"/>
              <a:t>bootstrap</a:t>
            </a:r>
            <a:r>
              <a:rPr lang="en" sz="2300"/>
              <a:t> (muestras aleatorias con reemplazo) para entrenar distintos modelos, y luego combinarlos.</a:t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paso a paso</a:t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118925" y="1791300"/>
            <a:ext cx="89268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Dividimos el conjunto de entrenamiento en distintos subconjuntos, obteniendo como resultado diferentes muestras aleatorias.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Las muestras son uniformes (misma cantidad de individuos)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Son muestras con reemplazo (los individuos pueden repetirse en el mismo conjunto de datos)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Entrenamos un modelo con cada subconjunto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Construimos un único modelo predictivo a partir de los anteriores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características</a:t>
            </a:r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118925" y="1791300"/>
            <a:ext cx="8926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Disminuye la varianza en nuestro modelo final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Muy efectivo en conjuntos de datos con varianza alta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reducir el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overfitting</a:t>
            </a:r>
            <a:endParaRPr b="1" i="1"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reducir el ruido de los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outliers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(porque no aparecen en todos los datasets)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mejorar levemente con el voto ponderado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p</a:t>
            </a:r>
            <a:r>
              <a:rPr lang="en"/>
              <a:t>roblemas al usarlo con árboles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118925" y="1791300"/>
            <a:ext cx="8926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pocos atributos son predictores fuertes, 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¡todos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los árboles se van a parecer entre sí!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Esos atributos terminarán cerca de la raíz, para todos los conjuntos generados con 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</a:t>
            </a:r>
            <a:r>
              <a:rPr i="1" lang="en"/>
              <a:t>Random Forest</a:t>
            </a:r>
            <a:endParaRPr i="1"/>
          </a:p>
        </p:txBody>
      </p:sp>
      <p:sp>
        <p:nvSpPr>
          <p:cNvPr id="206" name="Google Shape;206;p32"/>
          <p:cNvSpPr txBox="1"/>
          <p:nvPr/>
        </p:nvSpPr>
        <p:spPr>
          <a:xfrm>
            <a:off x="118925" y="1791300"/>
            <a:ext cx="4206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Igual a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tradicional, pero en cada nodo, considerar sólo un subconjunto de 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atributos elegidos al azar.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600" y="1791300"/>
            <a:ext cx="444303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104050" y="1919075"/>
            <a:ext cx="26088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Alternativa a Bagging.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uscar nuevos modelos para las instancias mal clasificadas por los anteriores.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5451" y="1798725"/>
            <a:ext cx="6237824" cy="23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/>
        </p:nvSpPr>
        <p:spPr>
          <a:xfrm>
            <a:off x="2795450" y="4266300"/>
            <a:ext cx="6295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Fuente: </a:t>
            </a:r>
            <a:r>
              <a:rPr lang="en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the difference between Bagging and Boosting? | Quantdare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471900" y="1919075"/>
            <a:ext cx="8514300" cy="31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Comenzar con un modelo (simple) entrenado sobre todos los datos: h₀</a:t>
            </a:r>
            <a:br>
              <a:rPr lang="en" sz="2200"/>
            </a:br>
            <a:endParaRPr sz="2200"/>
          </a:p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En cada iteración i, entrenar hᵢ dando mayor importancia a los datos mal clasificados por las iteraciones anteriores.</a:t>
            </a:r>
            <a:br>
              <a:rPr lang="en" sz="2200"/>
            </a:br>
            <a:endParaRPr sz="2200"/>
          </a:p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Terminar al conseguir cierto cubrimiento, o luego de un número de iteraciones.</a:t>
            </a:r>
            <a:br>
              <a:rPr lang="en" sz="2200"/>
            </a:br>
            <a:endParaRPr sz="2200"/>
          </a:p>
          <a:p>
            <a:pPr indent="-3368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Clasificar nuevas instancias usando una votación ponderada de todos los modelos construidos.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80" y="119160"/>
            <a:ext cx="8838721" cy="438983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/>
          <p:nvPr/>
        </p:nvSpPr>
        <p:spPr>
          <a:xfrm>
            <a:off x="0" y="4504680"/>
            <a:ext cx="9143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Fuente: </a:t>
            </a:r>
            <a:r>
              <a:rPr b="0" i="0" lang="en" sz="14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https://towardsdatascience.com/what-is-boosting-in-machine-learning-2244aa196682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80" y="533520"/>
            <a:ext cx="8838719" cy="364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Boosting: Modelos exitosos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AdaBoost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Gradient Boosting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XGBoost: eXtreme Gradient Boosting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Boosting: </a:t>
            </a:r>
            <a:r>
              <a:rPr lang="en"/>
              <a:t>XGBoost vs. Gradient Boosting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00"/>
              <a:t>La velocidad de entrenamiento de </a:t>
            </a:r>
            <a:r>
              <a:rPr b="1" lang="en" sz="3100"/>
              <a:t>XGBoost</a:t>
            </a:r>
            <a:r>
              <a:rPr lang="en" sz="3100"/>
              <a:t> es mucho menor gracias a su implementación y a estar mejor orientado al uso eficiente del hardware (GPU)</a:t>
            </a:r>
            <a:br>
              <a:rPr lang="en" sz="3100"/>
            </a:br>
            <a:endParaRPr sz="3100"/>
          </a:p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00"/>
              <a:t>El </a:t>
            </a:r>
            <a:r>
              <a:rPr b="1" i="1" lang="en" sz="3100"/>
              <a:t>accuracy</a:t>
            </a:r>
            <a:r>
              <a:rPr lang="en" sz="3100"/>
              <a:t> (o la métrica adecuada) también es mejor debido a que </a:t>
            </a:r>
            <a:r>
              <a:rPr b="1" lang="en" sz="3100"/>
              <a:t>XGBoost</a:t>
            </a:r>
            <a:r>
              <a:rPr lang="en" sz="3100"/>
              <a:t> maneja mejor el </a:t>
            </a:r>
            <a:r>
              <a:rPr b="1" i="1" lang="en" sz="3100"/>
              <a:t>overfitting</a:t>
            </a:r>
            <a:r>
              <a:rPr lang="en" sz="3100"/>
              <a:t> mediante regularizaciones (esto lo veremos más adelante)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 resumen</a:t>
            </a:r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Necesita pesos, esto implica que: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Debemos adaptar algoritmo de aprendizaje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Y tomar muestras con reemplazo según pesos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Puede sobreajustar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