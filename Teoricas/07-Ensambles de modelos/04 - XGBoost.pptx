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embeddedFontLst>
    <p:embeddedFont>
      <p:font typeface="Nunito"/>
      <p:regular r:id="rId48"/>
      <p:bold r:id="rId49"/>
      <p:italic r:id="rId50"/>
      <p:boldItalic r:id="rId51"/>
    </p:embeddedFont>
    <p:embeddedFont>
      <p:font typeface="Maven Pro"/>
      <p:regular r:id="rId52"/>
      <p:bold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Nunito-regular.fntdata"/><Relationship Id="rId47" Type="http://schemas.openxmlformats.org/officeDocument/2006/relationships/slide" Target="slides/slide42.xml"/><Relationship Id="rId49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Nunito-boldItalic.fntdata"/><Relationship Id="rId50" Type="http://schemas.openxmlformats.org/officeDocument/2006/relationships/font" Target="fonts/Nunito-italic.fntdata"/><Relationship Id="rId53" Type="http://schemas.openxmlformats.org/officeDocument/2006/relationships/font" Target="fonts/MavenPro-bold.fntdata"/><Relationship Id="rId52" Type="http://schemas.openxmlformats.org/officeDocument/2006/relationships/font" Target="fonts/MavenPro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246bb2d128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246bb2d128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246bb2d128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246bb2d128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246bb2d128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246bb2d128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246bb2d128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246bb2d128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25a54b62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125a54b62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25a54b62f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25a54b62f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25a54b62f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125a54b62f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25a54b62f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25a54b62f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25a54b62f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25a54b62f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25a54b62f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25a54b62f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25a54b62f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25a54b62f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125a54b62f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125a54b62f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25a54b62f6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25a54b62f6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25a54b62f6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25a54b62f6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25a54b62f6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125a54b62f6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25a54b62f6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125a54b62f6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25a54b62f6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25a54b62f6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25a54b62f6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25a54b62f6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125a54b62f6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125a54b62f6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25a54b62f6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25a54b62f6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25a54b62f6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125a54b62f6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126255c7d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126255c7d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126255c7df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126255c7df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126255c7dfb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126255c7dfb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26255c7dfb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26255c7dfb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26255c7dfb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26255c7dfb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126255c7dfb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126255c7dfb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126255c7dfb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126255c7dfb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126255c7dfb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126255c7dfb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126255c7dfb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126255c7dfb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26255c7dfb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26255c7dfb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126255c7dfb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126255c7dfb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126255c7dfb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126255c7dfb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126255c7dfb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126255c7dfb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126255c7dfb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126255c7dfb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126255c7dfb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126255c7dfb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126255c7dfb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126255c7dfb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1266b59704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1266b59704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1266b59704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1266b59704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1266b59704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1266b59704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246bb2d128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1246bb2d128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youtube.com/channel/UCtYLUTtgS3k1Fg4y5tAhLbw" TargetMode="Externa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Dr. Ing. Juan M. Rodríguez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</a:t>
            </a:r>
            <a:r>
              <a:rPr lang="en">
                <a:solidFill>
                  <a:srgbClr val="0000FF"/>
                </a:solidFill>
              </a:rPr>
              <a:t>eXtreme Gradient Boost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213550" y="1630225"/>
            <a:ext cx="4092300" cy="28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/>
              <a:t>XGBoost</a:t>
            </a:r>
            <a:r>
              <a:rPr lang="en" sz="1500"/>
              <a:t> fue diseñado para </a:t>
            </a:r>
            <a:r>
              <a:rPr b="1" lang="en" sz="1500"/>
              <a:t>Big Data</a:t>
            </a:r>
            <a:r>
              <a:rPr lang="en" sz="1500"/>
              <a:t>, es decir para conjuntos de datos grandes y complejos. Sin embargo a fines de entender el algoritmo principal lo usaremos con un conjunto de datos simple (y para el caso de regresión).</a:t>
            </a:r>
            <a:endParaRPr sz="1500"/>
          </a:p>
        </p:txBody>
      </p:sp>
      <p:pic>
        <p:nvPicPr>
          <p:cNvPr id="285" name="Google Shape;28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5225" y="1390450"/>
            <a:ext cx="2319069" cy="32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</a:t>
            </a:r>
            <a:r>
              <a:rPr lang="en">
                <a:solidFill>
                  <a:srgbClr val="0000FF"/>
                </a:solidFill>
              </a:rPr>
              <a:t>eXtreme Gradient Boost</a:t>
            </a:r>
            <a:endParaRPr/>
          </a:p>
        </p:txBody>
      </p:sp>
      <p:pic>
        <p:nvPicPr>
          <p:cNvPr id="291" name="Google Shape;29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5"/>
          <p:cNvSpPr/>
          <p:nvPr/>
        </p:nvSpPr>
        <p:spPr>
          <a:xfrm>
            <a:off x="1121825" y="2353050"/>
            <a:ext cx="755100" cy="4374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5"/>
          <p:cNvSpPr/>
          <p:nvPr/>
        </p:nvSpPr>
        <p:spPr>
          <a:xfrm>
            <a:off x="872025" y="3545625"/>
            <a:ext cx="1315200" cy="702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4" name="Google Shape;294;p15"/>
          <p:cNvCxnSpPr>
            <a:stCxn id="292" idx="3"/>
          </p:cNvCxnSpPr>
          <p:nvPr/>
        </p:nvCxnSpPr>
        <p:spPr>
          <a:xfrm flipH="1" rot="10800000">
            <a:off x="1876925" y="2166150"/>
            <a:ext cx="1693200" cy="405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" name="Google Shape;295;p15"/>
          <p:cNvCxnSpPr>
            <a:stCxn id="293" idx="3"/>
          </p:cNvCxnSpPr>
          <p:nvPr/>
        </p:nvCxnSpPr>
        <p:spPr>
          <a:xfrm flipH="1" rot="10800000">
            <a:off x="2187225" y="3294825"/>
            <a:ext cx="1368900" cy="6021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6" name="Google Shape;296;p15"/>
          <p:cNvSpPr txBox="1"/>
          <p:nvPr/>
        </p:nvSpPr>
        <p:spPr>
          <a:xfrm>
            <a:off x="3556125" y="1848550"/>
            <a:ext cx="406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Estas dosis, han tenido un efecto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positivo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en la salud de los pacientes. Por eso están sobre el cero.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3556125" y="2967550"/>
            <a:ext cx="406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Estas dosis, han tenido un efecto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negativo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en la salud de los pacientes.  Por eso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están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por debajo de cero.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8" name="Google Shape;298;p15"/>
          <p:cNvSpPr txBox="1"/>
          <p:nvPr/>
        </p:nvSpPr>
        <p:spPr>
          <a:xfrm>
            <a:off x="3556125" y="4007550"/>
            <a:ext cx="406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Queremos predecir, para una dosis dada en miligramos, que tan efectiva es en los pacientes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</a:t>
            </a:r>
            <a:r>
              <a:rPr lang="en">
                <a:solidFill>
                  <a:srgbClr val="0000FF"/>
                </a:solidFill>
              </a:rPr>
              <a:t>eXtreme Gradient Boost</a:t>
            </a:r>
            <a:endParaRPr/>
          </a:p>
        </p:txBody>
      </p:sp>
      <p:pic>
        <p:nvPicPr>
          <p:cNvPr id="304" name="Google Shape;3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6"/>
          <p:cNvSpPr txBox="1"/>
          <p:nvPr/>
        </p:nvSpPr>
        <p:spPr>
          <a:xfrm>
            <a:off x="2603500" y="1446400"/>
            <a:ext cx="5609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Primer paso: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Hacer una predicción inicial.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Esta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predicción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puede ser cualquier valor.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Pero por defecto se toma 0.5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2603500" y="2405950"/>
            <a:ext cx="13266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0.5</a:t>
            </a:r>
            <a:endParaRPr b="1"/>
          </a:p>
        </p:txBody>
      </p:sp>
      <p:sp>
        <p:nvSpPr>
          <p:cNvPr id="307" name="Google Shape;307;p16"/>
          <p:cNvSpPr txBox="1"/>
          <p:nvPr/>
        </p:nvSpPr>
        <p:spPr>
          <a:xfrm>
            <a:off x="4083625" y="2405950"/>
            <a:ext cx="460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Esta predicción inicial es igual, ya sea que esté haciendo regresión o clasificación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08" name="Google Shape;308;p16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16"/>
          <p:cNvCxnSpPr>
            <a:stCxn id="306" idx="2"/>
          </p:cNvCxnSpPr>
          <p:nvPr/>
        </p:nvCxnSpPr>
        <p:spPr>
          <a:xfrm rot="5400000">
            <a:off x="2645950" y="2497600"/>
            <a:ext cx="289200" cy="9525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10" name="Google Shape;310;p16"/>
          <p:cNvSpPr txBox="1"/>
          <p:nvPr/>
        </p:nvSpPr>
        <p:spPr>
          <a:xfrm>
            <a:off x="2906900" y="3076250"/>
            <a:ext cx="534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Esta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observación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inicial se corresponde a esta linea negra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11" name="Google Shape;311;p16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2" name="Google Shape;312;p16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16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16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16"/>
          <p:cNvCxnSpPr/>
          <p:nvPr/>
        </p:nvCxnSpPr>
        <p:spPr>
          <a:xfrm>
            <a:off x="1883825" y="3478400"/>
            <a:ext cx="1545300" cy="6279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6" name="Google Shape;316;p16"/>
          <p:cNvSpPr txBox="1"/>
          <p:nvPr/>
        </p:nvSpPr>
        <p:spPr>
          <a:xfrm>
            <a:off x="3429125" y="4064000"/>
            <a:ext cx="558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Estas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líneas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muestran los residuos, es decir el error que comete el estimador para cad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a medición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</a:t>
            </a:r>
            <a:r>
              <a:rPr lang="en">
                <a:solidFill>
                  <a:srgbClr val="0000FF"/>
                </a:solidFill>
              </a:rPr>
              <a:t>eXtreme Gradient Boost</a:t>
            </a:r>
            <a:endParaRPr/>
          </a:p>
        </p:txBody>
      </p:sp>
      <p:pic>
        <p:nvPicPr>
          <p:cNvPr id="322" name="Google Shape;32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7"/>
          <p:cNvSpPr txBox="1"/>
          <p:nvPr/>
        </p:nvSpPr>
        <p:spPr>
          <a:xfrm>
            <a:off x="2603500" y="1446400"/>
            <a:ext cx="5609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Segundo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paso: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Construir un árbol para los residuos.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Este árbol es diferente a los usados por Gradient Boost.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Primero se crea un nodo hoja.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Y se ponen allí todos los residuos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5199975" y="2571750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cxnSp>
        <p:nvCxnSpPr>
          <p:cNvPr id="325" name="Google Shape;325;p17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17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17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17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17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17"/>
          <p:cNvCxnSpPr>
            <a:endCxn id="324" idx="1"/>
          </p:cNvCxnSpPr>
          <p:nvPr/>
        </p:nvCxnSpPr>
        <p:spPr>
          <a:xfrm>
            <a:off x="2046075" y="2695200"/>
            <a:ext cx="3153900" cy="8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" name="Google Shape;331;p17"/>
          <p:cNvCxnSpPr>
            <a:endCxn id="324" idx="1"/>
          </p:cNvCxnSpPr>
          <p:nvPr/>
        </p:nvCxnSpPr>
        <p:spPr>
          <a:xfrm flipH="1" rot="10800000">
            <a:off x="1989675" y="2783400"/>
            <a:ext cx="3210300" cy="62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2" name="Google Shape;332;p17"/>
          <p:cNvSpPr txBox="1"/>
          <p:nvPr/>
        </p:nvSpPr>
        <p:spPr>
          <a:xfrm>
            <a:off x="4882450" y="4303875"/>
            <a:ext cx="4064100" cy="6156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NOTA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: Hay varias formas de construir el árbol utilizado por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XGBoost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. Esta es la más común.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</a:t>
            </a:r>
            <a:r>
              <a:rPr lang="en">
                <a:solidFill>
                  <a:srgbClr val="0000FF"/>
                </a:solidFill>
              </a:rPr>
              <a:t>eXtreme Gradient Boost</a:t>
            </a:r>
            <a:endParaRPr/>
          </a:p>
        </p:txBody>
      </p:sp>
      <p:sp>
        <p:nvSpPr>
          <p:cNvPr id="338" name="Google Shape;338;p18"/>
          <p:cNvSpPr txBox="1"/>
          <p:nvPr>
            <p:ph idx="1" type="body"/>
          </p:nvPr>
        </p:nvSpPr>
        <p:spPr>
          <a:xfrm>
            <a:off x="3133800" y="1562750"/>
            <a:ext cx="5200500" cy="12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Tercer paso</a:t>
            </a:r>
            <a:r>
              <a:rPr b="1" lang="en" sz="1400">
                <a:solidFill>
                  <a:srgbClr val="000000"/>
                </a:solidFill>
              </a:rPr>
              <a:t>:</a:t>
            </a:r>
            <a:r>
              <a:rPr lang="en" sz="1400">
                <a:solidFill>
                  <a:srgbClr val="000000"/>
                </a:solidFill>
              </a:rPr>
              <a:t> Calcular el </a:t>
            </a:r>
            <a:r>
              <a:rPr b="1" i="1" lang="en" sz="1400">
                <a:solidFill>
                  <a:srgbClr val="000000"/>
                </a:solidFill>
              </a:rPr>
              <a:t>Similarity Score</a:t>
            </a:r>
            <a:r>
              <a:rPr lang="en" sz="1400">
                <a:solidFill>
                  <a:srgbClr val="000000"/>
                </a:solidFill>
              </a:rPr>
              <a:t>, para los residuos</a:t>
            </a:r>
            <a:endParaRPr/>
          </a:p>
        </p:txBody>
      </p:sp>
      <p:pic>
        <p:nvPicPr>
          <p:cNvPr id="339" name="Google Shape;33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8"/>
          <p:cNvSpPr/>
          <p:nvPr/>
        </p:nvSpPr>
        <p:spPr>
          <a:xfrm>
            <a:off x="4771350" y="1996100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341" name="Google Shape;341;p18"/>
          <p:cNvSpPr txBox="1"/>
          <p:nvPr/>
        </p:nvSpPr>
        <p:spPr>
          <a:xfrm>
            <a:off x="5002975" y="2552475"/>
            <a:ext cx="227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  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(Suma de residuos)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 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Cantidad de residuos + </a:t>
            </a:r>
            <a:r>
              <a:rPr b="1" lang="en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λ</a:t>
            </a:r>
            <a:endParaRPr b="1"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42" name="Google Shape;342;p18"/>
          <p:cNvCxnSpPr/>
          <p:nvPr/>
        </p:nvCxnSpPr>
        <p:spPr>
          <a:xfrm>
            <a:off x="5045200" y="2860275"/>
            <a:ext cx="2136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18"/>
          <p:cNvSpPr txBox="1"/>
          <p:nvPr/>
        </p:nvSpPr>
        <p:spPr>
          <a:xfrm>
            <a:off x="3400900" y="2660175"/>
            <a:ext cx="164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Similarity Score =</a:t>
            </a:r>
            <a:endParaRPr/>
          </a:p>
        </p:txBody>
      </p:sp>
      <p:sp>
        <p:nvSpPr>
          <p:cNvPr id="344" name="Google Shape;344;p18"/>
          <p:cNvSpPr/>
          <p:nvPr/>
        </p:nvSpPr>
        <p:spPr>
          <a:xfrm>
            <a:off x="6782250" y="2794050"/>
            <a:ext cx="399000" cy="3741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8"/>
          <p:cNvSpPr/>
          <p:nvPr/>
        </p:nvSpPr>
        <p:spPr>
          <a:xfrm>
            <a:off x="5489225" y="3393725"/>
            <a:ext cx="2667000" cy="615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𝛌 </a:t>
            </a:r>
            <a:r>
              <a:rPr lang="en">
                <a:solidFill>
                  <a:schemeClr val="dk2"/>
                </a:solidFill>
              </a:rPr>
              <a:t>(lambda): es un </a:t>
            </a:r>
            <a:r>
              <a:rPr lang="en">
                <a:solidFill>
                  <a:schemeClr val="dk2"/>
                </a:solidFill>
              </a:rPr>
              <a:t>parámetro</a:t>
            </a:r>
            <a:r>
              <a:rPr lang="en">
                <a:solidFill>
                  <a:schemeClr val="dk2"/>
                </a:solidFill>
              </a:rPr>
              <a:t> de regularización.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346" name="Google Shape;346;p18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9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Regularización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14:prism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Regularización</a:t>
            </a:r>
            <a:endParaRPr/>
          </a:p>
        </p:txBody>
      </p:sp>
      <p:pic>
        <p:nvPicPr>
          <p:cNvPr id="357" name="Google Shape;35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425" y="1597875"/>
            <a:ext cx="4144572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0"/>
          <p:cNvSpPr txBox="1"/>
          <p:nvPr/>
        </p:nvSpPr>
        <p:spPr>
          <a:xfrm>
            <a:off x="4960050" y="1153375"/>
            <a:ext cx="2850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Imaginemos que tenemos una serie de datos y queremos encontrar una forma de predecir valores futuros.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9" name="Google Shape;359;p20"/>
          <p:cNvSpPr txBox="1"/>
          <p:nvPr/>
        </p:nvSpPr>
        <p:spPr>
          <a:xfrm>
            <a:off x="5056025" y="2571750"/>
            <a:ext cx="285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Utilizaremos en este caso,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regresión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lineal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.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Regularización</a:t>
            </a:r>
            <a:endParaRPr/>
          </a:p>
        </p:txBody>
      </p:sp>
      <p:sp>
        <p:nvSpPr>
          <p:cNvPr id="365" name="Google Shape;365;p21"/>
          <p:cNvSpPr txBox="1"/>
          <p:nvPr/>
        </p:nvSpPr>
        <p:spPr>
          <a:xfrm>
            <a:off x="5792625" y="3213800"/>
            <a:ext cx="231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Estos son los residuos. O errores.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66" name="Google Shape;36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750" y="1534375"/>
            <a:ext cx="4487296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7" name="Google Shape;367;p21"/>
          <p:cNvCxnSpPr/>
          <p:nvPr/>
        </p:nvCxnSpPr>
        <p:spPr>
          <a:xfrm rot="10800000">
            <a:off x="2540000" y="2914200"/>
            <a:ext cx="3224400" cy="5007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68" name="Google Shape;368;p21"/>
          <p:cNvSpPr txBox="1"/>
          <p:nvPr/>
        </p:nvSpPr>
        <p:spPr>
          <a:xfrm>
            <a:off x="4720150" y="918775"/>
            <a:ext cx="4318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Finalmente obtendremos una ecuación como esta: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Size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0.9 + 0.75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Weight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9" name="Google Shape;369;p21"/>
          <p:cNvSpPr/>
          <p:nvPr/>
        </p:nvSpPr>
        <p:spPr>
          <a:xfrm>
            <a:off x="6371175" y="1213550"/>
            <a:ext cx="352800" cy="2541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1"/>
          <p:cNvSpPr/>
          <p:nvPr/>
        </p:nvSpPr>
        <p:spPr>
          <a:xfrm>
            <a:off x="6829775" y="1213550"/>
            <a:ext cx="413400" cy="2541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1"/>
          <p:cNvSpPr txBox="1"/>
          <p:nvPr/>
        </p:nvSpPr>
        <p:spPr>
          <a:xfrm>
            <a:off x="4268625" y="2307200"/>
            <a:ext cx="266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Punto de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intersección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del eje-y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7737250" y="2307200"/>
            <a:ext cx="130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pendiente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73" name="Google Shape;373;p21"/>
          <p:cNvCxnSpPr>
            <a:stCxn id="369" idx="2"/>
            <a:endCxn id="371" idx="0"/>
          </p:cNvCxnSpPr>
          <p:nvPr/>
        </p:nvCxnSpPr>
        <p:spPr>
          <a:xfrm flipH="1">
            <a:off x="5601975" y="1467650"/>
            <a:ext cx="945600" cy="839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74" name="Google Shape;374;p21"/>
          <p:cNvCxnSpPr>
            <a:stCxn id="370" idx="2"/>
            <a:endCxn id="372" idx="0"/>
          </p:cNvCxnSpPr>
          <p:nvPr/>
        </p:nvCxnSpPr>
        <p:spPr>
          <a:xfrm>
            <a:off x="7036475" y="1467650"/>
            <a:ext cx="1351200" cy="839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75" name="Google Shape;375;p21"/>
          <p:cNvSpPr txBox="1"/>
          <p:nvPr/>
        </p:nvSpPr>
        <p:spPr>
          <a:xfrm>
            <a:off x="4960050" y="4085150"/>
            <a:ext cx="406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Si hay muchos puntos, podemos estar seguros de que la línea calculada será un buen estimador del tamaño.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Regularización</a:t>
            </a:r>
            <a:endParaRPr/>
          </a:p>
        </p:txBody>
      </p:sp>
      <p:sp>
        <p:nvSpPr>
          <p:cNvPr id="381" name="Google Shape;381;p22"/>
          <p:cNvSpPr txBox="1"/>
          <p:nvPr/>
        </p:nvSpPr>
        <p:spPr>
          <a:xfrm>
            <a:off x="2264825" y="1259225"/>
            <a:ext cx="345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¿Qué pasa si solo tenemos 2 puntos?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82" name="Google Shape;38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0275"/>
            <a:ext cx="3874090" cy="32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Regularización</a:t>
            </a:r>
            <a:endParaRPr/>
          </a:p>
        </p:txBody>
      </p:sp>
      <p:sp>
        <p:nvSpPr>
          <p:cNvPr id="388" name="Google Shape;388;p23"/>
          <p:cNvSpPr txBox="1"/>
          <p:nvPr/>
        </p:nvSpPr>
        <p:spPr>
          <a:xfrm>
            <a:off x="1206500" y="1132225"/>
            <a:ext cx="345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La línea calculada ajusta perfecto. No hay residuos. No hay errores.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89" name="Google Shape;38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565" y="1807575"/>
            <a:ext cx="3809503" cy="317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3700" y="1776800"/>
            <a:ext cx="3883253" cy="3240824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3"/>
          <p:cNvSpPr txBox="1"/>
          <p:nvPr/>
        </p:nvSpPr>
        <p:spPr>
          <a:xfrm>
            <a:off x="4663700" y="916525"/>
            <a:ext cx="4000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Ahora mostramos en verde todos los puntos.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Utilicemos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al resto de los puntos, </a:t>
            </a:r>
            <a:r>
              <a:rPr b="1" lang="en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los verdes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, como conjunto de prueba.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Regularización</a:t>
            </a:r>
            <a:endParaRPr/>
          </a:p>
        </p:txBody>
      </p:sp>
      <p:sp>
        <p:nvSpPr>
          <p:cNvPr id="397" name="Google Shape;397;p24"/>
          <p:cNvSpPr txBox="1"/>
          <p:nvPr/>
        </p:nvSpPr>
        <p:spPr>
          <a:xfrm>
            <a:off x="4663725" y="1597875"/>
            <a:ext cx="3457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En el conjunto de pruebas, si hay residuos. Y estos son mucho mayores que en el primer caso, cuando entrenamos con todos los datos!!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98" name="Google Shape;39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093" y="1747825"/>
            <a:ext cx="3565584" cy="3090876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4"/>
          <p:cNvSpPr txBox="1"/>
          <p:nvPr/>
        </p:nvSpPr>
        <p:spPr>
          <a:xfrm>
            <a:off x="4684900" y="2644575"/>
            <a:ext cx="40641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Esto quiere decir que está nueva línea, este estimador tiene una varianza alta (</a:t>
            </a:r>
            <a:r>
              <a:rPr b="1" i="1" lang="en">
                <a:latin typeface="Nunito"/>
                <a:ea typeface="Nunito"/>
                <a:cs typeface="Nunito"/>
                <a:sym typeface="Nunito"/>
              </a:rPr>
              <a:t>High Variance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).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Una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varianza alta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indica que los puntos de datos están muy separados de la media y entre sí.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Y el modelo está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sobreentrenado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b="1" i="1" lang="en">
                <a:latin typeface="Nunito"/>
                <a:ea typeface="Nunito"/>
                <a:cs typeface="Nunito"/>
                <a:sym typeface="Nunito"/>
              </a:rPr>
              <a:t>overfit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).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Regularización</a:t>
            </a:r>
            <a:endParaRPr/>
          </a:p>
        </p:txBody>
      </p:sp>
      <p:sp>
        <p:nvSpPr>
          <p:cNvPr id="405" name="Google Shape;405;p25"/>
          <p:cNvSpPr txBox="1"/>
          <p:nvPr/>
        </p:nvSpPr>
        <p:spPr>
          <a:xfrm>
            <a:off x="4663725" y="1597875"/>
            <a:ext cx="3457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Una forma de solucionar este problema, es usando una variación de la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regresión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lineal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llamada: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Ridge Regression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06" name="Google Shape;40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0275"/>
            <a:ext cx="3839042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5"/>
          <p:cNvSpPr txBox="1"/>
          <p:nvPr/>
        </p:nvSpPr>
        <p:spPr>
          <a:xfrm>
            <a:off x="4614325" y="2744625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La idea es encontrar una línea que no ajuste tan bien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08" name="Google Shape;408;p25"/>
          <p:cNvCxnSpPr>
            <a:stCxn id="407" idx="1"/>
          </p:cNvCxnSpPr>
          <p:nvPr/>
        </p:nvCxnSpPr>
        <p:spPr>
          <a:xfrm rot="10800000">
            <a:off x="2526025" y="2490525"/>
            <a:ext cx="2088300" cy="561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9" name="Google Shape;409;p25"/>
          <p:cNvSpPr txBox="1"/>
          <p:nvPr/>
        </p:nvSpPr>
        <p:spPr>
          <a:xfrm>
            <a:off x="4691925" y="3513675"/>
            <a:ext cx="3400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Para ello se va a introducir un pequeño sesgo o </a:t>
            </a:r>
            <a:r>
              <a:rPr b="1" i="1" lang="en">
                <a:latin typeface="Nunito"/>
                <a:ea typeface="Nunito"/>
                <a:cs typeface="Nunito"/>
                <a:sym typeface="Nunito"/>
              </a:rPr>
              <a:t>bias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, en los datos de entrenamiento.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6"/>
          <p:cNvSpPr txBox="1"/>
          <p:nvPr>
            <p:ph type="title"/>
          </p:nvPr>
        </p:nvSpPr>
        <p:spPr>
          <a:xfrm>
            <a:off x="1303800" y="598575"/>
            <a:ext cx="7030500" cy="8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 vs. Variance (</a:t>
            </a:r>
            <a:r>
              <a:rPr i="1" lang="en"/>
              <a:t>Bias–variance tradeoff</a:t>
            </a:r>
            <a:r>
              <a:rPr lang="en"/>
              <a:t>)</a:t>
            </a:r>
            <a:endParaRPr/>
          </a:p>
        </p:txBody>
      </p:sp>
      <p:sp>
        <p:nvSpPr>
          <p:cNvPr id="415" name="Google Shape;415;p26"/>
          <p:cNvSpPr txBox="1"/>
          <p:nvPr>
            <p:ph idx="1" type="body"/>
          </p:nvPr>
        </p:nvSpPr>
        <p:spPr>
          <a:xfrm>
            <a:off x="677325" y="1926175"/>
            <a:ext cx="79587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El </a:t>
            </a:r>
            <a:r>
              <a:rPr b="1" lang="en" sz="1500"/>
              <a:t>error de sesgo</a:t>
            </a:r>
            <a:r>
              <a:rPr lang="en" sz="1500"/>
              <a:t> (</a:t>
            </a:r>
            <a:r>
              <a:rPr b="1" i="1" lang="en" sz="1500"/>
              <a:t>bias</a:t>
            </a:r>
            <a:r>
              <a:rPr lang="en" sz="1500"/>
              <a:t>) es un error de “suposiciones erróneas” en el algoritmo de aprendizaje. Un </a:t>
            </a:r>
            <a:r>
              <a:rPr lang="en" sz="1500" u="sng"/>
              <a:t>sesgo </a:t>
            </a:r>
            <a:r>
              <a:rPr lang="en" sz="1500" u="sng"/>
              <a:t>alto</a:t>
            </a:r>
            <a:r>
              <a:rPr lang="en" sz="1500"/>
              <a:t> puede hacer que un algoritmo pierda las relaciones relevantes entre las características dadas y los resultados esperados (</a:t>
            </a:r>
            <a:r>
              <a:rPr b="1" lang="en" sz="1500"/>
              <a:t>underfitting</a:t>
            </a:r>
            <a:r>
              <a:rPr lang="en" sz="1500"/>
              <a:t>)</a:t>
            </a:r>
            <a:endParaRPr sz="15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La </a:t>
            </a:r>
            <a:r>
              <a:rPr b="1" lang="en" sz="1500"/>
              <a:t>varianza</a:t>
            </a:r>
            <a:r>
              <a:rPr lang="en" sz="1500"/>
              <a:t> es un error de sensibilidad a pequeñas fluctuaciones en el conjunto de entrenamiento. Una </a:t>
            </a:r>
            <a:r>
              <a:rPr b="1" i="1" lang="en" sz="1500"/>
              <a:t>varianza alta</a:t>
            </a:r>
            <a:r>
              <a:rPr lang="en" sz="1500"/>
              <a:t> puede resultar de un algoritmo que modela hasta el ruido aleatorio en los datos de entrenamiento (</a:t>
            </a:r>
            <a:r>
              <a:rPr b="1" lang="en" sz="1600"/>
              <a:t>over</a:t>
            </a:r>
            <a:r>
              <a:rPr b="1" lang="en" sz="1600"/>
              <a:t>fitting</a:t>
            </a:r>
            <a:r>
              <a:rPr lang="en" sz="1500"/>
              <a:t>).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Regularización</a:t>
            </a:r>
            <a:endParaRPr/>
          </a:p>
        </p:txBody>
      </p:sp>
      <p:sp>
        <p:nvSpPr>
          <p:cNvPr id="421" name="Google Shape;421;p27"/>
          <p:cNvSpPr txBox="1"/>
          <p:nvPr/>
        </p:nvSpPr>
        <p:spPr>
          <a:xfrm>
            <a:off x="4572000" y="1012250"/>
            <a:ext cx="4191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El error de sesgo introducido en el estimador, hará que caiga el error por la varianza de forma mucho más abrupta en el conjunto de pruebas.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22" name="Google Shape;42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150" y="1545175"/>
            <a:ext cx="3963800" cy="327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Regularización</a:t>
            </a:r>
            <a:endParaRPr/>
          </a:p>
        </p:txBody>
      </p:sp>
      <p:sp>
        <p:nvSpPr>
          <p:cNvPr id="428" name="Google Shape;428;p28"/>
          <p:cNvSpPr txBox="1"/>
          <p:nvPr/>
        </p:nvSpPr>
        <p:spPr>
          <a:xfrm>
            <a:off x="3551200" y="1795425"/>
            <a:ext cx="5472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Cuando usamos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Regresión Lineal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, es decir cuadrados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mínimos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, lo que estamos haciendo es minimizando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la suma del cuadrado de los residuos.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En cambio en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Ridge Regression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estamos minimizando: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la suma del cuadrado de los residuos + 𝛌 * (pendiente)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29" name="Google Shape;4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0275"/>
            <a:ext cx="3398790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8"/>
          <p:cNvSpPr/>
          <p:nvPr/>
        </p:nvSpPr>
        <p:spPr>
          <a:xfrm>
            <a:off x="7083775" y="2892800"/>
            <a:ext cx="1065300" cy="3174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8"/>
          <p:cNvSpPr txBox="1"/>
          <p:nvPr/>
        </p:nvSpPr>
        <p:spPr>
          <a:xfrm>
            <a:off x="6090025" y="3686175"/>
            <a:ext cx="285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Esto representa una penalización al método tradicional.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32" name="Google Shape;432;p28"/>
          <p:cNvCxnSpPr>
            <a:stCxn id="430" idx="2"/>
            <a:endCxn id="431" idx="0"/>
          </p:cNvCxnSpPr>
          <p:nvPr/>
        </p:nvCxnSpPr>
        <p:spPr>
          <a:xfrm flipH="1">
            <a:off x="7518325" y="3210200"/>
            <a:ext cx="98100" cy="476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3" name="Google Shape;433;p28"/>
          <p:cNvSpPr/>
          <p:nvPr/>
        </p:nvSpPr>
        <p:spPr>
          <a:xfrm>
            <a:off x="6731000" y="2913950"/>
            <a:ext cx="246900" cy="261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4" name="Google Shape;434;p28"/>
          <p:cNvCxnSpPr>
            <a:stCxn id="433" idx="2"/>
          </p:cNvCxnSpPr>
          <p:nvPr/>
        </p:nvCxnSpPr>
        <p:spPr>
          <a:xfrm flipH="1">
            <a:off x="4967150" y="3174950"/>
            <a:ext cx="1887300" cy="430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5" name="Google Shape;435;p28"/>
          <p:cNvSpPr txBox="1"/>
          <p:nvPr/>
        </p:nvSpPr>
        <p:spPr>
          <a:xfrm>
            <a:off x="3958175" y="3647700"/>
            <a:ext cx="1566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Y  𝛌 determina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qué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tan severa es esta penalización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Regularización: ejemplo</a:t>
            </a:r>
            <a:endParaRPr/>
          </a:p>
        </p:txBody>
      </p:sp>
      <p:pic>
        <p:nvPicPr>
          <p:cNvPr id="441" name="Google Shape;44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0275"/>
            <a:ext cx="3398790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29"/>
          <p:cNvSpPr txBox="1"/>
          <p:nvPr/>
        </p:nvSpPr>
        <p:spPr>
          <a:xfrm>
            <a:off x="5136450" y="1905025"/>
            <a:ext cx="24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Size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0.4 + 1.3 *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Weight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3" name="Google Shape;443;p29"/>
          <p:cNvSpPr txBox="1"/>
          <p:nvPr/>
        </p:nvSpPr>
        <p:spPr>
          <a:xfrm>
            <a:off x="4402650" y="1298225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Según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mínimos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cuadrados, tenemos que: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44" name="Google Shape;444;p29"/>
          <p:cNvCxnSpPr>
            <a:stCxn id="442" idx="1"/>
          </p:cNvCxnSpPr>
          <p:nvPr/>
        </p:nvCxnSpPr>
        <p:spPr>
          <a:xfrm rot="10800000">
            <a:off x="2610450" y="2039125"/>
            <a:ext cx="2526000" cy="6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5" name="Google Shape;445;p29"/>
          <p:cNvSpPr txBox="1"/>
          <p:nvPr/>
        </p:nvSpPr>
        <p:spPr>
          <a:xfrm>
            <a:off x="4296825" y="2434175"/>
            <a:ext cx="3753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Suma de cuadrados de residuos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0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+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6" name="Google Shape;446;p29"/>
          <p:cNvSpPr txBox="1"/>
          <p:nvPr/>
        </p:nvSpPr>
        <p:spPr>
          <a:xfrm>
            <a:off x="4833050" y="2935100"/>
            <a:ext cx="277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Pero usando Ridge Regression: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7" name="Google Shape;447;p29"/>
          <p:cNvSpPr txBox="1"/>
          <p:nvPr/>
        </p:nvSpPr>
        <p:spPr>
          <a:xfrm>
            <a:off x="2984500" y="3335300"/>
            <a:ext cx="580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Suma de cuadrados de residuos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+ 𝛌 * (pendiente)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 0 + 1 * (1.3)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8" name="Google Shape;448;p29"/>
          <p:cNvSpPr txBox="1"/>
          <p:nvPr/>
        </p:nvSpPr>
        <p:spPr>
          <a:xfrm>
            <a:off x="5580900" y="3735500"/>
            <a:ext cx="15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Asumimos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𝛌 = 1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9" name="Google Shape;449;p29"/>
          <p:cNvSpPr txBox="1"/>
          <p:nvPr/>
        </p:nvSpPr>
        <p:spPr>
          <a:xfrm>
            <a:off x="8219725" y="3335300"/>
            <a:ext cx="7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= 1.69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Regularización: ejemplo</a:t>
            </a:r>
            <a:endParaRPr/>
          </a:p>
        </p:txBody>
      </p:sp>
      <p:sp>
        <p:nvSpPr>
          <p:cNvPr id="455" name="Google Shape;455;p30"/>
          <p:cNvSpPr txBox="1"/>
          <p:nvPr/>
        </p:nvSpPr>
        <p:spPr>
          <a:xfrm>
            <a:off x="5136450" y="1905025"/>
            <a:ext cx="24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Size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0.9 + 0.8 *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Weight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6" name="Google Shape;456;p30"/>
          <p:cNvSpPr txBox="1"/>
          <p:nvPr/>
        </p:nvSpPr>
        <p:spPr>
          <a:xfrm>
            <a:off x="4318000" y="2371650"/>
            <a:ext cx="392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Suma de cuadrados de residuos = 0.3 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+ 0.1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7" name="Google Shape;457;p30"/>
          <p:cNvSpPr txBox="1"/>
          <p:nvPr/>
        </p:nvSpPr>
        <p:spPr>
          <a:xfrm>
            <a:off x="4395600" y="1157100"/>
            <a:ext cx="4635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Ridge Regression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, seguirá ajustando hasta lograr una recta como la </a:t>
            </a:r>
            <a:r>
              <a:rPr b="1" lang="en">
                <a:solidFill>
                  <a:srgbClr val="3C78D8"/>
                </a:solidFill>
                <a:latin typeface="Nunito"/>
                <a:ea typeface="Nunito"/>
                <a:cs typeface="Nunito"/>
                <a:sym typeface="Nunito"/>
              </a:rPr>
              <a:t>azul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: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8" name="Google Shape;458;p30"/>
          <p:cNvSpPr txBox="1"/>
          <p:nvPr/>
        </p:nvSpPr>
        <p:spPr>
          <a:xfrm>
            <a:off x="2151950" y="1432300"/>
            <a:ext cx="7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= 1.69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59" name="Google Shape;45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575" y="1747825"/>
            <a:ext cx="3839042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0" name="Google Shape;460;p30"/>
          <p:cNvCxnSpPr>
            <a:stCxn id="455" idx="1"/>
          </p:cNvCxnSpPr>
          <p:nvPr/>
        </p:nvCxnSpPr>
        <p:spPr>
          <a:xfrm rot="10800000">
            <a:off x="3252450" y="1848325"/>
            <a:ext cx="1884000" cy="2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1" name="Google Shape;461;p30"/>
          <p:cNvSpPr txBox="1"/>
          <p:nvPr/>
        </p:nvSpPr>
        <p:spPr>
          <a:xfrm>
            <a:off x="4155725" y="2771850"/>
            <a:ext cx="476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Suma de cuadrados de residuos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+ 𝛌 * (pendiente)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br>
              <a:rPr lang="en">
                <a:latin typeface="Nunito"/>
                <a:ea typeface="Nunito"/>
                <a:cs typeface="Nunito"/>
                <a:sym typeface="Nunito"/>
              </a:rPr>
            </a:b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                                    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0.3 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+ 0.1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+ 1 * (0.8)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2" name="Google Shape;462;p30"/>
          <p:cNvSpPr txBox="1"/>
          <p:nvPr/>
        </p:nvSpPr>
        <p:spPr>
          <a:xfrm>
            <a:off x="5665600" y="3697100"/>
            <a:ext cx="275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0.09 + 0.01 + 0.064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= 0.74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3" name="Google Shape;463;p30"/>
          <p:cNvSpPr txBox="1"/>
          <p:nvPr/>
        </p:nvSpPr>
        <p:spPr>
          <a:xfrm>
            <a:off x="3045175" y="1347625"/>
            <a:ext cx="7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= 0.74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1"/>
          <p:cNvSpPr txBox="1"/>
          <p:nvPr>
            <p:ph type="title"/>
          </p:nvPr>
        </p:nvSpPr>
        <p:spPr>
          <a:xfrm>
            <a:off x="824000" y="1613825"/>
            <a:ext cx="69372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Volvamos a XGBoost y al calculo del Similarity Score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14:prism dir="l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</a:t>
            </a:r>
            <a:r>
              <a:rPr lang="en">
                <a:solidFill>
                  <a:srgbClr val="0000FF"/>
                </a:solidFill>
              </a:rPr>
              <a:t>eXtreme Gradient Boost</a:t>
            </a:r>
            <a:endParaRPr/>
          </a:p>
        </p:txBody>
      </p:sp>
      <p:sp>
        <p:nvSpPr>
          <p:cNvPr id="474" name="Google Shape;474;p32"/>
          <p:cNvSpPr txBox="1"/>
          <p:nvPr>
            <p:ph idx="1" type="body"/>
          </p:nvPr>
        </p:nvSpPr>
        <p:spPr>
          <a:xfrm>
            <a:off x="3133800" y="1562750"/>
            <a:ext cx="5200500" cy="12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Tercer paso:</a:t>
            </a:r>
            <a:r>
              <a:rPr lang="en" sz="1400">
                <a:solidFill>
                  <a:srgbClr val="000000"/>
                </a:solidFill>
              </a:rPr>
              <a:t> Calcular el </a:t>
            </a:r>
            <a:r>
              <a:rPr b="1" i="1" lang="en" sz="1400">
                <a:solidFill>
                  <a:srgbClr val="000000"/>
                </a:solidFill>
              </a:rPr>
              <a:t>Similarity Score</a:t>
            </a:r>
            <a:r>
              <a:rPr lang="en" sz="1400">
                <a:solidFill>
                  <a:srgbClr val="000000"/>
                </a:solidFill>
              </a:rPr>
              <a:t>, para los residuos</a:t>
            </a:r>
            <a:endParaRPr/>
          </a:p>
        </p:txBody>
      </p:sp>
      <p:pic>
        <p:nvPicPr>
          <p:cNvPr id="475" name="Google Shape;47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32"/>
          <p:cNvSpPr/>
          <p:nvPr/>
        </p:nvSpPr>
        <p:spPr>
          <a:xfrm>
            <a:off x="4771350" y="1996100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477" name="Google Shape;477;p32"/>
          <p:cNvSpPr txBox="1"/>
          <p:nvPr/>
        </p:nvSpPr>
        <p:spPr>
          <a:xfrm>
            <a:off x="5002975" y="2552475"/>
            <a:ext cx="227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   (Suma de residuos)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 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Cantidad de residuos + </a:t>
            </a:r>
            <a:r>
              <a:rPr b="1" lang="en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λ</a:t>
            </a:r>
            <a:endParaRPr b="1"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78" name="Google Shape;478;p32"/>
          <p:cNvCxnSpPr/>
          <p:nvPr/>
        </p:nvCxnSpPr>
        <p:spPr>
          <a:xfrm>
            <a:off x="5045200" y="2860275"/>
            <a:ext cx="2136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9" name="Google Shape;479;p32"/>
          <p:cNvSpPr txBox="1"/>
          <p:nvPr/>
        </p:nvSpPr>
        <p:spPr>
          <a:xfrm>
            <a:off x="3400900" y="2660175"/>
            <a:ext cx="164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Similarity Score =</a:t>
            </a:r>
            <a:endParaRPr/>
          </a:p>
        </p:txBody>
      </p:sp>
      <p:sp>
        <p:nvSpPr>
          <p:cNvPr id="480" name="Google Shape;480;p32"/>
          <p:cNvSpPr/>
          <p:nvPr/>
        </p:nvSpPr>
        <p:spPr>
          <a:xfrm>
            <a:off x="6782250" y="2794050"/>
            <a:ext cx="399000" cy="3741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2"/>
          <p:cNvSpPr/>
          <p:nvPr/>
        </p:nvSpPr>
        <p:spPr>
          <a:xfrm>
            <a:off x="5489225" y="3393725"/>
            <a:ext cx="2667000" cy="615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𝛌 </a:t>
            </a:r>
            <a:r>
              <a:rPr lang="en">
                <a:solidFill>
                  <a:schemeClr val="dk2"/>
                </a:solidFill>
              </a:rPr>
              <a:t>(lambda): es un parámetro de regularización.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82" name="Google Shape;482;p32"/>
          <p:cNvSpPr txBox="1"/>
          <p:nvPr/>
        </p:nvSpPr>
        <p:spPr>
          <a:xfrm>
            <a:off x="5143500" y="4122675"/>
            <a:ext cx="3261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Con </a:t>
            </a:r>
            <a:r>
              <a:rPr lang="en">
                <a:solidFill>
                  <a:schemeClr val="accent2"/>
                </a:solidFill>
              </a:rPr>
              <a:t>𝛌 </a:t>
            </a:r>
            <a:r>
              <a:rPr lang="en"/>
              <a:t>reducimos el error por varianza.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Pero por ahora dejemos 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>
                <a:solidFill>
                  <a:schemeClr val="accent2"/>
                </a:solidFill>
              </a:rPr>
              <a:t>𝛌 = 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</a:t>
            </a:r>
            <a:r>
              <a:rPr lang="en">
                <a:solidFill>
                  <a:srgbClr val="0000FF"/>
                </a:solidFill>
              </a:rPr>
              <a:t>eXtreme Gradient Boost</a:t>
            </a:r>
            <a:endParaRPr/>
          </a:p>
        </p:txBody>
      </p:sp>
      <p:sp>
        <p:nvSpPr>
          <p:cNvPr id="488" name="Google Shape;488;p33"/>
          <p:cNvSpPr txBox="1"/>
          <p:nvPr>
            <p:ph idx="1" type="body"/>
          </p:nvPr>
        </p:nvSpPr>
        <p:spPr>
          <a:xfrm>
            <a:off x="3133800" y="1562750"/>
            <a:ext cx="5200500" cy="3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Tercer paso:</a:t>
            </a:r>
            <a:r>
              <a:rPr lang="en" sz="1400">
                <a:solidFill>
                  <a:srgbClr val="000000"/>
                </a:solidFill>
              </a:rPr>
              <a:t> Calcular el </a:t>
            </a:r>
            <a:r>
              <a:rPr b="1" i="1" lang="en" sz="1400">
                <a:solidFill>
                  <a:srgbClr val="000000"/>
                </a:solidFill>
              </a:rPr>
              <a:t>Similarity Score</a:t>
            </a:r>
            <a:r>
              <a:rPr lang="en" sz="1400">
                <a:solidFill>
                  <a:srgbClr val="000000"/>
                </a:solidFill>
              </a:rPr>
              <a:t>, para los residuos</a:t>
            </a:r>
            <a:endParaRPr/>
          </a:p>
        </p:txBody>
      </p:sp>
      <p:sp>
        <p:nvSpPr>
          <p:cNvPr id="489" name="Google Shape;489;p33"/>
          <p:cNvSpPr/>
          <p:nvPr/>
        </p:nvSpPr>
        <p:spPr>
          <a:xfrm>
            <a:off x="4771350" y="1996100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490" name="Google Shape;490;p33"/>
          <p:cNvSpPr txBox="1"/>
          <p:nvPr/>
        </p:nvSpPr>
        <p:spPr>
          <a:xfrm>
            <a:off x="5927225" y="2633663"/>
            <a:ext cx="227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 (-10.5 + 6.5 + 7.5 -7.5)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 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4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+ </a:t>
            </a:r>
            <a:r>
              <a:rPr lang="en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endParaRPr b="1"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91" name="Google Shape;491;p33"/>
          <p:cNvCxnSpPr/>
          <p:nvPr/>
        </p:nvCxnSpPr>
        <p:spPr>
          <a:xfrm>
            <a:off x="5969450" y="2941463"/>
            <a:ext cx="2136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2" name="Google Shape;492;p33"/>
          <p:cNvSpPr txBox="1"/>
          <p:nvPr/>
        </p:nvSpPr>
        <p:spPr>
          <a:xfrm>
            <a:off x="4325150" y="2741363"/>
            <a:ext cx="164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Similarity Score =</a:t>
            </a:r>
            <a:endParaRPr/>
          </a:p>
        </p:txBody>
      </p:sp>
      <p:pic>
        <p:nvPicPr>
          <p:cNvPr id="493" name="Google Shape;49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4" name="Google Shape;494;p33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5" name="Google Shape;495;p33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96" name="Google Shape;496;p33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97" name="Google Shape;497;p33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98" name="Google Shape;498;p33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33"/>
          <p:cNvCxnSpPr/>
          <p:nvPr/>
        </p:nvCxnSpPr>
        <p:spPr>
          <a:xfrm>
            <a:off x="7210750" y="2628238"/>
            <a:ext cx="296400" cy="388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33"/>
          <p:cNvCxnSpPr/>
          <p:nvPr/>
        </p:nvCxnSpPr>
        <p:spPr>
          <a:xfrm>
            <a:off x="7570575" y="2628238"/>
            <a:ext cx="261000" cy="381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33"/>
          <p:cNvCxnSpPr/>
          <p:nvPr/>
        </p:nvCxnSpPr>
        <p:spPr>
          <a:xfrm rot="10800000">
            <a:off x="1707600" y="2772825"/>
            <a:ext cx="973500" cy="190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2" name="Google Shape;502;p33"/>
          <p:cNvCxnSpPr/>
          <p:nvPr/>
        </p:nvCxnSpPr>
        <p:spPr>
          <a:xfrm flipH="1">
            <a:off x="1954500" y="2963325"/>
            <a:ext cx="726600" cy="550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3" name="Google Shape;503;p33"/>
          <p:cNvSpPr txBox="1"/>
          <p:nvPr/>
        </p:nvSpPr>
        <p:spPr>
          <a:xfrm>
            <a:off x="2717400" y="2744650"/>
            <a:ext cx="1270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Se cancelan mutuamente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4" name="Google Shape;504;p33"/>
          <p:cNvSpPr/>
          <p:nvPr/>
        </p:nvSpPr>
        <p:spPr>
          <a:xfrm>
            <a:off x="1721500" y="3252600"/>
            <a:ext cx="296400" cy="261300"/>
          </a:xfrm>
          <a:prstGeom prst="mathMultiply">
            <a:avLst>
              <a:gd fmla="val 13509" name="adj1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3"/>
          <p:cNvSpPr/>
          <p:nvPr/>
        </p:nvSpPr>
        <p:spPr>
          <a:xfrm>
            <a:off x="1440700" y="2737300"/>
            <a:ext cx="296400" cy="261300"/>
          </a:xfrm>
          <a:prstGeom prst="mathMultiply">
            <a:avLst>
              <a:gd fmla="val 13509" name="adj1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3"/>
          <p:cNvSpPr txBox="1"/>
          <p:nvPr/>
        </p:nvSpPr>
        <p:spPr>
          <a:xfrm>
            <a:off x="5965875" y="3171950"/>
            <a:ext cx="772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 (-4)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 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4</a:t>
            </a:r>
            <a:endParaRPr b="1"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507" name="Google Shape;507;p33"/>
          <p:cNvCxnSpPr>
            <a:endCxn id="506" idx="3"/>
          </p:cNvCxnSpPr>
          <p:nvPr/>
        </p:nvCxnSpPr>
        <p:spPr>
          <a:xfrm>
            <a:off x="6008175" y="3479750"/>
            <a:ext cx="729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8" name="Google Shape;508;p33"/>
          <p:cNvSpPr txBox="1"/>
          <p:nvPr/>
        </p:nvSpPr>
        <p:spPr>
          <a:xfrm>
            <a:off x="4363800" y="3279638"/>
            <a:ext cx="164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Similarity Score =</a:t>
            </a:r>
            <a:endParaRPr/>
          </a:p>
        </p:txBody>
      </p:sp>
      <p:sp>
        <p:nvSpPr>
          <p:cNvPr id="509" name="Google Shape;509;p33"/>
          <p:cNvSpPr txBox="1"/>
          <p:nvPr/>
        </p:nvSpPr>
        <p:spPr>
          <a:xfrm>
            <a:off x="4579050" y="4106325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El </a:t>
            </a:r>
            <a:r>
              <a:rPr b="1" i="1" lang="en">
                <a:latin typeface="Nunito"/>
                <a:ea typeface="Nunito"/>
                <a:cs typeface="Nunito"/>
                <a:sym typeface="Nunito"/>
              </a:rPr>
              <a:t>Similarity Score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para los residuos del nodo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raíz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es =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4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4"/>
          <p:cNvSpPr txBox="1"/>
          <p:nvPr>
            <p:ph type="title"/>
          </p:nvPr>
        </p:nvSpPr>
        <p:spPr>
          <a:xfrm>
            <a:off x="1303800" y="598575"/>
            <a:ext cx="2276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sp>
        <p:nvSpPr>
          <p:cNvPr id="515" name="Google Shape;515;p34"/>
          <p:cNvSpPr/>
          <p:nvPr/>
        </p:nvSpPr>
        <p:spPr>
          <a:xfrm>
            <a:off x="5166475" y="323925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pic>
        <p:nvPicPr>
          <p:cNvPr id="516" name="Google Shape;51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7" name="Google Shape;517;p34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34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34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0" name="Google Shape;520;p34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1" name="Google Shape;521;p34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22" name="Google Shape;522;p34"/>
          <p:cNvSpPr txBox="1"/>
          <p:nvPr/>
        </p:nvSpPr>
        <p:spPr>
          <a:xfrm>
            <a:off x="7210750" y="335475"/>
            <a:ext cx="1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Similarity Score = 4</a:t>
            </a:r>
            <a:endParaRPr/>
          </a:p>
        </p:txBody>
      </p:sp>
      <p:sp>
        <p:nvSpPr>
          <p:cNvPr id="523" name="Google Shape;523;p34"/>
          <p:cNvSpPr txBox="1"/>
          <p:nvPr>
            <p:ph idx="1" type="body"/>
          </p:nvPr>
        </p:nvSpPr>
        <p:spPr>
          <a:xfrm>
            <a:off x="3357325" y="967300"/>
            <a:ext cx="5629200" cy="7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Cuarto</a:t>
            </a:r>
            <a:r>
              <a:rPr b="1" lang="en" sz="1400">
                <a:solidFill>
                  <a:srgbClr val="000000"/>
                </a:solidFill>
              </a:rPr>
              <a:t> paso:</a:t>
            </a:r>
            <a:r>
              <a:rPr lang="en" sz="1400">
                <a:solidFill>
                  <a:srgbClr val="000000"/>
                </a:solidFill>
              </a:rPr>
              <a:t> Tenemos que ver </a:t>
            </a:r>
            <a:r>
              <a:rPr lang="en" sz="1400">
                <a:solidFill>
                  <a:srgbClr val="000000"/>
                </a:solidFill>
              </a:rPr>
              <a:t>cuál</a:t>
            </a:r>
            <a:r>
              <a:rPr lang="en" sz="1400">
                <a:solidFill>
                  <a:srgbClr val="000000"/>
                </a:solidFill>
              </a:rPr>
              <a:t> será el siguiente nodo. Para ello vamos a calcular la </a:t>
            </a:r>
            <a:r>
              <a:rPr b="1" lang="en" sz="1400">
                <a:solidFill>
                  <a:srgbClr val="000000"/>
                </a:solidFill>
              </a:rPr>
              <a:t>ganancia total</a:t>
            </a:r>
            <a:r>
              <a:rPr lang="en" sz="1400">
                <a:solidFill>
                  <a:srgbClr val="000000"/>
                </a:solidFill>
              </a:rPr>
              <a:t>, </a:t>
            </a:r>
            <a:r>
              <a:rPr lang="en" sz="1400">
                <a:solidFill>
                  <a:srgbClr val="000000"/>
                </a:solidFill>
              </a:rPr>
              <a:t>según</a:t>
            </a:r>
            <a:r>
              <a:rPr lang="en" sz="1400">
                <a:solidFill>
                  <a:srgbClr val="000000"/>
                </a:solidFill>
              </a:rPr>
              <a:t> escojamos una </a:t>
            </a:r>
            <a:r>
              <a:rPr lang="en" sz="1400">
                <a:solidFill>
                  <a:srgbClr val="000000"/>
                </a:solidFill>
              </a:rPr>
              <a:t>opción</a:t>
            </a:r>
            <a:r>
              <a:rPr lang="en" sz="1400">
                <a:solidFill>
                  <a:srgbClr val="000000"/>
                </a:solidFill>
              </a:rPr>
              <a:t> u otra para partir el árbol.</a:t>
            </a:r>
            <a:endParaRPr/>
          </a:p>
        </p:txBody>
      </p:sp>
      <p:cxnSp>
        <p:nvCxnSpPr>
          <p:cNvPr id="524" name="Google Shape;524;p34"/>
          <p:cNvCxnSpPr/>
          <p:nvPr/>
        </p:nvCxnSpPr>
        <p:spPr>
          <a:xfrm>
            <a:off x="1178300" y="1993250"/>
            <a:ext cx="0" cy="22647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>
            <a:off x="1206500" y="2046100"/>
            <a:ext cx="270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6" name="Google Shape;526;p34"/>
          <p:cNvSpPr txBox="1"/>
          <p:nvPr/>
        </p:nvSpPr>
        <p:spPr>
          <a:xfrm>
            <a:off x="3937100" y="1738300"/>
            <a:ext cx="498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Opción 1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, tomar como umbral la distancia intermedia entre las primeras 2 observaciones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527" name="Google Shape;527;p34"/>
          <p:cNvCxnSpPr/>
          <p:nvPr/>
        </p:nvCxnSpPr>
        <p:spPr>
          <a:xfrm>
            <a:off x="1481675" y="2201325"/>
            <a:ext cx="21300" cy="21096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34"/>
          <p:cNvCxnSpPr/>
          <p:nvPr/>
        </p:nvCxnSpPr>
        <p:spPr>
          <a:xfrm>
            <a:off x="1478975" y="2452500"/>
            <a:ext cx="270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9" name="Google Shape;529;p34"/>
          <p:cNvSpPr txBox="1"/>
          <p:nvPr/>
        </p:nvSpPr>
        <p:spPr>
          <a:xfrm>
            <a:off x="4181375" y="2452500"/>
            <a:ext cx="465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Opción 2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, tomar como umbral la distancia intermedia entre las segundas 2 observaciones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530" name="Google Shape;530;p34"/>
          <p:cNvCxnSpPr/>
          <p:nvPr/>
        </p:nvCxnSpPr>
        <p:spPr>
          <a:xfrm flipH="1">
            <a:off x="1735825" y="2561175"/>
            <a:ext cx="6900" cy="1707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34"/>
          <p:cNvCxnSpPr/>
          <p:nvPr/>
        </p:nvCxnSpPr>
        <p:spPr>
          <a:xfrm>
            <a:off x="1735825" y="3929950"/>
            <a:ext cx="270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2" name="Google Shape;532;p34"/>
          <p:cNvSpPr txBox="1"/>
          <p:nvPr/>
        </p:nvSpPr>
        <p:spPr>
          <a:xfrm>
            <a:off x="4417150" y="3647725"/>
            <a:ext cx="465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Opción 3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, tomar como umbral la distancia intermedia entre últimas 2 observaciones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5"/>
          <p:cNvSpPr txBox="1"/>
          <p:nvPr>
            <p:ph type="title"/>
          </p:nvPr>
        </p:nvSpPr>
        <p:spPr>
          <a:xfrm>
            <a:off x="1303800" y="598575"/>
            <a:ext cx="2276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sp>
        <p:nvSpPr>
          <p:cNvPr id="538" name="Google Shape;538;p35"/>
          <p:cNvSpPr/>
          <p:nvPr/>
        </p:nvSpPr>
        <p:spPr>
          <a:xfrm>
            <a:off x="5166475" y="323925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pic>
        <p:nvPicPr>
          <p:cNvPr id="539" name="Google Shape;53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0" name="Google Shape;540;p35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" name="Google Shape;541;p35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42" name="Google Shape;542;p35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43" name="Google Shape;543;p35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44" name="Google Shape;544;p35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45" name="Google Shape;545;p35"/>
          <p:cNvSpPr txBox="1"/>
          <p:nvPr/>
        </p:nvSpPr>
        <p:spPr>
          <a:xfrm>
            <a:off x="7210750" y="335475"/>
            <a:ext cx="1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Similarity Score = 4</a:t>
            </a:r>
            <a:endParaRPr/>
          </a:p>
        </p:txBody>
      </p:sp>
      <p:sp>
        <p:nvSpPr>
          <p:cNvPr id="546" name="Google Shape;546;p35"/>
          <p:cNvSpPr txBox="1"/>
          <p:nvPr>
            <p:ph idx="1" type="body"/>
          </p:nvPr>
        </p:nvSpPr>
        <p:spPr>
          <a:xfrm>
            <a:off x="1206500" y="1186000"/>
            <a:ext cx="2844600" cy="3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Cuarto paso:</a:t>
            </a:r>
            <a:r>
              <a:rPr lang="en" sz="1400">
                <a:solidFill>
                  <a:srgbClr val="000000"/>
                </a:solidFill>
              </a:rPr>
              <a:t> veamos la opción 1</a:t>
            </a:r>
            <a:endParaRPr/>
          </a:p>
        </p:txBody>
      </p:sp>
      <p:cxnSp>
        <p:nvCxnSpPr>
          <p:cNvPr id="547" name="Google Shape;547;p35"/>
          <p:cNvCxnSpPr/>
          <p:nvPr/>
        </p:nvCxnSpPr>
        <p:spPr>
          <a:xfrm>
            <a:off x="1178300" y="1993250"/>
            <a:ext cx="0" cy="22647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48" name="Google Shape;548;p35"/>
          <p:cNvSpPr/>
          <p:nvPr/>
        </p:nvSpPr>
        <p:spPr>
          <a:xfrm>
            <a:off x="649100" y="1975550"/>
            <a:ext cx="529200" cy="2282400"/>
          </a:xfrm>
          <a:prstGeom prst="rect">
            <a:avLst/>
          </a:prstGeom>
          <a:solidFill>
            <a:srgbClr val="9AF7FF">
              <a:alpha val="206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5"/>
          <p:cNvSpPr/>
          <p:nvPr/>
        </p:nvSpPr>
        <p:spPr>
          <a:xfrm>
            <a:off x="4931825" y="1186000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50" name="Google Shape;550;p35"/>
          <p:cNvSpPr/>
          <p:nvPr/>
        </p:nvSpPr>
        <p:spPr>
          <a:xfrm>
            <a:off x="6396550" y="1186000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51" name="Google Shape;551;p35"/>
          <p:cNvCxnSpPr>
            <a:stCxn id="538" idx="2"/>
            <a:endCxn id="549" idx="0"/>
          </p:cNvCxnSpPr>
          <p:nvPr/>
        </p:nvCxnSpPr>
        <p:spPr>
          <a:xfrm flipH="1">
            <a:off x="5291725" y="747225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2" name="Google Shape;552;p35"/>
          <p:cNvCxnSpPr>
            <a:stCxn id="538" idx="2"/>
            <a:endCxn id="550" idx="0"/>
          </p:cNvCxnSpPr>
          <p:nvPr/>
        </p:nvCxnSpPr>
        <p:spPr>
          <a:xfrm>
            <a:off x="6171925" y="747225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3" name="Google Shape;553;p35"/>
          <p:cNvSpPr txBox="1"/>
          <p:nvPr/>
        </p:nvSpPr>
        <p:spPr>
          <a:xfrm>
            <a:off x="2729225" y="1686275"/>
            <a:ext cx="292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Similarity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(-10.5)</a:t>
            </a:r>
            <a:r>
              <a:rPr baseline="30000" lang="en" sz="1200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/ 1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110,25</a:t>
            </a:r>
            <a:endParaRPr b="1" sz="1200"/>
          </a:p>
        </p:txBody>
      </p:sp>
      <p:sp>
        <p:nvSpPr>
          <p:cNvPr id="554" name="Google Shape;554;p35"/>
          <p:cNvSpPr txBox="1"/>
          <p:nvPr/>
        </p:nvSpPr>
        <p:spPr>
          <a:xfrm>
            <a:off x="6171925" y="1686275"/>
            <a:ext cx="292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Similarity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(6.5)</a:t>
            </a:r>
            <a:r>
              <a:rPr baseline="30000" lang="en" sz="1200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/ 3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14.08</a:t>
            </a:r>
            <a:endParaRPr b="1" sz="1200"/>
          </a:p>
        </p:txBody>
      </p:sp>
      <p:sp>
        <p:nvSpPr>
          <p:cNvPr id="555" name="Google Shape;555;p35"/>
          <p:cNvSpPr txBox="1"/>
          <p:nvPr/>
        </p:nvSpPr>
        <p:spPr>
          <a:xfrm>
            <a:off x="2956275" y="2504725"/>
            <a:ext cx="61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Nodo_Izquierda</a:t>
            </a:r>
            <a:r>
              <a:rPr baseline="-25000" i="1" lang="en" sz="1200">
                <a:latin typeface="Nunito"/>
                <a:ea typeface="Nunito"/>
                <a:cs typeface="Nunito"/>
                <a:sym typeface="Nunito"/>
              </a:rPr>
              <a:t>Similarity Score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Nodo_Derecha</a:t>
            </a:r>
            <a:r>
              <a:rPr baseline="-25000" i="1" lang="en" sz="1200">
                <a:latin typeface="Nunito"/>
                <a:ea typeface="Nunito"/>
                <a:cs typeface="Nunito"/>
                <a:sym typeface="Nunito"/>
              </a:rPr>
              <a:t>Similarity Score</a:t>
            </a:r>
            <a:r>
              <a:rPr i="1" lang="en" sz="120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i="1" lang="en" sz="1200">
                <a:latin typeface="Nunito"/>
                <a:ea typeface="Nunito"/>
                <a:cs typeface="Nunito"/>
                <a:sym typeface="Nunito"/>
              </a:rPr>
              <a:t> Raiz </a:t>
            </a:r>
            <a:r>
              <a:rPr baseline="-25000" i="1" lang="en" sz="1200">
                <a:latin typeface="Nunito"/>
                <a:ea typeface="Nunito"/>
                <a:cs typeface="Nunito"/>
                <a:sym typeface="Nunito"/>
              </a:rPr>
              <a:t>Similarity Score</a:t>
            </a:r>
            <a:endParaRPr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6" name="Google Shape;556;p35"/>
          <p:cNvSpPr txBox="1"/>
          <p:nvPr/>
        </p:nvSpPr>
        <p:spPr>
          <a:xfrm>
            <a:off x="2956275" y="2994625"/>
            <a:ext cx="61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110.25 + 14.08 - 4 =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120.33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7" name="Google Shape;557;p35"/>
          <p:cNvSpPr/>
          <p:nvPr/>
        </p:nvSpPr>
        <p:spPr>
          <a:xfrm>
            <a:off x="5291675" y="366900"/>
            <a:ext cx="1799100" cy="317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6"/>
          <p:cNvSpPr txBox="1"/>
          <p:nvPr>
            <p:ph type="title"/>
          </p:nvPr>
        </p:nvSpPr>
        <p:spPr>
          <a:xfrm>
            <a:off x="1303800" y="598575"/>
            <a:ext cx="2276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sp>
        <p:nvSpPr>
          <p:cNvPr id="563" name="Google Shape;563;p36"/>
          <p:cNvSpPr/>
          <p:nvPr/>
        </p:nvSpPr>
        <p:spPr>
          <a:xfrm>
            <a:off x="5625004" y="145850"/>
            <a:ext cx="1765800" cy="36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pic>
        <p:nvPicPr>
          <p:cNvPr id="564" name="Google Shape;56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5" name="Google Shape;565;p36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" name="Google Shape;566;p36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7" name="Google Shape;567;p36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8" name="Google Shape;568;p36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9" name="Google Shape;569;p36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70" name="Google Shape;570;p36"/>
          <p:cNvSpPr txBox="1"/>
          <p:nvPr/>
        </p:nvSpPr>
        <p:spPr>
          <a:xfrm>
            <a:off x="7420210" y="155701"/>
            <a:ext cx="16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S.</a:t>
            </a:r>
            <a:r>
              <a:rPr b="1" i="1" lang="en">
                <a:latin typeface="Nunito"/>
                <a:ea typeface="Nunito"/>
                <a:cs typeface="Nunito"/>
                <a:sym typeface="Nunito"/>
              </a:rPr>
              <a:t> Score = 4</a:t>
            </a:r>
            <a:endParaRPr/>
          </a:p>
        </p:txBody>
      </p:sp>
      <p:sp>
        <p:nvSpPr>
          <p:cNvPr id="571" name="Google Shape;571;p36"/>
          <p:cNvSpPr txBox="1"/>
          <p:nvPr>
            <p:ph idx="1" type="body"/>
          </p:nvPr>
        </p:nvSpPr>
        <p:spPr>
          <a:xfrm>
            <a:off x="1206500" y="1186000"/>
            <a:ext cx="28446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Cuarto paso:</a:t>
            </a:r>
            <a:r>
              <a:rPr lang="en" sz="1400">
                <a:solidFill>
                  <a:srgbClr val="000000"/>
                </a:solidFill>
              </a:rPr>
              <a:t> exploramos todas las opciones</a:t>
            </a:r>
            <a:endParaRPr/>
          </a:p>
        </p:txBody>
      </p:sp>
      <p:cxnSp>
        <p:nvCxnSpPr>
          <p:cNvPr id="572" name="Google Shape;572;p36"/>
          <p:cNvCxnSpPr/>
          <p:nvPr/>
        </p:nvCxnSpPr>
        <p:spPr>
          <a:xfrm>
            <a:off x="1178300" y="1993250"/>
            <a:ext cx="0" cy="22647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73" name="Google Shape;573;p36"/>
          <p:cNvSpPr/>
          <p:nvPr/>
        </p:nvSpPr>
        <p:spPr>
          <a:xfrm>
            <a:off x="5425993" y="881117"/>
            <a:ext cx="632100" cy="3063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74" name="Google Shape;574;p36"/>
          <p:cNvSpPr/>
          <p:nvPr/>
        </p:nvSpPr>
        <p:spPr>
          <a:xfrm>
            <a:off x="6705198" y="881125"/>
            <a:ext cx="1246500" cy="3063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75" name="Google Shape;575;p36"/>
          <p:cNvCxnSpPr>
            <a:stCxn id="563" idx="2"/>
            <a:endCxn id="573" idx="0"/>
          </p:cNvCxnSpPr>
          <p:nvPr/>
        </p:nvCxnSpPr>
        <p:spPr>
          <a:xfrm flipH="1">
            <a:off x="5742004" y="506750"/>
            <a:ext cx="765900" cy="37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6" name="Google Shape;576;p36"/>
          <p:cNvCxnSpPr>
            <a:stCxn id="563" idx="2"/>
            <a:endCxn id="574" idx="0"/>
          </p:cNvCxnSpPr>
          <p:nvPr/>
        </p:nvCxnSpPr>
        <p:spPr>
          <a:xfrm>
            <a:off x="6507904" y="506750"/>
            <a:ext cx="820500" cy="37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7" name="Google Shape;577;p36"/>
          <p:cNvSpPr txBox="1"/>
          <p:nvPr/>
        </p:nvSpPr>
        <p:spPr>
          <a:xfrm>
            <a:off x="5065000" y="1187400"/>
            <a:ext cx="152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</a:t>
            </a: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110,25</a:t>
            </a:r>
            <a:endParaRPr b="1" sz="1200"/>
          </a:p>
        </p:txBody>
      </p:sp>
      <p:sp>
        <p:nvSpPr>
          <p:cNvPr id="578" name="Google Shape;578;p36"/>
          <p:cNvSpPr txBox="1"/>
          <p:nvPr/>
        </p:nvSpPr>
        <p:spPr>
          <a:xfrm>
            <a:off x="6705200" y="1187400"/>
            <a:ext cx="139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</a:t>
            </a: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14.08</a:t>
            </a:r>
            <a:endParaRPr b="1" sz="1200"/>
          </a:p>
        </p:txBody>
      </p:sp>
      <p:sp>
        <p:nvSpPr>
          <p:cNvPr id="579" name="Google Shape;579;p36"/>
          <p:cNvSpPr txBox="1"/>
          <p:nvPr/>
        </p:nvSpPr>
        <p:spPr>
          <a:xfrm>
            <a:off x="5840403" y="1498300"/>
            <a:ext cx="157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120.33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0" name="Google Shape;580;p36"/>
          <p:cNvSpPr/>
          <p:nvPr/>
        </p:nvSpPr>
        <p:spPr>
          <a:xfrm>
            <a:off x="5734950" y="182504"/>
            <a:ext cx="1579800" cy="2706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cxnSp>
        <p:nvCxnSpPr>
          <p:cNvPr id="581" name="Google Shape;581;p36"/>
          <p:cNvCxnSpPr/>
          <p:nvPr/>
        </p:nvCxnSpPr>
        <p:spPr>
          <a:xfrm>
            <a:off x="1481675" y="2201325"/>
            <a:ext cx="21300" cy="21096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36"/>
          <p:cNvCxnSpPr/>
          <p:nvPr/>
        </p:nvCxnSpPr>
        <p:spPr>
          <a:xfrm flipH="1">
            <a:off x="1735825" y="2561175"/>
            <a:ext cx="6900" cy="1707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83" name="Google Shape;583;p36"/>
          <p:cNvSpPr/>
          <p:nvPr/>
        </p:nvSpPr>
        <p:spPr>
          <a:xfrm>
            <a:off x="2944704" y="2069375"/>
            <a:ext cx="1765800" cy="36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584" name="Google Shape;584;p36"/>
          <p:cNvSpPr txBox="1"/>
          <p:nvPr/>
        </p:nvSpPr>
        <p:spPr>
          <a:xfrm>
            <a:off x="4739910" y="2079226"/>
            <a:ext cx="16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S. Score = 4</a:t>
            </a:r>
            <a:endParaRPr/>
          </a:p>
        </p:txBody>
      </p:sp>
      <p:sp>
        <p:nvSpPr>
          <p:cNvPr id="585" name="Google Shape;585;p36"/>
          <p:cNvSpPr/>
          <p:nvPr/>
        </p:nvSpPr>
        <p:spPr>
          <a:xfrm>
            <a:off x="2616713" y="2804650"/>
            <a:ext cx="1044900" cy="3063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-10.5, 6.5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86" name="Google Shape;586;p36"/>
          <p:cNvSpPr/>
          <p:nvPr/>
        </p:nvSpPr>
        <p:spPr>
          <a:xfrm>
            <a:off x="4024900" y="2804650"/>
            <a:ext cx="970500" cy="3063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87" name="Google Shape;587;p36"/>
          <p:cNvCxnSpPr>
            <a:stCxn id="583" idx="2"/>
            <a:endCxn id="585" idx="0"/>
          </p:cNvCxnSpPr>
          <p:nvPr/>
        </p:nvCxnSpPr>
        <p:spPr>
          <a:xfrm flipH="1">
            <a:off x="3139104" y="2430275"/>
            <a:ext cx="688500" cy="37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8" name="Google Shape;588;p36"/>
          <p:cNvCxnSpPr>
            <a:stCxn id="583" idx="2"/>
            <a:endCxn id="586" idx="0"/>
          </p:cNvCxnSpPr>
          <p:nvPr/>
        </p:nvCxnSpPr>
        <p:spPr>
          <a:xfrm>
            <a:off x="3827604" y="2430275"/>
            <a:ext cx="682500" cy="37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9" name="Google Shape;589;p36"/>
          <p:cNvSpPr txBox="1"/>
          <p:nvPr/>
        </p:nvSpPr>
        <p:spPr>
          <a:xfrm>
            <a:off x="2616725" y="3110925"/>
            <a:ext cx="10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8</a:t>
            </a:r>
            <a:endParaRPr b="1" sz="1200"/>
          </a:p>
        </p:txBody>
      </p:sp>
      <p:sp>
        <p:nvSpPr>
          <p:cNvPr id="590" name="Google Shape;590;p36"/>
          <p:cNvSpPr txBox="1"/>
          <p:nvPr/>
        </p:nvSpPr>
        <p:spPr>
          <a:xfrm>
            <a:off x="3959050" y="3110925"/>
            <a:ext cx="10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0</a:t>
            </a:r>
            <a:endParaRPr b="1" sz="1200"/>
          </a:p>
        </p:txBody>
      </p:sp>
      <p:sp>
        <p:nvSpPr>
          <p:cNvPr id="591" name="Google Shape;591;p36"/>
          <p:cNvSpPr txBox="1"/>
          <p:nvPr/>
        </p:nvSpPr>
        <p:spPr>
          <a:xfrm>
            <a:off x="3305150" y="3428850"/>
            <a:ext cx="104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4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2" name="Google Shape;592;p36"/>
          <p:cNvSpPr/>
          <p:nvPr/>
        </p:nvSpPr>
        <p:spPr>
          <a:xfrm>
            <a:off x="3054650" y="2106029"/>
            <a:ext cx="1579800" cy="2706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22.5</a:t>
            </a:r>
            <a:endParaRPr b="1"/>
          </a:p>
        </p:txBody>
      </p:sp>
      <p:sp>
        <p:nvSpPr>
          <p:cNvPr id="593" name="Google Shape;593;p36"/>
          <p:cNvSpPr/>
          <p:nvPr/>
        </p:nvSpPr>
        <p:spPr>
          <a:xfrm>
            <a:off x="5629354" y="3001950"/>
            <a:ext cx="1765800" cy="36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594" name="Google Shape;594;p36"/>
          <p:cNvSpPr txBox="1"/>
          <p:nvPr/>
        </p:nvSpPr>
        <p:spPr>
          <a:xfrm>
            <a:off x="7424560" y="3011801"/>
            <a:ext cx="16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S. Score = 4</a:t>
            </a:r>
            <a:endParaRPr/>
          </a:p>
        </p:txBody>
      </p:sp>
      <p:sp>
        <p:nvSpPr>
          <p:cNvPr id="595" name="Google Shape;595;p36"/>
          <p:cNvSpPr/>
          <p:nvPr/>
        </p:nvSpPr>
        <p:spPr>
          <a:xfrm>
            <a:off x="5205225" y="3737225"/>
            <a:ext cx="1439400" cy="3063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-10.5, 6.5, 7.5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96" name="Google Shape;596;p36"/>
          <p:cNvSpPr/>
          <p:nvPr/>
        </p:nvSpPr>
        <p:spPr>
          <a:xfrm>
            <a:off x="7047950" y="3737225"/>
            <a:ext cx="632100" cy="3063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97" name="Google Shape;597;p36"/>
          <p:cNvCxnSpPr>
            <a:stCxn id="593" idx="2"/>
            <a:endCxn id="595" idx="0"/>
          </p:cNvCxnSpPr>
          <p:nvPr/>
        </p:nvCxnSpPr>
        <p:spPr>
          <a:xfrm flipH="1">
            <a:off x="5924854" y="3362850"/>
            <a:ext cx="587400" cy="37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8" name="Google Shape;598;p36"/>
          <p:cNvCxnSpPr>
            <a:stCxn id="593" idx="2"/>
            <a:endCxn id="596" idx="0"/>
          </p:cNvCxnSpPr>
          <p:nvPr/>
        </p:nvCxnSpPr>
        <p:spPr>
          <a:xfrm>
            <a:off x="6512254" y="3362850"/>
            <a:ext cx="851700" cy="37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9" name="Google Shape;599;p36"/>
          <p:cNvSpPr txBox="1"/>
          <p:nvPr/>
        </p:nvSpPr>
        <p:spPr>
          <a:xfrm>
            <a:off x="5301375" y="4043500"/>
            <a:ext cx="124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4.08</a:t>
            </a:r>
            <a:endParaRPr b="1" sz="1200"/>
          </a:p>
        </p:txBody>
      </p:sp>
      <p:sp>
        <p:nvSpPr>
          <p:cNvPr id="600" name="Google Shape;600;p36"/>
          <p:cNvSpPr txBox="1"/>
          <p:nvPr/>
        </p:nvSpPr>
        <p:spPr>
          <a:xfrm>
            <a:off x="6806000" y="4043500"/>
            <a:ext cx="139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56.25</a:t>
            </a:r>
            <a:endParaRPr b="1" sz="1200"/>
          </a:p>
        </p:txBody>
      </p:sp>
      <p:sp>
        <p:nvSpPr>
          <p:cNvPr id="601" name="Google Shape;601;p36"/>
          <p:cNvSpPr txBox="1"/>
          <p:nvPr/>
        </p:nvSpPr>
        <p:spPr>
          <a:xfrm>
            <a:off x="5989800" y="4361425"/>
            <a:ext cx="124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56.33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2" name="Google Shape;602;p36"/>
          <p:cNvSpPr/>
          <p:nvPr/>
        </p:nvSpPr>
        <p:spPr>
          <a:xfrm>
            <a:off x="5739300" y="3038604"/>
            <a:ext cx="1579800" cy="2706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30</a:t>
            </a:r>
            <a:endParaRPr b="1"/>
          </a:p>
        </p:txBody>
      </p:sp>
      <p:sp>
        <p:nvSpPr>
          <p:cNvPr id="603" name="Google Shape;603;p36"/>
          <p:cNvSpPr/>
          <p:nvPr/>
        </p:nvSpPr>
        <p:spPr>
          <a:xfrm>
            <a:off x="5771450" y="1354675"/>
            <a:ext cx="1464900" cy="620100"/>
          </a:xfrm>
          <a:prstGeom prst="ellipse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6"/>
          <p:cNvSpPr txBox="1"/>
          <p:nvPr/>
        </p:nvSpPr>
        <p:spPr>
          <a:xfrm>
            <a:off x="5301375" y="2001388"/>
            <a:ext cx="3126000" cy="6156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“Dosage &lt; 15” es el umbral que mejor divide los residuos del árbol.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5" name="Google Shape;605;p36"/>
          <p:cNvSpPr/>
          <p:nvPr/>
        </p:nvSpPr>
        <p:spPr>
          <a:xfrm>
            <a:off x="3176375" y="1597875"/>
            <a:ext cx="1398600" cy="1848600"/>
          </a:xfrm>
          <a:prstGeom prst="mathMultiply">
            <a:avLst>
              <a:gd fmla="val 5037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6"/>
          <p:cNvSpPr/>
          <p:nvPr/>
        </p:nvSpPr>
        <p:spPr>
          <a:xfrm>
            <a:off x="5825550" y="2643625"/>
            <a:ext cx="1398600" cy="1848600"/>
          </a:xfrm>
          <a:prstGeom prst="mathMultiply">
            <a:avLst>
              <a:gd fmla="val 5037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7"/>
          <p:cNvSpPr txBox="1"/>
          <p:nvPr>
            <p:ph type="title"/>
          </p:nvPr>
        </p:nvSpPr>
        <p:spPr>
          <a:xfrm>
            <a:off x="1303800" y="598575"/>
            <a:ext cx="2276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sp>
        <p:nvSpPr>
          <p:cNvPr id="612" name="Google Shape;612;p37"/>
          <p:cNvSpPr/>
          <p:nvPr/>
        </p:nvSpPr>
        <p:spPr>
          <a:xfrm>
            <a:off x="5166475" y="323925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pic>
        <p:nvPicPr>
          <p:cNvPr id="613" name="Google Shape;61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4" name="Google Shape;614;p37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37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37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37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8" name="Google Shape;618;p37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19" name="Google Shape;619;p37"/>
          <p:cNvSpPr txBox="1"/>
          <p:nvPr/>
        </p:nvSpPr>
        <p:spPr>
          <a:xfrm>
            <a:off x="7210750" y="335475"/>
            <a:ext cx="1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S.</a:t>
            </a:r>
            <a:r>
              <a:rPr b="1" i="1" lang="en">
                <a:latin typeface="Nunito"/>
                <a:ea typeface="Nunito"/>
                <a:cs typeface="Nunito"/>
                <a:sym typeface="Nunito"/>
              </a:rPr>
              <a:t> Score = 4</a:t>
            </a:r>
            <a:endParaRPr/>
          </a:p>
        </p:txBody>
      </p:sp>
      <p:sp>
        <p:nvSpPr>
          <p:cNvPr id="620" name="Google Shape;620;p37"/>
          <p:cNvSpPr txBox="1"/>
          <p:nvPr>
            <p:ph idx="1" type="body"/>
          </p:nvPr>
        </p:nvSpPr>
        <p:spPr>
          <a:xfrm>
            <a:off x="1249425" y="1087225"/>
            <a:ext cx="3456600" cy="10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Quinto </a:t>
            </a:r>
            <a:r>
              <a:rPr b="1" lang="en" sz="1400">
                <a:solidFill>
                  <a:srgbClr val="000000"/>
                </a:solidFill>
              </a:rPr>
              <a:t>paso</a:t>
            </a:r>
            <a:r>
              <a:rPr b="1" lang="en" sz="1400">
                <a:solidFill>
                  <a:srgbClr val="000000"/>
                </a:solidFill>
              </a:rPr>
              <a:t>:</a:t>
            </a:r>
            <a:r>
              <a:rPr lang="en" sz="1400">
                <a:solidFill>
                  <a:srgbClr val="000000"/>
                </a:solidFill>
              </a:rPr>
              <a:t> repetimos el anterior hasta </a:t>
            </a:r>
            <a:r>
              <a:rPr lang="en" sz="1400">
                <a:solidFill>
                  <a:srgbClr val="000000"/>
                </a:solidFill>
              </a:rPr>
              <a:t>alcanzar</a:t>
            </a:r>
            <a:r>
              <a:rPr lang="en" sz="1400">
                <a:solidFill>
                  <a:srgbClr val="000000"/>
                </a:solidFill>
              </a:rPr>
              <a:t> la profundidad del árbol estipulada</a:t>
            </a:r>
            <a:endParaRPr/>
          </a:p>
        </p:txBody>
      </p:sp>
      <p:cxnSp>
        <p:nvCxnSpPr>
          <p:cNvPr id="621" name="Google Shape;621;p37"/>
          <p:cNvCxnSpPr/>
          <p:nvPr/>
        </p:nvCxnSpPr>
        <p:spPr>
          <a:xfrm>
            <a:off x="1178300" y="1993250"/>
            <a:ext cx="0" cy="22647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22" name="Google Shape;622;p37"/>
          <p:cNvSpPr/>
          <p:nvPr/>
        </p:nvSpPr>
        <p:spPr>
          <a:xfrm>
            <a:off x="4931825" y="1186000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23" name="Google Shape;623;p37"/>
          <p:cNvSpPr/>
          <p:nvPr/>
        </p:nvSpPr>
        <p:spPr>
          <a:xfrm>
            <a:off x="6396550" y="1186000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624" name="Google Shape;624;p37"/>
          <p:cNvCxnSpPr>
            <a:stCxn id="612" idx="2"/>
            <a:endCxn id="622" idx="0"/>
          </p:cNvCxnSpPr>
          <p:nvPr/>
        </p:nvCxnSpPr>
        <p:spPr>
          <a:xfrm flipH="1">
            <a:off x="5291725" y="747225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5" name="Google Shape;625;p37"/>
          <p:cNvCxnSpPr>
            <a:stCxn id="612" idx="2"/>
            <a:endCxn id="623" idx="0"/>
          </p:cNvCxnSpPr>
          <p:nvPr/>
        </p:nvCxnSpPr>
        <p:spPr>
          <a:xfrm>
            <a:off x="6171925" y="747225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6" name="Google Shape;626;p37"/>
          <p:cNvSpPr txBox="1"/>
          <p:nvPr/>
        </p:nvSpPr>
        <p:spPr>
          <a:xfrm>
            <a:off x="4265725" y="1593875"/>
            <a:ext cx="190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</a:t>
            </a: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110,25</a:t>
            </a:r>
            <a:endParaRPr b="1" sz="1200"/>
          </a:p>
        </p:txBody>
      </p:sp>
      <p:sp>
        <p:nvSpPr>
          <p:cNvPr id="627" name="Google Shape;627;p37"/>
          <p:cNvSpPr txBox="1"/>
          <p:nvPr/>
        </p:nvSpPr>
        <p:spPr>
          <a:xfrm>
            <a:off x="6292150" y="1593875"/>
            <a:ext cx="143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</a:t>
            </a: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14.08</a:t>
            </a:r>
            <a:endParaRPr b="1" sz="1200"/>
          </a:p>
        </p:txBody>
      </p:sp>
      <p:sp>
        <p:nvSpPr>
          <p:cNvPr id="628" name="Google Shape;628;p37"/>
          <p:cNvSpPr txBox="1"/>
          <p:nvPr/>
        </p:nvSpPr>
        <p:spPr>
          <a:xfrm>
            <a:off x="7731550" y="735675"/>
            <a:ext cx="134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120.33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29" name="Google Shape;629;p37"/>
          <p:cNvSpPr/>
          <p:nvPr/>
        </p:nvSpPr>
        <p:spPr>
          <a:xfrm>
            <a:off x="5291675" y="366900"/>
            <a:ext cx="1799100" cy="317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cxnSp>
        <p:nvCxnSpPr>
          <p:cNvPr id="630" name="Google Shape;630;p37"/>
          <p:cNvCxnSpPr/>
          <p:nvPr/>
        </p:nvCxnSpPr>
        <p:spPr>
          <a:xfrm flipH="1" rot="10800000">
            <a:off x="4014600" y="1580325"/>
            <a:ext cx="917100" cy="81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1" name="Google Shape;631;p37"/>
          <p:cNvSpPr txBox="1"/>
          <p:nvPr/>
        </p:nvSpPr>
        <p:spPr>
          <a:xfrm>
            <a:off x="3229725" y="2415400"/>
            <a:ext cx="1476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Acá ya no se puede dividir más, ya que hay un solo residuo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632" name="Google Shape;632;p37"/>
          <p:cNvCxnSpPr/>
          <p:nvPr/>
        </p:nvCxnSpPr>
        <p:spPr>
          <a:xfrm>
            <a:off x="1481675" y="2201325"/>
            <a:ext cx="21300" cy="2109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33" name="Google Shape;633;p37"/>
          <p:cNvCxnSpPr/>
          <p:nvPr/>
        </p:nvCxnSpPr>
        <p:spPr>
          <a:xfrm flipH="1">
            <a:off x="1735825" y="2561175"/>
            <a:ext cx="6900" cy="1707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34" name="Google Shape;634;p37"/>
          <p:cNvSpPr/>
          <p:nvPr/>
        </p:nvSpPr>
        <p:spPr>
          <a:xfrm>
            <a:off x="642050" y="2236600"/>
            <a:ext cx="536400" cy="2180100"/>
          </a:xfrm>
          <a:prstGeom prst="rect">
            <a:avLst/>
          </a:prstGeom>
          <a:solidFill>
            <a:srgbClr val="D2D2D2">
              <a:alpha val="502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35" name="Google Shape;635;p37"/>
          <p:cNvCxnSpPr/>
          <p:nvPr/>
        </p:nvCxnSpPr>
        <p:spPr>
          <a:xfrm>
            <a:off x="1792100" y="3944050"/>
            <a:ext cx="1700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6" name="Google Shape;636;p37"/>
          <p:cNvSpPr txBox="1"/>
          <p:nvPr/>
        </p:nvSpPr>
        <p:spPr>
          <a:xfrm>
            <a:off x="3541875" y="3817050"/>
            <a:ext cx="2448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Volvemos a explorar estas dos opciones para dividir el nodo de la derecha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8"/>
          <p:cNvSpPr txBox="1"/>
          <p:nvPr>
            <p:ph type="title"/>
          </p:nvPr>
        </p:nvSpPr>
        <p:spPr>
          <a:xfrm>
            <a:off x="1303800" y="598575"/>
            <a:ext cx="2276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sp>
        <p:nvSpPr>
          <p:cNvPr id="642" name="Google Shape;642;p38"/>
          <p:cNvSpPr/>
          <p:nvPr/>
        </p:nvSpPr>
        <p:spPr>
          <a:xfrm>
            <a:off x="5166475" y="323925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pic>
        <p:nvPicPr>
          <p:cNvPr id="643" name="Google Shape;64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4" name="Google Shape;644;p38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38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6" name="Google Shape;646;p38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38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38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49" name="Google Shape;649;p38"/>
          <p:cNvSpPr txBox="1"/>
          <p:nvPr/>
        </p:nvSpPr>
        <p:spPr>
          <a:xfrm>
            <a:off x="7210750" y="335475"/>
            <a:ext cx="1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S. Score = 4</a:t>
            </a:r>
            <a:endParaRPr/>
          </a:p>
        </p:txBody>
      </p:sp>
      <p:sp>
        <p:nvSpPr>
          <p:cNvPr id="650" name="Google Shape;650;p38"/>
          <p:cNvSpPr txBox="1"/>
          <p:nvPr>
            <p:ph idx="1" type="body"/>
          </p:nvPr>
        </p:nvSpPr>
        <p:spPr>
          <a:xfrm>
            <a:off x="1249425" y="1087225"/>
            <a:ext cx="3456600" cy="10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Quinto paso:</a:t>
            </a:r>
            <a:r>
              <a:rPr lang="en" sz="1400">
                <a:solidFill>
                  <a:srgbClr val="000000"/>
                </a:solidFill>
              </a:rPr>
              <a:t> repetimos el anterior hasta alcanzar la profundidad del árbol estipulada</a:t>
            </a:r>
            <a:endParaRPr/>
          </a:p>
        </p:txBody>
      </p:sp>
      <p:cxnSp>
        <p:nvCxnSpPr>
          <p:cNvPr id="651" name="Google Shape;651;p38"/>
          <p:cNvCxnSpPr/>
          <p:nvPr/>
        </p:nvCxnSpPr>
        <p:spPr>
          <a:xfrm>
            <a:off x="1178300" y="1993250"/>
            <a:ext cx="0" cy="22647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52" name="Google Shape;652;p38"/>
          <p:cNvSpPr/>
          <p:nvPr/>
        </p:nvSpPr>
        <p:spPr>
          <a:xfrm>
            <a:off x="4931825" y="1186000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53" name="Google Shape;653;p38"/>
          <p:cNvSpPr/>
          <p:nvPr/>
        </p:nvSpPr>
        <p:spPr>
          <a:xfrm>
            <a:off x="6396550" y="1186000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654" name="Google Shape;654;p38"/>
          <p:cNvCxnSpPr>
            <a:stCxn id="642" idx="2"/>
            <a:endCxn id="652" idx="0"/>
          </p:cNvCxnSpPr>
          <p:nvPr/>
        </p:nvCxnSpPr>
        <p:spPr>
          <a:xfrm flipH="1">
            <a:off x="5291725" y="747225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5" name="Google Shape;655;p38"/>
          <p:cNvCxnSpPr>
            <a:stCxn id="642" idx="2"/>
            <a:endCxn id="653" idx="0"/>
          </p:cNvCxnSpPr>
          <p:nvPr/>
        </p:nvCxnSpPr>
        <p:spPr>
          <a:xfrm>
            <a:off x="6171925" y="747225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6" name="Google Shape;656;p38"/>
          <p:cNvSpPr txBox="1"/>
          <p:nvPr/>
        </p:nvSpPr>
        <p:spPr>
          <a:xfrm>
            <a:off x="4265725" y="1593875"/>
            <a:ext cx="190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110,25</a:t>
            </a:r>
            <a:endParaRPr b="1" sz="1200"/>
          </a:p>
        </p:txBody>
      </p:sp>
      <p:sp>
        <p:nvSpPr>
          <p:cNvPr id="657" name="Google Shape;657;p38"/>
          <p:cNvSpPr txBox="1"/>
          <p:nvPr/>
        </p:nvSpPr>
        <p:spPr>
          <a:xfrm>
            <a:off x="7682200" y="1220600"/>
            <a:ext cx="143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14.08</a:t>
            </a:r>
            <a:endParaRPr b="1" sz="1200"/>
          </a:p>
        </p:txBody>
      </p:sp>
      <p:sp>
        <p:nvSpPr>
          <p:cNvPr id="658" name="Google Shape;658;p38"/>
          <p:cNvSpPr txBox="1"/>
          <p:nvPr/>
        </p:nvSpPr>
        <p:spPr>
          <a:xfrm>
            <a:off x="7731550" y="735675"/>
            <a:ext cx="134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120.33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59" name="Google Shape;659;p38"/>
          <p:cNvSpPr/>
          <p:nvPr/>
        </p:nvSpPr>
        <p:spPr>
          <a:xfrm>
            <a:off x="5291675" y="366900"/>
            <a:ext cx="1799100" cy="317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cxnSp>
        <p:nvCxnSpPr>
          <p:cNvPr id="660" name="Google Shape;660;p38"/>
          <p:cNvCxnSpPr/>
          <p:nvPr/>
        </p:nvCxnSpPr>
        <p:spPr>
          <a:xfrm>
            <a:off x="1481675" y="2201325"/>
            <a:ext cx="21300" cy="2109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61" name="Google Shape;661;p38"/>
          <p:cNvSpPr/>
          <p:nvPr/>
        </p:nvSpPr>
        <p:spPr>
          <a:xfrm>
            <a:off x="642050" y="2236600"/>
            <a:ext cx="536400" cy="2180100"/>
          </a:xfrm>
          <a:prstGeom prst="rect">
            <a:avLst/>
          </a:prstGeom>
          <a:solidFill>
            <a:srgbClr val="D2D2D2">
              <a:alpha val="502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8"/>
          <p:cNvSpPr/>
          <p:nvPr/>
        </p:nvSpPr>
        <p:spPr>
          <a:xfrm>
            <a:off x="6441725" y="1220600"/>
            <a:ext cx="1149900" cy="268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Dosage &lt; 22.5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663" name="Google Shape;663;p38"/>
          <p:cNvSpPr/>
          <p:nvPr/>
        </p:nvSpPr>
        <p:spPr>
          <a:xfrm>
            <a:off x="6004275" y="1798525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6</a:t>
            </a:r>
            <a:r>
              <a:rPr b="1" lang="en"/>
              <a:t>.5</a:t>
            </a:r>
            <a:endParaRPr b="1"/>
          </a:p>
        </p:txBody>
      </p:sp>
      <p:sp>
        <p:nvSpPr>
          <p:cNvPr id="664" name="Google Shape;664;p38"/>
          <p:cNvSpPr/>
          <p:nvPr/>
        </p:nvSpPr>
        <p:spPr>
          <a:xfrm>
            <a:off x="7090775" y="1798525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7.5, -7.5</a:t>
            </a:r>
            <a:endParaRPr b="1"/>
          </a:p>
        </p:txBody>
      </p:sp>
      <p:cxnSp>
        <p:nvCxnSpPr>
          <p:cNvPr id="665" name="Google Shape;665;p38"/>
          <p:cNvCxnSpPr>
            <a:stCxn id="653" idx="2"/>
            <a:endCxn id="663" idx="0"/>
          </p:cNvCxnSpPr>
          <p:nvPr/>
        </p:nvCxnSpPr>
        <p:spPr>
          <a:xfrm flipH="1">
            <a:off x="6350050" y="1545100"/>
            <a:ext cx="6618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6" name="Google Shape;666;p38"/>
          <p:cNvCxnSpPr>
            <a:stCxn id="653" idx="2"/>
            <a:endCxn id="664" idx="0"/>
          </p:cNvCxnSpPr>
          <p:nvPr/>
        </p:nvCxnSpPr>
        <p:spPr>
          <a:xfrm>
            <a:off x="7011850" y="1545100"/>
            <a:ext cx="5190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7" name="Google Shape;667;p38"/>
          <p:cNvSpPr txBox="1"/>
          <p:nvPr/>
        </p:nvSpPr>
        <p:spPr>
          <a:xfrm>
            <a:off x="5679675" y="2157575"/>
            <a:ext cx="134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45.25</a:t>
            </a:r>
            <a:endParaRPr b="1" sz="1200"/>
          </a:p>
        </p:txBody>
      </p:sp>
      <p:sp>
        <p:nvSpPr>
          <p:cNvPr id="668" name="Google Shape;668;p38"/>
          <p:cNvSpPr txBox="1"/>
          <p:nvPr/>
        </p:nvSpPr>
        <p:spPr>
          <a:xfrm>
            <a:off x="7177375" y="2157575"/>
            <a:ext cx="134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0</a:t>
            </a:r>
            <a:endParaRPr b="1" sz="1200"/>
          </a:p>
        </p:txBody>
      </p:sp>
      <p:sp>
        <p:nvSpPr>
          <p:cNvPr id="669" name="Google Shape;669;p38"/>
          <p:cNvSpPr txBox="1"/>
          <p:nvPr/>
        </p:nvSpPr>
        <p:spPr>
          <a:xfrm>
            <a:off x="5789500" y="2467350"/>
            <a:ext cx="296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42.25-14.08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= 28.17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70" name="Google Shape;670;p38"/>
          <p:cNvSpPr txBox="1"/>
          <p:nvPr/>
        </p:nvSpPr>
        <p:spPr>
          <a:xfrm>
            <a:off x="2357543" y="1963175"/>
            <a:ext cx="16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Primera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Opción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671" name="Google Shape;671;p38"/>
          <p:cNvCxnSpPr>
            <a:stCxn id="670" idx="1"/>
          </p:cNvCxnSpPr>
          <p:nvPr/>
        </p:nvCxnSpPr>
        <p:spPr>
          <a:xfrm flipH="1">
            <a:off x="1580543" y="2163275"/>
            <a:ext cx="777000" cy="8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2" name="Google Shape;672;p38"/>
          <p:cNvCxnSpPr/>
          <p:nvPr/>
        </p:nvCxnSpPr>
        <p:spPr>
          <a:xfrm flipH="1">
            <a:off x="1735825" y="2561175"/>
            <a:ext cx="6900" cy="1707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73" name="Google Shape;673;p38"/>
          <p:cNvCxnSpPr/>
          <p:nvPr/>
        </p:nvCxnSpPr>
        <p:spPr>
          <a:xfrm flipH="1">
            <a:off x="1775293" y="2531550"/>
            <a:ext cx="777000" cy="8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4" name="Google Shape;674;p38"/>
          <p:cNvSpPr txBox="1"/>
          <p:nvPr/>
        </p:nvSpPr>
        <p:spPr>
          <a:xfrm>
            <a:off x="2524043" y="2236600"/>
            <a:ext cx="16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Segunda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Opción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75" name="Google Shape;675;p38"/>
          <p:cNvSpPr/>
          <p:nvPr/>
        </p:nvSpPr>
        <p:spPr>
          <a:xfrm>
            <a:off x="3808975" y="3139350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676" name="Google Shape;676;p38"/>
          <p:cNvSpPr/>
          <p:nvPr/>
        </p:nvSpPr>
        <p:spPr>
          <a:xfrm>
            <a:off x="3574325" y="4001425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77" name="Google Shape;677;p38"/>
          <p:cNvSpPr/>
          <p:nvPr/>
        </p:nvSpPr>
        <p:spPr>
          <a:xfrm>
            <a:off x="5039050" y="4001425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678" name="Google Shape;678;p38"/>
          <p:cNvCxnSpPr>
            <a:stCxn id="675" idx="2"/>
            <a:endCxn id="676" idx="0"/>
          </p:cNvCxnSpPr>
          <p:nvPr/>
        </p:nvCxnSpPr>
        <p:spPr>
          <a:xfrm flipH="1">
            <a:off x="3934225" y="3562650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9" name="Google Shape;679;p38"/>
          <p:cNvCxnSpPr>
            <a:stCxn id="675" idx="2"/>
            <a:endCxn id="677" idx="0"/>
          </p:cNvCxnSpPr>
          <p:nvPr/>
        </p:nvCxnSpPr>
        <p:spPr>
          <a:xfrm>
            <a:off x="4814425" y="3562650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0" name="Google Shape;680;p38"/>
          <p:cNvSpPr/>
          <p:nvPr/>
        </p:nvSpPr>
        <p:spPr>
          <a:xfrm>
            <a:off x="3934175" y="3182325"/>
            <a:ext cx="1799100" cy="317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sp>
        <p:nvSpPr>
          <p:cNvPr id="681" name="Google Shape;681;p38"/>
          <p:cNvSpPr/>
          <p:nvPr/>
        </p:nvSpPr>
        <p:spPr>
          <a:xfrm>
            <a:off x="5084225" y="4036025"/>
            <a:ext cx="1149900" cy="268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Dosage &lt; 30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682" name="Google Shape;682;p38"/>
          <p:cNvSpPr/>
          <p:nvPr/>
        </p:nvSpPr>
        <p:spPr>
          <a:xfrm>
            <a:off x="4646775" y="4613950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6.5, 7.5</a:t>
            </a:r>
            <a:endParaRPr b="1"/>
          </a:p>
        </p:txBody>
      </p:sp>
      <p:sp>
        <p:nvSpPr>
          <p:cNvPr id="683" name="Google Shape;683;p38"/>
          <p:cNvSpPr/>
          <p:nvPr/>
        </p:nvSpPr>
        <p:spPr>
          <a:xfrm>
            <a:off x="5921975" y="4613950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-7.5</a:t>
            </a:r>
            <a:endParaRPr b="1"/>
          </a:p>
        </p:txBody>
      </p:sp>
      <p:cxnSp>
        <p:nvCxnSpPr>
          <p:cNvPr id="684" name="Google Shape;684;p38"/>
          <p:cNvCxnSpPr>
            <a:stCxn id="677" idx="2"/>
            <a:endCxn id="682" idx="0"/>
          </p:cNvCxnSpPr>
          <p:nvPr/>
        </p:nvCxnSpPr>
        <p:spPr>
          <a:xfrm flipH="1">
            <a:off x="5086750" y="4360525"/>
            <a:ext cx="5676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5" name="Google Shape;685;p38"/>
          <p:cNvCxnSpPr>
            <a:stCxn id="677" idx="2"/>
            <a:endCxn id="683" idx="0"/>
          </p:cNvCxnSpPr>
          <p:nvPr/>
        </p:nvCxnSpPr>
        <p:spPr>
          <a:xfrm>
            <a:off x="5654350" y="4360525"/>
            <a:ext cx="6135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6" name="Google Shape;686;p38"/>
          <p:cNvSpPr txBox="1"/>
          <p:nvPr/>
        </p:nvSpPr>
        <p:spPr>
          <a:xfrm>
            <a:off x="3422100" y="4650600"/>
            <a:ext cx="114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98</a:t>
            </a:r>
            <a:endParaRPr b="1" sz="1200"/>
          </a:p>
        </p:txBody>
      </p:sp>
      <p:sp>
        <p:nvSpPr>
          <p:cNvPr id="687" name="Google Shape;687;p38"/>
          <p:cNvSpPr txBox="1"/>
          <p:nvPr/>
        </p:nvSpPr>
        <p:spPr>
          <a:xfrm>
            <a:off x="6630275" y="4650600"/>
            <a:ext cx="134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56.25</a:t>
            </a:r>
            <a:endParaRPr b="1" sz="1200"/>
          </a:p>
        </p:txBody>
      </p:sp>
      <p:sp>
        <p:nvSpPr>
          <p:cNvPr id="688" name="Google Shape;688;p38"/>
          <p:cNvSpPr txBox="1"/>
          <p:nvPr/>
        </p:nvSpPr>
        <p:spPr>
          <a:xfrm>
            <a:off x="5921975" y="3498325"/>
            <a:ext cx="31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98 + 56.25 - 14.08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= 140.17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89" name="Google Shape;689;p38"/>
          <p:cNvSpPr/>
          <p:nvPr/>
        </p:nvSpPr>
        <p:spPr>
          <a:xfrm>
            <a:off x="3019775" y="2758725"/>
            <a:ext cx="6052500" cy="229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39"/>
          <p:cNvSpPr txBox="1"/>
          <p:nvPr>
            <p:ph type="title"/>
          </p:nvPr>
        </p:nvSpPr>
        <p:spPr>
          <a:xfrm>
            <a:off x="1303800" y="598575"/>
            <a:ext cx="2276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pic>
        <p:nvPicPr>
          <p:cNvPr id="695" name="Google Shape;69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6" name="Google Shape;696;p39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7" name="Google Shape;697;p39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8" name="Google Shape;698;p39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9" name="Google Shape;699;p39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00" name="Google Shape;700;p39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01" name="Google Shape;701;p39"/>
          <p:cNvSpPr txBox="1"/>
          <p:nvPr/>
        </p:nvSpPr>
        <p:spPr>
          <a:xfrm>
            <a:off x="7046525" y="169500"/>
            <a:ext cx="1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S. Score = 4</a:t>
            </a:r>
            <a:endParaRPr/>
          </a:p>
        </p:txBody>
      </p:sp>
      <p:sp>
        <p:nvSpPr>
          <p:cNvPr id="702" name="Google Shape;702;p39"/>
          <p:cNvSpPr txBox="1"/>
          <p:nvPr>
            <p:ph idx="1" type="body"/>
          </p:nvPr>
        </p:nvSpPr>
        <p:spPr>
          <a:xfrm>
            <a:off x="1249425" y="1087225"/>
            <a:ext cx="3456600" cy="10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Quinto paso:</a:t>
            </a:r>
            <a:r>
              <a:rPr lang="en" sz="1400">
                <a:solidFill>
                  <a:srgbClr val="000000"/>
                </a:solidFill>
              </a:rPr>
              <a:t> repetimos el anterior hasta alcanzar la profundidad del árbol estipulada</a:t>
            </a:r>
            <a:endParaRPr/>
          </a:p>
        </p:txBody>
      </p:sp>
      <p:cxnSp>
        <p:nvCxnSpPr>
          <p:cNvPr id="703" name="Google Shape;703;p39"/>
          <p:cNvCxnSpPr/>
          <p:nvPr/>
        </p:nvCxnSpPr>
        <p:spPr>
          <a:xfrm>
            <a:off x="1178300" y="1993250"/>
            <a:ext cx="0" cy="22647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04" name="Google Shape;704;p39"/>
          <p:cNvSpPr txBox="1"/>
          <p:nvPr/>
        </p:nvSpPr>
        <p:spPr>
          <a:xfrm>
            <a:off x="4484450" y="1363538"/>
            <a:ext cx="143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110,25</a:t>
            </a:r>
            <a:endParaRPr b="1" sz="1200"/>
          </a:p>
        </p:txBody>
      </p:sp>
      <p:sp>
        <p:nvSpPr>
          <p:cNvPr id="705" name="Google Shape;705;p39"/>
          <p:cNvSpPr/>
          <p:nvPr/>
        </p:nvSpPr>
        <p:spPr>
          <a:xfrm>
            <a:off x="642050" y="2236600"/>
            <a:ext cx="536400" cy="2180100"/>
          </a:xfrm>
          <a:prstGeom prst="rect">
            <a:avLst/>
          </a:prstGeom>
          <a:solidFill>
            <a:srgbClr val="D2D2D2">
              <a:alpha val="502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6" name="Google Shape;706;p39"/>
          <p:cNvCxnSpPr/>
          <p:nvPr/>
        </p:nvCxnSpPr>
        <p:spPr>
          <a:xfrm flipH="1">
            <a:off x="1735825" y="2561175"/>
            <a:ext cx="6900" cy="1707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07" name="Google Shape;707;p39"/>
          <p:cNvSpPr/>
          <p:nvPr/>
        </p:nvSpPr>
        <p:spPr>
          <a:xfrm>
            <a:off x="5078950" y="157950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708" name="Google Shape;708;p39"/>
          <p:cNvSpPr/>
          <p:nvPr/>
        </p:nvSpPr>
        <p:spPr>
          <a:xfrm>
            <a:off x="4844300" y="1020025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09" name="Google Shape;709;p39"/>
          <p:cNvSpPr/>
          <p:nvPr/>
        </p:nvSpPr>
        <p:spPr>
          <a:xfrm>
            <a:off x="6309025" y="1020025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710" name="Google Shape;710;p39"/>
          <p:cNvCxnSpPr>
            <a:stCxn id="707" idx="2"/>
            <a:endCxn id="708" idx="0"/>
          </p:cNvCxnSpPr>
          <p:nvPr/>
        </p:nvCxnSpPr>
        <p:spPr>
          <a:xfrm flipH="1">
            <a:off x="5204200" y="581250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1" name="Google Shape;711;p39"/>
          <p:cNvCxnSpPr>
            <a:stCxn id="707" idx="2"/>
            <a:endCxn id="709" idx="0"/>
          </p:cNvCxnSpPr>
          <p:nvPr/>
        </p:nvCxnSpPr>
        <p:spPr>
          <a:xfrm>
            <a:off x="6084400" y="581250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2" name="Google Shape;712;p39"/>
          <p:cNvSpPr/>
          <p:nvPr/>
        </p:nvSpPr>
        <p:spPr>
          <a:xfrm>
            <a:off x="5204150" y="200925"/>
            <a:ext cx="1799100" cy="317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sp>
        <p:nvSpPr>
          <p:cNvPr id="713" name="Google Shape;713;p39"/>
          <p:cNvSpPr/>
          <p:nvPr/>
        </p:nvSpPr>
        <p:spPr>
          <a:xfrm>
            <a:off x="6354200" y="1054625"/>
            <a:ext cx="1149900" cy="268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Dosage &lt; 30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14" name="Google Shape;714;p39"/>
          <p:cNvSpPr/>
          <p:nvPr/>
        </p:nvSpPr>
        <p:spPr>
          <a:xfrm>
            <a:off x="5916750" y="1632550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6.5, 7.5</a:t>
            </a:r>
            <a:endParaRPr b="1"/>
          </a:p>
        </p:txBody>
      </p:sp>
      <p:sp>
        <p:nvSpPr>
          <p:cNvPr id="715" name="Google Shape;715;p39"/>
          <p:cNvSpPr/>
          <p:nvPr/>
        </p:nvSpPr>
        <p:spPr>
          <a:xfrm>
            <a:off x="7191950" y="1632550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-7.5</a:t>
            </a:r>
            <a:endParaRPr b="1"/>
          </a:p>
        </p:txBody>
      </p:sp>
      <p:cxnSp>
        <p:nvCxnSpPr>
          <p:cNvPr id="716" name="Google Shape;716;p39"/>
          <p:cNvCxnSpPr>
            <a:stCxn id="709" idx="2"/>
            <a:endCxn id="714" idx="0"/>
          </p:cNvCxnSpPr>
          <p:nvPr/>
        </p:nvCxnSpPr>
        <p:spPr>
          <a:xfrm flipH="1">
            <a:off x="6356725" y="1379125"/>
            <a:ext cx="5676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7" name="Google Shape;717;p39"/>
          <p:cNvCxnSpPr>
            <a:stCxn id="709" idx="2"/>
            <a:endCxn id="715" idx="0"/>
          </p:cNvCxnSpPr>
          <p:nvPr/>
        </p:nvCxnSpPr>
        <p:spPr>
          <a:xfrm>
            <a:off x="6924325" y="1379125"/>
            <a:ext cx="6135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8" name="Google Shape;718;p39"/>
          <p:cNvSpPr txBox="1"/>
          <p:nvPr/>
        </p:nvSpPr>
        <p:spPr>
          <a:xfrm>
            <a:off x="5781900" y="2018825"/>
            <a:ext cx="114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98</a:t>
            </a:r>
            <a:endParaRPr b="1" sz="1200"/>
          </a:p>
        </p:txBody>
      </p:sp>
      <p:sp>
        <p:nvSpPr>
          <p:cNvPr id="719" name="Google Shape;719;p39"/>
          <p:cNvSpPr txBox="1"/>
          <p:nvPr/>
        </p:nvSpPr>
        <p:spPr>
          <a:xfrm>
            <a:off x="7046525" y="2018825"/>
            <a:ext cx="134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56.25</a:t>
            </a:r>
            <a:endParaRPr b="1" sz="1200"/>
          </a:p>
        </p:txBody>
      </p:sp>
      <p:sp>
        <p:nvSpPr>
          <p:cNvPr id="720" name="Google Shape;720;p39"/>
          <p:cNvSpPr txBox="1"/>
          <p:nvPr/>
        </p:nvSpPr>
        <p:spPr>
          <a:xfrm>
            <a:off x="6356725" y="2430500"/>
            <a:ext cx="143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140.17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21" name="Google Shape;721;p39"/>
          <p:cNvSpPr txBox="1"/>
          <p:nvPr/>
        </p:nvSpPr>
        <p:spPr>
          <a:xfrm>
            <a:off x="7539625" y="1014925"/>
            <a:ext cx="143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14.08</a:t>
            </a:r>
            <a:endParaRPr b="1" sz="1200"/>
          </a:p>
        </p:txBody>
      </p:sp>
      <p:sp>
        <p:nvSpPr>
          <p:cNvPr id="722" name="Google Shape;722;p39"/>
          <p:cNvSpPr txBox="1"/>
          <p:nvPr/>
        </p:nvSpPr>
        <p:spPr>
          <a:xfrm>
            <a:off x="3541900" y="3040950"/>
            <a:ext cx="5524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Cómo nuestra restricción era de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2 niveles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de profundidad terminamos de generar el árbol.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Aunque por defecto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XGBoost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trabaja con 6 niveles.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0"/>
          <p:cNvSpPr txBox="1"/>
          <p:nvPr>
            <p:ph type="title"/>
          </p:nvPr>
        </p:nvSpPr>
        <p:spPr>
          <a:xfrm>
            <a:off x="1303800" y="598575"/>
            <a:ext cx="2276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pic>
        <p:nvPicPr>
          <p:cNvPr id="728" name="Google Shape;72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9" name="Google Shape;729;p40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0" name="Google Shape;730;p40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31" name="Google Shape;731;p40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32" name="Google Shape;732;p40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33" name="Google Shape;733;p40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34" name="Google Shape;734;p40"/>
          <p:cNvSpPr txBox="1"/>
          <p:nvPr/>
        </p:nvSpPr>
        <p:spPr>
          <a:xfrm>
            <a:off x="7046525" y="169500"/>
            <a:ext cx="1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b="1" i="1" lang="en">
                <a:latin typeface="Nunito"/>
                <a:ea typeface="Nunito"/>
                <a:cs typeface="Nunito"/>
                <a:sym typeface="Nunito"/>
              </a:rPr>
              <a:t> = 120.33</a:t>
            </a:r>
            <a:endParaRPr/>
          </a:p>
        </p:txBody>
      </p:sp>
      <p:sp>
        <p:nvSpPr>
          <p:cNvPr id="735" name="Google Shape;735;p40"/>
          <p:cNvSpPr txBox="1"/>
          <p:nvPr>
            <p:ph idx="1" type="body"/>
          </p:nvPr>
        </p:nvSpPr>
        <p:spPr>
          <a:xfrm>
            <a:off x="1368800" y="1147225"/>
            <a:ext cx="2234700" cy="4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Sexto</a:t>
            </a:r>
            <a:r>
              <a:rPr b="1" lang="en" sz="1400">
                <a:solidFill>
                  <a:srgbClr val="000000"/>
                </a:solidFill>
              </a:rPr>
              <a:t> paso:</a:t>
            </a:r>
            <a:r>
              <a:rPr lang="en" sz="1400">
                <a:solidFill>
                  <a:srgbClr val="000000"/>
                </a:solidFill>
              </a:rPr>
              <a:t> poda</a:t>
            </a:r>
            <a:endParaRPr/>
          </a:p>
        </p:txBody>
      </p:sp>
      <p:cxnSp>
        <p:nvCxnSpPr>
          <p:cNvPr id="736" name="Google Shape;736;p40"/>
          <p:cNvCxnSpPr/>
          <p:nvPr/>
        </p:nvCxnSpPr>
        <p:spPr>
          <a:xfrm>
            <a:off x="1178300" y="1993250"/>
            <a:ext cx="0" cy="22647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37" name="Google Shape;737;p40"/>
          <p:cNvSpPr/>
          <p:nvPr/>
        </p:nvSpPr>
        <p:spPr>
          <a:xfrm>
            <a:off x="642050" y="2236600"/>
            <a:ext cx="536400" cy="2180100"/>
          </a:xfrm>
          <a:prstGeom prst="rect">
            <a:avLst/>
          </a:prstGeom>
          <a:solidFill>
            <a:srgbClr val="D2D2D2">
              <a:alpha val="502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8" name="Google Shape;738;p40"/>
          <p:cNvCxnSpPr/>
          <p:nvPr/>
        </p:nvCxnSpPr>
        <p:spPr>
          <a:xfrm flipH="1">
            <a:off x="1735825" y="2561175"/>
            <a:ext cx="6900" cy="1707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39" name="Google Shape;739;p40"/>
          <p:cNvSpPr/>
          <p:nvPr/>
        </p:nvSpPr>
        <p:spPr>
          <a:xfrm>
            <a:off x="5078950" y="157950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740" name="Google Shape;740;p40"/>
          <p:cNvSpPr/>
          <p:nvPr/>
        </p:nvSpPr>
        <p:spPr>
          <a:xfrm>
            <a:off x="4844300" y="1020025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41" name="Google Shape;741;p40"/>
          <p:cNvSpPr/>
          <p:nvPr/>
        </p:nvSpPr>
        <p:spPr>
          <a:xfrm>
            <a:off x="6309025" y="1020025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742" name="Google Shape;742;p40"/>
          <p:cNvCxnSpPr>
            <a:stCxn id="739" idx="2"/>
            <a:endCxn id="740" idx="0"/>
          </p:cNvCxnSpPr>
          <p:nvPr/>
        </p:nvCxnSpPr>
        <p:spPr>
          <a:xfrm flipH="1">
            <a:off x="5204200" y="581250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3" name="Google Shape;743;p40"/>
          <p:cNvCxnSpPr>
            <a:stCxn id="739" idx="2"/>
            <a:endCxn id="741" idx="0"/>
          </p:cNvCxnSpPr>
          <p:nvPr/>
        </p:nvCxnSpPr>
        <p:spPr>
          <a:xfrm>
            <a:off x="6084400" y="581250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4" name="Google Shape;744;p40"/>
          <p:cNvSpPr/>
          <p:nvPr/>
        </p:nvSpPr>
        <p:spPr>
          <a:xfrm>
            <a:off x="5204150" y="200925"/>
            <a:ext cx="1799100" cy="317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sp>
        <p:nvSpPr>
          <p:cNvPr id="745" name="Google Shape;745;p40"/>
          <p:cNvSpPr/>
          <p:nvPr/>
        </p:nvSpPr>
        <p:spPr>
          <a:xfrm>
            <a:off x="6354200" y="1054625"/>
            <a:ext cx="1149900" cy="268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Dosage &lt; 30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46" name="Google Shape;746;p40"/>
          <p:cNvSpPr/>
          <p:nvPr/>
        </p:nvSpPr>
        <p:spPr>
          <a:xfrm>
            <a:off x="5916750" y="1632550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6.5, 7.5</a:t>
            </a:r>
            <a:endParaRPr b="1"/>
          </a:p>
        </p:txBody>
      </p:sp>
      <p:sp>
        <p:nvSpPr>
          <p:cNvPr id="747" name="Google Shape;747;p40"/>
          <p:cNvSpPr/>
          <p:nvPr/>
        </p:nvSpPr>
        <p:spPr>
          <a:xfrm>
            <a:off x="7191950" y="1632550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-7.5</a:t>
            </a:r>
            <a:endParaRPr b="1"/>
          </a:p>
        </p:txBody>
      </p:sp>
      <p:cxnSp>
        <p:nvCxnSpPr>
          <p:cNvPr id="748" name="Google Shape;748;p40"/>
          <p:cNvCxnSpPr>
            <a:stCxn id="741" idx="2"/>
            <a:endCxn id="746" idx="0"/>
          </p:cNvCxnSpPr>
          <p:nvPr/>
        </p:nvCxnSpPr>
        <p:spPr>
          <a:xfrm flipH="1">
            <a:off x="6356725" y="1379125"/>
            <a:ext cx="5676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9" name="Google Shape;749;p40"/>
          <p:cNvCxnSpPr>
            <a:stCxn id="741" idx="2"/>
            <a:endCxn id="747" idx="0"/>
          </p:cNvCxnSpPr>
          <p:nvPr/>
        </p:nvCxnSpPr>
        <p:spPr>
          <a:xfrm>
            <a:off x="6924325" y="1379125"/>
            <a:ext cx="6135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0" name="Google Shape;750;p40"/>
          <p:cNvSpPr txBox="1"/>
          <p:nvPr/>
        </p:nvSpPr>
        <p:spPr>
          <a:xfrm>
            <a:off x="7577350" y="988625"/>
            <a:ext cx="143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140.17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51" name="Google Shape;751;p40"/>
          <p:cNvSpPr txBox="1"/>
          <p:nvPr/>
        </p:nvSpPr>
        <p:spPr>
          <a:xfrm>
            <a:off x="3118550" y="2540000"/>
            <a:ext cx="5136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Elegimos un número al azar, ejemplo: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130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Este número se llama gamma (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𝜸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)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Calculamos la diferencia entre el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, del nodo más bajo y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gamma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Gain -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𝜸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= 140.17 - 130 =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Gain -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𝜸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= 140.17 - 130 = 10.17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Sí la diferencia es &lt; 0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=&gt;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removemos el nodo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Sino, el nodo se queda y se terminó la poda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41"/>
          <p:cNvSpPr txBox="1"/>
          <p:nvPr>
            <p:ph type="title"/>
          </p:nvPr>
        </p:nvSpPr>
        <p:spPr>
          <a:xfrm>
            <a:off x="1303800" y="598575"/>
            <a:ext cx="2276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pic>
        <p:nvPicPr>
          <p:cNvPr id="757" name="Google Shape;75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8" name="Google Shape;758;p41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41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60" name="Google Shape;760;p41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61" name="Google Shape;761;p41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62" name="Google Shape;762;p41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63" name="Google Shape;763;p41"/>
          <p:cNvSpPr txBox="1"/>
          <p:nvPr/>
        </p:nvSpPr>
        <p:spPr>
          <a:xfrm>
            <a:off x="7046525" y="169500"/>
            <a:ext cx="1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 = 120.33</a:t>
            </a:r>
            <a:endParaRPr/>
          </a:p>
        </p:txBody>
      </p:sp>
      <p:sp>
        <p:nvSpPr>
          <p:cNvPr id="764" name="Google Shape;764;p41"/>
          <p:cNvSpPr txBox="1"/>
          <p:nvPr>
            <p:ph idx="1" type="body"/>
          </p:nvPr>
        </p:nvSpPr>
        <p:spPr>
          <a:xfrm>
            <a:off x="1368800" y="1147225"/>
            <a:ext cx="2234700" cy="4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Sexto paso:</a:t>
            </a:r>
            <a:r>
              <a:rPr lang="en" sz="1400">
                <a:solidFill>
                  <a:srgbClr val="000000"/>
                </a:solidFill>
              </a:rPr>
              <a:t> poda</a:t>
            </a:r>
            <a:endParaRPr/>
          </a:p>
        </p:txBody>
      </p:sp>
      <p:cxnSp>
        <p:nvCxnSpPr>
          <p:cNvPr id="765" name="Google Shape;765;p41"/>
          <p:cNvCxnSpPr/>
          <p:nvPr/>
        </p:nvCxnSpPr>
        <p:spPr>
          <a:xfrm>
            <a:off x="1178300" y="1993250"/>
            <a:ext cx="0" cy="22647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66" name="Google Shape;766;p41"/>
          <p:cNvSpPr/>
          <p:nvPr/>
        </p:nvSpPr>
        <p:spPr>
          <a:xfrm>
            <a:off x="642050" y="2236600"/>
            <a:ext cx="536400" cy="2180100"/>
          </a:xfrm>
          <a:prstGeom prst="rect">
            <a:avLst/>
          </a:prstGeom>
          <a:solidFill>
            <a:srgbClr val="D2D2D2">
              <a:alpha val="502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7" name="Google Shape;767;p41"/>
          <p:cNvCxnSpPr/>
          <p:nvPr/>
        </p:nvCxnSpPr>
        <p:spPr>
          <a:xfrm flipH="1">
            <a:off x="1735825" y="2561175"/>
            <a:ext cx="6900" cy="1707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68" name="Google Shape;768;p41"/>
          <p:cNvSpPr/>
          <p:nvPr/>
        </p:nvSpPr>
        <p:spPr>
          <a:xfrm>
            <a:off x="5078950" y="157950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769" name="Google Shape;769;p41"/>
          <p:cNvSpPr/>
          <p:nvPr/>
        </p:nvSpPr>
        <p:spPr>
          <a:xfrm>
            <a:off x="4844300" y="1020025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70" name="Google Shape;770;p41"/>
          <p:cNvSpPr/>
          <p:nvPr/>
        </p:nvSpPr>
        <p:spPr>
          <a:xfrm>
            <a:off x="6309025" y="1020025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771" name="Google Shape;771;p41"/>
          <p:cNvCxnSpPr>
            <a:stCxn id="768" idx="2"/>
            <a:endCxn id="769" idx="0"/>
          </p:cNvCxnSpPr>
          <p:nvPr/>
        </p:nvCxnSpPr>
        <p:spPr>
          <a:xfrm flipH="1">
            <a:off x="5204200" y="581250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2" name="Google Shape;772;p41"/>
          <p:cNvCxnSpPr>
            <a:stCxn id="768" idx="2"/>
            <a:endCxn id="770" idx="0"/>
          </p:cNvCxnSpPr>
          <p:nvPr/>
        </p:nvCxnSpPr>
        <p:spPr>
          <a:xfrm>
            <a:off x="6084400" y="581250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3" name="Google Shape;773;p41"/>
          <p:cNvSpPr/>
          <p:nvPr/>
        </p:nvSpPr>
        <p:spPr>
          <a:xfrm>
            <a:off x="5204150" y="200925"/>
            <a:ext cx="1799100" cy="317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sp>
        <p:nvSpPr>
          <p:cNvPr id="774" name="Google Shape;774;p41"/>
          <p:cNvSpPr/>
          <p:nvPr/>
        </p:nvSpPr>
        <p:spPr>
          <a:xfrm>
            <a:off x="6354200" y="1054625"/>
            <a:ext cx="1149900" cy="268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Dosage &lt; 30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75" name="Google Shape;775;p41"/>
          <p:cNvSpPr/>
          <p:nvPr/>
        </p:nvSpPr>
        <p:spPr>
          <a:xfrm>
            <a:off x="5916750" y="1632550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6.5, 7.5</a:t>
            </a:r>
            <a:endParaRPr b="1"/>
          </a:p>
        </p:txBody>
      </p:sp>
      <p:sp>
        <p:nvSpPr>
          <p:cNvPr id="776" name="Google Shape;776;p41"/>
          <p:cNvSpPr/>
          <p:nvPr/>
        </p:nvSpPr>
        <p:spPr>
          <a:xfrm>
            <a:off x="7191950" y="1632550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-7.5</a:t>
            </a:r>
            <a:endParaRPr b="1"/>
          </a:p>
        </p:txBody>
      </p:sp>
      <p:cxnSp>
        <p:nvCxnSpPr>
          <p:cNvPr id="777" name="Google Shape;777;p41"/>
          <p:cNvCxnSpPr>
            <a:stCxn id="770" idx="2"/>
            <a:endCxn id="775" idx="0"/>
          </p:cNvCxnSpPr>
          <p:nvPr/>
        </p:nvCxnSpPr>
        <p:spPr>
          <a:xfrm flipH="1">
            <a:off x="6356725" y="1379125"/>
            <a:ext cx="5676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8" name="Google Shape;778;p41"/>
          <p:cNvCxnSpPr>
            <a:stCxn id="770" idx="2"/>
            <a:endCxn id="776" idx="0"/>
          </p:cNvCxnSpPr>
          <p:nvPr/>
        </p:nvCxnSpPr>
        <p:spPr>
          <a:xfrm>
            <a:off x="6924325" y="1379125"/>
            <a:ext cx="6135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9" name="Google Shape;779;p41"/>
          <p:cNvSpPr txBox="1"/>
          <p:nvPr/>
        </p:nvSpPr>
        <p:spPr>
          <a:xfrm>
            <a:off x="7577350" y="988625"/>
            <a:ext cx="143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140.17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80" name="Google Shape;780;p41"/>
          <p:cNvSpPr txBox="1"/>
          <p:nvPr/>
        </p:nvSpPr>
        <p:spPr>
          <a:xfrm>
            <a:off x="3118550" y="2540000"/>
            <a:ext cx="5136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Elegimos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gamma (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𝜸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) igual a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150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Calculamos la diferencia entre el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, del nodo más bajo y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gamma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Gain -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𝜸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= 140.17 - 150 =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−9,83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Sí la diferencia es &lt; 0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=&gt;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removemos el nodo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81" name="Google Shape;781;p41"/>
          <p:cNvSpPr txBox="1"/>
          <p:nvPr/>
        </p:nvSpPr>
        <p:spPr>
          <a:xfrm>
            <a:off x="1457650" y="1566088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¿Qué hubiera pasado si elegíamos un valor más alto?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42"/>
          <p:cNvSpPr txBox="1"/>
          <p:nvPr>
            <p:ph type="title"/>
          </p:nvPr>
        </p:nvSpPr>
        <p:spPr>
          <a:xfrm>
            <a:off x="1303800" y="598575"/>
            <a:ext cx="2276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pic>
        <p:nvPicPr>
          <p:cNvPr id="787" name="Google Shape;78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8" name="Google Shape;788;p42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9" name="Google Shape;789;p42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90" name="Google Shape;790;p42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91" name="Google Shape;791;p42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92" name="Google Shape;792;p42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93" name="Google Shape;793;p42"/>
          <p:cNvSpPr txBox="1"/>
          <p:nvPr/>
        </p:nvSpPr>
        <p:spPr>
          <a:xfrm>
            <a:off x="7046525" y="169500"/>
            <a:ext cx="1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 = 120.33</a:t>
            </a:r>
            <a:endParaRPr/>
          </a:p>
        </p:txBody>
      </p:sp>
      <p:sp>
        <p:nvSpPr>
          <p:cNvPr id="794" name="Google Shape;794;p42"/>
          <p:cNvSpPr txBox="1"/>
          <p:nvPr>
            <p:ph idx="1" type="body"/>
          </p:nvPr>
        </p:nvSpPr>
        <p:spPr>
          <a:xfrm>
            <a:off x="1368800" y="1147225"/>
            <a:ext cx="2234700" cy="4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Sexto paso:</a:t>
            </a:r>
            <a:r>
              <a:rPr lang="en" sz="1400">
                <a:solidFill>
                  <a:srgbClr val="000000"/>
                </a:solidFill>
              </a:rPr>
              <a:t> poda</a:t>
            </a:r>
            <a:endParaRPr/>
          </a:p>
        </p:txBody>
      </p:sp>
      <p:cxnSp>
        <p:nvCxnSpPr>
          <p:cNvPr id="795" name="Google Shape;795;p42"/>
          <p:cNvCxnSpPr/>
          <p:nvPr/>
        </p:nvCxnSpPr>
        <p:spPr>
          <a:xfrm>
            <a:off x="1178300" y="1993250"/>
            <a:ext cx="0" cy="22647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96" name="Google Shape;796;p42"/>
          <p:cNvSpPr/>
          <p:nvPr/>
        </p:nvSpPr>
        <p:spPr>
          <a:xfrm>
            <a:off x="642050" y="2236600"/>
            <a:ext cx="536400" cy="2180100"/>
          </a:xfrm>
          <a:prstGeom prst="rect">
            <a:avLst/>
          </a:prstGeom>
          <a:solidFill>
            <a:srgbClr val="D2D2D2">
              <a:alpha val="502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7" name="Google Shape;797;p42"/>
          <p:cNvCxnSpPr/>
          <p:nvPr/>
        </p:nvCxnSpPr>
        <p:spPr>
          <a:xfrm flipH="1">
            <a:off x="1735825" y="2561175"/>
            <a:ext cx="6900" cy="1707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98" name="Google Shape;798;p42"/>
          <p:cNvSpPr/>
          <p:nvPr/>
        </p:nvSpPr>
        <p:spPr>
          <a:xfrm>
            <a:off x="5078950" y="157950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799" name="Google Shape;799;p42"/>
          <p:cNvSpPr/>
          <p:nvPr/>
        </p:nvSpPr>
        <p:spPr>
          <a:xfrm>
            <a:off x="4844300" y="1020025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00" name="Google Shape;800;p42"/>
          <p:cNvSpPr/>
          <p:nvPr/>
        </p:nvSpPr>
        <p:spPr>
          <a:xfrm>
            <a:off x="6309025" y="1020025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801" name="Google Shape;801;p42"/>
          <p:cNvCxnSpPr>
            <a:stCxn id="798" idx="2"/>
            <a:endCxn id="799" idx="0"/>
          </p:cNvCxnSpPr>
          <p:nvPr/>
        </p:nvCxnSpPr>
        <p:spPr>
          <a:xfrm flipH="1">
            <a:off x="5204200" y="581250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2" name="Google Shape;802;p42"/>
          <p:cNvCxnSpPr>
            <a:stCxn id="798" idx="2"/>
            <a:endCxn id="800" idx="0"/>
          </p:cNvCxnSpPr>
          <p:nvPr/>
        </p:nvCxnSpPr>
        <p:spPr>
          <a:xfrm>
            <a:off x="6084400" y="581250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3" name="Google Shape;803;p42"/>
          <p:cNvSpPr/>
          <p:nvPr/>
        </p:nvSpPr>
        <p:spPr>
          <a:xfrm>
            <a:off x="5204150" y="200925"/>
            <a:ext cx="1799100" cy="317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sp>
        <p:nvSpPr>
          <p:cNvPr id="804" name="Google Shape;804;p42"/>
          <p:cNvSpPr txBox="1"/>
          <p:nvPr/>
        </p:nvSpPr>
        <p:spPr>
          <a:xfrm>
            <a:off x="3118550" y="2540000"/>
            <a:ext cx="5136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La poda continua con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gamma (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𝜸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) igual a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150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Calculamos la diferencia entre el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, del nodo más bajo y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gamma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Gain -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𝜸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= 120.33 - 150 =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−29,67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Sí la diferencia es &lt; 0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=&gt;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removemos el nodo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05" name="Google Shape;805;p42"/>
          <p:cNvSpPr/>
          <p:nvPr/>
        </p:nvSpPr>
        <p:spPr>
          <a:xfrm>
            <a:off x="2596450" y="3911038"/>
            <a:ext cx="13266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0.5</a:t>
            </a:r>
            <a:endParaRPr b="1"/>
          </a:p>
        </p:txBody>
      </p:sp>
      <p:cxnSp>
        <p:nvCxnSpPr>
          <p:cNvPr id="806" name="Google Shape;806;p42"/>
          <p:cNvCxnSpPr>
            <a:stCxn id="805" idx="0"/>
          </p:cNvCxnSpPr>
          <p:nvPr/>
        </p:nvCxnSpPr>
        <p:spPr>
          <a:xfrm flipH="1" rot="5400000">
            <a:off x="2302600" y="2953888"/>
            <a:ext cx="785400" cy="1128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07" name="Google Shape;807;p42"/>
          <p:cNvSpPr txBox="1"/>
          <p:nvPr/>
        </p:nvSpPr>
        <p:spPr>
          <a:xfrm>
            <a:off x="4035775" y="3922600"/>
            <a:ext cx="357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Solo queda la estimación inicial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08" name="Google Shape;808;p42"/>
          <p:cNvSpPr txBox="1"/>
          <p:nvPr/>
        </p:nvSpPr>
        <p:spPr>
          <a:xfrm>
            <a:off x="3400750" y="1817900"/>
            <a:ext cx="4064100" cy="6156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Por defecto gamma es igual a 0. Cuanto más alto más conservador es el algoritmo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4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</a:t>
            </a:r>
            <a:r>
              <a:rPr lang="en">
                <a:solidFill>
                  <a:srgbClr val="0000FF"/>
                </a:solidFill>
              </a:rPr>
              <a:t>eXtreme Gradient Boost</a:t>
            </a:r>
            <a:endParaRPr/>
          </a:p>
        </p:txBody>
      </p:sp>
      <p:pic>
        <p:nvPicPr>
          <p:cNvPr id="814" name="Google Shape;81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43"/>
          <p:cNvSpPr txBox="1"/>
          <p:nvPr/>
        </p:nvSpPr>
        <p:spPr>
          <a:xfrm>
            <a:off x="5736775" y="3258800"/>
            <a:ext cx="227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   (Suma de residuos)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 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Cantidad de residuos +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λ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816" name="Google Shape;816;p43"/>
          <p:cNvCxnSpPr/>
          <p:nvPr/>
        </p:nvCxnSpPr>
        <p:spPr>
          <a:xfrm>
            <a:off x="5807125" y="3566600"/>
            <a:ext cx="2136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7" name="Google Shape;817;p43"/>
          <p:cNvSpPr txBox="1"/>
          <p:nvPr/>
        </p:nvSpPr>
        <p:spPr>
          <a:xfrm>
            <a:off x="4214875" y="3366500"/>
            <a:ext cx="164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Similarity Score =</a:t>
            </a:r>
            <a:endParaRPr/>
          </a:p>
        </p:txBody>
      </p:sp>
      <p:cxnSp>
        <p:nvCxnSpPr>
          <p:cNvPr id="818" name="Google Shape;818;p43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43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43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21" name="Google Shape;821;p43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22" name="Google Shape;822;p43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23" name="Google Shape;823;p43"/>
          <p:cNvSpPr txBox="1"/>
          <p:nvPr>
            <p:ph idx="1" type="body"/>
          </p:nvPr>
        </p:nvSpPr>
        <p:spPr>
          <a:xfrm>
            <a:off x="1368800" y="1147225"/>
            <a:ext cx="3280800" cy="12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Séptimo</a:t>
            </a:r>
            <a:r>
              <a:rPr b="1" lang="en" sz="1400">
                <a:solidFill>
                  <a:srgbClr val="000000"/>
                </a:solidFill>
              </a:rPr>
              <a:t> paso:</a:t>
            </a:r>
            <a:r>
              <a:rPr lang="en" sz="1400">
                <a:solidFill>
                  <a:srgbClr val="000000"/>
                </a:solidFill>
              </a:rPr>
              <a:t> Volvemos a calcular el árbol </a:t>
            </a:r>
            <a:r>
              <a:rPr lang="en" sz="1400">
                <a:solidFill>
                  <a:srgbClr val="000000"/>
                </a:solidFill>
              </a:rPr>
              <a:t>(repite paso 3)</a:t>
            </a:r>
            <a:r>
              <a:rPr lang="en" sz="1400">
                <a:solidFill>
                  <a:srgbClr val="000000"/>
                </a:solidFill>
              </a:rPr>
              <a:t>, solo que esta vez usamos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lambda 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𝛌</a:t>
            </a:r>
            <a:r>
              <a:rPr lang="en" sz="1400">
                <a:solidFill>
                  <a:srgbClr val="000000"/>
                </a:solidFill>
              </a:rPr>
              <a:t> igual a 1 al calcular el Similarity Score</a:t>
            </a:r>
            <a:endParaRPr/>
          </a:p>
        </p:txBody>
      </p:sp>
      <p:sp>
        <p:nvSpPr>
          <p:cNvPr id="824" name="Google Shape;824;p43"/>
          <p:cNvSpPr/>
          <p:nvPr/>
        </p:nvSpPr>
        <p:spPr>
          <a:xfrm>
            <a:off x="4921700" y="2413650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25" name="Google Shape;825;p43"/>
          <p:cNvSpPr/>
          <p:nvPr/>
        </p:nvSpPr>
        <p:spPr>
          <a:xfrm>
            <a:off x="6386425" y="2413650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826" name="Google Shape;826;p43"/>
          <p:cNvCxnSpPr>
            <a:endCxn id="824" idx="0"/>
          </p:cNvCxnSpPr>
          <p:nvPr/>
        </p:nvCxnSpPr>
        <p:spPr>
          <a:xfrm flipH="1">
            <a:off x="5281550" y="1974750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7" name="Google Shape;827;p43"/>
          <p:cNvCxnSpPr>
            <a:endCxn id="825" idx="0"/>
          </p:cNvCxnSpPr>
          <p:nvPr/>
        </p:nvCxnSpPr>
        <p:spPr>
          <a:xfrm>
            <a:off x="6161725" y="1974750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8" name="Google Shape;828;p43"/>
          <p:cNvSpPr/>
          <p:nvPr/>
        </p:nvSpPr>
        <p:spPr>
          <a:xfrm>
            <a:off x="5175650" y="1563125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829" name="Google Shape;829;p43"/>
          <p:cNvSpPr txBox="1"/>
          <p:nvPr/>
        </p:nvSpPr>
        <p:spPr>
          <a:xfrm>
            <a:off x="5889175" y="3874400"/>
            <a:ext cx="227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   (Suma de residuos)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 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Cantidad de residuos +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1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830" name="Google Shape;830;p43"/>
          <p:cNvCxnSpPr/>
          <p:nvPr/>
        </p:nvCxnSpPr>
        <p:spPr>
          <a:xfrm>
            <a:off x="5959525" y="4182200"/>
            <a:ext cx="2136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1" name="Google Shape;831;p43"/>
          <p:cNvSpPr txBox="1"/>
          <p:nvPr/>
        </p:nvSpPr>
        <p:spPr>
          <a:xfrm>
            <a:off x="4367275" y="3982100"/>
            <a:ext cx="164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Similarity Score =</a:t>
            </a:r>
            <a:endParaRPr/>
          </a:p>
        </p:txBody>
      </p:sp>
      <p:sp>
        <p:nvSpPr>
          <p:cNvPr id="832" name="Google Shape;832;p43"/>
          <p:cNvSpPr txBox="1"/>
          <p:nvPr/>
        </p:nvSpPr>
        <p:spPr>
          <a:xfrm>
            <a:off x="7186550" y="1580275"/>
            <a:ext cx="1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S. Score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?</a:t>
            </a:r>
            <a:endParaRPr b="1"/>
          </a:p>
        </p:txBody>
      </p:sp>
      <p:sp>
        <p:nvSpPr>
          <p:cNvPr id="833" name="Google Shape;833;p43"/>
          <p:cNvSpPr txBox="1"/>
          <p:nvPr/>
        </p:nvSpPr>
        <p:spPr>
          <a:xfrm>
            <a:off x="4459400" y="2831113"/>
            <a:ext cx="16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?</a:t>
            </a:r>
            <a:endParaRPr b="1" sz="1200"/>
          </a:p>
        </p:txBody>
      </p:sp>
      <p:sp>
        <p:nvSpPr>
          <p:cNvPr id="834" name="Google Shape;834;p43"/>
          <p:cNvSpPr txBox="1"/>
          <p:nvPr/>
        </p:nvSpPr>
        <p:spPr>
          <a:xfrm>
            <a:off x="6251425" y="2831125"/>
            <a:ext cx="150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?</a:t>
            </a:r>
            <a:endParaRPr b="1" sz="1200"/>
          </a:p>
        </p:txBody>
      </p:sp>
    </p:spTree>
  </p:cSld>
  <p:clrMapOvr>
    <a:masterClrMapping/>
  </p:clrMapOvr>
  <mc:AlternateContent>
    <mc:Choice Requires="p14">
      <p:transition spd="slow" p14:dur="10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4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</a:t>
            </a:r>
            <a:r>
              <a:rPr lang="en">
                <a:solidFill>
                  <a:srgbClr val="0000FF"/>
                </a:solidFill>
              </a:rPr>
              <a:t>eXtreme Gradient Boost</a:t>
            </a:r>
            <a:endParaRPr/>
          </a:p>
        </p:txBody>
      </p:sp>
      <p:pic>
        <p:nvPicPr>
          <p:cNvPr id="840" name="Google Shape;84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1" name="Google Shape;841;p44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44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44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44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44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46" name="Google Shape;846;p44"/>
          <p:cNvSpPr txBox="1"/>
          <p:nvPr>
            <p:ph idx="1" type="body"/>
          </p:nvPr>
        </p:nvSpPr>
        <p:spPr>
          <a:xfrm>
            <a:off x="1368800" y="1147225"/>
            <a:ext cx="3280800" cy="12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Séptimo</a:t>
            </a:r>
            <a:r>
              <a:rPr b="1" lang="en" sz="1400">
                <a:solidFill>
                  <a:srgbClr val="000000"/>
                </a:solidFill>
              </a:rPr>
              <a:t> paso:</a:t>
            </a:r>
            <a:r>
              <a:rPr lang="en" sz="1400">
                <a:solidFill>
                  <a:srgbClr val="000000"/>
                </a:solidFill>
              </a:rPr>
              <a:t> Volvemos a calcular el árbol (repite paso 3), solo que esta vez usamos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lambda 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𝛌</a:t>
            </a:r>
            <a:r>
              <a:rPr lang="en" sz="1400">
                <a:solidFill>
                  <a:srgbClr val="000000"/>
                </a:solidFill>
              </a:rPr>
              <a:t> igual a 1 al calcular el Similarity Score</a:t>
            </a:r>
            <a:endParaRPr/>
          </a:p>
        </p:txBody>
      </p:sp>
      <p:sp>
        <p:nvSpPr>
          <p:cNvPr id="847" name="Google Shape;847;p44"/>
          <p:cNvSpPr txBox="1"/>
          <p:nvPr/>
        </p:nvSpPr>
        <p:spPr>
          <a:xfrm>
            <a:off x="7186550" y="1580275"/>
            <a:ext cx="1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S.</a:t>
            </a:r>
            <a:r>
              <a:rPr b="1" i="1" lang="en">
                <a:latin typeface="Nunito"/>
                <a:ea typeface="Nunito"/>
                <a:cs typeface="Nunito"/>
                <a:sym typeface="Nunito"/>
              </a:rPr>
              <a:t> Score = 3.2</a:t>
            </a:r>
            <a:endParaRPr/>
          </a:p>
        </p:txBody>
      </p:sp>
      <p:sp>
        <p:nvSpPr>
          <p:cNvPr id="848" name="Google Shape;848;p44"/>
          <p:cNvSpPr/>
          <p:nvPr/>
        </p:nvSpPr>
        <p:spPr>
          <a:xfrm>
            <a:off x="4921700" y="2413650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49" name="Google Shape;849;p44"/>
          <p:cNvSpPr/>
          <p:nvPr/>
        </p:nvSpPr>
        <p:spPr>
          <a:xfrm>
            <a:off x="6386425" y="2413650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850" name="Google Shape;850;p44"/>
          <p:cNvCxnSpPr>
            <a:endCxn id="848" idx="0"/>
          </p:cNvCxnSpPr>
          <p:nvPr/>
        </p:nvCxnSpPr>
        <p:spPr>
          <a:xfrm flipH="1">
            <a:off x="5281550" y="1974750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1" name="Google Shape;851;p44"/>
          <p:cNvCxnSpPr>
            <a:endCxn id="849" idx="0"/>
          </p:cNvCxnSpPr>
          <p:nvPr/>
        </p:nvCxnSpPr>
        <p:spPr>
          <a:xfrm>
            <a:off x="6161725" y="1974750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2" name="Google Shape;852;p44"/>
          <p:cNvSpPr txBox="1"/>
          <p:nvPr/>
        </p:nvSpPr>
        <p:spPr>
          <a:xfrm>
            <a:off x="4459400" y="2831113"/>
            <a:ext cx="16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</a:t>
            </a: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55.12</a:t>
            </a:r>
            <a:endParaRPr b="1" sz="1200"/>
          </a:p>
        </p:txBody>
      </p:sp>
      <p:sp>
        <p:nvSpPr>
          <p:cNvPr id="853" name="Google Shape;853;p44"/>
          <p:cNvSpPr txBox="1"/>
          <p:nvPr/>
        </p:nvSpPr>
        <p:spPr>
          <a:xfrm>
            <a:off x="6251425" y="2831125"/>
            <a:ext cx="150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</a:t>
            </a: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10.56</a:t>
            </a:r>
            <a:endParaRPr b="1" sz="1200"/>
          </a:p>
        </p:txBody>
      </p:sp>
      <p:sp>
        <p:nvSpPr>
          <p:cNvPr id="854" name="Google Shape;854;p44"/>
          <p:cNvSpPr/>
          <p:nvPr/>
        </p:nvSpPr>
        <p:spPr>
          <a:xfrm>
            <a:off x="5175650" y="1563125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855" name="Google Shape;855;p44"/>
          <p:cNvSpPr txBox="1"/>
          <p:nvPr/>
        </p:nvSpPr>
        <p:spPr>
          <a:xfrm>
            <a:off x="3153825" y="3436050"/>
            <a:ext cx="5827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Con lambda &gt; 0, los Similarity Scores son mucho más chicos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Esta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disminución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es proporcional a la cantidad de residuos en el nodo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El nodo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raíz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pasó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de 4 a 3.2 (se redujo un 20%)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El nodo hoja izquierdo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pasó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de 110 a 55, un 50%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4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</a:t>
            </a:r>
            <a:r>
              <a:rPr lang="en">
                <a:solidFill>
                  <a:srgbClr val="0000FF"/>
                </a:solidFill>
              </a:rPr>
              <a:t>eXtreme Gradient Boost</a:t>
            </a:r>
            <a:endParaRPr/>
          </a:p>
        </p:txBody>
      </p:sp>
      <p:pic>
        <p:nvPicPr>
          <p:cNvPr id="861" name="Google Shape;86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2" name="Google Shape;862;p45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3" name="Google Shape;863;p45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64" name="Google Shape;864;p45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65" name="Google Shape;865;p45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66" name="Google Shape;866;p45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67" name="Google Shape;867;p45"/>
          <p:cNvSpPr txBox="1"/>
          <p:nvPr>
            <p:ph idx="1" type="body"/>
          </p:nvPr>
        </p:nvSpPr>
        <p:spPr>
          <a:xfrm>
            <a:off x="1368800" y="1147225"/>
            <a:ext cx="3280800" cy="12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Séptimo</a:t>
            </a:r>
            <a:r>
              <a:rPr b="1" lang="en" sz="1400">
                <a:solidFill>
                  <a:srgbClr val="000000"/>
                </a:solidFill>
              </a:rPr>
              <a:t> paso :</a:t>
            </a:r>
            <a:r>
              <a:rPr lang="en" sz="1400">
                <a:solidFill>
                  <a:srgbClr val="000000"/>
                </a:solidFill>
              </a:rPr>
              <a:t> Calculamos ahora la ganancia de cada nodo. Es decir el </a:t>
            </a:r>
            <a:r>
              <a:rPr b="1" lang="en" sz="1400">
                <a:solidFill>
                  <a:srgbClr val="000000"/>
                </a:solidFill>
              </a:rPr>
              <a:t>Gain</a:t>
            </a:r>
            <a:endParaRPr b="1"/>
          </a:p>
        </p:txBody>
      </p:sp>
      <p:sp>
        <p:nvSpPr>
          <p:cNvPr id="868" name="Google Shape;868;p45"/>
          <p:cNvSpPr/>
          <p:nvPr/>
        </p:nvSpPr>
        <p:spPr>
          <a:xfrm>
            <a:off x="4051700" y="1925550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869" name="Google Shape;869;p45"/>
          <p:cNvSpPr/>
          <p:nvPr/>
        </p:nvSpPr>
        <p:spPr>
          <a:xfrm>
            <a:off x="3817050" y="2787625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70" name="Google Shape;870;p45"/>
          <p:cNvSpPr/>
          <p:nvPr/>
        </p:nvSpPr>
        <p:spPr>
          <a:xfrm>
            <a:off x="5281775" y="2787625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871" name="Google Shape;871;p45"/>
          <p:cNvCxnSpPr>
            <a:stCxn id="868" idx="2"/>
            <a:endCxn id="869" idx="0"/>
          </p:cNvCxnSpPr>
          <p:nvPr/>
        </p:nvCxnSpPr>
        <p:spPr>
          <a:xfrm flipH="1">
            <a:off x="4176950" y="2348850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2" name="Google Shape;872;p45"/>
          <p:cNvCxnSpPr>
            <a:stCxn id="868" idx="2"/>
            <a:endCxn id="870" idx="0"/>
          </p:cNvCxnSpPr>
          <p:nvPr/>
        </p:nvCxnSpPr>
        <p:spPr>
          <a:xfrm>
            <a:off x="5057150" y="2348850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3" name="Google Shape;873;p45"/>
          <p:cNvSpPr txBox="1"/>
          <p:nvPr/>
        </p:nvSpPr>
        <p:spPr>
          <a:xfrm>
            <a:off x="6228725" y="1927125"/>
            <a:ext cx="252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62.49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(era 120.33)</a:t>
            </a:r>
            <a:endParaRPr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4" name="Google Shape;874;p45"/>
          <p:cNvSpPr/>
          <p:nvPr/>
        </p:nvSpPr>
        <p:spPr>
          <a:xfrm>
            <a:off x="4176900" y="1968525"/>
            <a:ext cx="1799100" cy="317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sp>
        <p:nvSpPr>
          <p:cNvPr id="875" name="Google Shape;875;p45"/>
          <p:cNvSpPr/>
          <p:nvPr/>
        </p:nvSpPr>
        <p:spPr>
          <a:xfrm>
            <a:off x="5326950" y="2822225"/>
            <a:ext cx="1149900" cy="268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Dosage &lt; 22.5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876" name="Google Shape;876;p45"/>
          <p:cNvSpPr/>
          <p:nvPr/>
        </p:nvSpPr>
        <p:spPr>
          <a:xfrm>
            <a:off x="4889500" y="3400150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6.5</a:t>
            </a:r>
            <a:endParaRPr b="1"/>
          </a:p>
        </p:txBody>
      </p:sp>
      <p:sp>
        <p:nvSpPr>
          <p:cNvPr id="877" name="Google Shape;877;p45"/>
          <p:cNvSpPr/>
          <p:nvPr/>
        </p:nvSpPr>
        <p:spPr>
          <a:xfrm>
            <a:off x="5976000" y="3400150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7.5, -7.5</a:t>
            </a:r>
            <a:endParaRPr b="1"/>
          </a:p>
        </p:txBody>
      </p:sp>
      <p:cxnSp>
        <p:nvCxnSpPr>
          <p:cNvPr id="878" name="Google Shape;878;p45"/>
          <p:cNvCxnSpPr>
            <a:stCxn id="870" idx="2"/>
            <a:endCxn id="876" idx="0"/>
          </p:cNvCxnSpPr>
          <p:nvPr/>
        </p:nvCxnSpPr>
        <p:spPr>
          <a:xfrm flipH="1">
            <a:off x="5235275" y="3146725"/>
            <a:ext cx="6618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9" name="Google Shape;879;p45"/>
          <p:cNvCxnSpPr>
            <a:stCxn id="870" idx="2"/>
            <a:endCxn id="877" idx="0"/>
          </p:cNvCxnSpPr>
          <p:nvPr/>
        </p:nvCxnSpPr>
        <p:spPr>
          <a:xfrm>
            <a:off x="5897075" y="3146725"/>
            <a:ext cx="5190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0" name="Google Shape;880;p45"/>
          <p:cNvSpPr txBox="1"/>
          <p:nvPr/>
        </p:nvSpPr>
        <p:spPr>
          <a:xfrm>
            <a:off x="6595600" y="2756225"/>
            <a:ext cx="252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82.9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(era 140.17)</a:t>
            </a:r>
            <a:endParaRPr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81" name="Google Shape;881;p45"/>
          <p:cNvSpPr txBox="1"/>
          <p:nvPr/>
        </p:nvSpPr>
        <p:spPr>
          <a:xfrm>
            <a:off x="3817050" y="3979325"/>
            <a:ext cx="47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Tener lambda &gt; 0 hace que el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también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sea menor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4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</a:t>
            </a:r>
            <a:r>
              <a:rPr lang="en">
                <a:solidFill>
                  <a:srgbClr val="0000FF"/>
                </a:solidFill>
              </a:rPr>
              <a:t>eXtreme Gradient Boost</a:t>
            </a:r>
            <a:endParaRPr/>
          </a:p>
        </p:txBody>
      </p:sp>
      <p:pic>
        <p:nvPicPr>
          <p:cNvPr id="887" name="Google Shape;88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8" name="Google Shape;888;p46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46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90" name="Google Shape;890;p46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91" name="Google Shape;891;p46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92" name="Google Shape;892;p46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93" name="Google Shape;893;p46"/>
          <p:cNvSpPr txBox="1"/>
          <p:nvPr>
            <p:ph idx="1" type="body"/>
          </p:nvPr>
        </p:nvSpPr>
        <p:spPr>
          <a:xfrm>
            <a:off x="1368800" y="1147225"/>
            <a:ext cx="3280800" cy="61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Séptimo</a:t>
            </a:r>
            <a:r>
              <a:rPr b="1" lang="en" sz="1400">
                <a:solidFill>
                  <a:srgbClr val="000000"/>
                </a:solidFill>
              </a:rPr>
              <a:t> octavo :</a:t>
            </a:r>
            <a:r>
              <a:rPr lang="en" sz="1400">
                <a:solidFill>
                  <a:srgbClr val="000000"/>
                </a:solidFill>
              </a:rPr>
              <a:t> Podamos (paso quinto nuevamente)</a:t>
            </a:r>
            <a:endParaRPr b="1"/>
          </a:p>
        </p:txBody>
      </p:sp>
      <p:sp>
        <p:nvSpPr>
          <p:cNvPr id="894" name="Google Shape;894;p46"/>
          <p:cNvSpPr/>
          <p:nvPr/>
        </p:nvSpPr>
        <p:spPr>
          <a:xfrm>
            <a:off x="4051700" y="1925550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895" name="Google Shape;895;p46"/>
          <p:cNvSpPr/>
          <p:nvPr/>
        </p:nvSpPr>
        <p:spPr>
          <a:xfrm>
            <a:off x="3817050" y="2787625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96" name="Google Shape;896;p46"/>
          <p:cNvSpPr/>
          <p:nvPr/>
        </p:nvSpPr>
        <p:spPr>
          <a:xfrm>
            <a:off x="5281775" y="2787625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897" name="Google Shape;897;p46"/>
          <p:cNvCxnSpPr>
            <a:stCxn id="894" idx="2"/>
            <a:endCxn id="895" idx="0"/>
          </p:cNvCxnSpPr>
          <p:nvPr/>
        </p:nvCxnSpPr>
        <p:spPr>
          <a:xfrm flipH="1">
            <a:off x="4176950" y="2348850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8" name="Google Shape;898;p46"/>
          <p:cNvCxnSpPr>
            <a:stCxn id="894" idx="2"/>
            <a:endCxn id="896" idx="0"/>
          </p:cNvCxnSpPr>
          <p:nvPr/>
        </p:nvCxnSpPr>
        <p:spPr>
          <a:xfrm>
            <a:off x="5057150" y="2348850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9" name="Google Shape;899;p46"/>
          <p:cNvSpPr txBox="1"/>
          <p:nvPr/>
        </p:nvSpPr>
        <p:spPr>
          <a:xfrm>
            <a:off x="6228725" y="1927125"/>
            <a:ext cx="252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62.49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(era 120.33)</a:t>
            </a:r>
            <a:endParaRPr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00" name="Google Shape;900;p46"/>
          <p:cNvSpPr/>
          <p:nvPr/>
        </p:nvSpPr>
        <p:spPr>
          <a:xfrm>
            <a:off x="4176900" y="1968525"/>
            <a:ext cx="1799100" cy="317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sp>
        <p:nvSpPr>
          <p:cNvPr id="901" name="Google Shape;901;p46"/>
          <p:cNvSpPr/>
          <p:nvPr/>
        </p:nvSpPr>
        <p:spPr>
          <a:xfrm>
            <a:off x="5326950" y="2822225"/>
            <a:ext cx="1149900" cy="268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Dosage &lt; 22.5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902" name="Google Shape;902;p46"/>
          <p:cNvSpPr/>
          <p:nvPr/>
        </p:nvSpPr>
        <p:spPr>
          <a:xfrm>
            <a:off x="4889500" y="3400150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6.5</a:t>
            </a:r>
            <a:endParaRPr b="1"/>
          </a:p>
        </p:txBody>
      </p:sp>
      <p:sp>
        <p:nvSpPr>
          <p:cNvPr id="903" name="Google Shape;903;p46"/>
          <p:cNvSpPr/>
          <p:nvPr/>
        </p:nvSpPr>
        <p:spPr>
          <a:xfrm>
            <a:off x="5976000" y="3400150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7.5, -7.5</a:t>
            </a:r>
            <a:endParaRPr b="1"/>
          </a:p>
        </p:txBody>
      </p:sp>
      <p:cxnSp>
        <p:nvCxnSpPr>
          <p:cNvPr id="904" name="Google Shape;904;p46"/>
          <p:cNvCxnSpPr>
            <a:stCxn id="896" idx="2"/>
            <a:endCxn id="902" idx="0"/>
          </p:cNvCxnSpPr>
          <p:nvPr/>
        </p:nvCxnSpPr>
        <p:spPr>
          <a:xfrm flipH="1">
            <a:off x="5235275" y="3146725"/>
            <a:ext cx="6618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5" name="Google Shape;905;p46"/>
          <p:cNvCxnSpPr>
            <a:stCxn id="896" idx="2"/>
            <a:endCxn id="903" idx="0"/>
          </p:cNvCxnSpPr>
          <p:nvPr/>
        </p:nvCxnSpPr>
        <p:spPr>
          <a:xfrm>
            <a:off x="5897075" y="3146725"/>
            <a:ext cx="5190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6" name="Google Shape;906;p46"/>
          <p:cNvSpPr txBox="1"/>
          <p:nvPr/>
        </p:nvSpPr>
        <p:spPr>
          <a:xfrm>
            <a:off x="6595600" y="2756225"/>
            <a:ext cx="252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82.9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(era 140.17)</a:t>
            </a:r>
            <a:endParaRPr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07" name="Google Shape;907;p46"/>
          <p:cNvSpPr txBox="1"/>
          <p:nvPr/>
        </p:nvSpPr>
        <p:spPr>
          <a:xfrm>
            <a:off x="3817050" y="3979325"/>
            <a:ext cx="474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Cómo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habíamos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elegido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gamma (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𝜸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) igual a 130, se poda todo el árbol.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4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</a:t>
            </a:r>
            <a:r>
              <a:rPr lang="en">
                <a:solidFill>
                  <a:srgbClr val="0000FF"/>
                </a:solidFill>
              </a:rPr>
              <a:t>eXtreme Gradient Boost</a:t>
            </a:r>
            <a:endParaRPr/>
          </a:p>
        </p:txBody>
      </p:sp>
      <p:pic>
        <p:nvPicPr>
          <p:cNvPr id="913" name="Google Shape;91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4" name="Google Shape;914;p47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5" name="Google Shape;915;p47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47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47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47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19" name="Google Shape;919;p47"/>
          <p:cNvSpPr txBox="1"/>
          <p:nvPr>
            <p:ph idx="1" type="body"/>
          </p:nvPr>
        </p:nvSpPr>
        <p:spPr>
          <a:xfrm>
            <a:off x="1368800" y="1147225"/>
            <a:ext cx="3280800" cy="61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Séptimo</a:t>
            </a:r>
            <a:r>
              <a:rPr b="1" lang="en" sz="1400">
                <a:solidFill>
                  <a:srgbClr val="000000"/>
                </a:solidFill>
              </a:rPr>
              <a:t> octavo :</a:t>
            </a:r>
            <a:r>
              <a:rPr lang="en" sz="1400">
                <a:solidFill>
                  <a:srgbClr val="000000"/>
                </a:solidFill>
              </a:rPr>
              <a:t> Podamos (paso quinto nuevamente)</a:t>
            </a:r>
            <a:endParaRPr b="1"/>
          </a:p>
        </p:txBody>
      </p:sp>
      <p:sp>
        <p:nvSpPr>
          <p:cNvPr id="920" name="Google Shape;920;p47"/>
          <p:cNvSpPr txBox="1"/>
          <p:nvPr/>
        </p:nvSpPr>
        <p:spPr>
          <a:xfrm>
            <a:off x="2709325" y="2123725"/>
            <a:ext cx="6075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Cuando  </a:t>
            </a:r>
            <a:r>
              <a:rPr b="1" lang="en"/>
              <a:t>𝛌 &gt; 0</a:t>
            </a:r>
            <a:r>
              <a:rPr lang="en"/>
              <a:t> es más probable tener que podar un árbol, ya que los </a:t>
            </a:r>
            <a:r>
              <a:rPr b="1" lang="en"/>
              <a:t>Gain</a:t>
            </a:r>
            <a:r>
              <a:rPr lang="en"/>
              <a:t> calculados son menores.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Aún eligiendo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𝜸 = 0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podemos tener que podar nodos, ya que la ganancia (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) puede ser negativa.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b="1" lang="en"/>
              <a:t>𝛌=1, </a:t>
            </a:r>
            <a:r>
              <a:rPr lang="en"/>
              <a:t>previene el sobreentrenamiento o sobreajuste del modelo en el conjunto de entrenamiento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8"/>
          <p:cNvSpPr txBox="1"/>
          <p:nvPr>
            <p:ph type="title"/>
          </p:nvPr>
        </p:nvSpPr>
        <p:spPr>
          <a:xfrm>
            <a:off x="824000" y="1613825"/>
            <a:ext cx="67959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Calcular la respuesta de XGBoost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49"/>
          <p:cNvSpPr txBox="1"/>
          <p:nvPr>
            <p:ph type="title"/>
          </p:nvPr>
        </p:nvSpPr>
        <p:spPr>
          <a:xfrm>
            <a:off x="1303800" y="598575"/>
            <a:ext cx="2276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pic>
        <p:nvPicPr>
          <p:cNvPr id="931" name="Google Shape;93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49"/>
          <p:cNvSpPr txBox="1"/>
          <p:nvPr/>
        </p:nvSpPr>
        <p:spPr>
          <a:xfrm>
            <a:off x="7046525" y="169500"/>
            <a:ext cx="1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 = 120.33</a:t>
            </a:r>
            <a:endParaRPr/>
          </a:p>
        </p:txBody>
      </p:sp>
      <p:sp>
        <p:nvSpPr>
          <p:cNvPr id="933" name="Google Shape;933;p49"/>
          <p:cNvSpPr txBox="1"/>
          <p:nvPr>
            <p:ph idx="1" type="body"/>
          </p:nvPr>
        </p:nvSpPr>
        <p:spPr>
          <a:xfrm>
            <a:off x="1303800" y="1238950"/>
            <a:ext cx="2582400" cy="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Este es el árbol calculado hasta ahora</a:t>
            </a:r>
            <a:endParaRPr/>
          </a:p>
        </p:txBody>
      </p:sp>
      <p:sp>
        <p:nvSpPr>
          <p:cNvPr id="934" name="Google Shape;934;p49"/>
          <p:cNvSpPr/>
          <p:nvPr/>
        </p:nvSpPr>
        <p:spPr>
          <a:xfrm>
            <a:off x="5078950" y="157950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935" name="Google Shape;935;p49"/>
          <p:cNvSpPr/>
          <p:nvPr/>
        </p:nvSpPr>
        <p:spPr>
          <a:xfrm>
            <a:off x="4844300" y="1020025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36" name="Google Shape;936;p49"/>
          <p:cNvSpPr/>
          <p:nvPr/>
        </p:nvSpPr>
        <p:spPr>
          <a:xfrm>
            <a:off x="6309025" y="1020025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937" name="Google Shape;937;p49"/>
          <p:cNvCxnSpPr>
            <a:stCxn id="934" idx="2"/>
            <a:endCxn id="935" idx="0"/>
          </p:cNvCxnSpPr>
          <p:nvPr/>
        </p:nvCxnSpPr>
        <p:spPr>
          <a:xfrm flipH="1">
            <a:off x="5204200" y="581250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8" name="Google Shape;938;p49"/>
          <p:cNvCxnSpPr>
            <a:stCxn id="934" idx="2"/>
            <a:endCxn id="936" idx="0"/>
          </p:cNvCxnSpPr>
          <p:nvPr/>
        </p:nvCxnSpPr>
        <p:spPr>
          <a:xfrm>
            <a:off x="6084400" y="581250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9" name="Google Shape;939;p49"/>
          <p:cNvSpPr/>
          <p:nvPr/>
        </p:nvSpPr>
        <p:spPr>
          <a:xfrm>
            <a:off x="5204150" y="200925"/>
            <a:ext cx="1799100" cy="317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sp>
        <p:nvSpPr>
          <p:cNvPr id="940" name="Google Shape;940;p49"/>
          <p:cNvSpPr/>
          <p:nvPr/>
        </p:nvSpPr>
        <p:spPr>
          <a:xfrm>
            <a:off x="6354200" y="1054625"/>
            <a:ext cx="1149900" cy="268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Dosage &lt; 30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941" name="Google Shape;941;p49"/>
          <p:cNvSpPr/>
          <p:nvPr/>
        </p:nvSpPr>
        <p:spPr>
          <a:xfrm>
            <a:off x="5916750" y="1632550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6.5, 7.5</a:t>
            </a:r>
            <a:endParaRPr b="1"/>
          </a:p>
        </p:txBody>
      </p:sp>
      <p:sp>
        <p:nvSpPr>
          <p:cNvPr id="942" name="Google Shape;942;p49"/>
          <p:cNvSpPr/>
          <p:nvPr/>
        </p:nvSpPr>
        <p:spPr>
          <a:xfrm>
            <a:off x="7191950" y="1632550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-7.5</a:t>
            </a:r>
            <a:endParaRPr b="1"/>
          </a:p>
        </p:txBody>
      </p:sp>
      <p:cxnSp>
        <p:nvCxnSpPr>
          <p:cNvPr id="943" name="Google Shape;943;p49"/>
          <p:cNvCxnSpPr>
            <a:stCxn id="936" idx="2"/>
            <a:endCxn id="941" idx="0"/>
          </p:cNvCxnSpPr>
          <p:nvPr/>
        </p:nvCxnSpPr>
        <p:spPr>
          <a:xfrm flipH="1">
            <a:off x="6356725" y="1379125"/>
            <a:ext cx="5676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4" name="Google Shape;944;p49"/>
          <p:cNvCxnSpPr>
            <a:stCxn id="936" idx="2"/>
            <a:endCxn id="942" idx="0"/>
          </p:cNvCxnSpPr>
          <p:nvPr/>
        </p:nvCxnSpPr>
        <p:spPr>
          <a:xfrm>
            <a:off x="6924325" y="1379125"/>
            <a:ext cx="6135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5" name="Google Shape;945;p49"/>
          <p:cNvSpPr txBox="1"/>
          <p:nvPr/>
        </p:nvSpPr>
        <p:spPr>
          <a:xfrm>
            <a:off x="7577350" y="988625"/>
            <a:ext cx="143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140.17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46" name="Google Shape;946;p49"/>
          <p:cNvSpPr txBox="1"/>
          <p:nvPr/>
        </p:nvSpPr>
        <p:spPr>
          <a:xfrm>
            <a:off x="4635525" y="3018850"/>
            <a:ext cx="3076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Output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     Suma de residuos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                  Número de residuos +</a:t>
            </a:r>
            <a:r>
              <a:rPr b="1" lang="en"/>
              <a:t>𝛌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947" name="Google Shape;947;p49"/>
          <p:cNvCxnSpPr/>
          <p:nvPr/>
        </p:nvCxnSpPr>
        <p:spPr>
          <a:xfrm>
            <a:off x="5591900" y="3326650"/>
            <a:ext cx="1912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8" name="Google Shape;948;p49"/>
          <p:cNvSpPr/>
          <p:nvPr/>
        </p:nvSpPr>
        <p:spPr>
          <a:xfrm>
            <a:off x="2970400" y="157938"/>
            <a:ext cx="13266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0.5</a:t>
            </a:r>
            <a:endParaRPr b="1"/>
          </a:p>
        </p:txBody>
      </p:sp>
      <p:sp>
        <p:nvSpPr>
          <p:cNvPr id="949" name="Google Shape;949;p49"/>
          <p:cNvSpPr txBox="1"/>
          <p:nvPr/>
        </p:nvSpPr>
        <p:spPr>
          <a:xfrm>
            <a:off x="4608475" y="3767675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Tomamos </a:t>
            </a:r>
            <a:r>
              <a:rPr b="1" lang="en"/>
              <a:t>𝛌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=0 ya que es el valor por defecto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50" name="Google Shape;950;p49"/>
          <p:cNvSpPr txBox="1"/>
          <p:nvPr/>
        </p:nvSpPr>
        <p:spPr>
          <a:xfrm>
            <a:off x="4403300" y="1400650"/>
            <a:ext cx="1601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Output = -10.5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51" name="Google Shape;951;p49"/>
          <p:cNvSpPr txBox="1"/>
          <p:nvPr/>
        </p:nvSpPr>
        <p:spPr>
          <a:xfrm>
            <a:off x="5836350" y="2006538"/>
            <a:ext cx="1041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Output = 7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52" name="Google Shape;952;p49"/>
          <p:cNvSpPr txBox="1"/>
          <p:nvPr/>
        </p:nvSpPr>
        <p:spPr>
          <a:xfrm>
            <a:off x="6922400" y="2011388"/>
            <a:ext cx="123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Output = -7.5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50"/>
          <p:cNvSpPr txBox="1"/>
          <p:nvPr>
            <p:ph type="title"/>
          </p:nvPr>
        </p:nvSpPr>
        <p:spPr>
          <a:xfrm>
            <a:off x="1303800" y="598575"/>
            <a:ext cx="2276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pic>
        <p:nvPicPr>
          <p:cNvPr id="958" name="Google Shape;95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50"/>
          <p:cNvSpPr txBox="1"/>
          <p:nvPr/>
        </p:nvSpPr>
        <p:spPr>
          <a:xfrm>
            <a:off x="6795225" y="2017975"/>
            <a:ext cx="1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 = 120.33</a:t>
            </a:r>
            <a:endParaRPr/>
          </a:p>
        </p:txBody>
      </p:sp>
      <p:sp>
        <p:nvSpPr>
          <p:cNvPr id="960" name="Google Shape;960;p50"/>
          <p:cNvSpPr txBox="1"/>
          <p:nvPr>
            <p:ph idx="1" type="body"/>
          </p:nvPr>
        </p:nvSpPr>
        <p:spPr>
          <a:xfrm>
            <a:off x="1303800" y="1238950"/>
            <a:ext cx="4529400" cy="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Este es el árbol calculado hasta ahora</a:t>
            </a:r>
            <a:endParaRPr/>
          </a:p>
        </p:txBody>
      </p:sp>
      <p:sp>
        <p:nvSpPr>
          <p:cNvPr id="961" name="Google Shape;961;p50"/>
          <p:cNvSpPr/>
          <p:nvPr/>
        </p:nvSpPr>
        <p:spPr>
          <a:xfrm>
            <a:off x="4827650" y="2006425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962" name="Google Shape;962;p50"/>
          <p:cNvSpPr/>
          <p:nvPr/>
        </p:nvSpPr>
        <p:spPr>
          <a:xfrm>
            <a:off x="4593000" y="2868500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63" name="Google Shape;963;p50"/>
          <p:cNvSpPr/>
          <p:nvPr/>
        </p:nvSpPr>
        <p:spPr>
          <a:xfrm>
            <a:off x="6057725" y="2868500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964" name="Google Shape;964;p50"/>
          <p:cNvCxnSpPr>
            <a:stCxn id="961" idx="2"/>
            <a:endCxn id="962" idx="0"/>
          </p:cNvCxnSpPr>
          <p:nvPr/>
        </p:nvCxnSpPr>
        <p:spPr>
          <a:xfrm flipH="1">
            <a:off x="4952900" y="2429725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5" name="Google Shape;965;p50"/>
          <p:cNvCxnSpPr>
            <a:stCxn id="961" idx="2"/>
            <a:endCxn id="963" idx="0"/>
          </p:cNvCxnSpPr>
          <p:nvPr/>
        </p:nvCxnSpPr>
        <p:spPr>
          <a:xfrm>
            <a:off x="5833100" y="2429725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6" name="Google Shape;966;p50"/>
          <p:cNvSpPr/>
          <p:nvPr/>
        </p:nvSpPr>
        <p:spPr>
          <a:xfrm>
            <a:off x="4952850" y="2049400"/>
            <a:ext cx="1799100" cy="317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sp>
        <p:nvSpPr>
          <p:cNvPr id="967" name="Google Shape;967;p50"/>
          <p:cNvSpPr/>
          <p:nvPr/>
        </p:nvSpPr>
        <p:spPr>
          <a:xfrm>
            <a:off x="6102900" y="2903100"/>
            <a:ext cx="1149900" cy="268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Dosage &lt; 30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968" name="Google Shape;968;p50"/>
          <p:cNvSpPr/>
          <p:nvPr/>
        </p:nvSpPr>
        <p:spPr>
          <a:xfrm>
            <a:off x="5665450" y="3481025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6.5, 7.5</a:t>
            </a:r>
            <a:endParaRPr b="1"/>
          </a:p>
        </p:txBody>
      </p:sp>
      <p:sp>
        <p:nvSpPr>
          <p:cNvPr id="969" name="Google Shape;969;p50"/>
          <p:cNvSpPr/>
          <p:nvPr/>
        </p:nvSpPr>
        <p:spPr>
          <a:xfrm>
            <a:off x="6940650" y="3481025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-7.5</a:t>
            </a:r>
            <a:endParaRPr b="1"/>
          </a:p>
        </p:txBody>
      </p:sp>
      <p:cxnSp>
        <p:nvCxnSpPr>
          <p:cNvPr id="970" name="Google Shape;970;p50"/>
          <p:cNvCxnSpPr>
            <a:stCxn id="963" idx="2"/>
            <a:endCxn id="968" idx="0"/>
          </p:cNvCxnSpPr>
          <p:nvPr/>
        </p:nvCxnSpPr>
        <p:spPr>
          <a:xfrm flipH="1">
            <a:off x="6105425" y="3227600"/>
            <a:ext cx="5676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1" name="Google Shape;971;p50"/>
          <p:cNvCxnSpPr>
            <a:stCxn id="963" idx="2"/>
            <a:endCxn id="969" idx="0"/>
          </p:cNvCxnSpPr>
          <p:nvPr/>
        </p:nvCxnSpPr>
        <p:spPr>
          <a:xfrm>
            <a:off x="6673025" y="3227600"/>
            <a:ext cx="6135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2" name="Google Shape;972;p50"/>
          <p:cNvSpPr txBox="1"/>
          <p:nvPr/>
        </p:nvSpPr>
        <p:spPr>
          <a:xfrm>
            <a:off x="7326050" y="2837100"/>
            <a:ext cx="143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140.17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73" name="Google Shape;973;p50"/>
          <p:cNvSpPr/>
          <p:nvPr/>
        </p:nvSpPr>
        <p:spPr>
          <a:xfrm>
            <a:off x="2197000" y="2006413"/>
            <a:ext cx="13266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0.5</a:t>
            </a:r>
            <a:endParaRPr b="1"/>
          </a:p>
        </p:txBody>
      </p:sp>
      <p:sp>
        <p:nvSpPr>
          <p:cNvPr id="974" name="Google Shape;974;p50"/>
          <p:cNvSpPr txBox="1"/>
          <p:nvPr/>
        </p:nvSpPr>
        <p:spPr>
          <a:xfrm>
            <a:off x="4152000" y="3249125"/>
            <a:ext cx="1601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Output = -10.5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75" name="Google Shape;975;p50"/>
          <p:cNvSpPr txBox="1"/>
          <p:nvPr/>
        </p:nvSpPr>
        <p:spPr>
          <a:xfrm>
            <a:off x="5585050" y="3855013"/>
            <a:ext cx="1041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Output = 7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76" name="Google Shape;976;p50"/>
          <p:cNvSpPr txBox="1"/>
          <p:nvPr/>
        </p:nvSpPr>
        <p:spPr>
          <a:xfrm>
            <a:off x="6671100" y="3859863"/>
            <a:ext cx="123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Output = -7.5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77" name="Google Shape;977;p50"/>
          <p:cNvSpPr/>
          <p:nvPr/>
        </p:nvSpPr>
        <p:spPr>
          <a:xfrm>
            <a:off x="3579313" y="2083975"/>
            <a:ext cx="244200" cy="268200"/>
          </a:xfrm>
          <a:prstGeom prst="mathPlus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50"/>
          <p:cNvSpPr/>
          <p:nvPr/>
        </p:nvSpPr>
        <p:spPr>
          <a:xfrm>
            <a:off x="4572000" y="2103400"/>
            <a:ext cx="209400" cy="2094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50"/>
          <p:cNvSpPr txBox="1"/>
          <p:nvPr/>
        </p:nvSpPr>
        <p:spPr>
          <a:xfrm>
            <a:off x="4133877" y="1848775"/>
            <a:ext cx="446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Nunito"/>
                <a:ea typeface="Nunito"/>
                <a:cs typeface="Nunito"/>
                <a:sym typeface="Nunito"/>
              </a:rPr>
              <a:t>ε</a:t>
            </a:r>
            <a:endParaRPr b="1" sz="2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80" name="Google Shape;980;p50"/>
          <p:cNvSpPr txBox="1"/>
          <p:nvPr/>
        </p:nvSpPr>
        <p:spPr>
          <a:xfrm>
            <a:off x="4204800" y="723900"/>
            <a:ext cx="304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Learning rate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: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por defecto es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0.3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981" name="Google Shape;981;p50"/>
          <p:cNvCxnSpPr>
            <a:stCxn id="980" idx="2"/>
            <a:endCxn id="979" idx="0"/>
          </p:cNvCxnSpPr>
          <p:nvPr/>
        </p:nvCxnSpPr>
        <p:spPr>
          <a:xfrm flipH="1">
            <a:off x="4356900" y="1124100"/>
            <a:ext cx="1371900" cy="72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2" name="Google Shape;982;p50"/>
          <p:cNvSpPr/>
          <p:nvPr/>
        </p:nvSpPr>
        <p:spPr>
          <a:xfrm>
            <a:off x="3998800" y="2046100"/>
            <a:ext cx="446100" cy="26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0.3</a:t>
            </a:r>
            <a:endParaRPr b="1"/>
          </a:p>
        </p:txBody>
      </p:sp>
      <p:sp>
        <p:nvSpPr>
          <p:cNvPr id="983" name="Google Shape;983;p50"/>
          <p:cNvSpPr/>
          <p:nvPr/>
        </p:nvSpPr>
        <p:spPr>
          <a:xfrm>
            <a:off x="804325" y="3838225"/>
            <a:ext cx="416400" cy="3591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4" name="Google Shape;984;p50"/>
          <p:cNvCxnSpPr>
            <a:stCxn id="983" idx="0"/>
          </p:cNvCxnSpPr>
          <p:nvPr/>
        </p:nvCxnSpPr>
        <p:spPr>
          <a:xfrm flipH="1" rot="10800000">
            <a:off x="1012525" y="3379525"/>
            <a:ext cx="222300" cy="4587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5" name="Google Shape;985;p50"/>
          <p:cNvSpPr txBox="1"/>
          <p:nvPr/>
        </p:nvSpPr>
        <p:spPr>
          <a:xfrm>
            <a:off x="1093600" y="2826175"/>
            <a:ext cx="161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¿Valor predicho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para dosage=10?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986" name="Google Shape;986;p50"/>
          <p:cNvCxnSpPr>
            <a:stCxn id="973" idx="2"/>
            <a:endCxn id="987" idx="0"/>
          </p:cNvCxnSpPr>
          <p:nvPr/>
        </p:nvCxnSpPr>
        <p:spPr>
          <a:xfrm>
            <a:off x="2860300" y="2429713"/>
            <a:ext cx="78900" cy="198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8" name="Google Shape;988;p50"/>
          <p:cNvCxnSpPr>
            <a:stCxn id="982" idx="2"/>
            <a:endCxn id="989" idx="0"/>
          </p:cNvCxnSpPr>
          <p:nvPr/>
        </p:nvCxnSpPr>
        <p:spPr>
          <a:xfrm flipH="1">
            <a:off x="3492550" y="2314300"/>
            <a:ext cx="729300" cy="208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0" name="Google Shape;990;p50"/>
          <p:cNvSpPr/>
          <p:nvPr/>
        </p:nvSpPr>
        <p:spPr>
          <a:xfrm>
            <a:off x="4783675" y="1961450"/>
            <a:ext cx="2095500" cy="5220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50"/>
          <p:cNvSpPr/>
          <p:nvPr/>
        </p:nvSpPr>
        <p:spPr>
          <a:xfrm>
            <a:off x="4538000" y="2822924"/>
            <a:ext cx="840000" cy="4587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2" name="Google Shape;992;p50"/>
          <p:cNvCxnSpPr>
            <a:stCxn id="974" idx="2"/>
          </p:cNvCxnSpPr>
          <p:nvPr/>
        </p:nvCxnSpPr>
        <p:spPr>
          <a:xfrm flipH="1">
            <a:off x="4177050" y="3634025"/>
            <a:ext cx="775800" cy="78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7" name="Google Shape;987;p50"/>
          <p:cNvSpPr txBox="1"/>
          <p:nvPr/>
        </p:nvSpPr>
        <p:spPr>
          <a:xfrm>
            <a:off x="2632450" y="4416725"/>
            <a:ext cx="61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0.5 +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89" name="Google Shape;989;p50"/>
          <p:cNvSpPr txBox="1"/>
          <p:nvPr/>
        </p:nvSpPr>
        <p:spPr>
          <a:xfrm>
            <a:off x="3132650" y="4399700"/>
            <a:ext cx="7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( 0.3 *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93" name="Google Shape;993;p50"/>
          <p:cNvSpPr txBox="1"/>
          <p:nvPr/>
        </p:nvSpPr>
        <p:spPr>
          <a:xfrm>
            <a:off x="3579325" y="4416725"/>
            <a:ext cx="84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(-10.5))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94" name="Google Shape;994;p50"/>
          <p:cNvSpPr txBox="1"/>
          <p:nvPr/>
        </p:nvSpPr>
        <p:spPr>
          <a:xfrm>
            <a:off x="4356900" y="4399700"/>
            <a:ext cx="84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= -2.65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95" name="Google Shape;995;p50"/>
          <p:cNvSpPr/>
          <p:nvPr/>
        </p:nvSpPr>
        <p:spPr>
          <a:xfrm>
            <a:off x="4575825" y="4391925"/>
            <a:ext cx="613500" cy="4233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51"/>
          <p:cNvSpPr txBox="1"/>
          <p:nvPr>
            <p:ph type="title"/>
          </p:nvPr>
        </p:nvSpPr>
        <p:spPr>
          <a:xfrm>
            <a:off x="1303800" y="598575"/>
            <a:ext cx="2276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pic>
        <p:nvPicPr>
          <p:cNvPr id="1001" name="Google Shape;100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51"/>
          <p:cNvSpPr txBox="1"/>
          <p:nvPr/>
        </p:nvSpPr>
        <p:spPr>
          <a:xfrm>
            <a:off x="6795225" y="2017975"/>
            <a:ext cx="1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 = 120.33</a:t>
            </a:r>
            <a:endParaRPr/>
          </a:p>
        </p:txBody>
      </p:sp>
      <p:sp>
        <p:nvSpPr>
          <p:cNvPr id="1003" name="Google Shape;1003;p51"/>
          <p:cNvSpPr txBox="1"/>
          <p:nvPr>
            <p:ph idx="1" type="body"/>
          </p:nvPr>
        </p:nvSpPr>
        <p:spPr>
          <a:xfrm>
            <a:off x="1303800" y="1238950"/>
            <a:ext cx="4529400" cy="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Este es el árbol calculado hasta ahora</a:t>
            </a:r>
            <a:endParaRPr/>
          </a:p>
        </p:txBody>
      </p:sp>
      <p:sp>
        <p:nvSpPr>
          <p:cNvPr id="1004" name="Google Shape;1004;p51"/>
          <p:cNvSpPr/>
          <p:nvPr/>
        </p:nvSpPr>
        <p:spPr>
          <a:xfrm>
            <a:off x="4827650" y="2006425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1005" name="Google Shape;1005;p51"/>
          <p:cNvSpPr/>
          <p:nvPr/>
        </p:nvSpPr>
        <p:spPr>
          <a:xfrm>
            <a:off x="4593000" y="2868500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006" name="Google Shape;1006;p51"/>
          <p:cNvSpPr/>
          <p:nvPr/>
        </p:nvSpPr>
        <p:spPr>
          <a:xfrm>
            <a:off x="6057725" y="2868500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1007" name="Google Shape;1007;p51"/>
          <p:cNvCxnSpPr>
            <a:stCxn id="1004" idx="2"/>
            <a:endCxn id="1005" idx="0"/>
          </p:cNvCxnSpPr>
          <p:nvPr/>
        </p:nvCxnSpPr>
        <p:spPr>
          <a:xfrm flipH="1">
            <a:off x="4952900" y="2429725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8" name="Google Shape;1008;p51"/>
          <p:cNvCxnSpPr>
            <a:stCxn id="1004" idx="2"/>
            <a:endCxn id="1006" idx="0"/>
          </p:cNvCxnSpPr>
          <p:nvPr/>
        </p:nvCxnSpPr>
        <p:spPr>
          <a:xfrm>
            <a:off x="5833100" y="2429725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9" name="Google Shape;1009;p51"/>
          <p:cNvSpPr/>
          <p:nvPr/>
        </p:nvSpPr>
        <p:spPr>
          <a:xfrm>
            <a:off x="4952850" y="2049400"/>
            <a:ext cx="1799100" cy="317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sp>
        <p:nvSpPr>
          <p:cNvPr id="1010" name="Google Shape;1010;p51"/>
          <p:cNvSpPr/>
          <p:nvPr/>
        </p:nvSpPr>
        <p:spPr>
          <a:xfrm>
            <a:off x="6102900" y="2903100"/>
            <a:ext cx="1149900" cy="268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Dosage &lt; 30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011" name="Google Shape;1011;p51"/>
          <p:cNvSpPr/>
          <p:nvPr/>
        </p:nvSpPr>
        <p:spPr>
          <a:xfrm>
            <a:off x="5665450" y="3481025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6.5, 7.5</a:t>
            </a:r>
            <a:endParaRPr b="1"/>
          </a:p>
        </p:txBody>
      </p:sp>
      <p:sp>
        <p:nvSpPr>
          <p:cNvPr id="1012" name="Google Shape;1012;p51"/>
          <p:cNvSpPr/>
          <p:nvPr/>
        </p:nvSpPr>
        <p:spPr>
          <a:xfrm>
            <a:off x="6940650" y="3481025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-7.5</a:t>
            </a:r>
            <a:endParaRPr b="1"/>
          </a:p>
        </p:txBody>
      </p:sp>
      <p:cxnSp>
        <p:nvCxnSpPr>
          <p:cNvPr id="1013" name="Google Shape;1013;p51"/>
          <p:cNvCxnSpPr>
            <a:stCxn id="1006" idx="2"/>
            <a:endCxn id="1011" idx="0"/>
          </p:cNvCxnSpPr>
          <p:nvPr/>
        </p:nvCxnSpPr>
        <p:spPr>
          <a:xfrm flipH="1">
            <a:off x="6105425" y="3227600"/>
            <a:ext cx="5676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4" name="Google Shape;1014;p51"/>
          <p:cNvCxnSpPr>
            <a:stCxn id="1006" idx="2"/>
            <a:endCxn id="1012" idx="0"/>
          </p:cNvCxnSpPr>
          <p:nvPr/>
        </p:nvCxnSpPr>
        <p:spPr>
          <a:xfrm>
            <a:off x="6673025" y="3227600"/>
            <a:ext cx="6135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5" name="Google Shape;1015;p51"/>
          <p:cNvSpPr txBox="1"/>
          <p:nvPr/>
        </p:nvSpPr>
        <p:spPr>
          <a:xfrm>
            <a:off x="7326050" y="2837100"/>
            <a:ext cx="143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140.17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16" name="Google Shape;1016;p51"/>
          <p:cNvSpPr/>
          <p:nvPr/>
        </p:nvSpPr>
        <p:spPr>
          <a:xfrm>
            <a:off x="2197000" y="2006413"/>
            <a:ext cx="13266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0.5</a:t>
            </a:r>
            <a:endParaRPr b="1"/>
          </a:p>
        </p:txBody>
      </p:sp>
      <p:sp>
        <p:nvSpPr>
          <p:cNvPr id="1017" name="Google Shape;1017;p51"/>
          <p:cNvSpPr txBox="1"/>
          <p:nvPr/>
        </p:nvSpPr>
        <p:spPr>
          <a:xfrm>
            <a:off x="4152000" y="3249125"/>
            <a:ext cx="1601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Output = -10.5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18" name="Google Shape;1018;p51"/>
          <p:cNvSpPr txBox="1"/>
          <p:nvPr/>
        </p:nvSpPr>
        <p:spPr>
          <a:xfrm>
            <a:off x="5585050" y="3855013"/>
            <a:ext cx="1041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Output = 7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19" name="Google Shape;1019;p51"/>
          <p:cNvSpPr txBox="1"/>
          <p:nvPr/>
        </p:nvSpPr>
        <p:spPr>
          <a:xfrm>
            <a:off x="6671100" y="3859863"/>
            <a:ext cx="123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Output = -7.5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0" name="Google Shape;1020;p51"/>
          <p:cNvSpPr/>
          <p:nvPr/>
        </p:nvSpPr>
        <p:spPr>
          <a:xfrm>
            <a:off x="3579313" y="2083975"/>
            <a:ext cx="244200" cy="268200"/>
          </a:xfrm>
          <a:prstGeom prst="mathPlus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51"/>
          <p:cNvSpPr/>
          <p:nvPr/>
        </p:nvSpPr>
        <p:spPr>
          <a:xfrm>
            <a:off x="4572000" y="2103400"/>
            <a:ext cx="209400" cy="2094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51"/>
          <p:cNvSpPr txBox="1"/>
          <p:nvPr/>
        </p:nvSpPr>
        <p:spPr>
          <a:xfrm>
            <a:off x="4133877" y="1848775"/>
            <a:ext cx="446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Nunito"/>
                <a:ea typeface="Nunito"/>
                <a:cs typeface="Nunito"/>
                <a:sym typeface="Nunito"/>
              </a:rPr>
              <a:t>ε</a:t>
            </a:r>
            <a:endParaRPr b="1" sz="2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3" name="Google Shape;1023;p51"/>
          <p:cNvSpPr/>
          <p:nvPr/>
        </p:nvSpPr>
        <p:spPr>
          <a:xfrm>
            <a:off x="3998800" y="2046100"/>
            <a:ext cx="446100" cy="26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0.3</a:t>
            </a:r>
            <a:endParaRPr b="1"/>
          </a:p>
        </p:txBody>
      </p:sp>
      <p:sp>
        <p:nvSpPr>
          <p:cNvPr id="1024" name="Google Shape;1024;p51"/>
          <p:cNvSpPr txBox="1"/>
          <p:nvPr/>
        </p:nvSpPr>
        <p:spPr>
          <a:xfrm>
            <a:off x="5642850" y="4264525"/>
            <a:ext cx="328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Output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0.5 +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( 0.3 *  (-10.5))=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-2.65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025" name="Google Shape;1025;p51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51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27" name="Google Shape;1027;p51"/>
          <p:cNvSpPr txBox="1"/>
          <p:nvPr/>
        </p:nvSpPr>
        <p:spPr>
          <a:xfrm>
            <a:off x="2441200" y="2838275"/>
            <a:ext cx="1799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Esta era la predicción original.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Su error o residuo era: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-10.5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028" name="Google Shape;1028;p51"/>
          <p:cNvCxnSpPr>
            <a:stCxn id="1027" idx="1"/>
          </p:cNvCxnSpPr>
          <p:nvPr/>
        </p:nvCxnSpPr>
        <p:spPr>
          <a:xfrm rot="10800000">
            <a:off x="2123800" y="3146825"/>
            <a:ext cx="317400" cy="21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9" name="Google Shape;1029;p51"/>
          <p:cNvCxnSpPr/>
          <p:nvPr/>
        </p:nvCxnSpPr>
        <p:spPr>
          <a:xfrm>
            <a:off x="649100" y="3414900"/>
            <a:ext cx="783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0" name="Google Shape;1030;p51"/>
          <p:cNvCxnSpPr/>
          <p:nvPr/>
        </p:nvCxnSpPr>
        <p:spPr>
          <a:xfrm rot="10800000">
            <a:off x="1284325" y="3478450"/>
            <a:ext cx="1425000" cy="10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1" name="Google Shape;1031;p51"/>
          <p:cNvSpPr txBox="1"/>
          <p:nvPr/>
        </p:nvSpPr>
        <p:spPr>
          <a:xfrm>
            <a:off x="2727775" y="4293525"/>
            <a:ext cx="1947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Esta es la nueva predicción: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-2.65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Su residuo es: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−7,35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32" name="Google Shape;1032;p51"/>
          <p:cNvSpPr txBox="1"/>
          <p:nvPr/>
        </p:nvSpPr>
        <p:spPr>
          <a:xfrm>
            <a:off x="4952875" y="4664725"/>
            <a:ext cx="3951000" cy="4002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Nos acercamos de a poco al valor real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52"/>
          <p:cNvSpPr txBox="1"/>
          <p:nvPr>
            <p:ph type="title"/>
          </p:nvPr>
        </p:nvSpPr>
        <p:spPr>
          <a:xfrm>
            <a:off x="1303800" y="598575"/>
            <a:ext cx="2276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pic>
        <p:nvPicPr>
          <p:cNvPr id="1038" name="Google Shape;103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52"/>
          <p:cNvSpPr txBox="1"/>
          <p:nvPr>
            <p:ph idx="1" type="body"/>
          </p:nvPr>
        </p:nvSpPr>
        <p:spPr>
          <a:xfrm>
            <a:off x="1303800" y="1238950"/>
            <a:ext cx="7350000" cy="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Nuevo paso: </a:t>
            </a:r>
            <a:r>
              <a:rPr lang="en" sz="1400">
                <a:solidFill>
                  <a:srgbClr val="000000"/>
                </a:solidFill>
              </a:rPr>
              <a:t>Calculamos todos los residuos utilizando el árbol hasta acá</a:t>
            </a:r>
            <a:endParaRPr/>
          </a:p>
        </p:txBody>
      </p:sp>
      <p:cxnSp>
        <p:nvCxnSpPr>
          <p:cNvPr id="1040" name="Google Shape;1040;p52"/>
          <p:cNvCxnSpPr/>
          <p:nvPr/>
        </p:nvCxnSpPr>
        <p:spPr>
          <a:xfrm rot="10800000">
            <a:off x="1008950" y="3450100"/>
            <a:ext cx="0" cy="486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041" name="Google Shape;1041;p52"/>
          <p:cNvCxnSpPr/>
          <p:nvPr/>
        </p:nvCxnSpPr>
        <p:spPr>
          <a:xfrm>
            <a:off x="649100" y="3414900"/>
            <a:ext cx="783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2" name="Google Shape;1042;p52"/>
          <p:cNvCxnSpPr/>
          <p:nvPr/>
        </p:nvCxnSpPr>
        <p:spPr>
          <a:xfrm rot="10800000">
            <a:off x="1365325" y="2744725"/>
            <a:ext cx="0" cy="2370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43" name="Google Shape;1043;p52"/>
          <p:cNvSpPr txBox="1"/>
          <p:nvPr/>
        </p:nvSpPr>
        <p:spPr>
          <a:xfrm>
            <a:off x="2208575" y="2797075"/>
            <a:ext cx="52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Nunito"/>
                <a:ea typeface="Nunito"/>
                <a:cs typeface="Nunito"/>
                <a:sym typeface="Nunito"/>
              </a:rPr>
              <a:t>2,6</a:t>
            </a:r>
            <a:endParaRPr b="1" sz="1200">
              <a:solidFill>
                <a:srgbClr val="00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044" name="Google Shape;1044;p52"/>
          <p:cNvCxnSpPr/>
          <p:nvPr/>
        </p:nvCxnSpPr>
        <p:spPr>
          <a:xfrm>
            <a:off x="617300" y="2981725"/>
            <a:ext cx="15204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5" name="Google Shape;1045;p52"/>
          <p:cNvCxnSpPr/>
          <p:nvPr/>
        </p:nvCxnSpPr>
        <p:spPr>
          <a:xfrm rot="10800000">
            <a:off x="1581225" y="2621950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046" name="Google Shape;1046;p52"/>
          <p:cNvCxnSpPr/>
          <p:nvPr/>
        </p:nvCxnSpPr>
        <p:spPr>
          <a:xfrm>
            <a:off x="649100" y="3267475"/>
            <a:ext cx="1954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7" name="Google Shape;1047;p52"/>
          <p:cNvSpPr txBox="1"/>
          <p:nvPr/>
        </p:nvSpPr>
        <p:spPr>
          <a:xfrm>
            <a:off x="2730575" y="3082825"/>
            <a:ext cx="61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Nunito"/>
                <a:ea typeface="Nunito"/>
                <a:cs typeface="Nunito"/>
                <a:sym typeface="Nunito"/>
              </a:rPr>
              <a:t>-1.75</a:t>
            </a:r>
            <a:endParaRPr b="1" sz="1200">
              <a:solidFill>
                <a:srgbClr val="00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48" name="Google Shape;1048;p52"/>
          <p:cNvSpPr txBox="1"/>
          <p:nvPr/>
        </p:nvSpPr>
        <p:spPr>
          <a:xfrm>
            <a:off x="1143125" y="3414900"/>
            <a:ext cx="61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Nunito"/>
                <a:ea typeface="Nunito"/>
                <a:cs typeface="Nunito"/>
                <a:sym typeface="Nunito"/>
              </a:rPr>
              <a:t>-2.65</a:t>
            </a:r>
            <a:endParaRPr b="1" sz="1200">
              <a:solidFill>
                <a:srgbClr val="00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049" name="Google Shape;1049;p52"/>
          <p:cNvCxnSpPr/>
          <p:nvPr/>
        </p:nvCxnSpPr>
        <p:spPr>
          <a:xfrm rot="10800000">
            <a:off x="1873950" y="3267350"/>
            <a:ext cx="0" cy="4086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50" name="Google Shape;1050;p52"/>
          <p:cNvSpPr txBox="1"/>
          <p:nvPr/>
        </p:nvSpPr>
        <p:spPr>
          <a:xfrm>
            <a:off x="1665000" y="1597875"/>
            <a:ext cx="747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Podemos ver que todas las estimaciones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mejoran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respecto de la original (0.5).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Sin embargo los errores (residuos) siguen siendo altos.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51" name="Google Shape;1051;p52"/>
          <p:cNvSpPr txBox="1"/>
          <p:nvPr/>
        </p:nvSpPr>
        <p:spPr>
          <a:xfrm>
            <a:off x="3464275" y="2344525"/>
            <a:ext cx="54258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Con estos nuevos residuos, construimos un nuevo árbol.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Repetimos todo, desde el paso 2.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Con el nuevo árbol, calculamos la salida de cada elemento y luego los residuos.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Construimos otro árbol.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Seguimos hasta que los residuos son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prácticamente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cero o bien alcanzamos el número máximo de árboles predefinido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5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estructura final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53"/>
          <p:cNvSpPr/>
          <p:nvPr/>
        </p:nvSpPr>
        <p:spPr>
          <a:xfrm>
            <a:off x="2859150" y="1554875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sp>
        <p:nvSpPr>
          <p:cNvPr id="1058" name="Google Shape;1058;p53"/>
          <p:cNvSpPr/>
          <p:nvPr/>
        </p:nvSpPr>
        <p:spPr>
          <a:xfrm>
            <a:off x="2859150" y="2229575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1059" name="Google Shape;1059;p53"/>
          <p:cNvCxnSpPr>
            <a:stCxn id="1057" idx="2"/>
          </p:cNvCxnSpPr>
          <p:nvPr/>
        </p:nvCxnSpPr>
        <p:spPr>
          <a:xfrm flipH="1">
            <a:off x="3379500" y="1978175"/>
            <a:ext cx="485100" cy="25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0" name="Google Shape;1060;p53"/>
          <p:cNvCxnSpPr>
            <a:stCxn id="1057" idx="2"/>
            <a:endCxn id="1061" idx="0"/>
          </p:cNvCxnSpPr>
          <p:nvPr/>
        </p:nvCxnSpPr>
        <p:spPr>
          <a:xfrm>
            <a:off x="3864600" y="1978175"/>
            <a:ext cx="556200" cy="25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2" name="Google Shape;1062;p53"/>
          <p:cNvSpPr/>
          <p:nvPr/>
        </p:nvSpPr>
        <p:spPr>
          <a:xfrm>
            <a:off x="3437500" y="2863375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6.5, 7.5</a:t>
            </a:r>
            <a:endParaRPr b="1"/>
          </a:p>
        </p:txBody>
      </p:sp>
      <p:sp>
        <p:nvSpPr>
          <p:cNvPr id="1063" name="Google Shape;1063;p53"/>
          <p:cNvSpPr/>
          <p:nvPr/>
        </p:nvSpPr>
        <p:spPr>
          <a:xfrm>
            <a:off x="4712700" y="2863375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-7.5</a:t>
            </a:r>
            <a:endParaRPr b="1"/>
          </a:p>
        </p:txBody>
      </p:sp>
      <p:cxnSp>
        <p:nvCxnSpPr>
          <p:cNvPr id="1064" name="Google Shape;1064;p53"/>
          <p:cNvCxnSpPr>
            <a:endCxn id="1062" idx="0"/>
          </p:cNvCxnSpPr>
          <p:nvPr/>
        </p:nvCxnSpPr>
        <p:spPr>
          <a:xfrm flipH="1">
            <a:off x="3877600" y="2609875"/>
            <a:ext cx="5676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5" name="Google Shape;1065;p53"/>
          <p:cNvCxnSpPr>
            <a:endCxn id="1063" idx="0"/>
          </p:cNvCxnSpPr>
          <p:nvPr/>
        </p:nvCxnSpPr>
        <p:spPr>
          <a:xfrm>
            <a:off x="4444950" y="2609875"/>
            <a:ext cx="6135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6" name="Google Shape;1066;p53"/>
          <p:cNvSpPr/>
          <p:nvPr/>
        </p:nvSpPr>
        <p:spPr>
          <a:xfrm>
            <a:off x="228500" y="1554863"/>
            <a:ext cx="13266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0.5</a:t>
            </a:r>
            <a:endParaRPr b="1"/>
          </a:p>
        </p:txBody>
      </p:sp>
      <p:sp>
        <p:nvSpPr>
          <p:cNvPr id="1067" name="Google Shape;1067;p53"/>
          <p:cNvSpPr/>
          <p:nvPr/>
        </p:nvSpPr>
        <p:spPr>
          <a:xfrm>
            <a:off x="1610813" y="1632425"/>
            <a:ext cx="244200" cy="268200"/>
          </a:xfrm>
          <a:prstGeom prst="mathPlus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53"/>
          <p:cNvSpPr/>
          <p:nvPr/>
        </p:nvSpPr>
        <p:spPr>
          <a:xfrm>
            <a:off x="2603500" y="1651850"/>
            <a:ext cx="209400" cy="2094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53"/>
          <p:cNvSpPr/>
          <p:nvPr/>
        </p:nvSpPr>
        <p:spPr>
          <a:xfrm>
            <a:off x="1958175" y="1632425"/>
            <a:ext cx="567600" cy="26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0.3</a:t>
            </a:r>
            <a:endParaRPr b="1" sz="1600"/>
          </a:p>
        </p:txBody>
      </p:sp>
      <p:sp>
        <p:nvSpPr>
          <p:cNvPr id="1061" name="Google Shape;1061;p53"/>
          <p:cNvSpPr/>
          <p:nvPr/>
        </p:nvSpPr>
        <p:spPr>
          <a:xfrm>
            <a:off x="3793700" y="2229575"/>
            <a:ext cx="12543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Dosage &lt; 30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070" name="Google Shape;1070;p53"/>
          <p:cNvSpPr/>
          <p:nvPr/>
        </p:nvSpPr>
        <p:spPr>
          <a:xfrm>
            <a:off x="6461700" y="1523825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71" name="Google Shape;1071;p53"/>
          <p:cNvSpPr/>
          <p:nvPr/>
        </p:nvSpPr>
        <p:spPr>
          <a:xfrm>
            <a:off x="6461700" y="2198525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1072" name="Google Shape;1072;p53"/>
          <p:cNvCxnSpPr>
            <a:stCxn id="1070" idx="2"/>
          </p:cNvCxnSpPr>
          <p:nvPr/>
        </p:nvCxnSpPr>
        <p:spPr>
          <a:xfrm flipH="1">
            <a:off x="6982050" y="1947125"/>
            <a:ext cx="485100" cy="25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3" name="Google Shape;1073;p53"/>
          <p:cNvCxnSpPr>
            <a:stCxn id="1070" idx="2"/>
            <a:endCxn id="1074" idx="0"/>
          </p:cNvCxnSpPr>
          <p:nvPr/>
        </p:nvCxnSpPr>
        <p:spPr>
          <a:xfrm>
            <a:off x="7467150" y="1947125"/>
            <a:ext cx="556200" cy="25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5" name="Google Shape;1075;p53"/>
          <p:cNvSpPr/>
          <p:nvPr/>
        </p:nvSpPr>
        <p:spPr>
          <a:xfrm>
            <a:off x="5799200" y="2825250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76" name="Google Shape;1076;p53"/>
          <p:cNvSpPr/>
          <p:nvPr/>
        </p:nvSpPr>
        <p:spPr>
          <a:xfrm>
            <a:off x="7074400" y="2825250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077" name="Google Shape;1077;p53"/>
          <p:cNvCxnSpPr>
            <a:endCxn id="1075" idx="0"/>
          </p:cNvCxnSpPr>
          <p:nvPr/>
        </p:nvCxnSpPr>
        <p:spPr>
          <a:xfrm flipH="1">
            <a:off x="6239300" y="2571750"/>
            <a:ext cx="5676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8" name="Google Shape;1078;p53"/>
          <p:cNvCxnSpPr>
            <a:endCxn id="1076" idx="0"/>
          </p:cNvCxnSpPr>
          <p:nvPr/>
        </p:nvCxnSpPr>
        <p:spPr>
          <a:xfrm>
            <a:off x="6806650" y="2571750"/>
            <a:ext cx="6135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4" name="Google Shape;1074;p53"/>
          <p:cNvSpPr/>
          <p:nvPr/>
        </p:nvSpPr>
        <p:spPr>
          <a:xfrm>
            <a:off x="7396250" y="2198525"/>
            <a:ext cx="12543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079" name="Google Shape;1079;p53"/>
          <p:cNvSpPr/>
          <p:nvPr/>
        </p:nvSpPr>
        <p:spPr>
          <a:xfrm>
            <a:off x="5149863" y="1601375"/>
            <a:ext cx="244200" cy="268200"/>
          </a:xfrm>
          <a:prstGeom prst="mathPlus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53"/>
          <p:cNvSpPr/>
          <p:nvPr/>
        </p:nvSpPr>
        <p:spPr>
          <a:xfrm>
            <a:off x="6142550" y="1620800"/>
            <a:ext cx="209400" cy="2094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53"/>
          <p:cNvSpPr/>
          <p:nvPr/>
        </p:nvSpPr>
        <p:spPr>
          <a:xfrm>
            <a:off x="5497225" y="1601375"/>
            <a:ext cx="567600" cy="26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0.3</a:t>
            </a:r>
            <a:endParaRPr b="1" sz="1600"/>
          </a:p>
        </p:txBody>
      </p:sp>
      <p:sp>
        <p:nvSpPr>
          <p:cNvPr id="1082" name="Google Shape;1082;p53"/>
          <p:cNvSpPr/>
          <p:nvPr/>
        </p:nvSpPr>
        <p:spPr>
          <a:xfrm>
            <a:off x="1604850" y="3404825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83" name="Google Shape;1083;p53"/>
          <p:cNvSpPr/>
          <p:nvPr/>
        </p:nvSpPr>
        <p:spPr>
          <a:xfrm>
            <a:off x="1604850" y="4079525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1084" name="Google Shape;1084;p53"/>
          <p:cNvCxnSpPr>
            <a:stCxn id="1082" idx="2"/>
          </p:cNvCxnSpPr>
          <p:nvPr/>
        </p:nvCxnSpPr>
        <p:spPr>
          <a:xfrm flipH="1">
            <a:off x="2125200" y="3828125"/>
            <a:ext cx="485100" cy="25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5" name="Google Shape;1085;p53"/>
          <p:cNvCxnSpPr>
            <a:stCxn id="1082" idx="2"/>
            <a:endCxn id="1086" idx="0"/>
          </p:cNvCxnSpPr>
          <p:nvPr/>
        </p:nvCxnSpPr>
        <p:spPr>
          <a:xfrm>
            <a:off x="2610300" y="3828125"/>
            <a:ext cx="829800" cy="25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7" name="Google Shape;1087;p53"/>
          <p:cNvSpPr/>
          <p:nvPr/>
        </p:nvSpPr>
        <p:spPr>
          <a:xfrm>
            <a:off x="1077975" y="4690025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88" name="Google Shape;1088;p53"/>
          <p:cNvSpPr/>
          <p:nvPr/>
        </p:nvSpPr>
        <p:spPr>
          <a:xfrm>
            <a:off x="1995100" y="4690025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089" name="Google Shape;1089;p53"/>
          <p:cNvCxnSpPr>
            <a:stCxn id="1083" idx="2"/>
            <a:endCxn id="1087" idx="0"/>
          </p:cNvCxnSpPr>
          <p:nvPr/>
        </p:nvCxnSpPr>
        <p:spPr>
          <a:xfrm flipH="1">
            <a:off x="1518000" y="4438625"/>
            <a:ext cx="446700" cy="25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0" name="Google Shape;1090;p53"/>
          <p:cNvCxnSpPr>
            <a:stCxn id="1083" idx="2"/>
            <a:endCxn id="1088" idx="0"/>
          </p:cNvCxnSpPr>
          <p:nvPr/>
        </p:nvCxnSpPr>
        <p:spPr>
          <a:xfrm>
            <a:off x="1964700" y="4438625"/>
            <a:ext cx="376200" cy="25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6" name="Google Shape;1086;p53"/>
          <p:cNvSpPr/>
          <p:nvPr/>
        </p:nvSpPr>
        <p:spPr>
          <a:xfrm>
            <a:off x="2812900" y="4087638"/>
            <a:ext cx="12543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091" name="Google Shape;1091;p53"/>
          <p:cNvSpPr/>
          <p:nvPr/>
        </p:nvSpPr>
        <p:spPr>
          <a:xfrm>
            <a:off x="293013" y="3482375"/>
            <a:ext cx="244200" cy="268200"/>
          </a:xfrm>
          <a:prstGeom prst="mathPlus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53"/>
          <p:cNvSpPr/>
          <p:nvPr/>
        </p:nvSpPr>
        <p:spPr>
          <a:xfrm>
            <a:off x="1285700" y="3501800"/>
            <a:ext cx="209400" cy="2094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53"/>
          <p:cNvSpPr/>
          <p:nvPr/>
        </p:nvSpPr>
        <p:spPr>
          <a:xfrm>
            <a:off x="640375" y="3482375"/>
            <a:ext cx="567600" cy="26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0.3</a:t>
            </a:r>
            <a:endParaRPr b="1" sz="1600"/>
          </a:p>
        </p:txBody>
      </p:sp>
      <p:sp>
        <p:nvSpPr>
          <p:cNvPr id="1094" name="Google Shape;1094;p53"/>
          <p:cNvSpPr/>
          <p:nvPr/>
        </p:nvSpPr>
        <p:spPr>
          <a:xfrm>
            <a:off x="2859150" y="4706275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95" name="Google Shape;1095;p53"/>
          <p:cNvSpPr/>
          <p:nvPr/>
        </p:nvSpPr>
        <p:spPr>
          <a:xfrm>
            <a:off x="3815650" y="4706250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096" name="Google Shape;1096;p53"/>
          <p:cNvCxnSpPr>
            <a:stCxn id="1086" idx="2"/>
            <a:endCxn id="1094" idx="0"/>
          </p:cNvCxnSpPr>
          <p:nvPr/>
        </p:nvCxnSpPr>
        <p:spPr>
          <a:xfrm flipH="1">
            <a:off x="3299350" y="4446738"/>
            <a:ext cx="140700" cy="25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7" name="Google Shape;1097;p53"/>
          <p:cNvCxnSpPr>
            <a:stCxn id="1086" idx="2"/>
            <a:endCxn id="1095" idx="0"/>
          </p:cNvCxnSpPr>
          <p:nvPr/>
        </p:nvCxnSpPr>
        <p:spPr>
          <a:xfrm>
            <a:off x="3440050" y="4446738"/>
            <a:ext cx="721500" cy="25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8" name="Google Shape;1098;p53"/>
          <p:cNvSpPr/>
          <p:nvPr/>
        </p:nvSpPr>
        <p:spPr>
          <a:xfrm>
            <a:off x="5516625" y="3428400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99" name="Google Shape;1099;p53"/>
          <p:cNvSpPr/>
          <p:nvPr/>
        </p:nvSpPr>
        <p:spPr>
          <a:xfrm>
            <a:off x="5516625" y="4103100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1100" name="Google Shape;1100;p53"/>
          <p:cNvCxnSpPr>
            <a:stCxn id="1098" idx="2"/>
          </p:cNvCxnSpPr>
          <p:nvPr/>
        </p:nvCxnSpPr>
        <p:spPr>
          <a:xfrm flipH="1">
            <a:off x="6036975" y="3851700"/>
            <a:ext cx="485100" cy="25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1" name="Google Shape;1101;p53"/>
          <p:cNvCxnSpPr>
            <a:stCxn id="1098" idx="2"/>
            <a:endCxn id="1102" idx="0"/>
          </p:cNvCxnSpPr>
          <p:nvPr/>
        </p:nvCxnSpPr>
        <p:spPr>
          <a:xfrm>
            <a:off x="6522075" y="3851700"/>
            <a:ext cx="556200" cy="25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2" name="Google Shape;1102;p53"/>
          <p:cNvSpPr/>
          <p:nvPr/>
        </p:nvSpPr>
        <p:spPr>
          <a:xfrm>
            <a:off x="6451175" y="4103100"/>
            <a:ext cx="12543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103" name="Google Shape;1103;p53"/>
          <p:cNvSpPr/>
          <p:nvPr/>
        </p:nvSpPr>
        <p:spPr>
          <a:xfrm>
            <a:off x="4204788" y="3505950"/>
            <a:ext cx="244200" cy="268200"/>
          </a:xfrm>
          <a:prstGeom prst="mathPlus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53"/>
          <p:cNvSpPr/>
          <p:nvPr/>
        </p:nvSpPr>
        <p:spPr>
          <a:xfrm>
            <a:off x="5197475" y="3525375"/>
            <a:ext cx="209400" cy="2094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53"/>
          <p:cNvSpPr/>
          <p:nvPr/>
        </p:nvSpPr>
        <p:spPr>
          <a:xfrm>
            <a:off x="4552150" y="3505950"/>
            <a:ext cx="567600" cy="26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0.3</a:t>
            </a:r>
            <a:endParaRPr b="1" sz="1600"/>
          </a:p>
        </p:txBody>
      </p:sp>
      <p:sp>
        <p:nvSpPr>
          <p:cNvPr id="1106" name="Google Shape;1106;p53"/>
          <p:cNvSpPr/>
          <p:nvPr/>
        </p:nvSpPr>
        <p:spPr>
          <a:xfrm>
            <a:off x="7835563" y="3472400"/>
            <a:ext cx="244200" cy="268200"/>
          </a:xfrm>
          <a:prstGeom prst="mathPlus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53"/>
          <p:cNvSpPr txBox="1"/>
          <p:nvPr/>
        </p:nvSpPr>
        <p:spPr>
          <a:xfrm>
            <a:off x="8079775" y="3406400"/>
            <a:ext cx="82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Nunito"/>
                <a:ea typeface="Nunito"/>
                <a:cs typeface="Nunito"/>
                <a:sym typeface="Nunito"/>
              </a:rPr>
              <a:t>…. etc.</a:t>
            </a:r>
            <a:endParaRPr b="1" sz="15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54"/>
          <p:cNvSpPr txBox="1"/>
          <p:nvPr/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rPr>
              <a:t>Video cómo este y muchos otros útiles</a:t>
            </a:r>
            <a:endParaRPr b="1" sz="2800">
              <a:solidFill>
                <a:srgbClr val="42424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113" name="Google Shape;1113;p54"/>
          <p:cNvSpPr txBox="1"/>
          <p:nvPr/>
        </p:nvSpPr>
        <p:spPr>
          <a:xfrm>
            <a:off x="3768900" y="3535250"/>
            <a:ext cx="52227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 u="sng">
                <a:solidFill>
                  <a:srgbClr val="27278B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https://www.youtube.com/channel/UCtYLUTtgS3k1Fg4y5tAhLbw</a:t>
            </a:r>
            <a:endParaRPr sz="17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14" name="Google Shape;1114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06900"/>
            <a:ext cx="8839200" cy="1653551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54"/>
          <p:cNvSpPr txBox="1"/>
          <p:nvPr/>
        </p:nvSpPr>
        <p:spPr>
          <a:xfrm>
            <a:off x="430400" y="4501450"/>
            <a:ext cx="827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El autor es el Dr. Josh Starmer, profesor de la universidad de North Carolina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