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OpenSans-regular.fntdata"/><Relationship Id="rId21" Type="http://schemas.openxmlformats.org/officeDocument/2006/relationships/slide" Target="slides/slide17.xml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Open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0" y="0"/>
            <a:ext cx="81186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0" y="926280"/>
            <a:ext cx="91236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towardsdatascience.com/https-medium-com-vishalmorde-xgboost-algorithm-long-she-may-rein-edd9f99be63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/>
        </p:nvSpPr>
        <p:spPr>
          <a:xfrm>
            <a:off x="332280" y="3403800"/>
            <a:ext cx="8520120" cy="121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Voting, Stacking, Cascading</a:t>
            </a:r>
            <a:endParaRPr b="1" i="0" sz="2800" u="none" cap="none" strike="noStrike"/>
          </a:p>
        </p:txBody>
      </p:sp>
      <p:sp>
        <p:nvSpPr>
          <p:cNvPr id="58" name="Google Shape;58;p14"/>
          <p:cNvSpPr txBox="1"/>
          <p:nvPr/>
        </p:nvSpPr>
        <p:spPr>
          <a:xfrm>
            <a:off x="191520" y="1107720"/>
            <a:ext cx="8829720" cy="195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5000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Ensambles </a:t>
            </a:r>
            <a:r>
              <a:rPr b="1" i="0" lang="es-419" sz="5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Híbridos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4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pen Sans"/>
              <a:buChar char="●"/>
            </a:pPr>
            <a:r>
              <a:rPr b="0" i="0" lang="es-419" sz="2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Ensambles homogéneos: combinan el mismo tipo de modelo 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4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pen Sans"/>
              <a:buChar char="○"/>
            </a:pPr>
            <a:r>
              <a:rPr b="0" i="0" lang="es-419" sz="2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Bagging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4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pen Sans"/>
              <a:buChar char="○"/>
            </a:pPr>
            <a:r>
              <a:rPr b="0" i="0" lang="es-419" sz="2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Boosting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4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pen Sans"/>
              <a:buChar char="●"/>
            </a:pPr>
            <a:r>
              <a:rPr b="0" i="0" lang="es-419" sz="2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Ensambles híbridos: combinan clasificadores de distinto tipo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4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pen Sans"/>
              <a:buChar char="○"/>
            </a:pPr>
            <a:r>
              <a:rPr b="0" i="0" lang="es-419" sz="2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Voting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4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pen Sans"/>
              <a:buChar char="○"/>
            </a:pPr>
            <a:r>
              <a:rPr b="0" i="0" lang="es-419" sz="2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Stacking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4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pen Sans"/>
              <a:buChar char="○"/>
            </a:pPr>
            <a:r>
              <a:rPr b="0" i="0" lang="es-419" sz="2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Cascading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Ensambles híbridos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Construir N modelos utilizando los mismos datos y luego tomar la predicción mayoritaria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Voting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240" y="2005920"/>
            <a:ext cx="8831520" cy="3219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/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Entrenar diferentes modelos (modelos base) y un modelo más, que decide, dada una instancia nueva, qué modelo usar.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Concepto de meta-aprendizaje para reemplazar el mecanismo de voto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Pueden apilarse tantas capas de modelos como se desee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Stacking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 rotWithShape="1">
          <a:blip r:embed="rId3">
            <a:alphaModFix/>
          </a:blip>
          <a:srcRect b="14365" l="23447" r="17925" t="43794"/>
          <a:stretch/>
        </p:blipFill>
        <p:spPr>
          <a:xfrm>
            <a:off x="0" y="736920"/>
            <a:ext cx="9143640" cy="3669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/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Los modelos para el meta-aprendizaje suelen ser: árboles, NB, SVM o Perceptrón </a:t>
            </a:r>
            <a:r>
              <a:rPr b="0" i="0" lang="es-419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(lo vemos en Redes Neuronales)</a:t>
            </a:r>
            <a:br>
              <a:rPr b="0" i="0" lang="es-419" sz="1800" u="none" cap="none" strike="noStrike"/>
            </a:br>
            <a:r>
              <a:rPr b="0" i="0" lang="es-419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 los otros puede usarse cualquiera</a:t>
            </a:r>
            <a:br>
              <a:rPr b="0" i="0" lang="es-419" sz="1800" u="none" cap="none" strike="noStrike"/>
            </a:b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Menos popular que boosting, bagging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○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Dificultad de análisis teórico: caja negra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○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Múltiples variantes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Stacking características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/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puede interpretar como una mejora (generalización) del método de votación (Voting)</a:t>
            </a:r>
            <a:br>
              <a:rPr b="0" i="0" lang="es-419" sz="1800" u="none" cap="none" strike="noStrike"/>
            </a:b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 los clasificadores base pueden generar medidas de certeza, suele funcionar mejor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0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Stacking características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/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Enfoque en el que se pasa sucesivamente los datos de un modelo a otro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diferencia de Stacking cada “capa” tiene un sólo modelo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input de cada modelo son las instancias predichas con poca certeza por el modelo anterior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Suele utilizarse cuando se necesita una alta certeza en la predicción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1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Cascading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/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Queremos un modelo que prediga si una transacción con tarjeta de crédito es fraudulenta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Necesitamos una alta certeza para definir si no lo es, en caso de error las pérdidas pueden ser millonarias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Construimos entonces una secuencia (o cascada) de modelos de ML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2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Cascading Ejemplo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/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Entrenamos N modelos distintos utilizando nuestro set de entrenamiento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Cada modelo lo entrenamos sobre las instancias predichas con baja certeza del modelo anterior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Suele hacerse de forma tal de empezar por modelos simples y a medida que se entrenan nuevos los mismos sean de mayor complejidad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3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Cascading Entrenamiento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3"/>
          <p:cNvSpPr/>
          <p:nvPr/>
        </p:nvSpPr>
        <p:spPr>
          <a:xfrm>
            <a:off x="1335240" y="581760"/>
            <a:ext cx="452268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4"/>
          <p:cNvPicPr preferRelativeResize="0"/>
          <p:nvPr/>
        </p:nvPicPr>
        <p:blipFill rotWithShape="1">
          <a:blip r:embed="rId3">
            <a:alphaModFix/>
          </a:blip>
          <a:srcRect b="14601" l="12928" r="0" t="6273"/>
          <a:stretch/>
        </p:blipFill>
        <p:spPr>
          <a:xfrm>
            <a:off x="568800" y="0"/>
            <a:ext cx="800568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4"/>
          <p:cNvSpPr/>
          <p:nvPr/>
        </p:nvSpPr>
        <p:spPr>
          <a:xfrm>
            <a:off x="783000" y="4528800"/>
            <a:ext cx="2056320" cy="538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4"/>
          <p:cNvSpPr/>
          <p:nvPr/>
        </p:nvSpPr>
        <p:spPr>
          <a:xfrm>
            <a:off x="4107240" y="51840"/>
            <a:ext cx="2056320" cy="538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4"/>
          <p:cNvSpPr/>
          <p:nvPr/>
        </p:nvSpPr>
        <p:spPr>
          <a:xfrm>
            <a:off x="592200" y="4515120"/>
            <a:ext cx="2247120" cy="566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Instancias predichas con alta certeza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4"/>
          <p:cNvSpPr/>
          <p:nvPr/>
        </p:nvSpPr>
        <p:spPr>
          <a:xfrm>
            <a:off x="4107240" y="37800"/>
            <a:ext cx="2111760" cy="566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Instancias predichas con baja certeza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/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primer modelo recibe los datos de la transacción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 la probabilidad de que no sea fraude es menor a 0.99, se pasa al siguiente modelo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Caso contrario se descarta la posibilidad de fraude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 ningún modelo descarta el fraude con p &lt; 0.99 se procede a confirmar la operación de forma personal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5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Cascading predicción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6"/>
          <p:cNvPicPr preferRelativeResize="0"/>
          <p:nvPr/>
        </p:nvPicPr>
        <p:blipFill rotWithShape="1">
          <a:blip r:embed="rId3">
            <a:alphaModFix/>
          </a:blip>
          <a:srcRect b="17362" l="2305" r="7601" t="0"/>
          <a:stretch/>
        </p:blipFill>
        <p:spPr>
          <a:xfrm>
            <a:off x="0" y="1285200"/>
            <a:ext cx="9143640" cy="306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6"/>
          <p:cNvSpPr/>
          <p:nvPr/>
        </p:nvSpPr>
        <p:spPr>
          <a:xfrm>
            <a:off x="0" y="2246400"/>
            <a:ext cx="1180080" cy="566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Datos de la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transacción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6"/>
          <p:cNvSpPr/>
          <p:nvPr/>
        </p:nvSpPr>
        <p:spPr>
          <a:xfrm>
            <a:off x="2175480" y="3907440"/>
            <a:ext cx="2613600" cy="566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Aumento de la complejidad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 los modelos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6"/>
          <p:cNvSpPr/>
          <p:nvPr/>
        </p:nvSpPr>
        <p:spPr>
          <a:xfrm>
            <a:off x="7774560" y="3291840"/>
            <a:ext cx="136908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Contacto personal para corroborar la transacción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6"/>
          <p:cNvSpPr/>
          <p:nvPr/>
        </p:nvSpPr>
        <p:spPr>
          <a:xfrm>
            <a:off x="2175480" y="669600"/>
            <a:ext cx="4856400" cy="566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probabilidad de que no sea fraude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6"/>
          <p:cNvSpPr/>
          <p:nvPr/>
        </p:nvSpPr>
        <p:spPr>
          <a:xfrm flipH="1">
            <a:off x="2200680" y="1006560"/>
            <a:ext cx="202320" cy="6742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/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diferencia de Voting y Stacking que tienen un enfoque de modelos “Multi-expertos”, Cascading tiene un enfoque “Multi-estado”</a:t>
            </a:r>
            <a:br>
              <a:rPr b="0" i="0" lang="es-419" sz="1800" u="none" cap="none" strike="noStrike"/>
            </a:b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Inicialmente creados para computer vision</a:t>
            </a:r>
            <a:br>
              <a:rPr b="0" i="0" lang="es-419" sz="1800" u="none" cap="none" strike="noStrike"/>
            </a:b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Cascadas muy profundas pueden producir overfitting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7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Cascading más características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/>
        </p:nvSpPr>
        <p:spPr>
          <a:xfrm>
            <a:off x="0" y="926280"/>
            <a:ext cx="91236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combinación de clasificadores permite generar clasificadores más precisos a cambio de menor comprensión de los mismos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Métodos homogéneos básicos: bagging, boosting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○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Combinan mismo tipo de clasificador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○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Manipulación del conjunto de entrenamiento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Método heterogéneo básico: Voting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○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Combinan distintos tipos de clasificador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8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Resumen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/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Ventajas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○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Generalmente logran mejores predicciones que los modelos vistos hasta ahora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○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Buen </a:t>
            </a:r>
            <a:r>
              <a:rPr b="0" i="1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trade-off</a:t>
            </a: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sesgo varianza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Desventajas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○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pierde interpretabilidad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○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Tienen una complejidad computacional mayor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9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Propiedades de los Ensambles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/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L. Breiman. Bagging predictors. Machine Learning, 24(2):123– 140, 1996.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b="0" i="0" lang="es-419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R. E. Schapire and Y. Singer. Improved boosting algorithms using confidence-rated predictions. In 11 th Annual Conference on Computational Learning Theory (COLT1998), pages 80–91.ACM, 1998.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b="0" i="0" lang="es-419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I. H. Witten and E. Frank. Data Mining: Practical Machine Learning Tools and Techniques. Morgan Kaufmann, 2nd edition, 2005.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b="0" i="0" lang="es-419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Wolpert. Stacked generalization. Neural networks, 5:241–260, 1992.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b="0" i="1" lang="es-419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Greedy Function Approximation: A Gradient Boosting Machine</a:t>
            </a:r>
            <a:r>
              <a:rPr b="0" i="0" lang="es-419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by Friedman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b="0" i="0" lang="es-419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Heitz, G., Gould, S., Saxena, A., &amp; Koller, D. (2009). Cascaded classification models: Combining models for holistic scene understanding. In </a:t>
            </a:r>
            <a:r>
              <a:rPr b="0" i="1" lang="es-419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Advances in Neural Information Processing Systems</a:t>
            </a:r>
            <a:r>
              <a:rPr b="0" i="0" lang="es-419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(pp. 641-648).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b="0" i="0" lang="es-419" sz="15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XGBoost en mas profundidad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0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Referencias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