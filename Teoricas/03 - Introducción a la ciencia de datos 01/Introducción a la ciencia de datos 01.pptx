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y="5143500" cx="9144000"/>
  <p:notesSz cx="6858000" cy="9144000"/>
  <p:embeddedFontLst>
    <p:embeddedFont>
      <p:font typeface="Raleway"/>
      <p:regular r:id="rId108"/>
      <p:bold r:id="rId109"/>
      <p:italic r:id="rId110"/>
      <p:boldItalic r:id="rId111"/>
    </p:embeddedFont>
    <p:embeddedFont>
      <p:font typeface="Lobster"/>
      <p:regular r:id="rId112"/>
    </p:embeddedFont>
    <p:embeddedFont>
      <p:font typeface="Lato"/>
      <p:regular r:id="rId113"/>
      <p:bold r:id="rId114"/>
      <p:italic r:id="rId115"/>
      <p:boldItalic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aleway-bold.fntdata"/><Relationship Id="rId108" Type="http://schemas.openxmlformats.org/officeDocument/2006/relationships/font" Target="fonts/Raleway-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6" Type="http://schemas.openxmlformats.org/officeDocument/2006/relationships/font" Target="fonts/Lato-boldItalic.fntdata"/><Relationship Id="rId115" Type="http://schemas.openxmlformats.org/officeDocument/2006/relationships/font" Target="fonts/Lato-italic.fntdata"/><Relationship Id="rId15" Type="http://schemas.openxmlformats.org/officeDocument/2006/relationships/slide" Target="slides/slide10.xml"/><Relationship Id="rId110" Type="http://schemas.openxmlformats.org/officeDocument/2006/relationships/font" Target="fonts/Raleway-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Lato-bold.fntdata"/><Relationship Id="rId18" Type="http://schemas.openxmlformats.org/officeDocument/2006/relationships/slide" Target="slides/slide13.xml"/><Relationship Id="rId113" Type="http://schemas.openxmlformats.org/officeDocument/2006/relationships/font" Target="fonts/Lato-regular.fntdata"/><Relationship Id="rId112" Type="http://schemas.openxmlformats.org/officeDocument/2006/relationships/font" Target="fonts/Lobster-regular.fntdata"/><Relationship Id="rId111" Type="http://schemas.openxmlformats.org/officeDocument/2006/relationships/font" Target="fonts/Raleway-bold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54eeac6d6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54eeac6d6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54eeac6d6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54eeac6d6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54eeac6d6e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54eeac6d6e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54eeac6d6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54eeac6d6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54eeac6d6e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54eeac6d6e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08c22f14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208c22f14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5b9fac3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5b9fac3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5b9fac3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5b9fac3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15b9fac3d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15b9fac3d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5b9fac3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5b9fac3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208c22f1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208c22f1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08c22f14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08c22f14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232a453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2232a453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08c22f14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08c22f14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9d408897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9d408897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208c22f14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208c22f14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08c22f14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08c22f14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08c22f14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08c22f14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08c22f14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08c22f14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08c22f14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08c22f14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5b9fac3d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5b9fac3d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54eeac6d6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54eeac6d6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9d408897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9d408897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9d40889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9d40889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9d408897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9d408897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9d408897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9d408897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9d408897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9d408897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54eeac6d6e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54eeac6d6e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389655245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389655245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389655245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389655245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389655245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389655245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389655245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389655245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38965524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38965524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f49fee44b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f49fee44b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38965524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38965524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89655245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89655245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389655245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38965524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9d408897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9d408897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19d40889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19d40889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54eeac6d6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54eeac6d6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9d408897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9d408897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3d0e4f24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3d0e4f24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3d0e4f24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3d0e4f24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3d0e4f24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3d0e4f24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79465373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79465373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9d408897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19d408897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9d408897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9d408897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9d408897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9d40889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d0e4f24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3d0e4f24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3d0e4f24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3d0e4f24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9d408897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9d408897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3d0e4f24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3d0e4f24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d40e3314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d40e3314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d40e3314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d40e3314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d40e3314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d40e3314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d40e33145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d40e33145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d40e3314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d40e3314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d40e3314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d40e3314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d40e33145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d40e33145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d40e33145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d40e33145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d40e33145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d40e33145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d40e33145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d40e33145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d40e33145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d40e33145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d40e33145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d40e33145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d40e33145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d40e33145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d40e33145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d40e33145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d40e33145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d40e33145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40e33145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d40e33145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d40e33145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d40e33145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50132c8a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50132c8a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50132c8a6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50132c8a6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50132c8a6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50132c8a6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50132c8a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50132c8a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50132c8a6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50132c8a6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50132c8a6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50132c8a6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50132c8a6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150132c8a6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50132c8a6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50132c8a6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50132c8a63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150132c8a6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50132c8a6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50132c8a6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50132c8a6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150132c8a6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50132c8a6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50132c8a6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150132c8a6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150132c8a6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50132c8a6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50132c8a6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50132c8a6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50132c8a6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119d408897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119d408897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d5ca1f2d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d5ca1f2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d5ca1f2dd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d5ca1f2dd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d5ca1f2dd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d5ca1f2dd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d5ca1f2dd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d5ca1f2dd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d5ca1f2dd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d5ca1f2dd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d5ca1f2dd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d5ca1f2dd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19d408897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119d408897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d5ca1f2dd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d5ca1f2dd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d5cc142f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d5cc142f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d5cc142f7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d5cc142f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d5cc142f7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d5cc142f7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f49fee44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f49fee44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f49fee44b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f49fee44b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f49fee44b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f49fee44b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1f49fee44b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1f49fee44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119d408897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119d408897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0.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7.png"/><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8.png"/><Relationship Id="rId4"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2.png"/><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4.png"/><Relationship Id="rId4"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9.png"/><Relationship Id="rId4" Type="http://schemas.openxmlformats.org/officeDocument/2006/relationships/image" Target="../media/image4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8.png"/><Relationship Id="rId4" Type="http://schemas.openxmlformats.org/officeDocument/2006/relationships/image" Target="../media/image5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6.png"/><Relationship Id="rId4" Type="http://schemas.openxmlformats.org/officeDocument/2006/relationships/image" Target="../media/image4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7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5.png"/><Relationship Id="rId4" Type="http://schemas.openxmlformats.org/officeDocument/2006/relationships/image" Target="../media/image66.png"/><Relationship Id="rId5" Type="http://schemas.openxmlformats.org/officeDocument/2006/relationships/image" Target="../media/image6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64.png"/><Relationship Id="rId4"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58.png"/><Relationship Id="rId4" Type="http://schemas.openxmlformats.org/officeDocument/2006/relationships/image" Target="../media/image6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7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6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5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5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5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6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6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7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6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74.png"/><Relationship Id="rId4" Type="http://schemas.openxmlformats.org/officeDocument/2006/relationships/image" Target="../media/image7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7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7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7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7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81.png"/><Relationship Id="rId4" Type="http://schemas.openxmlformats.org/officeDocument/2006/relationships/image" Target="../media/image7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7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82.png"/><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Introducción a la ciencia de datos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 Ing. Juan M. Rodríguez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Modelos</a:t>
            </a:r>
            <a:endParaRPr/>
          </a:p>
        </p:txBody>
      </p:sp>
      <p:pic>
        <p:nvPicPr>
          <p:cNvPr id="93" name="Google Shape;93;p14"/>
          <p:cNvPicPr preferRelativeResize="0"/>
          <p:nvPr/>
        </p:nvPicPr>
        <p:blipFill>
          <a:blip r:embed="rId3">
            <a:alphaModFix/>
          </a:blip>
          <a:stretch>
            <a:fillRect/>
          </a:stretch>
        </p:blipFill>
        <p:spPr>
          <a:xfrm>
            <a:off x="1824315" y="915550"/>
            <a:ext cx="5026409" cy="4045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Variables Independientes (entradas)</a:t>
            </a:r>
            <a:endParaRPr sz="2400">
              <a:solidFill>
                <a:srgbClr val="000000"/>
              </a:solidFill>
              <a:latin typeface="Arial"/>
              <a:ea typeface="Arial"/>
              <a:cs typeface="Arial"/>
              <a:sym typeface="Arial"/>
            </a:endParaRPr>
          </a:p>
          <a:p>
            <a:pPr indent="0" lvl="0" marL="457200" rtl="0" algn="l">
              <a:spcBef>
                <a:spcPts val="0"/>
              </a:spcBef>
              <a:spcAft>
                <a:spcPts val="0"/>
              </a:spcAft>
              <a:buNone/>
            </a:pPr>
            <a:r>
              <a:t/>
            </a:r>
            <a:endParaRPr sz="2400">
              <a:solidFill>
                <a:srgbClr val="000000"/>
              </a:solidFill>
              <a:latin typeface="Arial"/>
              <a:ea typeface="Arial"/>
              <a:cs typeface="Arial"/>
              <a:sym typeface="Arial"/>
            </a:endParaRPr>
          </a:p>
          <a:p>
            <a:pPr indent="-381000" lvl="0" marL="457200" rtl="0" algn="l">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Variables dependientes (salidas, categorías)</a:t>
            </a:r>
            <a:endParaRPr sz="24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a:t>
            </a:r>
            <a:endParaRPr/>
          </a:p>
          <a:p>
            <a:pPr indent="0" lvl="0" marL="0" rtl="0" algn="l">
              <a:spcBef>
                <a:spcPts val="0"/>
              </a:spcBef>
              <a:spcAft>
                <a:spcPts val="0"/>
              </a:spcAft>
              <a:buNone/>
            </a:pPr>
            <a:r>
              <a:t/>
            </a:r>
            <a:endParaRPr/>
          </a:p>
        </p:txBody>
      </p:sp>
      <p:sp>
        <p:nvSpPr>
          <p:cNvPr id="105" name="Google Shape;105;p16"/>
          <p:cNvSpPr txBox="1"/>
          <p:nvPr>
            <p:ph idx="1" type="body"/>
          </p:nvPr>
        </p:nvSpPr>
        <p:spPr>
          <a:xfrm>
            <a:off x="729450" y="2078875"/>
            <a:ext cx="7688700" cy="24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u="sng">
                <a:solidFill>
                  <a:srgbClr val="000000"/>
                </a:solidFill>
                <a:latin typeface="Arial"/>
                <a:ea typeface="Arial"/>
                <a:cs typeface="Arial"/>
                <a:sym typeface="Arial"/>
              </a:rPr>
              <a:t>Variables Independientes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Cualitativas</a:t>
            </a:r>
            <a:endParaRPr sz="1100">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Texto</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Nominales (categorías, ejemplo: países)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Ordinales (poco, mucho, muchísimo)</a:t>
            </a:r>
            <a:endParaRPr>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Númericas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Nominales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Ordinales </a:t>
            </a:r>
            <a:endParaRPr>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Cuantitativa</a:t>
            </a:r>
            <a:endParaRPr sz="1100">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Discreta</a:t>
            </a:r>
            <a:endParaRPr>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Continua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y tipos de problemas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la variable dependiente es </a:t>
            </a:r>
            <a:r>
              <a:rPr b="1" lang="en" sz="1400">
                <a:solidFill>
                  <a:srgbClr val="000000"/>
                </a:solidFill>
                <a:latin typeface="Arial"/>
                <a:ea typeface="Arial"/>
                <a:cs typeface="Arial"/>
                <a:sym typeface="Arial"/>
              </a:rPr>
              <a:t>cualitativa</a:t>
            </a:r>
            <a:r>
              <a:rPr lang="en" sz="1400">
                <a:solidFill>
                  <a:srgbClr val="000000"/>
                </a:solidFill>
                <a:latin typeface="Arial"/>
                <a:ea typeface="Arial"/>
                <a:cs typeface="Arial"/>
                <a:sym typeface="Arial"/>
              </a:rPr>
              <a:t>, el tipo de problema es de </a:t>
            </a:r>
            <a:r>
              <a:rPr b="1" lang="en" sz="1400">
                <a:solidFill>
                  <a:srgbClr val="000000"/>
                </a:solidFill>
                <a:latin typeface="Arial"/>
                <a:ea typeface="Arial"/>
                <a:cs typeface="Arial"/>
                <a:sym typeface="Arial"/>
              </a:rPr>
              <a:t>clasificación</a:t>
            </a:r>
            <a:endParaRPr b="1" sz="1400">
              <a:solidFill>
                <a:srgbClr val="000000"/>
              </a:solidFill>
              <a:latin typeface="Arial"/>
              <a:ea typeface="Arial"/>
              <a:cs typeface="Arial"/>
              <a:sym typeface="Arial"/>
            </a:endParaRPr>
          </a:p>
          <a:p>
            <a:pPr indent="0" lvl="0" marL="457200" rtl="0" algn="l">
              <a:spcBef>
                <a:spcPts val="0"/>
              </a:spcBef>
              <a:spcAft>
                <a:spcPts val="0"/>
              </a:spcAft>
              <a:buNone/>
            </a:pPr>
            <a:r>
              <a:t/>
            </a:r>
            <a:endParaRPr b="1"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la variable dependiente es </a:t>
            </a:r>
            <a:r>
              <a:rPr b="1" lang="en" sz="1400">
                <a:solidFill>
                  <a:srgbClr val="000000"/>
                </a:solidFill>
                <a:latin typeface="Arial"/>
                <a:ea typeface="Arial"/>
                <a:cs typeface="Arial"/>
                <a:sym typeface="Arial"/>
              </a:rPr>
              <a:t>cuantitativa</a:t>
            </a:r>
            <a:r>
              <a:rPr lang="en" sz="1400">
                <a:solidFill>
                  <a:srgbClr val="000000"/>
                </a:solidFill>
                <a:latin typeface="Arial"/>
                <a:ea typeface="Arial"/>
                <a:cs typeface="Arial"/>
                <a:sym typeface="Arial"/>
              </a:rPr>
              <a:t>, el problema es de </a:t>
            </a:r>
            <a:r>
              <a:rPr b="1" lang="en" sz="1400">
                <a:solidFill>
                  <a:srgbClr val="000000"/>
                </a:solidFill>
                <a:latin typeface="Arial"/>
                <a:ea typeface="Arial"/>
                <a:cs typeface="Arial"/>
                <a:sym typeface="Arial"/>
              </a:rPr>
              <a:t>regresión</a:t>
            </a:r>
            <a:endParaRPr b="1" sz="1400">
              <a:solidFill>
                <a:srgbClr val="000000"/>
              </a:solidFill>
              <a:latin typeface="Arial"/>
              <a:ea typeface="Arial"/>
              <a:cs typeface="Arial"/>
              <a:sym typeface="Arial"/>
            </a:endParaRPr>
          </a:p>
          <a:p>
            <a:pPr indent="0" lvl="0" marL="457200" rtl="0" algn="l">
              <a:spcBef>
                <a:spcPts val="0"/>
              </a:spcBef>
              <a:spcAft>
                <a:spcPts val="0"/>
              </a:spcAft>
              <a:buNone/>
            </a:pPr>
            <a:r>
              <a:t/>
            </a:r>
            <a:endParaRPr b="1"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a:t>
            </a:r>
            <a:r>
              <a:rPr b="1" lang="en" sz="1400">
                <a:solidFill>
                  <a:srgbClr val="000000"/>
                </a:solidFill>
                <a:latin typeface="Arial"/>
                <a:ea typeface="Arial"/>
                <a:cs typeface="Arial"/>
                <a:sym typeface="Arial"/>
              </a:rPr>
              <a:t>NO hay variable</a:t>
            </a:r>
            <a:r>
              <a:rPr lang="en" sz="1400">
                <a:solidFill>
                  <a:srgbClr val="000000"/>
                </a:solidFill>
                <a:latin typeface="Arial"/>
                <a:ea typeface="Arial"/>
                <a:cs typeface="Arial"/>
                <a:sym typeface="Arial"/>
              </a:rPr>
              <a:t> dependientes, el problema es de </a:t>
            </a:r>
            <a:r>
              <a:rPr b="1" lang="en" sz="1400">
                <a:solidFill>
                  <a:srgbClr val="000000"/>
                </a:solidFill>
                <a:latin typeface="Arial"/>
                <a:ea typeface="Arial"/>
                <a:cs typeface="Arial"/>
                <a:sym typeface="Arial"/>
              </a:rPr>
              <a:t>agrupamiento</a:t>
            </a:r>
            <a:endParaRPr b="1"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Outliers (valor atípico)</a:t>
            </a:r>
            <a:endParaRPr/>
          </a:p>
        </p:txBody>
      </p:sp>
      <p:pic>
        <p:nvPicPr>
          <p:cNvPr id="117" name="Google Shape;117;p18"/>
          <p:cNvPicPr preferRelativeResize="0"/>
          <p:nvPr/>
        </p:nvPicPr>
        <p:blipFill>
          <a:blip r:embed="rId3">
            <a:alphaModFix/>
          </a:blip>
          <a:stretch>
            <a:fillRect/>
          </a:stretch>
        </p:blipFill>
        <p:spPr>
          <a:xfrm>
            <a:off x="2828925" y="2133100"/>
            <a:ext cx="3486150" cy="2152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28" name="Google Shape;128;p20"/>
          <p:cNvSpPr txBox="1"/>
          <p:nvPr>
            <p:ph idx="1" type="body"/>
          </p:nvPr>
        </p:nvSpPr>
        <p:spPr>
          <a:xfrm>
            <a:off x="729450" y="2078875"/>
            <a:ext cx="7636800" cy="190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200"/>
              <a:t>D</a:t>
            </a:r>
            <a:r>
              <a:rPr lang="en" sz="2200"/>
              <a:t>os variables están correlacionadas cuando varían de igual forma sistemáticamente.</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34" name="Google Shape;134;p21"/>
          <p:cNvSpPr txBox="1"/>
          <p:nvPr>
            <p:ph idx="1" type="body"/>
          </p:nvPr>
        </p:nvSpPr>
        <p:spPr>
          <a:xfrm>
            <a:off x="729450" y="1998525"/>
            <a:ext cx="1802100" cy="2373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Positiva</a:t>
            </a:r>
            <a:endParaRPr/>
          </a:p>
          <a:p>
            <a:pPr indent="0" lvl="0" marL="457200" rtl="0" algn="l">
              <a:spcBef>
                <a:spcPts val="1600"/>
              </a:spcBef>
              <a:spcAft>
                <a:spcPts val="0"/>
              </a:spcAft>
              <a:buNone/>
            </a:pPr>
            <a:r>
              <a:t/>
            </a:r>
            <a:endParaRPr/>
          </a:p>
          <a:p>
            <a:pPr indent="-311150" lvl="0" marL="457200" rtl="0" algn="l">
              <a:spcBef>
                <a:spcPts val="1600"/>
              </a:spcBef>
              <a:spcAft>
                <a:spcPts val="0"/>
              </a:spcAft>
              <a:buSzPts val="1300"/>
              <a:buChar char="●"/>
            </a:pPr>
            <a:r>
              <a:rPr lang="en"/>
              <a:t>Negativa</a:t>
            </a:r>
            <a:endParaRPr/>
          </a:p>
          <a:p>
            <a:pPr indent="0" lvl="0" marL="457200" rtl="0" algn="l">
              <a:spcBef>
                <a:spcPts val="1600"/>
              </a:spcBef>
              <a:spcAft>
                <a:spcPts val="0"/>
              </a:spcAft>
              <a:buNone/>
            </a:pPr>
            <a:r>
              <a:t/>
            </a:r>
            <a:endParaRPr/>
          </a:p>
          <a:p>
            <a:pPr indent="-311150" lvl="0" marL="457200" rtl="0" algn="l">
              <a:spcBef>
                <a:spcPts val="1600"/>
              </a:spcBef>
              <a:spcAft>
                <a:spcPts val="0"/>
              </a:spcAft>
              <a:buSzPts val="1300"/>
              <a:buChar char="●"/>
            </a:pPr>
            <a:r>
              <a:rPr lang="en"/>
              <a:t>Sin correlación</a:t>
            </a:r>
            <a:endParaRPr/>
          </a:p>
        </p:txBody>
      </p:sp>
      <p:pic>
        <p:nvPicPr>
          <p:cNvPr id="135" name="Google Shape;135;p21"/>
          <p:cNvPicPr preferRelativeResize="0"/>
          <p:nvPr/>
        </p:nvPicPr>
        <p:blipFill>
          <a:blip r:embed="rId3">
            <a:alphaModFix/>
          </a:blip>
          <a:stretch>
            <a:fillRect/>
          </a:stretch>
        </p:blipFill>
        <p:spPr>
          <a:xfrm>
            <a:off x="5014600" y="1693050"/>
            <a:ext cx="3266145"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43500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41" name="Google Shape;141;p22"/>
          <p:cNvSpPr txBox="1"/>
          <p:nvPr>
            <p:ph idx="1" type="body"/>
          </p:nvPr>
        </p:nvSpPr>
        <p:spPr>
          <a:xfrm>
            <a:off x="729450" y="1998525"/>
            <a:ext cx="7371600" cy="633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800">
                <a:solidFill>
                  <a:schemeClr val="dk2"/>
                </a:solidFill>
                <a:latin typeface="Raleway"/>
                <a:ea typeface="Raleway"/>
                <a:cs typeface="Raleway"/>
                <a:sym typeface="Raleway"/>
              </a:rPr>
              <a:t>Correlación </a:t>
            </a:r>
            <a:r>
              <a:rPr b="1" lang="en" sz="2800">
                <a:solidFill>
                  <a:srgbClr val="CC0000"/>
                </a:solidFill>
                <a:latin typeface="Raleway"/>
                <a:ea typeface="Raleway"/>
                <a:cs typeface="Raleway"/>
                <a:sym typeface="Raleway"/>
              </a:rPr>
              <a:t>NO IMPLICA</a:t>
            </a:r>
            <a:r>
              <a:rPr b="1" lang="en" sz="2800">
                <a:solidFill>
                  <a:schemeClr val="dk2"/>
                </a:solidFill>
                <a:latin typeface="Raleway"/>
                <a:ea typeface="Raleway"/>
                <a:cs typeface="Raleway"/>
                <a:sym typeface="Raleway"/>
              </a:rPr>
              <a:t> Causalidad</a:t>
            </a:r>
            <a:endParaRPr b="1" sz="2800">
              <a:solidFill>
                <a:schemeClr val="dk2"/>
              </a:solidFill>
              <a:latin typeface="Raleway"/>
              <a:ea typeface="Raleway"/>
              <a:cs typeface="Raleway"/>
              <a:sym typeface="Raleway"/>
            </a:endParaRPr>
          </a:p>
          <a:p>
            <a:pPr indent="0" lvl="0" marL="0" rtl="0" algn="l">
              <a:spcBef>
                <a:spcPts val="0"/>
              </a:spcBef>
              <a:spcAft>
                <a:spcPts val="1600"/>
              </a:spcAft>
              <a:buNone/>
            </a:pPr>
            <a:r>
              <a:t/>
            </a:r>
            <a:endParaRPr/>
          </a:p>
        </p:txBody>
      </p:sp>
      <p:sp>
        <p:nvSpPr>
          <p:cNvPr id="142" name="Google Shape;142;p22"/>
          <p:cNvSpPr txBox="1"/>
          <p:nvPr/>
        </p:nvSpPr>
        <p:spPr>
          <a:xfrm>
            <a:off x="233150" y="2632125"/>
            <a:ext cx="8307300" cy="22779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Que dos variables tengan alto índice de correlación no significa que una cause la otra</a:t>
            </a:r>
            <a:br>
              <a:rPr lang="en" sz="1600">
                <a:solidFill>
                  <a:schemeClr val="accent1"/>
                </a:solidFill>
                <a:latin typeface="Lato"/>
                <a:ea typeface="Lato"/>
                <a:cs typeface="Lato"/>
                <a:sym typeface="Lato"/>
              </a:rPr>
            </a:br>
            <a:endParaRPr sz="1600">
              <a:solidFill>
                <a:schemeClr val="accent1"/>
              </a:solidFill>
              <a:latin typeface="Lato"/>
              <a:ea typeface="Lato"/>
              <a:cs typeface="Lato"/>
              <a:sym typeface="Lato"/>
            </a:endParaRPr>
          </a:p>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Las relaciones de causalidad son mucho más difíciles de encontrar y demostrar</a:t>
            </a:r>
            <a:br>
              <a:rPr lang="en" sz="1600">
                <a:solidFill>
                  <a:schemeClr val="accent1"/>
                </a:solidFill>
                <a:latin typeface="Lato"/>
                <a:ea typeface="Lato"/>
                <a:cs typeface="Lato"/>
                <a:sym typeface="Lato"/>
              </a:rPr>
            </a:br>
            <a:endParaRPr sz="1600">
              <a:solidFill>
                <a:schemeClr val="accent1"/>
              </a:solidFill>
              <a:latin typeface="Lato"/>
              <a:ea typeface="Lato"/>
              <a:cs typeface="Lato"/>
              <a:sym typeface="Lato"/>
            </a:endParaRPr>
          </a:p>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Las correlaciones pueden suceder por otros motivos como: Una tercer variable que “empuja” a ambas o simplemente azar</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1318650"/>
            <a:ext cx="8866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Ejemplos de </a:t>
            </a:r>
            <a:r>
              <a:rPr lang="en"/>
              <a:t>correlaciones</a:t>
            </a:r>
            <a:r>
              <a:rPr lang="en"/>
              <a:t> sin sentido</a:t>
            </a:r>
            <a:endParaRPr/>
          </a:p>
          <a:p>
            <a:pPr indent="0" lvl="0" marL="0" rtl="0" algn="l">
              <a:spcBef>
                <a:spcPts val="0"/>
              </a:spcBef>
              <a:spcAft>
                <a:spcPts val="0"/>
              </a:spcAft>
              <a:buNone/>
            </a:pPr>
            <a:r>
              <a:t/>
            </a:r>
            <a:endParaRPr/>
          </a:p>
        </p:txBody>
      </p:sp>
      <p:pic>
        <p:nvPicPr>
          <p:cNvPr id="148" name="Google Shape;148;p23"/>
          <p:cNvPicPr preferRelativeResize="0"/>
          <p:nvPr/>
        </p:nvPicPr>
        <p:blipFill>
          <a:blip r:embed="rId3">
            <a:alphaModFix/>
          </a:blip>
          <a:stretch>
            <a:fillRect/>
          </a:stretch>
        </p:blipFill>
        <p:spPr>
          <a:xfrm>
            <a:off x="1166750" y="1925875"/>
            <a:ext cx="6810503" cy="298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Varianza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19758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Varianza</a:t>
            </a:r>
            <a:endParaRPr/>
          </a:p>
        </p:txBody>
      </p:sp>
      <p:sp>
        <p:nvSpPr>
          <p:cNvPr id="159" name="Google Shape;159;p25"/>
          <p:cNvSpPr txBox="1"/>
          <p:nvPr>
            <p:ph idx="1" type="body"/>
          </p:nvPr>
        </p:nvSpPr>
        <p:spPr>
          <a:xfrm>
            <a:off x="729450" y="1896100"/>
            <a:ext cx="2544900" cy="28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Calculamos la diferencia, de cada observación respecto de su </a:t>
            </a:r>
            <a:r>
              <a:rPr b="1" lang="en"/>
              <a:t>media</a:t>
            </a:r>
            <a:r>
              <a:rPr lang="en"/>
              <a:t>. </a:t>
            </a:r>
            <a:br>
              <a:rPr lang="en"/>
            </a:br>
            <a:r>
              <a:rPr lang="en"/>
              <a:t>Sumamos todas esas diferencias y las </a:t>
            </a:r>
            <a:r>
              <a:rPr lang="en"/>
              <a:t>dividimos</a:t>
            </a:r>
            <a:r>
              <a:rPr lang="en"/>
              <a:t> por n-1. No por n, ya que como estamos en verdad estimando la varianza, esta forma nos da un valor más adecuado</a:t>
            </a:r>
            <a:endParaRPr b="1"/>
          </a:p>
          <a:p>
            <a:pPr indent="0" lvl="0" marL="0" rtl="0" algn="l">
              <a:spcBef>
                <a:spcPts val="1600"/>
              </a:spcBef>
              <a:spcAft>
                <a:spcPts val="1600"/>
              </a:spcAft>
              <a:buNone/>
            </a:pPr>
            <a:r>
              <a:rPr lang="en"/>
              <a:t>La media es: </a:t>
            </a:r>
            <a:r>
              <a:rPr b="1" lang="en"/>
              <a:t>17.6</a:t>
            </a:r>
            <a:endParaRPr b="1"/>
          </a:p>
        </p:txBody>
      </p:sp>
      <p:pic>
        <p:nvPicPr>
          <p:cNvPr id="160" name="Google Shape;160;p25"/>
          <p:cNvPicPr preferRelativeResize="0"/>
          <p:nvPr/>
        </p:nvPicPr>
        <p:blipFill>
          <a:blip r:embed="rId3">
            <a:alphaModFix/>
          </a:blip>
          <a:stretch>
            <a:fillRect/>
          </a:stretch>
        </p:blipFill>
        <p:spPr>
          <a:xfrm>
            <a:off x="3475950" y="1711125"/>
            <a:ext cx="5564849" cy="2884954"/>
          </a:xfrm>
          <a:prstGeom prst="rect">
            <a:avLst/>
          </a:prstGeom>
          <a:noFill/>
          <a:ln>
            <a:noFill/>
          </a:ln>
        </p:spPr>
      </p:pic>
      <p:sp>
        <p:nvSpPr>
          <p:cNvPr id="161" name="Google Shape;161;p25"/>
          <p:cNvSpPr txBox="1"/>
          <p:nvPr/>
        </p:nvSpPr>
        <p:spPr>
          <a:xfrm>
            <a:off x="6626125" y="1262450"/>
            <a:ext cx="1314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202124"/>
                </a:solidFill>
                <a:highlight>
                  <a:srgbClr val="FFFFFF"/>
                </a:highlight>
              </a:rPr>
              <a:t>Varianza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idx="1" type="body"/>
          </p:nvPr>
        </p:nvSpPr>
        <p:spPr>
          <a:xfrm>
            <a:off x="729450" y="3544550"/>
            <a:ext cx="7696800" cy="123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Al no conocer la población real y tener solo una muestra, nuestros </a:t>
            </a:r>
            <a:r>
              <a:rPr lang="en"/>
              <a:t>cálculos</a:t>
            </a:r>
            <a:r>
              <a:rPr lang="en"/>
              <a:t> serán aproximaciones. Por ende usaremos las </a:t>
            </a:r>
            <a:r>
              <a:rPr lang="en"/>
              <a:t>fórmulas</a:t>
            </a:r>
            <a:r>
              <a:rPr lang="en"/>
              <a:t> indicadas en la fila inferior.</a:t>
            </a:r>
            <a:endParaRPr b="1"/>
          </a:p>
        </p:txBody>
      </p:sp>
      <p:pic>
        <p:nvPicPr>
          <p:cNvPr id="167" name="Google Shape;167;p26"/>
          <p:cNvPicPr preferRelativeResize="0"/>
          <p:nvPr/>
        </p:nvPicPr>
        <p:blipFill>
          <a:blip r:embed="rId3">
            <a:alphaModFix/>
          </a:blip>
          <a:stretch>
            <a:fillRect/>
          </a:stretch>
        </p:blipFill>
        <p:spPr>
          <a:xfrm>
            <a:off x="697175" y="187775"/>
            <a:ext cx="8014926" cy="3239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ovarianza</a:t>
            </a:r>
            <a:endParaRPr/>
          </a:p>
        </p:txBody>
      </p:sp>
      <p:sp>
        <p:nvSpPr>
          <p:cNvPr id="178" name="Google Shape;178;p28"/>
          <p:cNvSpPr txBox="1"/>
          <p:nvPr/>
        </p:nvSpPr>
        <p:spPr>
          <a:xfrm>
            <a:off x="832550" y="1912050"/>
            <a:ext cx="7585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 probabilidad y estadística, la </a:t>
            </a:r>
            <a:r>
              <a:rPr b="1" lang="en"/>
              <a:t>covarianza</a:t>
            </a:r>
            <a:r>
              <a:rPr lang="en"/>
              <a:t> es un valor que indica el </a:t>
            </a:r>
            <a:r>
              <a:rPr b="1" lang="en"/>
              <a:t>grado de variación conjunta de dos variables aleatorias respecto a sus medias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Es el dato básico para determinar si existe una dependencia entre ambas variables y además es el dato necesario para estimar otros parámetros básicos, como el coeficiente de correlación lineal o la recta de regresión.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184" name="Google Shape;184;p29"/>
          <p:cNvSpPr txBox="1"/>
          <p:nvPr>
            <p:ph idx="1" type="body"/>
          </p:nvPr>
        </p:nvSpPr>
        <p:spPr>
          <a:xfrm>
            <a:off x="729450" y="2078875"/>
            <a:ext cx="2544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Dos variables.</a:t>
            </a:r>
            <a:endParaRPr/>
          </a:p>
          <a:p>
            <a:pPr indent="0" lvl="0" marL="0" rtl="0" algn="l">
              <a:spcBef>
                <a:spcPts val="1600"/>
              </a:spcBef>
              <a:spcAft>
                <a:spcPts val="1600"/>
              </a:spcAft>
              <a:buNone/>
            </a:pPr>
            <a:r>
              <a:rPr lang="en"/>
              <a:t>Calculamos la varianza de cada una….</a:t>
            </a:r>
            <a:endParaRPr/>
          </a:p>
        </p:txBody>
      </p:sp>
      <p:pic>
        <p:nvPicPr>
          <p:cNvPr id="185" name="Google Shape;185;p29"/>
          <p:cNvPicPr preferRelativeResize="0"/>
          <p:nvPr/>
        </p:nvPicPr>
        <p:blipFill>
          <a:blip r:embed="rId3">
            <a:alphaModFix/>
          </a:blip>
          <a:stretch>
            <a:fillRect/>
          </a:stretch>
        </p:blipFill>
        <p:spPr>
          <a:xfrm>
            <a:off x="4073200" y="1781400"/>
            <a:ext cx="4727956" cy="2984850"/>
          </a:xfrm>
          <a:prstGeom prst="rect">
            <a:avLst/>
          </a:prstGeom>
          <a:noFill/>
          <a:ln>
            <a:noFill/>
          </a:ln>
        </p:spPr>
      </p:pic>
      <p:sp>
        <p:nvSpPr>
          <p:cNvPr id="186" name="Google Shape;186;p29"/>
          <p:cNvSpPr/>
          <p:nvPr/>
        </p:nvSpPr>
        <p:spPr>
          <a:xfrm>
            <a:off x="5024050" y="3569525"/>
            <a:ext cx="829200" cy="770400"/>
          </a:xfrm>
          <a:prstGeom prst="rect">
            <a:avLst/>
          </a:prstGeom>
          <a:noFill/>
          <a:ln cap="flat" cmpd="sng" w="19050">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 name="Google Shape;187;p29"/>
          <p:cNvCxnSpPr>
            <a:stCxn id="188" idx="3"/>
            <a:endCxn id="186" idx="1"/>
          </p:cNvCxnSpPr>
          <p:nvPr/>
        </p:nvCxnSpPr>
        <p:spPr>
          <a:xfrm>
            <a:off x="2509375" y="3621850"/>
            <a:ext cx="2514600" cy="333000"/>
          </a:xfrm>
          <a:prstGeom prst="straightConnector1">
            <a:avLst/>
          </a:prstGeom>
          <a:noFill/>
          <a:ln cap="flat" cmpd="sng" w="9525">
            <a:solidFill>
              <a:schemeClr val="dk2"/>
            </a:solidFill>
            <a:prstDash val="solid"/>
            <a:round/>
            <a:headEnd len="med" w="med" type="none"/>
            <a:tailEnd len="med" w="med" type="triangle"/>
          </a:ln>
        </p:spPr>
      </p:cxnSp>
      <p:sp>
        <p:nvSpPr>
          <p:cNvPr id="188" name="Google Shape;188;p29"/>
          <p:cNvSpPr txBox="1"/>
          <p:nvPr/>
        </p:nvSpPr>
        <p:spPr>
          <a:xfrm>
            <a:off x="492775" y="3098500"/>
            <a:ext cx="201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Estas dos medidas corresponden a una misma medición. A la misma observación.</a:t>
            </a:r>
            <a:endParaRPr>
              <a:latin typeface="Lato"/>
              <a:ea typeface="Lato"/>
              <a:cs typeface="Lato"/>
              <a:sym typeface="Lato"/>
            </a:endParaRPr>
          </a:p>
        </p:txBody>
      </p:sp>
      <p:sp>
        <p:nvSpPr>
          <p:cNvPr id="189" name="Google Shape;189;p29"/>
          <p:cNvSpPr/>
          <p:nvPr/>
        </p:nvSpPr>
        <p:spPr>
          <a:xfrm>
            <a:off x="4876500" y="1890175"/>
            <a:ext cx="744900" cy="4497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a:off x="7256350" y="3954750"/>
            <a:ext cx="744900" cy="4497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txBox="1"/>
          <p:nvPr/>
        </p:nvSpPr>
        <p:spPr>
          <a:xfrm>
            <a:off x="7223550" y="1716400"/>
            <a:ext cx="16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O estas 2….</a:t>
            </a:r>
            <a:endParaRPr>
              <a:latin typeface="Lato"/>
              <a:ea typeface="Lato"/>
              <a:cs typeface="Lato"/>
              <a:sym typeface="Lato"/>
            </a:endParaRPr>
          </a:p>
        </p:txBody>
      </p:sp>
      <p:cxnSp>
        <p:nvCxnSpPr>
          <p:cNvPr id="192" name="Google Shape;192;p29"/>
          <p:cNvCxnSpPr>
            <a:stCxn id="191" idx="2"/>
            <a:endCxn id="190" idx="0"/>
          </p:cNvCxnSpPr>
          <p:nvPr/>
        </p:nvCxnSpPr>
        <p:spPr>
          <a:xfrm flipH="1">
            <a:off x="7628700" y="2116600"/>
            <a:ext cx="413400" cy="1838100"/>
          </a:xfrm>
          <a:prstGeom prst="straightConnector1">
            <a:avLst/>
          </a:prstGeom>
          <a:noFill/>
          <a:ln cap="flat" cmpd="sng" w="9525">
            <a:solidFill>
              <a:srgbClr val="FF0000"/>
            </a:solidFill>
            <a:prstDash val="solid"/>
            <a:round/>
            <a:headEnd len="med" w="med" type="none"/>
            <a:tailEnd len="med" w="med" type="triangle"/>
          </a:ln>
        </p:spPr>
      </p:cxnSp>
      <p:cxnSp>
        <p:nvCxnSpPr>
          <p:cNvPr id="193" name="Google Shape;193;p29"/>
          <p:cNvCxnSpPr>
            <a:stCxn id="191" idx="2"/>
            <a:endCxn id="189" idx="6"/>
          </p:cNvCxnSpPr>
          <p:nvPr/>
        </p:nvCxnSpPr>
        <p:spPr>
          <a:xfrm rot="10800000">
            <a:off x="5621400" y="2115100"/>
            <a:ext cx="2420700" cy="1500"/>
          </a:xfrm>
          <a:prstGeom prst="straightConnector1">
            <a:avLst/>
          </a:prstGeom>
          <a:noFill/>
          <a:ln cap="flat" cmpd="sng" w="9525">
            <a:solidFill>
              <a:schemeClr val="accent3"/>
            </a:solidFill>
            <a:prstDash val="solid"/>
            <a:round/>
            <a:headEnd len="med" w="med" type="none"/>
            <a:tailEnd len="med" w="med" type="triangle"/>
          </a:ln>
        </p:spPr>
      </p:cxnSp>
      <p:sp>
        <p:nvSpPr>
          <p:cNvPr id="194" name="Google Shape;194;p29"/>
          <p:cNvSpPr txBox="1"/>
          <p:nvPr/>
        </p:nvSpPr>
        <p:spPr>
          <a:xfrm>
            <a:off x="903075" y="4145200"/>
            <a:ext cx="3118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¿Son sus variaciones respecto de la media </a:t>
            </a:r>
            <a:endParaRPr b="1">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simiares?</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200" name="Google Shape;200;p30"/>
          <p:cNvSpPr txBox="1"/>
          <p:nvPr>
            <p:ph idx="1" type="body"/>
          </p:nvPr>
        </p:nvSpPr>
        <p:spPr>
          <a:xfrm>
            <a:off x="729450" y="2078875"/>
            <a:ext cx="2876100" cy="122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Cómo los datos en Y y X, pertenecen a una misma medición podemos graficarlos en 2D y ver si hay alguna tendencia…</a:t>
            </a:r>
            <a:endParaRPr/>
          </a:p>
        </p:txBody>
      </p:sp>
      <p:pic>
        <p:nvPicPr>
          <p:cNvPr id="201" name="Google Shape;201;p30"/>
          <p:cNvPicPr preferRelativeResize="0"/>
          <p:nvPr/>
        </p:nvPicPr>
        <p:blipFill>
          <a:blip r:embed="rId3">
            <a:alphaModFix/>
          </a:blip>
          <a:stretch>
            <a:fillRect/>
          </a:stretch>
        </p:blipFill>
        <p:spPr>
          <a:xfrm>
            <a:off x="4117700" y="1674625"/>
            <a:ext cx="4782238" cy="2984851"/>
          </a:xfrm>
          <a:prstGeom prst="rect">
            <a:avLst/>
          </a:prstGeom>
          <a:noFill/>
          <a:ln>
            <a:noFill/>
          </a:ln>
        </p:spPr>
      </p:pic>
      <p:sp>
        <p:nvSpPr>
          <p:cNvPr id="202" name="Google Shape;202;p30"/>
          <p:cNvSpPr txBox="1"/>
          <p:nvPr/>
        </p:nvSpPr>
        <p:spPr>
          <a:xfrm>
            <a:off x="6350000" y="2921000"/>
            <a:ext cx="247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Tendencia positiva</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1"/>
          <p:cNvPicPr preferRelativeResize="0"/>
          <p:nvPr/>
        </p:nvPicPr>
        <p:blipFill>
          <a:blip r:embed="rId3">
            <a:alphaModFix/>
          </a:blip>
          <a:stretch>
            <a:fillRect/>
          </a:stretch>
        </p:blipFill>
        <p:spPr>
          <a:xfrm>
            <a:off x="3605550" y="1741056"/>
            <a:ext cx="5366500" cy="3091994"/>
          </a:xfrm>
          <a:prstGeom prst="rect">
            <a:avLst/>
          </a:prstGeom>
          <a:noFill/>
          <a:ln>
            <a:noFill/>
          </a:ln>
        </p:spPr>
      </p:pic>
      <p:sp>
        <p:nvSpPr>
          <p:cNvPr id="208" name="Google Shape;208;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209" name="Google Shape;209;p31"/>
          <p:cNvSpPr txBox="1"/>
          <p:nvPr/>
        </p:nvSpPr>
        <p:spPr>
          <a:xfrm>
            <a:off x="6350000" y="2921000"/>
            <a:ext cx="247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Tendencia negativa</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pic>
        <p:nvPicPr>
          <p:cNvPr id="215" name="Google Shape;215;p32"/>
          <p:cNvPicPr preferRelativeResize="0"/>
          <p:nvPr/>
        </p:nvPicPr>
        <p:blipFill>
          <a:blip r:embed="rId3">
            <a:alphaModFix/>
          </a:blip>
          <a:stretch>
            <a:fillRect/>
          </a:stretch>
        </p:blipFill>
        <p:spPr>
          <a:xfrm>
            <a:off x="4256950" y="1914525"/>
            <a:ext cx="4161199" cy="2984849"/>
          </a:xfrm>
          <a:prstGeom prst="rect">
            <a:avLst/>
          </a:prstGeom>
          <a:noFill/>
          <a:ln>
            <a:noFill/>
          </a:ln>
        </p:spPr>
      </p:pic>
      <p:sp>
        <p:nvSpPr>
          <p:cNvPr id="216" name="Google Shape;216;p32"/>
          <p:cNvSpPr txBox="1"/>
          <p:nvPr/>
        </p:nvSpPr>
        <p:spPr>
          <a:xfrm>
            <a:off x="1721550" y="2371650"/>
            <a:ext cx="208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No hay tendencia</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pic>
        <p:nvPicPr>
          <p:cNvPr id="227" name="Google Shape;227;p34"/>
          <p:cNvPicPr preferRelativeResize="0"/>
          <p:nvPr/>
        </p:nvPicPr>
        <p:blipFill>
          <a:blip r:embed="rId3">
            <a:alphaModFix/>
          </a:blip>
          <a:stretch>
            <a:fillRect/>
          </a:stretch>
        </p:blipFill>
        <p:spPr>
          <a:xfrm>
            <a:off x="1633538" y="1853850"/>
            <a:ext cx="5876925" cy="2914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sp>
        <p:nvSpPr>
          <p:cNvPr id="233" name="Google Shape;233;p35"/>
          <p:cNvSpPr txBox="1"/>
          <p:nvPr>
            <p:ph idx="1" type="body"/>
          </p:nvPr>
        </p:nvSpPr>
        <p:spPr>
          <a:xfrm>
            <a:off x="729450" y="2078875"/>
            <a:ext cx="7688700" cy="27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latin typeface="Arial"/>
                <a:ea typeface="Arial"/>
                <a:cs typeface="Arial"/>
                <a:sym typeface="Arial"/>
              </a:rPr>
              <a:t>Para 2 variables podemos medir su </a:t>
            </a:r>
            <a:r>
              <a:rPr lang="en" sz="1400">
                <a:solidFill>
                  <a:srgbClr val="000000"/>
                </a:solidFill>
                <a:latin typeface="Arial"/>
                <a:ea typeface="Arial"/>
                <a:cs typeface="Arial"/>
                <a:sym typeface="Arial"/>
              </a:rPr>
              <a:t>correlación</a:t>
            </a:r>
            <a:r>
              <a:rPr lang="en" sz="1400">
                <a:solidFill>
                  <a:srgbClr val="000000"/>
                </a:solidFill>
                <a:latin typeface="Arial"/>
                <a:ea typeface="Arial"/>
                <a:cs typeface="Arial"/>
                <a:sym typeface="Arial"/>
              </a:rPr>
              <a:t> lineal con el coeficiente de correlación r (Pearson). Este coeficiente, es una función que mide </a:t>
            </a:r>
            <a:r>
              <a:rPr lang="en" sz="1400">
                <a:solidFill>
                  <a:srgbClr val="000000"/>
                </a:solidFill>
                <a:latin typeface="Arial"/>
                <a:ea typeface="Arial"/>
                <a:cs typeface="Arial"/>
                <a:sym typeface="Arial"/>
              </a:rPr>
              <a:t>cuán</a:t>
            </a:r>
            <a:r>
              <a:rPr lang="en" sz="1400">
                <a:solidFill>
                  <a:srgbClr val="000000"/>
                </a:solidFill>
                <a:latin typeface="Arial"/>
                <a:ea typeface="Arial"/>
                <a:cs typeface="Arial"/>
                <a:sym typeface="Arial"/>
              </a:rPr>
              <a:t> relacionada estan 2 variables de forma lineal.</a:t>
            </a:r>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SzPts val="1100"/>
              <a:buFont typeface="Arial"/>
              <a:buNone/>
            </a:pPr>
            <a:r>
              <a:t/>
            </a:r>
            <a:endParaRPr sz="11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0 NO existe correlación</a:t>
            </a:r>
            <a:endParaRPr sz="1400">
              <a:solidFill>
                <a:srgbClr val="000000"/>
              </a:solidFill>
              <a:latin typeface="Arial"/>
              <a:ea typeface="Arial"/>
              <a:cs typeface="Arial"/>
              <a:sym typeface="Arial"/>
            </a:endParaRPr>
          </a:p>
          <a:p>
            <a:pPr indent="0" lvl="0" marL="457200" rtl="0" algn="l">
              <a:spcBef>
                <a:spcPts val="0"/>
              </a:spcBef>
              <a:spcAft>
                <a:spcPts val="0"/>
              </a:spcAft>
              <a:buNone/>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1 </a:t>
            </a:r>
            <a:r>
              <a:rPr lang="en" sz="1400">
                <a:solidFill>
                  <a:srgbClr val="000000"/>
                </a:solidFill>
                <a:latin typeface="Arial"/>
                <a:ea typeface="Arial"/>
                <a:cs typeface="Arial"/>
                <a:sym typeface="Arial"/>
              </a:rPr>
              <a:t>Están</a:t>
            </a:r>
            <a:r>
              <a:rPr lang="en" sz="1400">
                <a:solidFill>
                  <a:srgbClr val="000000"/>
                </a:solidFill>
                <a:latin typeface="Arial"/>
                <a:ea typeface="Arial"/>
                <a:cs typeface="Arial"/>
                <a:sym typeface="Arial"/>
              </a:rPr>
              <a:t> relacionadas linealmente de forma perfecta (todos los puntos </a:t>
            </a:r>
            <a:r>
              <a:rPr lang="en" sz="1400">
                <a:solidFill>
                  <a:srgbClr val="000000"/>
                </a:solidFill>
                <a:latin typeface="Arial"/>
                <a:ea typeface="Arial"/>
                <a:cs typeface="Arial"/>
                <a:sym typeface="Arial"/>
              </a:rPr>
              <a:t>están</a:t>
            </a:r>
            <a:r>
              <a:rPr lang="en" sz="1400">
                <a:solidFill>
                  <a:srgbClr val="000000"/>
                </a:solidFill>
                <a:latin typeface="Arial"/>
                <a:ea typeface="Arial"/>
                <a:cs typeface="Arial"/>
                <a:sym typeface="Arial"/>
              </a:rPr>
              <a:t> en una </a:t>
            </a:r>
            <a:r>
              <a:rPr lang="en" sz="1400">
                <a:solidFill>
                  <a:srgbClr val="000000"/>
                </a:solidFill>
                <a:latin typeface="Arial"/>
                <a:ea typeface="Arial"/>
                <a:cs typeface="Arial"/>
                <a:sym typeface="Arial"/>
              </a:rPr>
              <a:t>línea</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-1 Existe una correlación negativa perfecta.</a:t>
            </a:r>
            <a:endParaRPr sz="14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 desvio estandar</a:t>
            </a:r>
            <a:endParaRPr/>
          </a:p>
        </p:txBody>
      </p:sp>
      <p:sp>
        <p:nvSpPr>
          <p:cNvPr id="239" name="Google Shape;239;p36"/>
          <p:cNvSpPr txBox="1"/>
          <p:nvPr/>
        </p:nvSpPr>
        <p:spPr>
          <a:xfrm>
            <a:off x="832550" y="1912050"/>
            <a:ext cx="3958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t>
            </a:r>
            <a:r>
              <a:rPr lang="en"/>
              <a:t>s una medida que se utiliza para </a:t>
            </a:r>
            <a:r>
              <a:rPr b="1" lang="en"/>
              <a:t>cuantificar la variación o la dispersión de un conjunto de datos numéricos</a:t>
            </a:r>
            <a:r>
              <a:rPr lang="en"/>
              <a:t>.</a:t>
            </a:r>
            <a:endParaRPr/>
          </a:p>
          <a:p>
            <a:pPr indent="0" lvl="0" marL="0" rtl="0" algn="l">
              <a:spcBef>
                <a:spcPts val="0"/>
              </a:spcBef>
              <a:spcAft>
                <a:spcPts val="0"/>
              </a:spcAft>
              <a:buNone/>
            </a:pPr>
            <a:r>
              <a:rPr lang="en"/>
              <a:t>Una </a:t>
            </a:r>
            <a:r>
              <a:rPr b="1" lang="en"/>
              <a:t>desviación estándar baja</a:t>
            </a:r>
            <a:r>
              <a:rPr lang="en"/>
              <a:t> indica que la mayor parte de los datos de una muestra tienden a estar agrupados </a:t>
            </a:r>
            <a:r>
              <a:rPr b="1" lang="en"/>
              <a:t>cerca de su media </a:t>
            </a:r>
            <a:r>
              <a:rPr lang="en"/>
              <a:t>(también denominada el valor esperado), mientras que una desviación estándar alta indica que los datos se extienden sobre un rango de valores más amplio.</a:t>
            </a:r>
            <a:endParaRPr/>
          </a:p>
        </p:txBody>
      </p:sp>
      <p:pic>
        <p:nvPicPr>
          <p:cNvPr id="240" name="Google Shape;240;p36"/>
          <p:cNvPicPr preferRelativeResize="0"/>
          <p:nvPr/>
        </p:nvPicPr>
        <p:blipFill>
          <a:blip r:embed="rId3">
            <a:alphaModFix/>
          </a:blip>
          <a:stretch>
            <a:fillRect/>
          </a:stretch>
        </p:blipFill>
        <p:spPr>
          <a:xfrm>
            <a:off x="4889500" y="2208400"/>
            <a:ext cx="4191000" cy="2095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regresión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51" name="Google Shape;251;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La primera forma de regresión lineal documentada fue el método de los </a:t>
            </a:r>
            <a:r>
              <a:rPr b="1" lang="en" sz="1700"/>
              <a:t>mínimos cuadrados</a:t>
            </a:r>
            <a:r>
              <a:rPr lang="en" sz="1700"/>
              <a:t> que fue publicada por </a:t>
            </a:r>
            <a:r>
              <a:rPr lang="en" sz="1700" u="sng"/>
              <a:t>Legendre en 1805</a:t>
            </a:r>
            <a:r>
              <a:rPr lang="en" sz="1700"/>
              <a:t>, Gauss publicó un trabajo en donde desarrollaba de manera más profunda el método de los mínimos cuadrados,</a:t>
            </a: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57" name="Google Shape;25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El concepto de regresión proviene de la genética y fue popularizado por Sir Francis Galton a finales del siglo XIX con la publicación de Regression towards mediocrity in hereditary stature.7​ Galton observó que las c</a:t>
            </a:r>
            <a:r>
              <a:rPr b="1" lang="en" sz="1700"/>
              <a:t>aracterísticas extremas</a:t>
            </a:r>
            <a:r>
              <a:rPr lang="en" sz="1700"/>
              <a:t> (por ejemplo, la altura) de los padres no se transmiten por completo a su descendencia. Más bien, las características de la descendencia retroceden hacia un punto mediocre (un punto que desde entonces ha sido identificado como la media)</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63" name="Google Shape;263;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Buscamos predecir un valor en un rango continuo, para ciertos valores de entrada. Ejemplos:</a:t>
            </a:r>
            <a:endParaRPr sz="1700"/>
          </a:p>
          <a:p>
            <a:pPr indent="-336550" lvl="0" marL="457200" rtl="0" algn="l">
              <a:spcBef>
                <a:spcPts val="1600"/>
              </a:spcBef>
              <a:spcAft>
                <a:spcPts val="0"/>
              </a:spcAft>
              <a:buSzPts val="1700"/>
              <a:buChar char="-"/>
            </a:pPr>
            <a:r>
              <a:rPr lang="en" sz="1700"/>
              <a:t>Temperatura</a:t>
            </a:r>
            <a:endParaRPr sz="1700"/>
          </a:p>
          <a:p>
            <a:pPr indent="-336550" lvl="0" marL="457200" rtl="0" algn="l">
              <a:spcBef>
                <a:spcPts val="0"/>
              </a:spcBef>
              <a:spcAft>
                <a:spcPts val="0"/>
              </a:spcAft>
              <a:buSzPts val="1700"/>
              <a:buChar char="-"/>
            </a:pPr>
            <a:r>
              <a:rPr lang="en" sz="1700"/>
              <a:t>Valor de una propiedad</a:t>
            </a:r>
            <a:endParaRPr sz="1700"/>
          </a:p>
          <a:p>
            <a:pPr indent="0" lvl="0" marL="457200" rtl="0" algn="l">
              <a:spcBef>
                <a:spcPts val="1600"/>
              </a:spcBef>
              <a:spcAft>
                <a:spcPts val="1600"/>
              </a:spcAft>
              <a:buNone/>
            </a:pPr>
            <a:r>
              <a:t/>
            </a:r>
            <a:endParaRPr sz="1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lineal o ajuste lineal </a:t>
            </a:r>
            <a:endParaRPr/>
          </a:p>
          <a:p>
            <a:pPr indent="0" lvl="0" marL="0" rtl="0" algn="l">
              <a:spcBef>
                <a:spcPts val="0"/>
              </a:spcBef>
              <a:spcAft>
                <a:spcPts val="0"/>
              </a:spcAft>
              <a:buNone/>
            </a:pPr>
            <a:r>
              <a:t/>
            </a:r>
            <a:endParaRPr/>
          </a:p>
        </p:txBody>
      </p:sp>
      <p:pic>
        <p:nvPicPr>
          <p:cNvPr id="269" name="Google Shape;269;p41"/>
          <p:cNvPicPr preferRelativeResize="0"/>
          <p:nvPr/>
        </p:nvPicPr>
        <p:blipFill>
          <a:blip r:embed="rId3">
            <a:alphaModFix/>
          </a:blip>
          <a:stretch>
            <a:fillRect/>
          </a:stretch>
        </p:blipFill>
        <p:spPr>
          <a:xfrm>
            <a:off x="3352075" y="1853850"/>
            <a:ext cx="4214935"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Pseudo-code</a:t>
            </a:r>
            <a:endParaRPr/>
          </a:p>
        </p:txBody>
      </p:sp>
      <p:sp>
        <p:nvSpPr>
          <p:cNvPr id="275" name="Google Shape;275;p42"/>
          <p:cNvSpPr txBox="1"/>
          <p:nvPr>
            <p:ph idx="1" type="body"/>
          </p:nvPr>
        </p:nvSpPr>
        <p:spPr>
          <a:xfrm>
            <a:off x="692375" y="2071450"/>
            <a:ext cx="3821100" cy="1901100"/>
          </a:xfrm>
          <a:prstGeom prst="rect">
            <a:avLst/>
          </a:prstGeom>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1050">
                <a:solidFill>
                  <a:srgbClr val="008000"/>
                </a:solidFill>
                <a:latin typeface="Courier New"/>
                <a:ea typeface="Courier New"/>
                <a:cs typeface="Courier New"/>
                <a:sym typeface="Courier New"/>
              </a:rPr>
              <a:t>vars</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xarray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            </a:t>
            </a:r>
            <a:r>
              <a:rPr lang="en" sz="1050">
                <a:solidFill>
                  <a:srgbClr val="666666"/>
                </a:solidFill>
                <a:latin typeface="Courier New"/>
                <a:ea typeface="Courier New"/>
                <a:cs typeface="Courier New"/>
                <a:sym typeface="Courier New"/>
              </a:rPr>
              <a:t>1</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2</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3</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4</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yarray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6.8</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9</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x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a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b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resultado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0</a:t>
            </a:r>
            <a:r>
              <a:rPr lang="en" sz="1050">
                <a:solidFill>
                  <a:srgbClr val="000000"/>
                </a:solidFill>
                <a:latin typeface="Courier New"/>
                <a:ea typeface="Courier New"/>
                <a:cs typeface="Courier New"/>
                <a:sym typeface="Courier New"/>
              </a:rPr>
              <a:t>,</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cantidad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xarray.length,</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t/>
            </a:r>
            <a:endParaRPr sz="1050">
              <a:solidFill>
                <a:srgbClr val="000000"/>
              </a:solidFill>
              <a:highlight>
                <a:srgbClr val="F8F9FA"/>
              </a:highlight>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highlight>
                  <a:srgbClr val="F8F9FA"/>
                </a:highlight>
                <a:latin typeface="Courier New"/>
                <a:ea typeface="Courier New"/>
                <a:cs typeface="Courier New"/>
                <a:sym typeface="Courier New"/>
              </a:rPr>
              <a:t>      </a:t>
            </a:r>
            <a:endParaRPr sz="1050">
              <a:solidFill>
                <a:srgbClr val="000000"/>
              </a:solidFill>
              <a:highlight>
                <a:srgbClr val="F8F9FA"/>
              </a:highlight>
              <a:latin typeface="Courier New"/>
              <a:ea typeface="Courier New"/>
              <a:cs typeface="Courier New"/>
              <a:sym typeface="Courier New"/>
            </a:endParaRPr>
          </a:p>
          <a:p>
            <a:pPr indent="0" lvl="0" marL="0" rtl="0" algn="l">
              <a:lnSpc>
                <a:spcPct val="50000"/>
              </a:lnSpc>
              <a:spcBef>
                <a:spcPts val="1600"/>
              </a:spcBef>
              <a:spcAft>
                <a:spcPts val="1600"/>
              </a:spcAft>
              <a:buNone/>
            </a:pPr>
            <a:r>
              <a:t/>
            </a:r>
            <a:endParaRPr/>
          </a:p>
        </p:txBody>
      </p:sp>
      <p:sp>
        <p:nvSpPr>
          <p:cNvPr id="276" name="Google Shape;276;p42"/>
          <p:cNvSpPr txBox="1"/>
          <p:nvPr/>
        </p:nvSpPr>
        <p:spPr>
          <a:xfrm>
            <a:off x="4787750" y="1474875"/>
            <a:ext cx="417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277" name="Google Shape;277;p42"/>
          <p:cNvSpPr txBox="1"/>
          <p:nvPr/>
        </p:nvSpPr>
        <p:spPr>
          <a:xfrm>
            <a:off x="4572000" y="1318650"/>
            <a:ext cx="4269000" cy="32799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0"/>
              </a:spcBef>
              <a:spcAft>
                <a:spcPts val="0"/>
              </a:spcAft>
              <a:buNone/>
            </a:pPr>
            <a:r>
              <a:rPr b="1" lang="en" sz="1050">
                <a:solidFill>
                  <a:srgbClr val="008000"/>
                </a:solidFill>
                <a:latin typeface="Courier New"/>
                <a:ea typeface="Courier New"/>
                <a:cs typeface="Courier New"/>
                <a:sym typeface="Courier New"/>
              </a:rPr>
              <a:t>for</a:t>
            </a:r>
            <a:r>
              <a:rPr lang="en" sz="1050">
                <a:latin typeface="Courier New"/>
                <a:ea typeface="Courier New"/>
                <a:cs typeface="Courier New"/>
                <a:sym typeface="Courier New"/>
              </a:rPr>
              <a:t> (i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0</a:t>
            </a:r>
            <a:r>
              <a:rPr lang="en" sz="1050">
                <a:latin typeface="Courier New"/>
                <a:ea typeface="Courier New"/>
                <a:cs typeface="Courier New"/>
                <a:sym typeface="Courier New"/>
              </a:rPr>
              <a:t>; i </a:t>
            </a:r>
            <a:r>
              <a:rPr lang="en" sz="1050">
                <a:solidFill>
                  <a:srgbClr val="666666"/>
                </a:solidFill>
                <a:latin typeface="Courier New"/>
                <a:ea typeface="Courier New"/>
                <a:cs typeface="Courier New"/>
                <a:sym typeface="Courier New"/>
              </a:rPr>
              <a:t>&lt;</a:t>
            </a:r>
            <a:r>
              <a:rPr lang="en" sz="1050">
                <a:latin typeface="Courier New"/>
                <a:ea typeface="Courier New"/>
                <a:cs typeface="Courier New"/>
                <a:sym typeface="Courier New"/>
              </a:rPr>
              <a:t> cantidad; 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yarray[i];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xarray[i];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b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((cantidad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((cantidad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t>
            </a:r>
            <a:endParaRPr sz="1050">
              <a:latin typeface="Courier New"/>
              <a:ea typeface="Courier New"/>
              <a:cs typeface="Courier New"/>
              <a:sym typeface="Courier New"/>
            </a:endParaRPr>
          </a:p>
          <a:p>
            <a:pPr indent="0" lvl="0" marL="0" marR="139700" rtl="0" algn="l">
              <a:lnSpc>
                <a:spcPct val="50000"/>
              </a:lnSpc>
              <a:spcBef>
                <a:spcPts val="1600"/>
              </a:spcBef>
              <a:spcAft>
                <a:spcPts val="0"/>
              </a:spcAft>
              <a:buNone/>
            </a:pPr>
            <a:r>
              <a:rPr lang="en" sz="1050">
                <a:latin typeface="Courier New"/>
                <a:ea typeface="Courier New"/>
                <a:cs typeface="Courier New"/>
                <a:sym typeface="Courier New"/>
              </a:rPr>
              <a:t>a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(b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cantidad;</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t/>
            </a:r>
            <a:endParaRPr sz="1300">
              <a:solidFill>
                <a:schemeClr val="accent1"/>
              </a:solidFill>
              <a:latin typeface="Lato"/>
              <a:ea typeface="Lato"/>
              <a:cs typeface="Lato"/>
              <a:sym typeface="Lato"/>
            </a:endParaRPr>
          </a:p>
          <a:p>
            <a:pPr indent="0" lvl="0" marL="0" rtl="0" algn="l">
              <a:spcBef>
                <a:spcPts val="1600"/>
              </a:spcBef>
              <a:spcAft>
                <a:spcPts val="0"/>
              </a:spcAft>
              <a:buNone/>
            </a:pPr>
            <a:r>
              <a:t/>
            </a:r>
            <a:endParaRPr>
              <a:latin typeface="Lato"/>
              <a:ea typeface="Lato"/>
              <a:cs typeface="Lato"/>
              <a:sym typeface="Lato"/>
            </a:endParaRPr>
          </a:p>
        </p:txBody>
      </p:sp>
      <p:sp>
        <p:nvSpPr>
          <p:cNvPr id="278" name="Google Shape;278;p42"/>
          <p:cNvSpPr txBox="1"/>
          <p:nvPr/>
        </p:nvSpPr>
        <p:spPr>
          <a:xfrm>
            <a:off x="692375" y="4121550"/>
            <a:ext cx="2238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Lobster"/>
                <a:ea typeface="Lobster"/>
                <a:cs typeface="Lobster"/>
                <a:sym typeface="Lobster"/>
              </a:rPr>
              <a:t>y = x*b + a</a:t>
            </a:r>
            <a:endParaRPr sz="1900">
              <a:latin typeface="Lobster"/>
              <a:ea typeface="Lobster"/>
              <a:cs typeface="Lobster"/>
              <a:sym typeface="Lobster"/>
            </a:endParaRPr>
          </a:p>
        </p:txBody>
      </p:sp>
      <p:sp>
        <p:nvSpPr>
          <p:cNvPr id="279" name="Google Shape;279;p42"/>
          <p:cNvSpPr txBox="1"/>
          <p:nvPr/>
        </p:nvSpPr>
        <p:spPr>
          <a:xfrm>
            <a:off x="2668075" y="4190150"/>
            <a:ext cx="142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 = </a:t>
            </a:r>
            <a:r>
              <a:rPr lang="en"/>
              <a:t>0.98</a:t>
            </a:r>
            <a:endParaRPr/>
          </a:p>
        </p:txBody>
      </p:sp>
      <p:sp>
        <p:nvSpPr>
          <p:cNvPr id="280" name="Google Shape;280;p42"/>
          <p:cNvSpPr txBox="1"/>
          <p:nvPr/>
        </p:nvSpPr>
        <p:spPr>
          <a:xfrm>
            <a:off x="2727375" y="4590350"/>
            <a:ext cx="100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a:t>
            </a:r>
            <a:r>
              <a:rPr lang="en"/>
              <a:t>3.22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3">
            <a:alphaModFix/>
          </a:blip>
          <a:stretch>
            <a:fillRect/>
          </a:stretch>
        </p:blipFill>
        <p:spPr>
          <a:xfrm>
            <a:off x="93125" y="396975"/>
            <a:ext cx="5487675" cy="4639650"/>
          </a:xfrm>
          <a:prstGeom prst="rect">
            <a:avLst/>
          </a:prstGeom>
          <a:noFill/>
          <a:ln>
            <a:noFill/>
          </a:ln>
        </p:spPr>
      </p:pic>
      <p:pic>
        <p:nvPicPr>
          <p:cNvPr id="286" name="Google Shape;286;p43"/>
          <p:cNvPicPr preferRelativeResize="0"/>
          <p:nvPr/>
        </p:nvPicPr>
        <p:blipFill>
          <a:blip r:embed="rId4">
            <a:alphaModFix/>
          </a:blip>
          <a:stretch>
            <a:fillRect/>
          </a:stretch>
        </p:blipFill>
        <p:spPr>
          <a:xfrm>
            <a:off x="-148187" y="396975"/>
            <a:ext cx="5214341" cy="463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85"/>
                                        </p:tgtEl>
                                      </p:cBhvr>
                                    </p:animEffect>
                                    <p:set>
                                      <p:cBhvr>
                                        <p:cTn dur="1" fill="hold">
                                          <p:stCondLst>
                                            <p:cond delay="1000"/>
                                          </p:stCondLst>
                                        </p:cTn>
                                        <p:tgtEl>
                                          <p:spTgt spid="2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Generalización </a:t>
            </a:r>
            <a:endParaRPr/>
          </a:p>
        </p:txBody>
      </p:sp>
      <p:sp>
        <p:nvSpPr>
          <p:cNvPr id="292" name="Google Shape;292;p44"/>
          <p:cNvSpPr txBox="1"/>
          <p:nvPr>
            <p:ph idx="1" type="body"/>
          </p:nvPr>
        </p:nvSpPr>
        <p:spPr>
          <a:xfrm>
            <a:off x="729450" y="2078875"/>
            <a:ext cx="5481300" cy="13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Ecuación Normal:</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93" name="Google Shape;293;p44"/>
          <p:cNvPicPr preferRelativeResize="0"/>
          <p:nvPr/>
        </p:nvPicPr>
        <p:blipFill>
          <a:blip r:embed="rId3">
            <a:alphaModFix/>
          </a:blip>
          <a:stretch>
            <a:fillRect/>
          </a:stretch>
        </p:blipFill>
        <p:spPr>
          <a:xfrm>
            <a:off x="2346175" y="2199175"/>
            <a:ext cx="2190750" cy="657225"/>
          </a:xfrm>
          <a:prstGeom prst="rect">
            <a:avLst/>
          </a:prstGeom>
          <a:noFill/>
          <a:ln>
            <a:noFill/>
          </a:ln>
        </p:spPr>
      </p:pic>
      <p:sp>
        <p:nvSpPr>
          <p:cNvPr id="294" name="Google Shape;294;p44"/>
          <p:cNvSpPr txBox="1"/>
          <p:nvPr/>
        </p:nvSpPr>
        <p:spPr>
          <a:xfrm>
            <a:off x="841675" y="2856400"/>
            <a:ext cx="7340400" cy="16317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0"/>
              </a:spcBef>
              <a:spcAft>
                <a:spcPts val="0"/>
              </a:spcAft>
              <a:buNone/>
            </a:pPr>
            <a:r>
              <a:rPr b="1" lang="en" sz="1200">
                <a:latin typeface="Courier New"/>
                <a:ea typeface="Courier New"/>
                <a:cs typeface="Courier New"/>
                <a:sym typeface="Courier New"/>
              </a:rPr>
              <a:t>import numpy as np</a:t>
            </a:r>
            <a:endParaRPr b="1" sz="1200">
              <a:latin typeface="Courier New"/>
              <a:ea typeface="Courier New"/>
              <a:cs typeface="Courier New"/>
              <a:sym typeface="Courier New"/>
            </a:endParaRPr>
          </a:p>
          <a:p>
            <a:pPr indent="0" lvl="0" marL="0" rtl="0" algn="l">
              <a:lnSpc>
                <a:spcPct val="50000"/>
              </a:lnSpc>
              <a:spcBef>
                <a:spcPts val="1600"/>
              </a:spcBef>
              <a:spcAft>
                <a:spcPts val="0"/>
              </a:spcAft>
              <a:buNone/>
            </a:pPr>
            <a:r>
              <a:rPr lang="en" sz="1200">
                <a:latin typeface="Courier New"/>
                <a:ea typeface="Courier New"/>
                <a:cs typeface="Courier New"/>
                <a:sym typeface="Courier New"/>
              </a:rPr>
              <a:t>xarray </a:t>
            </a:r>
            <a:r>
              <a:rPr lang="en" sz="1200">
                <a:solidFill>
                  <a:srgbClr val="666666"/>
                </a:solidFill>
                <a:latin typeface="Courier New"/>
                <a:ea typeface="Courier New"/>
                <a:cs typeface="Courier New"/>
                <a:sym typeface="Courier New"/>
              </a:rPr>
              <a:t>=</a:t>
            </a:r>
            <a:r>
              <a:rPr lang="en" sz="1200">
                <a:latin typeface="Courier New"/>
                <a:ea typeface="Courier New"/>
                <a:cs typeface="Courier New"/>
                <a:sym typeface="Courier New"/>
              </a:rPr>
              <a:t> [            </a:t>
            </a:r>
            <a:r>
              <a:rPr lang="en" sz="1200">
                <a:solidFill>
                  <a:srgbClr val="666666"/>
                </a:solidFill>
                <a:latin typeface="Courier New"/>
                <a:ea typeface="Courier New"/>
                <a:cs typeface="Courier New"/>
                <a:sym typeface="Courier New"/>
              </a:rPr>
              <a:t>1</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2</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3</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4</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lnSpc>
                <a:spcPct val="50000"/>
              </a:lnSpc>
              <a:spcBef>
                <a:spcPts val="1600"/>
              </a:spcBef>
              <a:spcAft>
                <a:spcPts val="0"/>
              </a:spcAft>
              <a:buNone/>
            </a:pPr>
            <a:r>
              <a:rPr lang="en" sz="1200">
                <a:latin typeface="Courier New"/>
                <a:ea typeface="Courier New"/>
                <a:cs typeface="Courier New"/>
                <a:sym typeface="Courier New"/>
              </a:rPr>
              <a:t>yarray </a:t>
            </a:r>
            <a:r>
              <a:rPr lang="en" sz="1200">
                <a:solidFill>
                  <a:srgbClr val="666666"/>
                </a:solidFill>
                <a:latin typeface="Courier New"/>
                <a:ea typeface="Courier New"/>
                <a:cs typeface="Courier New"/>
                <a:sym typeface="Courier New"/>
              </a:rPr>
              <a:t>=</a:t>
            </a:r>
            <a:r>
              <a:rPr lang="en" sz="1200">
                <a:latin typeface="Courier New"/>
                <a:ea typeface="Courier New"/>
                <a:cs typeface="Courier New"/>
                <a:sym typeface="Courier New"/>
              </a:rPr>
              <a:t> [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6.8</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9</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1600"/>
              </a:spcBef>
              <a:spcAft>
                <a:spcPts val="0"/>
              </a:spcAft>
              <a:buNone/>
            </a:pPr>
            <a:r>
              <a:rPr lang="en" sz="1200">
                <a:latin typeface="Courier New"/>
                <a:ea typeface="Courier New"/>
                <a:cs typeface="Courier New"/>
                <a:sym typeface="Courier New"/>
              </a:rPr>
              <a:t>X_b = np.c_[np.ones((5, 1)), xarray] </a:t>
            </a:r>
            <a:r>
              <a:rPr lang="en" sz="1200">
                <a:solidFill>
                  <a:srgbClr val="38761D"/>
                </a:solidFill>
                <a:latin typeface="Courier New"/>
                <a:ea typeface="Courier New"/>
                <a:cs typeface="Courier New"/>
                <a:sym typeface="Courier New"/>
              </a:rPr>
              <a:t># add x0 = 1 to each instance</a:t>
            </a:r>
            <a:endParaRPr sz="1200">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theta_best</a:t>
            </a:r>
            <a:r>
              <a:rPr lang="en" sz="1200">
                <a:latin typeface="Courier New"/>
                <a:ea typeface="Courier New"/>
                <a:cs typeface="Courier New"/>
                <a:sym typeface="Courier New"/>
              </a:rPr>
              <a:t> = np.linalg.inv(X_b.T.dot(X_b)).dot(X_b.T).dot(yarray)</a:t>
            </a:r>
            <a:endParaRPr sz="1200">
              <a:latin typeface="Courier New"/>
              <a:ea typeface="Courier New"/>
              <a:cs typeface="Courier New"/>
              <a:sym typeface="Courier New"/>
            </a:endParaRPr>
          </a:p>
        </p:txBody>
      </p:sp>
      <p:sp>
        <p:nvSpPr>
          <p:cNvPr id="295" name="Google Shape;295;p44"/>
          <p:cNvSpPr txBox="1"/>
          <p:nvPr/>
        </p:nvSpPr>
        <p:spPr>
          <a:xfrm>
            <a:off x="5373250" y="45802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highlight>
                  <a:srgbClr val="FFFFFF"/>
                </a:highlight>
              </a:rPr>
              <a:t>array([3.22, 0.98])</a:t>
            </a:r>
            <a:endParaRPr b="1">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Problemas con la ecuación normal</a:t>
            </a:r>
            <a:endParaRPr/>
          </a:p>
        </p:txBody>
      </p:sp>
      <p:sp>
        <p:nvSpPr>
          <p:cNvPr id="301" name="Google Shape;301;p45"/>
          <p:cNvSpPr txBox="1"/>
          <p:nvPr/>
        </p:nvSpPr>
        <p:spPr>
          <a:xfrm>
            <a:off x="622550" y="1853850"/>
            <a:ext cx="8286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La ecuación normal calcula el inverso de X</a:t>
            </a:r>
            <a:r>
              <a:rPr baseline="30000" lang="en"/>
              <a:t>⊺</a:t>
            </a:r>
            <a:r>
              <a:rPr lang="en"/>
              <a:t> X, que es una matriz de  (n + 1) × (n + 1)</a:t>
            </a:r>
            <a:endParaRPr/>
          </a:p>
          <a:p>
            <a:pPr indent="0" lvl="0" marL="0" rtl="0" algn="l">
              <a:spcBef>
                <a:spcPts val="0"/>
              </a:spcBef>
              <a:spcAft>
                <a:spcPts val="0"/>
              </a:spcAft>
              <a:buNone/>
            </a:pPr>
            <a:r>
              <a:rPr lang="en"/>
              <a:t>(donde </a:t>
            </a:r>
            <a:r>
              <a:rPr b="1" i="1" lang="en"/>
              <a:t>n</a:t>
            </a:r>
            <a:r>
              <a:rPr lang="en"/>
              <a:t> es el número de características). </a:t>
            </a:r>
            <a:endParaRPr/>
          </a:p>
          <a:p>
            <a:pPr indent="0" lvl="0" marL="0" rtl="0" algn="l">
              <a:spcBef>
                <a:spcPts val="0"/>
              </a:spcBef>
              <a:spcAft>
                <a:spcPts val="0"/>
              </a:spcAft>
              <a:buNone/>
            </a:pPr>
            <a:r>
              <a:rPr lang="en"/>
              <a:t>La complejidad computacional de invertir tal matriz es típicamente alrededor de </a:t>
            </a:r>
            <a:endParaRPr/>
          </a:p>
          <a:p>
            <a:pPr indent="0" lvl="0" marL="0" rtl="0" algn="l">
              <a:spcBef>
                <a:spcPts val="0"/>
              </a:spcBef>
              <a:spcAft>
                <a:spcPts val="0"/>
              </a:spcAft>
              <a:buNone/>
            </a:pPr>
            <a:r>
              <a:rPr i="1" lang="en"/>
              <a:t>O</a:t>
            </a:r>
            <a:r>
              <a:rPr lang="en"/>
              <a:t>(</a:t>
            </a:r>
            <a:r>
              <a:rPr i="1" lang="en"/>
              <a:t>n</a:t>
            </a:r>
            <a:r>
              <a:rPr lang="en"/>
              <a:t> </a:t>
            </a:r>
            <a:r>
              <a:rPr baseline="30000" lang="en"/>
              <a:t>2.4</a:t>
            </a:r>
            <a:r>
              <a:rPr lang="en"/>
              <a:t>) a O(</a:t>
            </a:r>
            <a:r>
              <a:rPr i="1" lang="en"/>
              <a:t>n</a:t>
            </a:r>
            <a:r>
              <a:rPr baseline="30000" lang="en"/>
              <a:t>3</a:t>
            </a:r>
            <a:r>
              <a:rPr lang="en"/>
              <a:t> ), dependiendo de la implementación.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 otras palabras, si se duplica el número de características, el tiempo se multiplica por aproximadamente 2</a:t>
            </a:r>
            <a:r>
              <a:rPr baseline="30000" lang="en"/>
              <a:t>2.4</a:t>
            </a:r>
            <a:r>
              <a:rPr lang="en"/>
              <a:t> = 5.3 a 2</a:t>
            </a:r>
            <a:r>
              <a:rPr baseline="30000" lang="en"/>
              <a:t>3</a:t>
            </a:r>
            <a:r>
              <a:rPr lang="en"/>
              <a:t>= 8.</a:t>
            </a:r>
            <a:endParaRPr/>
          </a:p>
        </p:txBody>
      </p:sp>
      <p:sp>
        <p:nvSpPr>
          <p:cNvPr id="302" name="Google Shape;302;p45"/>
          <p:cNvSpPr txBox="1"/>
          <p:nvPr/>
        </p:nvSpPr>
        <p:spPr>
          <a:xfrm>
            <a:off x="778200" y="3564875"/>
            <a:ext cx="753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Existen otros mecanismos que buscan de forma iterativa, por aproximación y son computacionalmente menos </a:t>
            </a:r>
            <a:r>
              <a:rPr lang="en">
                <a:latin typeface="Lato"/>
                <a:ea typeface="Lato"/>
                <a:cs typeface="Lato"/>
                <a:sym typeface="Lato"/>
              </a:rPr>
              <a:t>costosos</a:t>
            </a:r>
            <a:r>
              <a:rPr lang="en">
                <a:latin typeface="Lato"/>
                <a:ea typeface="Lato"/>
                <a:cs typeface="Lato"/>
                <a:sym typeface="Lato"/>
              </a:rPr>
              <a:t> como el</a:t>
            </a:r>
            <a:r>
              <a:rPr b="1" lang="en">
                <a:latin typeface="Lato"/>
                <a:ea typeface="Lato"/>
                <a:cs typeface="Lato"/>
                <a:sym typeface="Lato"/>
              </a:rPr>
              <a:t> descenso por gradiente</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 en regresión</a:t>
            </a:r>
            <a:endParaRPr/>
          </a:p>
        </p:txBody>
      </p:sp>
      <p:pic>
        <p:nvPicPr>
          <p:cNvPr id="308" name="Google Shape;308;p46"/>
          <p:cNvPicPr preferRelativeResize="0"/>
          <p:nvPr/>
        </p:nvPicPr>
        <p:blipFill>
          <a:blip r:embed="rId3">
            <a:alphaModFix/>
          </a:blip>
          <a:stretch>
            <a:fillRect/>
          </a:stretch>
        </p:blipFill>
        <p:spPr>
          <a:xfrm>
            <a:off x="819425" y="1954350"/>
            <a:ext cx="5255931" cy="298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Métricas</a:t>
            </a:r>
            <a:r>
              <a:rPr lang="en"/>
              <a:t> de regresión</a:t>
            </a:r>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a:t>
            </a:r>
            <a:r>
              <a:rPr lang="en"/>
              <a:t> para regresión</a:t>
            </a:r>
            <a:endParaRPr/>
          </a:p>
        </p:txBody>
      </p:sp>
      <p:sp>
        <p:nvSpPr>
          <p:cNvPr id="319" name="Google Shape;319;p48"/>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a:t>
            </a:r>
            <a:r>
              <a:rPr lang="en"/>
              <a:t>hipótesis</a:t>
            </a:r>
            <a:r>
              <a:rPr lang="en"/>
              <a:t>, es el modelo entrenado. En este caso regresión </a:t>
            </a:r>
            <a:r>
              <a:rPr lang="en"/>
              <a:t>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pic>
        <p:nvPicPr>
          <p:cNvPr id="320" name="Google Shape;320;p48"/>
          <p:cNvPicPr preferRelativeResize="0"/>
          <p:nvPr/>
        </p:nvPicPr>
        <p:blipFill>
          <a:blip r:embed="rId3">
            <a:alphaModFix/>
          </a:blip>
          <a:stretch>
            <a:fillRect/>
          </a:stretch>
        </p:blipFill>
        <p:spPr>
          <a:xfrm>
            <a:off x="495522" y="2019600"/>
            <a:ext cx="6033901" cy="2032325"/>
          </a:xfrm>
          <a:prstGeom prst="rect">
            <a:avLst/>
          </a:prstGeom>
          <a:noFill/>
          <a:ln>
            <a:noFill/>
          </a:ln>
        </p:spPr>
      </p:pic>
      <p:sp>
        <p:nvSpPr>
          <p:cNvPr id="321" name="Google Shape;321;p48"/>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Raíz del error cuadrático medio</a:t>
            </a:r>
            <a:endParaRPr b="1" sz="1700">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 para regresión</a:t>
            </a:r>
            <a:endParaRPr/>
          </a:p>
        </p:txBody>
      </p:sp>
      <p:sp>
        <p:nvSpPr>
          <p:cNvPr id="327" name="Google Shape;327;p49"/>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hipótesis, es el modelo entrenado. En este caso regresión 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sp>
        <p:nvSpPr>
          <p:cNvPr id="328" name="Google Shape;328;p49"/>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Error medio absoluto</a:t>
            </a:r>
            <a:endParaRPr b="1" sz="1700">
              <a:latin typeface="Lato"/>
              <a:ea typeface="Lato"/>
              <a:cs typeface="Lato"/>
              <a:sym typeface="Lato"/>
            </a:endParaRPr>
          </a:p>
        </p:txBody>
      </p:sp>
      <p:pic>
        <p:nvPicPr>
          <p:cNvPr id="329" name="Google Shape;329;p49"/>
          <p:cNvPicPr preferRelativeResize="0"/>
          <p:nvPr/>
        </p:nvPicPr>
        <p:blipFill>
          <a:blip r:embed="rId3">
            <a:alphaModFix/>
          </a:blip>
          <a:stretch>
            <a:fillRect/>
          </a:stretch>
        </p:blipFill>
        <p:spPr>
          <a:xfrm>
            <a:off x="152400" y="2006250"/>
            <a:ext cx="6298750" cy="186391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 para regresión</a:t>
            </a:r>
            <a:endParaRPr/>
          </a:p>
        </p:txBody>
      </p:sp>
      <p:sp>
        <p:nvSpPr>
          <p:cNvPr id="335" name="Google Shape;335;p50"/>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hipótesis, es el modelo entrenado. En este caso regresión 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sp>
        <p:nvSpPr>
          <p:cNvPr id="336" name="Google Shape;336;p50"/>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Error cuadrático medio.</a:t>
            </a:r>
            <a:endParaRPr b="1" sz="1700">
              <a:latin typeface="Lato"/>
              <a:ea typeface="Lato"/>
              <a:cs typeface="Lato"/>
              <a:sym typeface="Lato"/>
            </a:endParaRPr>
          </a:p>
        </p:txBody>
      </p:sp>
      <p:pic>
        <p:nvPicPr>
          <p:cNvPr id="337" name="Google Shape;337;p50"/>
          <p:cNvPicPr preferRelativeResize="0"/>
          <p:nvPr/>
        </p:nvPicPr>
        <p:blipFill>
          <a:blip r:embed="rId3">
            <a:alphaModFix/>
          </a:blip>
          <a:stretch>
            <a:fillRect/>
          </a:stretch>
        </p:blipFill>
        <p:spPr>
          <a:xfrm>
            <a:off x="152400" y="2006250"/>
            <a:ext cx="6294087" cy="1893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clasificación</a:t>
            </a:r>
            <a:endParaRPr/>
          </a:p>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Clasificación</a:t>
            </a:r>
            <a:endParaRPr/>
          </a:p>
        </p:txBody>
      </p:sp>
      <p:sp>
        <p:nvSpPr>
          <p:cNvPr id="348" name="Google Shape;348;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000"/>
              <a:t>Cuando resolvemos un problema de clasificación, buscamos, para ciertos datos de entrada, un </a:t>
            </a:r>
            <a:r>
              <a:rPr lang="en" sz="2000"/>
              <a:t>categoría</a:t>
            </a:r>
            <a:r>
              <a:rPr lang="en" sz="2000"/>
              <a:t> </a:t>
            </a:r>
            <a:r>
              <a:rPr b="1" lang="en" sz="2000"/>
              <a:t>c</a:t>
            </a:r>
            <a:r>
              <a:rPr lang="en" sz="2000"/>
              <a:t> de un conjunto </a:t>
            </a:r>
            <a:r>
              <a:rPr b="1" lang="en" sz="2000"/>
              <a:t>C</a:t>
            </a:r>
            <a:r>
              <a:rPr lang="en" sz="2000"/>
              <a:t> de </a:t>
            </a:r>
            <a:r>
              <a:rPr lang="en" sz="2000"/>
              <a:t>categorías</a:t>
            </a:r>
            <a:r>
              <a:rPr lang="en" sz="2000"/>
              <a:t> posibles. Estas </a:t>
            </a:r>
            <a:r>
              <a:rPr lang="en" sz="2000"/>
              <a:t>categorías</a:t>
            </a:r>
            <a:r>
              <a:rPr lang="en" sz="2000"/>
              <a:t> no solo son finitas, sino que </a:t>
            </a:r>
            <a:r>
              <a:rPr lang="en" sz="2000"/>
              <a:t>además</a:t>
            </a:r>
            <a:r>
              <a:rPr lang="en" sz="2000"/>
              <a:t> son conocidas de antemano. </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54" name="Google Shape;354;p53"/>
          <p:cNvSpPr txBox="1"/>
          <p:nvPr>
            <p:ph idx="1" type="body"/>
          </p:nvPr>
        </p:nvSpPr>
        <p:spPr>
          <a:xfrm>
            <a:off x="765800" y="1935625"/>
            <a:ext cx="7688700" cy="28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En la regresión logística lo que quiero es categorizar, clasificar. </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Es decir que dado una serie de puntos quiero encontrar una función (no es una recta en este caso) que separe los puntos en dos, en dos conjuntos. </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Y una vez que la encontré puedo determinar para cualquier valor X futuro, el conjunto al cual pertenecerá. Está asociado a problemas de</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probabilidad. </a:t>
            </a:r>
            <a:endParaRPr sz="180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60" name="Google Shape;360;p54"/>
          <p:cNvSpPr txBox="1"/>
          <p:nvPr>
            <p:ph idx="1" type="body"/>
          </p:nvPr>
        </p:nvSpPr>
        <p:spPr>
          <a:xfrm>
            <a:off x="3646950" y="2078875"/>
            <a:ext cx="47712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Una persona quiere comprar una casa y para ello necesita pedir un préstamo hipotecario. Esta persona quiere saber si se lo van a otorgar o no. Pero el único dato fehaciente que tiene es su puntaje crediticio, el cual es de 720</a:t>
            </a:r>
            <a:endParaRPr sz="1800"/>
          </a:p>
        </p:txBody>
      </p:sp>
      <p:pic>
        <p:nvPicPr>
          <p:cNvPr id="361" name="Google Shape;361;p54"/>
          <p:cNvPicPr preferRelativeResize="0"/>
          <p:nvPr/>
        </p:nvPicPr>
        <p:blipFill>
          <a:blip r:embed="rId3">
            <a:alphaModFix/>
          </a:blip>
          <a:stretch>
            <a:fillRect/>
          </a:stretch>
        </p:blipFill>
        <p:spPr>
          <a:xfrm>
            <a:off x="428450" y="2220225"/>
            <a:ext cx="3138575" cy="21197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67" name="Google Shape;367;p55"/>
          <p:cNvSpPr txBox="1"/>
          <p:nvPr>
            <p:ph idx="1" type="body"/>
          </p:nvPr>
        </p:nvSpPr>
        <p:spPr>
          <a:xfrm>
            <a:off x="3646950" y="2078875"/>
            <a:ext cx="47712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La única información que se tiene es una lista de puntajes crediticios de otras 1000 personas con el resultado del otorgamiento, es decir si el crédito fue otorgado: 1 o bien si no fue otorgado: 0.</a:t>
            </a:r>
            <a:endParaRPr sz="18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000000"/>
              </a:solidFill>
              <a:latin typeface="Arial"/>
              <a:ea typeface="Arial"/>
              <a:cs typeface="Arial"/>
              <a:sym typeface="Arial"/>
            </a:endParaRPr>
          </a:p>
        </p:txBody>
      </p:sp>
      <p:pic>
        <p:nvPicPr>
          <p:cNvPr id="368" name="Google Shape;368;p55"/>
          <p:cNvPicPr preferRelativeResize="0"/>
          <p:nvPr/>
        </p:nvPicPr>
        <p:blipFill>
          <a:blip r:embed="rId3">
            <a:alphaModFix/>
          </a:blip>
          <a:stretch>
            <a:fillRect/>
          </a:stretch>
        </p:blipFill>
        <p:spPr>
          <a:xfrm>
            <a:off x="944275" y="1853850"/>
            <a:ext cx="1835795" cy="298485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a:p>
            <a:pPr indent="0" lvl="0" marL="0" rtl="0" algn="l">
              <a:spcBef>
                <a:spcPts val="0"/>
              </a:spcBef>
              <a:spcAft>
                <a:spcPts val="0"/>
              </a:spcAft>
              <a:buNone/>
            </a:pPr>
            <a:r>
              <a:t/>
            </a:r>
            <a:endParaRPr/>
          </a:p>
        </p:txBody>
      </p:sp>
      <p:pic>
        <p:nvPicPr>
          <p:cNvPr id="374" name="Google Shape;374;p56"/>
          <p:cNvPicPr preferRelativeResize="0"/>
          <p:nvPr/>
        </p:nvPicPr>
        <p:blipFill>
          <a:blip r:embed="rId3">
            <a:alphaModFix/>
          </a:blip>
          <a:stretch>
            <a:fillRect/>
          </a:stretch>
        </p:blipFill>
        <p:spPr>
          <a:xfrm>
            <a:off x="2148613" y="1984475"/>
            <a:ext cx="4850380" cy="298484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pic>
        <p:nvPicPr>
          <p:cNvPr id="380" name="Google Shape;380;p57"/>
          <p:cNvPicPr preferRelativeResize="0"/>
          <p:nvPr/>
        </p:nvPicPr>
        <p:blipFill>
          <a:blip r:embed="rId3">
            <a:alphaModFix/>
          </a:blip>
          <a:stretch>
            <a:fillRect/>
          </a:stretch>
        </p:blipFill>
        <p:spPr>
          <a:xfrm>
            <a:off x="729450" y="2064825"/>
            <a:ext cx="3498675" cy="623835"/>
          </a:xfrm>
          <a:prstGeom prst="rect">
            <a:avLst/>
          </a:prstGeom>
          <a:noFill/>
          <a:ln>
            <a:noFill/>
          </a:ln>
        </p:spPr>
      </p:pic>
      <p:pic>
        <p:nvPicPr>
          <p:cNvPr id="381" name="Google Shape;381;p57"/>
          <p:cNvPicPr preferRelativeResize="0"/>
          <p:nvPr/>
        </p:nvPicPr>
        <p:blipFill>
          <a:blip r:embed="rId4">
            <a:alphaModFix/>
          </a:blip>
          <a:stretch>
            <a:fillRect/>
          </a:stretch>
        </p:blipFill>
        <p:spPr>
          <a:xfrm>
            <a:off x="4118975" y="2121847"/>
            <a:ext cx="4562499" cy="2727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pic>
        <p:nvPicPr>
          <p:cNvPr id="387" name="Google Shape;387;p58"/>
          <p:cNvPicPr preferRelativeResize="0"/>
          <p:nvPr/>
        </p:nvPicPr>
        <p:blipFill>
          <a:blip r:embed="rId3">
            <a:alphaModFix/>
          </a:blip>
          <a:stretch>
            <a:fillRect/>
          </a:stretch>
        </p:blipFill>
        <p:spPr>
          <a:xfrm>
            <a:off x="3314850" y="1984650"/>
            <a:ext cx="5581876" cy="2984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93" name="Google Shape;393;p59"/>
          <p:cNvSpPr txBox="1"/>
          <p:nvPr/>
        </p:nvSpPr>
        <p:spPr>
          <a:xfrm>
            <a:off x="845125" y="1853850"/>
            <a:ext cx="80241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Lato"/>
                <a:ea typeface="Lato"/>
                <a:cs typeface="Lato"/>
                <a:sym typeface="Lato"/>
              </a:rPr>
              <a:t>Acá podemos ver que la curva, para cada valor de X, asigna un valor entre 0 y 1 que indica la probabilidad de que el préstamo sea otorgado. </a:t>
            </a:r>
            <a:endParaRPr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a:p>
            <a:pPr indent="0" lvl="0" marL="0" rtl="0" algn="l">
              <a:spcBef>
                <a:spcPts val="0"/>
              </a:spcBef>
              <a:spcAft>
                <a:spcPts val="0"/>
              </a:spcAft>
              <a:buNone/>
            </a:pPr>
            <a:r>
              <a:rPr lang="en" sz="1700">
                <a:latin typeface="Lato"/>
                <a:ea typeface="Lato"/>
                <a:cs typeface="Lato"/>
                <a:sym typeface="Lato"/>
              </a:rPr>
              <a:t>Como la curva es creciente, la probabilidad será más alta cuanto el </a:t>
            </a:r>
            <a:r>
              <a:rPr i="1" lang="en" sz="1700">
                <a:latin typeface="Lato"/>
                <a:ea typeface="Lato"/>
                <a:cs typeface="Lato"/>
                <a:sym typeface="Lato"/>
              </a:rPr>
              <a:t>score</a:t>
            </a:r>
            <a:r>
              <a:rPr lang="en" sz="1700">
                <a:latin typeface="Lato"/>
                <a:ea typeface="Lato"/>
                <a:cs typeface="Lato"/>
                <a:sym typeface="Lato"/>
              </a:rPr>
              <a:t> esté más cerca de 850 y será más baja cuando el </a:t>
            </a:r>
            <a:r>
              <a:rPr i="1" lang="en" sz="1700">
                <a:latin typeface="Lato"/>
                <a:ea typeface="Lato"/>
                <a:cs typeface="Lato"/>
                <a:sym typeface="Lato"/>
              </a:rPr>
              <a:t>score</a:t>
            </a:r>
            <a:r>
              <a:rPr lang="en" sz="1700">
                <a:latin typeface="Lato"/>
                <a:ea typeface="Lato"/>
                <a:cs typeface="Lato"/>
                <a:sym typeface="Lato"/>
              </a:rPr>
              <a:t> esté cerca de 300. </a:t>
            </a:r>
            <a:endParaRPr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a:p>
            <a:pPr indent="0" lvl="0" marL="0" rtl="0" algn="l">
              <a:spcBef>
                <a:spcPts val="0"/>
              </a:spcBef>
              <a:spcAft>
                <a:spcPts val="0"/>
              </a:spcAft>
              <a:buNone/>
            </a:pPr>
            <a:r>
              <a:rPr b="1" lang="en" sz="1700">
                <a:latin typeface="Lato"/>
                <a:ea typeface="Lato"/>
                <a:cs typeface="Lato"/>
                <a:sym typeface="Lato"/>
              </a:rPr>
              <a:t>Encontrar los parametros optimos para esta curva consiste en construir un estimador de regresión logística.</a:t>
            </a:r>
            <a:endParaRPr b="1"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clusterización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a:t>
            </a:r>
            <a:endParaRPr/>
          </a:p>
        </p:txBody>
      </p:sp>
      <p:sp>
        <p:nvSpPr>
          <p:cNvPr id="404" name="Google Shape;404;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800"/>
              <a:t>En este tipo de problemas se trata de agrupar los datos. Agruparlos de tal forma que queden definidos N conjuntos distinguibles, aunque no necesariamente se sepa que signifiquen esos conjuntos. </a:t>
            </a:r>
            <a:br>
              <a:rPr lang="en" sz="1800"/>
            </a:br>
            <a:r>
              <a:rPr lang="en" sz="1800"/>
              <a:t>El agrupamiento siempre será por </a:t>
            </a:r>
            <a:r>
              <a:rPr lang="en" sz="1800"/>
              <a:t>características</a:t>
            </a:r>
            <a:r>
              <a:rPr lang="en" sz="1800"/>
              <a:t> similares.</a:t>
            </a:r>
            <a:endParaRPr sz="18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sp>
        <p:nvSpPr>
          <p:cNvPr id="410" name="Google Shape;410;p6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El usuario decide la </a:t>
            </a:r>
            <a:r>
              <a:rPr lang="en" sz="1400">
                <a:solidFill>
                  <a:srgbClr val="000000"/>
                </a:solidFill>
                <a:latin typeface="Arial"/>
                <a:ea typeface="Arial"/>
                <a:cs typeface="Arial"/>
                <a:sym typeface="Arial"/>
              </a:rPr>
              <a:t>cantidad</a:t>
            </a:r>
            <a:r>
              <a:rPr lang="en" sz="1400">
                <a:solidFill>
                  <a:srgbClr val="000000"/>
                </a:solidFill>
                <a:latin typeface="Arial"/>
                <a:ea typeface="Arial"/>
                <a:cs typeface="Arial"/>
                <a:sym typeface="Arial"/>
              </a:rPr>
              <a:t> de grupos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elige al azar K centroides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Decide </a:t>
            </a:r>
            <a:r>
              <a:rPr lang="en" sz="1400">
                <a:solidFill>
                  <a:srgbClr val="000000"/>
                </a:solidFill>
                <a:latin typeface="Arial"/>
                <a:ea typeface="Arial"/>
                <a:cs typeface="Arial"/>
                <a:sym typeface="Arial"/>
              </a:rPr>
              <a:t>qué</a:t>
            </a:r>
            <a:r>
              <a:rPr lang="en" sz="1400">
                <a:solidFill>
                  <a:srgbClr val="000000"/>
                </a:solidFill>
                <a:latin typeface="Arial"/>
                <a:ea typeface="Arial"/>
                <a:cs typeface="Arial"/>
                <a:sym typeface="Arial"/>
              </a:rPr>
              <a:t> grupos están </a:t>
            </a:r>
            <a:r>
              <a:rPr lang="en" sz="1400">
                <a:solidFill>
                  <a:srgbClr val="000000"/>
                </a:solidFill>
                <a:latin typeface="Arial"/>
                <a:ea typeface="Arial"/>
                <a:cs typeface="Arial"/>
                <a:sym typeface="Arial"/>
              </a:rPr>
              <a:t>más</a:t>
            </a:r>
            <a:r>
              <a:rPr lang="en" sz="1400">
                <a:solidFill>
                  <a:srgbClr val="000000"/>
                </a:solidFill>
                <a:latin typeface="Arial"/>
                <a:ea typeface="Arial"/>
                <a:cs typeface="Arial"/>
                <a:sym typeface="Arial"/>
              </a:rPr>
              <a:t> cerca de cada centroide. Esos puntos forman un grupo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recalcula los centroides al centro de cada grupo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vuelve a reasignar los puntos usando los nuevos centroides. Calcula nuevos grupos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repite punto 4 y 5 hasta que los puntos no cambian de grupo.</a:t>
            </a:r>
            <a:endParaRPr sz="1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Conjunto de datos Iris:</a:t>
            </a:r>
            <a:r>
              <a:rPr lang="en" sz="1800"/>
              <a:t> setosa, versicolor, virginica</a:t>
            </a:r>
            <a:endParaRPr sz="1800"/>
          </a:p>
        </p:txBody>
      </p:sp>
      <p:pic>
        <p:nvPicPr>
          <p:cNvPr id="416" name="Google Shape;416;p63"/>
          <p:cNvPicPr preferRelativeResize="0"/>
          <p:nvPr/>
        </p:nvPicPr>
        <p:blipFill>
          <a:blip r:embed="rId3">
            <a:alphaModFix/>
          </a:blip>
          <a:stretch>
            <a:fillRect/>
          </a:stretch>
        </p:blipFill>
        <p:spPr>
          <a:xfrm>
            <a:off x="729450" y="1919075"/>
            <a:ext cx="5128019" cy="2984850"/>
          </a:xfrm>
          <a:prstGeom prst="rect">
            <a:avLst/>
          </a:prstGeom>
          <a:noFill/>
          <a:ln>
            <a:noFill/>
          </a:ln>
        </p:spPr>
      </p:pic>
      <p:pic>
        <p:nvPicPr>
          <p:cNvPr id="417" name="Google Shape;417;p63"/>
          <p:cNvPicPr preferRelativeResize="0"/>
          <p:nvPr/>
        </p:nvPicPr>
        <p:blipFill>
          <a:blip r:embed="rId4">
            <a:alphaModFix/>
          </a:blip>
          <a:stretch>
            <a:fillRect/>
          </a:stretch>
        </p:blipFill>
        <p:spPr>
          <a:xfrm>
            <a:off x="6322644" y="2113100"/>
            <a:ext cx="2095500" cy="27908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Conjunto de datos Iris: setosa, versicolor, virginica</a:t>
            </a:r>
            <a:endParaRPr sz="1800"/>
          </a:p>
        </p:txBody>
      </p:sp>
      <p:pic>
        <p:nvPicPr>
          <p:cNvPr id="423" name="Google Shape;423;p64"/>
          <p:cNvPicPr preferRelativeResize="0"/>
          <p:nvPr/>
        </p:nvPicPr>
        <p:blipFill>
          <a:blip r:embed="rId3">
            <a:alphaModFix/>
          </a:blip>
          <a:stretch>
            <a:fillRect/>
          </a:stretch>
        </p:blipFill>
        <p:spPr>
          <a:xfrm>
            <a:off x="6322644" y="2113100"/>
            <a:ext cx="2095500" cy="2790825"/>
          </a:xfrm>
          <a:prstGeom prst="rect">
            <a:avLst/>
          </a:prstGeom>
          <a:noFill/>
          <a:ln>
            <a:noFill/>
          </a:ln>
        </p:spPr>
      </p:pic>
      <p:sp>
        <p:nvSpPr>
          <p:cNvPr id="424" name="Google Shape;424;p64"/>
          <p:cNvSpPr txBox="1"/>
          <p:nvPr/>
        </p:nvSpPr>
        <p:spPr>
          <a:xfrm>
            <a:off x="418025" y="1935625"/>
            <a:ext cx="5734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El conjunto de datos flor Iris o conjunto de datos iris de Fisher es un conjunto de datos introducido por Ronald Fisher en un artículo de 1936.</a:t>
            </a:r>
            <a:endParaRPr/>
          </a:p>
          <a:p>
            <a:pPr indent="0" lvl="0" marL="0" rtl="0" algn="l">
              <a:spcBef>
                <a:spcPts val="0"/>
              </a:spcBef>
              <a:spcAft>
                <a:spcPts val="0"/>
              </a:spcAft>
              <a:buNone/>
            </a:pPr>
            <a:r>
              <a:rPr lang="en"/>
              <a:t>A veces, se llama Iris conjunto de datos de Anderson porque Edgar Anderson coleccionó los datos para cuantificar la variación morfológica de la flor </a:t>
            </a:r>
            <a:r>
              <a:rPr b="1" lang="en"/>
              <a:t>Iris</a:t>
            </a:r>
            <a:r>
              <a:rPr lang="en"/>
              <a:t> de </a:t>
            </a:r>
            <a:r>
              <a:rPr b="1" lang="en"/>
              <a:t>tres especies relacionadas</a:t>
            </a:r>
            <a:r>
              <a:rPr lang="en"/>
              <a: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y la clasificación de Iris</a:t>
            </a:r>
            <a:endParaRPr/>
          </a:p>
        </p:txBody>
      </p:sp>
      <p:pic>
        <p:nvPicPr>
          <p:cNvPr id="430" name="Google Shape;430;p65"/>
          <p:cNvPicPr preferRelativeResize="0"/>
          <p:nvPr/>
        </p:nvPicPr>
        <p:blipFill>
          <a:blip r:embed="rId3">
            <a:alphaModFix/>
          </a:blip>
          <a:stretch>
            <a:fillRect/>
          </a:stretch>
        </p:blipFill>
        <p:spPr>
          <a:xfrm>
            <a:off x="1300225" y="1969925"/>
            <a:ext cx="6374765" cy="298485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36" name="Google Shape;436;p66"/>
          <p:cNvPicPr preferRelativeResize="0"/>
          <p:nvPr/>
        </p:nvPicPr>
        <p:blipFill>
          <a:blip r:embed="rId3">
            <a:alphaModFix/>
          </a:blip>
          <a:stretch>
            <a:fillRect/>
          </a:stretch>
        </p:blipFill>
        <p:spPr>
          <a:xfrm>
            <a:off x="1005925" y="1992100"/>
            <a:ext cx="7022394" cy="2984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42" name="Google Shape;442;p67"/>
          <p:cNvPicPr preferRelativeResize="0"/>
          <p:nvPr/>
        </p:nvPicPr>
        <p:blipFill>
          <a:blip r:embed="rId3">
            <a:alphaModFix/>
          </a:blip>
          <a:stretch>
            <a:fillRect/>
          </a:stretch>
        </p:blipFill>
        <p:spPr>
          <a:xfrm>
            <a:off x="1640200" y="1853850"/>
            <a:ext cx="6417245" cy="298485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48" name="Google Shape;448;p68"/>
          <p:cNvPicPr preferRelativeResize="0"/>
          <p:nvPr/>
        </p:nvPicPr>
        <p:blipFill>
          <a:blip r:embed="rId3">
            <a:alphaModFix/>
          </a:blip>
          <a:stretch>
            <a:fillRect/>
          </a:stretch>
        </p:blipFill>
        <p:spPr>
          <a:xfrm>
            <a:off x="1873975" y="1853850"/>
            <a:ext cx="4615009"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54" name="Google Shape;454;p69"/>
          <p:cNvPicPr preferRelativeResize="0"/>
          <p:nvPr/>
        </p:nvPicPr>
        <p:blipFill>
          <a:blip r:embed="rId3">
            <a:alphaModFix/>
          </a:blip>
          <a:stretch>
            <a:fillRect/>
          </a:stretch>
        </p:blipFill>
        <p:spPr>
          <a:xfrm>
            <a:off x="1163125" y="1853850"/>
            <a:ext cx="6821345"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60" name="Google Shape;460;p70"/>
          <p:cNvPicPr preferRelativeResize="0"/>
          <p:nvPr/>
        </p:nvPicPr>
        <p:blipFill>
          <a:blip r:embed="rId3">
            <a:alphaModFix/>
          </a:blip>
          <a:stretch>
            <a:fillRect/>
          </a:stretch>
        </p:blipFill>
        <p:spPr>
          <a:xfrm>
            <a:off x="1195875" y="1899975"/>
            <a:ext cx="6755834"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66" name="Google Shape;466;p71"/>
          <p:cNvPicPr preferRelativeResize="0"/>
          <p:nvPr/>
        </p:nvPicPr>
        <p:blipFill>
          <a:blip r:embed="rId3">
            <a:alphaModFix/>
          </a:blip>
          <a:stretch>
            <a:fillRect/>
          </a:stretch>
        </p:blipFill>
        <p:spPr>
          <a:xfrm>
            <a:off x="1130100" y="1853850"/>
            <a:ext cx="6585802" cy="298484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72" name="Google Shape;472;p72"/>
          <p:cNvPicPr preferRelativeResize="0"/>
          <p:nvPr/>
        </p:nvPicPr>
        <p:blipFill>
          <a:blip r:embed="rId3">
            <a:alphaModFix/>
          </a:blip>
          <a:stretch>
            <a:fillRect/>
          </a:stretch>
        </p:blipFill>
        <p:spPr>
          <a:xfrm>
            <a:off x="1301063" y="1853850"/>
            <a:ext cx="6541864"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78" name="Google Shape;478;p73"/>
          <p:cNvPicPr preferRelativeResize="0"/>
          <p:nvPr/>
        </p:nvPicPr>
        <p:blipFill>
          <a:blip r:embed="rId3">
            <a:alphaModFix/>
          </a:blip>
          <a:stretch>
            <a:fillRect/>
          </a:stretch>
        </p:blipFill>
        <p:spPr>
          <a:xfrm>
            <a:off x="1896725" y="1853850"/>
            <a:ext cx="5350562" cy="29848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84" name="Google Shape;484;p74"/>
          <p:cNvPicPr preferRelativeResize="0"/>
          <p:nvPr/>
        </p:nvPicPr>
        <p:blipFill>
          <a:blip r:embed="rId3">
            <a:alphaModFix/>
          </a:blip>
          <a:stretch>
            <a:fillRect/>
          </a:stretch>
        </p:blipFill>
        <p:spPr>
          <a:xfrm>
            <a:off x="1779300" y="1853850"/>
            <a:ext cx="5589000" cy="2984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90" name="Google Shape;490;p75"/>
          <p:cNvPicPr preferRelativeResize="0"/>
          <p:nvPr/>
        </p:nvPicPr>
        <p:blipFill>
          <a:blip r:embed="rId3">
            <a:alphaModFix/>
          </a:blip>
          <a:stretch>
            <a:fillRect/>
          </a:stretch>
        </p:blipFill>
        <p:spPr>
          <a:xfrm>
            <a:off x="346298" y="2033300"/>
            <a:ext cx="4858823" cy="2493651"/>
          </a:xfrm>
          <a:prstGeom prst="rect">
            <a:avLst/>
          </a:prstGeom>
          <a:noFill/>
          <a:ln>
            <a:noFill/>
          </a:ln>
        </p:spPr>
      </p:pic>
      <p:pic>
        <p:nvPicPr>
          <p:cNvPr id="491" name="Google Shape;491;p75"/>
          <p:cNvPicPr preferRelativeResize="0"/>
          <p:nvPr/>
        </p:nvPicPr>
        <p:blipFill>
          <a:blip r:embed="rId4">
            <a:alphaModFix/>
          </a:blip>
          <a:stretch>
            <a:fillRect/>
          </a:stretch>
        </p:blipFill>
        <p:spPr>
          <a:xfrm>
            <a:off x="5067046" y="2571750"/>
            <a:ext cx="3634079" cy="1801973"/>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497" name="Google Shape;497;p76"/>
          <p:cNvPicPr preferRelativeResize="0"/>
          <p:nvPr/>
        </p:nvPicPr>
        <p:blipFill>
          <a:blip r:embed="rId3">
            <a:alphaModFix/>
          </a:blip>
          <a:stretch>
            <a:fillRect/>
          </a:stretch>
        </p:blipFill>
        <p:spPr>
          <a:xfrm>
            <a:off x="244500" y="1928325"/>
            <a:ext cx="4056576" cy="2329575"/>
          </a:xfrm>
          <a:prstGeom prst="rect">
            <a:avLst/>
          </a:prstGeom>
          <a:noFill/>
          <a:ln>
            <a:noFill/>
          </a:ln>
        </p:spPr>
      </p:pic>
      <p:pic>
        <p:nvPicPr>
          <p:cNvPr id="498" name="Google Shape;498;p76"/>
          <p:cNvPicPr preferRelativeResize="0"/>
          <p:nvPr/>
        </p:nvPicPr>
        <p:blipFill>
          <a:blip r:embed="rId4">
            <a:alphaModFix/>
          </a:blip>
          <a:stretch>
            <a:fillRect/>
          </a:stretch>
        </p:blipFill>
        <p:spPr>
          <a:xfrm>
            <a:off x="4668825" y="2028213"/>
            <a:ext cx="4173999" cy="2129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04" name="Google Shape;504;p77"/>
          <p:cNvPicPr preferRelativeResize="0"/>
          <p:nvPr/>
        </p:nvPicPr>
        <p:blipFill>
          <a:blip r:embed="rId3">
            <a:alphaModFix/>
          </a:blip>
          <a:stretch>
            <a:fillRect/>
          </a:stretch>
        </p:blipFill>
        <p:spPr>
          <a:xfrm>
            <a:off x="207975" y="2028225"/>
            <a:ext cx="4364026" cy="2338970"/>
          </a:xfrm>
          <a:prstGeom prst="rect">
            <a:avLst/>
          </a:prstGeom>
          <a:noFill/>
          <a:ln>
            <a:noFill/>
          </a:ln>
        </p:spPr>
      </p:pic>
      <p:pic>
        <p:nvPicPr>
          <p:cNvPr id="505" name="Google Shape;505;p77"/>
          <p:cNvPicPr preferRelativeResize="0"/>
          <p:nvPr/>
        </p:nvPicPr>
        <p:blipFill>
          <a:blip r:embed="rId4">
            <a:alphaModFix/>
          </a:blip>
          <a:stretch>
            <a:fillRect/>
          </a:stretch>
        </p:blipFill>
        <p:spPr>
          <a:xfrm>
            <a:off x="4859825" y="2224375"/>
            <a:ext cx="3783525" cy="21428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11" name="Google Shape;511;p78"/>
          <p:cNvPicPr preferRelativeResize="0"/>
          <p:nvPr/>
        </p:nvPicPr>
        <p:blipFill>
          <a:blip r:embed="rId3">
            <a:alphaModFix/>
          </a:blip>
          <a:stretch>
            <a:fillRect/>
          </a:stretch>
        </p:blipFill>
        <p:spPr>
          <a:xfrm>
            <a:off x="237425" y="1992075"/>
            <a:ext cx="4608526" cy="2737075"/>
          </a:xfrm>
          <a:prstGeom prst="rect">
            <a:avLst/>
          </a:prstGeom>
          <a:noFill/>
          <a:ln>
            <a:noFill/>
          </a:ln>
        </p:spPr>
      </p:pic>
      <p:pic>
        <p:nvPicPr>
          <p:cNvPr id="512" name="Google Shape;512;p78"/>
          <p:cNvPicPr preferRelativeResize="0"/>
          <p:nvPr/>
        </p:nvPicPr>
        <p:blipFill>
          <a:blip r:embed="rId4">
            <a:alphaModFix/>
          </a:blip>
          <a:stretch>
            <a:fillRect/>
          </a:stretch>
        </p:blipFill>
        <p:spPr>
          <a:xfrm>
            <a:off x="5193100" y="2514425"/>
            <a:ext cx="3755999" cy="21112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18" name="Google Shape;518;p79"/>
          <p:cNvPicPr preferRelativeResize="0"/>
          <p:nvPr/>
        </p:nvPicPr>
        <p:blipFill>
          <a:blip r:embed="rId3">
            <a:alphaModFix/>
          </a:blip>
          <a:stretch>
            <a:fillRect/>
          </a:stretch>
        </p:blipFill>
        <p:spPr>
          <a:xfrm>
            <a:off x="251575" y="2345050"/>
            <a:ext cx="4400076" cy="2440575"/>
          </a:xfrm>
          <a:prstGeom prst="rect">
            <a:avLst/>
          </a:prstGeom>
          <a:noFill/>
          <a:ln>
            <a:noFill/>
          </a:ln>
        </p:spPr>
      </p:pic>
      <p:pic>
        <p:nvPicPr>
          <p:cNvPr id="519" name="Google Shape;519;p79"/>
          <p:cNvPicPr preferRelativeResize="0"/>
          <p:nvPr/>
        </p:nvPicPr>
        <p:blipFill>
          <a:blip r:embed="rId4">
            <a:alphaModFix/>
          </a:blip>
          <a:stretch>
            <a:fillRect/>
          </a:stretch>
        </p:blipFill>
        <p:spPr>
          <a:xfrm>
            <a:off x="4917400" y="2678999"/>
            <a:ext cx="3770849" cy="21066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25" name="Google Shape;525;p80"/>
          <p:cNvPicPr preferRelativeResize="0"/>
          <p:nvPr/>
        </p:nvPicPr>
        <p:blipFill>
          <a:blip r:embed="rId3">
            <a:alphaModFix/>
          </a:blip>
          <a:stretch>
            <a:fillRect/>
          </a:stretch>
        </p:blipFill>
        <p:spPr>
          <a:xfrm>
            <a:off x="187800" y="2004975"/>
            <a:ext cx="4318551" cy="2688575"/>
          </a:xfrm>
          <a:prstGeom prst="rect">
            <a:avLst/>
          </a:prstGeom>
          <a:noFill/>
          <a:ln>
            <a:noFill/>
          </a:ln>
        </p:spPr>
      </p:pic>
      <p:pic>
        <p:nvPicPr>
          <p:cNvPr id="526" name="Google Shape;526;p80"/>
          <p:cNvPicPr preferRelativeResize="0"/>
          <p:nvPr/>
        </p:nvPicPr>
        <p:blipFill>
          <a:blip r:embed="rId4">
            <a:alphaModFix/>
          </a:blip>
          <a:stretch>
            <a:fillRect/>
          </a:stretch>
        </p:blipFill>
        <p:spPr>
          <a:xfrm>
            <a:off x="4572001" y="2096487"/>
            <a:ext cx="4332849" cy="250555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32" name="Google Shape;532;p81"/>
          <p:cNvPicPr preferRelativeResize="0"/>
          <p:nvPr/>
        </p:nvPicPr>
        <p:blipFill>
          <a:blip r:embed="rId3">
            <a:alphaModFix/>
          </a:blip>
          <a:stretch>
            <a:fillRect/>
          </a:stretch>
        </p:blipFill>
        <p:spPr>
          <a:xfrm>
            <a:off x="1834063" y="1914150"/>
            <a:ext cx="5479471" cy="298484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38" name="Google Shape;538;p82"/>
          <p:cNvPicPr preferRelativeResize="0"/>
          <p:nvPr/>
        </p:nvPicPr>
        <p:blipFill>
          <a:blip r:embed="rId3">
            <a:alphaModFix/>
          </a:blip>
          <a:stretch>
            <a:fillRect/>
          </a:stretch>
        </p:blipFill>
        <p:spPr>
          <a:xfrm>
            <a:off x="2167863" y="1892900"/>
            <a:ext cx="4808265" cy="298485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¿Cómo saber </a:t>
            </a:r>
            <a:r>
              <a:rPr lang="en"/>
              <a:t>cuántos</a:t>
            </a:r>
            <a:r>
              <a:rPr lang="en"/>
              <a:t> conjuntos elegir?</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Cuántos</a:t>
            </a:r>
            <a:r>
              <a:rPr lang="en"/>
              <a:t> conjuntos elegir?</a:t>
            </a:r>
            <a:endParaRPr/>
          </a:p>
        </p:txBody>
      </p:sp>
      <p:sp>
        <p:nvSpPr>
          <p:cNvPr id="549" name="Google Shape;549;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veces es obvio, si estamos trabajando con el conjunto MNIST claramente son 10 conjuntos los que tengo. Si estoy trabajando con el conjunto IRIS serán 3</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550" name="Google Shape;550;p84"/>
          <p:cNvPicPr preferRelativeResize="0"/>
          <p:nvPr/>
        </p:nvPicPr>
        <p:blipFill>
          <a:blip r:embed="rId3">
            <a:alphaModFix/>
          </a:blip>
          <a:stretch>
            <a:fillRect/>
          </a:stretch>
        </p:blipFill>
        <p:spPr>
          <a:xfrm>
            <a:off x="838388" y="2719950"/>
            <a:ext cx="3038475" cy="18478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Regla del codo (Elbow Method)</a:t>
            </a:r>
            <a:endParaRPr/>
          </a:p>
        </p:txBody>
      </p:sp>
      <p:sp>
        <p:nvSpPr>
          <p:cNvPr id="556" name="Google Shape;556;p85"/>
          <p:cNvSpPr txBox="1"/>
          <p:nvPr>
            <p:ph idx="1" type="body"/>
          </p:nvPr>
        </p:nvSpPr>
        <p:spPr>
          <a:xfrm>
            <a:off x="729450" y="2078875"/>
            <a:ext cx="7688700" cy="66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a:t>Elegimos un rango, ejemplo 1 a 10, y para cada valor:</a:t>
            </a:r>
            <a:endParaRPr/>
          </a:p>
          <a:p>
            <a:pPr indent="-298450" lvl="1" marL="914400" rtl="0" algn="l">
              <a:spcBef>
                <a:spcPts val="0"/>
              </a:spcBef>
              <a:spcAft>
                <a:spcPts val="0"/>
              </a:spcAft>
              <a:buSzPts val="1100"/>
              <a:buAutoNum type="alphaLcPeriod"/>
            </a:pPr>
            <a:r>
              <a:rPr lang="en"/>
              <a:t>Para cada centroide calculamos la distancia promedio</a:t>
            </a:r>
            <a:endParaRPr/>
          </a:p>
        </p:txBody>
      </p:sp>
      <p:pic>
        <p:nvPicPr>
          <p:cNvPr id="557" name="Google Shape;557;p85"/>
          <p:cNvPicPr preferRelativeResize="0"/>
          <p:nvPr/>
        </p:nvPicPr>
        <p:blipFill>
          <a:blip r:embed="rId3">
            <a:alphaModFix/>
          </a:blip>
          <a:stretch>
            <a:fillRect/>
          </a:stretch>
        </p:blipFill>
        <p:spPr>
          <a:xfrm>
            <a:off x="1224850" y="2740075"/>
            <a:ext cx="4686928" cy="2098625"/>
          </a:xfrm>
          <a:prstGeom prst="rect">
            <a:avLst/>
          </a:prstGeom>
          <a:noFill/>
          <a:ln>
            <a:noFill/>
          </a:ln>
        </p:spPr>
      </p:pic>
      <p:sp>
        <p:nvSpPr>
          <p:cNvPr id="558" name="Google Shape;558;p85"/>
          <p:cNvSpPr/>
          <p:nvPr/>
        </p:nvSpPr>
        <p:spPr>
          <a:xfrm>
            <a:off x="3238500" y="4000500"/>
            <a:ext cx="493800" cy="444600"/>
          </a:xfrm>
          <a:prstGeom prst="ellipse">
            <a:avLst/>
          </a:prstGeom>
          <a:no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85"/>
          <p:cNvSpPr txBox="1"/>
          <p:nvPr/>
        </p:nvSpPr>
        <p:spPr>
          <a:xfrm>
            <a:off x="5679700" y="3294950"/>
            <a:ext cx="31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El </a:t>
            </a:r>
            <a:r>
              <a:rPr lang="en">
                <a:latin typeface="Lato"/>
                <a:ea typeface="Lato"/>
                <a:cs typeface="Lato"/>
                <a:sym typeface="Lato"/>
              </a:rPr>
              <a:t>gráfico</a:t>
            </a:r>
            <a:r>
              <a:rPr lang="en">
                <a:latin typeface="Lato"/>
                <a:ea typeface="Lato"/>
                <a:cs typeface="Lato"/>
                <a:sym typeface="Lato"/>
              </a:rPr>
              <a:t> tiene un “codo”</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0" st="0"/>
                                            </p:txEl>
                                          </p:spTgt>
                                        </p:tgtEl>
                                        <p:attrNameLst>
                                          <p:attrName>style.visibility</p:attrName>
                                        </p:attrNameLst>
                                      </p:cBhvr>
                                      <p:to>
                                        <p:strVal val="visible"/>
                                      </p:to>
                                    </p:set>
                                    <p:animEffect filter="fade" transition="in">
                                      <p:cBhvr>
                                        <p:cTn dur="1000"/>
                                        <p:tgtEl>
                                          <p:spTgt spid="5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1" st="1"/>
                                            </p:txEl>
                                          </p:spTgt>
                                        </p:tgtEl>
                                        <p:attrNameLst>
                                          <p:attrName>style.visibility</p:attrName>
                                        </p:attrNameLst>
                                      </p:cBhvr>
                                      <p:to>
                                        <p:strVal val="visible"/>
                                      </p:to>
                                    </p:set>
                                    <p:animEffect filter="fade" transition="in">
                                      <p:cBhvr>
                                        <p:cTn dur="1000"/>
                                        <p:tgtEl>
                                          <p:spTgt spid="5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 </a:t>
            </a:r>
            <a:r>
              <a:rPr i="1" lang="en"/>
              <a:t>Silhouette</a:t>
            </a:r>
            <a:endParaRPr i="1"/>
          </a:p>
        </p:txBody>
      </p:sp>
      <p:sp>
        <p:nvSpPr>
          <p:cNvPr id="565" name="Google Shape;565;p86"/>
          <p:cNvSpPr txBox="1"/>
          <p:nvPr>
            <p:ph idx="1" type="body"/>
          </p:nvPr>
        </p:nvSpPr>
        <p:spPr>
          <a:xfrm>
            <a:off x="729450" y="2078875"/>
            <a:ext cx="7688700" cy="1124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Elegimos un rango, ejemplo 1 a 10, y para cada valor:</a:t>
            </a:r>
            <a:endParaRPr sz="1400"/>
          </a:p>
          <a:p>
            <a:pPr indent="-304800" lvl="1" marL="914400" rtl="0" algn="l">
              <a:spcBef>
                <a:spcPts val="0"/>
              </a:spcBef>
              <a:spcAft>
                <a:spcPts val="0"/>
              </a:spcAft>
              <a:buSzPts val="1200"/>
              <a:buAutoNum type="alphaLcPeriod"/>
            </a:pPr>
            <a:r>
              <a:rPr lang="en" sz="1200"/>
              <a:t>Para cada valor de </a:t>
            </a:r>
            <a:r>
              <a:rPr b="1" lang="en" sz="1200"/>
              <a:t>K</a:t>
            </a:r>
            <a:r>
              <a:rPr lang="en" sz="1200"/>
              <a:t> </a:t>
            </a:r>
            <a:r>
              <a:rPr lang="en" sz="1200"/>
              <a:t>graficamos</a:t>
            </a:r>
            <a:r>
              <a:rPr lang="en" sz="1200"/>
              <a:t> la </a:t>
            </a:r>
            <a:r>
              <a:rPr b="1" i="1" lang="en" sz="1200"/>
              <a:t>silhouette</a:t>
            </a:r>
            <a:endParaRPr b="1" i="1" sz="1200"/>
          </a:p>
          <a:p>
            <a:pPr indent="-304800" lvl="2" marL="1371600" rtl="0" algn="l">
              <a:spcBef>
                <a:spcPts val="0"/>
              </a:spcBef>
              <a:spcAft>
                <a:spcPts val="0"/>
              </a:spcAft>
              <a:buSzPts val="1200"/>
              <a:buAutoNum type="romanLcPeriod"/>
            </a:pPr>
            <a:r>
              <a:rPr lang="en" sz="1200"/>
              <a:t>El mejor valor posible es </a:t>
            </a:r>
            <a:r>
              <a:rPr i="1" lang="en" sz="1200"/>
              <a:t>silhouette</a:t>
            </a:r>
            <a:r>
              <a:rPr lang="en" sz="1200"/>
              <a:t> = 1</a:t>
            </a:r>
            <a:endParaRPr sz="1200"/>
          </a:p>
          <a:p>
            <a:pPr indent="-304800" lvl="2" marL="1371600" rtl="0" algn="l">
              <a:spcBef>
                <a:spcPts val="0"/>
              </a:spcBef>
              <a:spcAft>
                <a:spcPts val="0"/>
              </a:spcAft>
              <a:buSzPts val="1200"/>
              <a:buAutoNum type="romanLcPeriod"/>
            </a:pPr>
            <a:r>
              <a:rPr lang="en" sz="1200"/>
              <a:t>El peor valor posible es </a:t>
            </a:r>
            <a:r>
              <a:rPr i="1" lang="en" sz="1200"/>
              <a:t>silhouette</a:t>
            </a:r>
            <a:r>
              <a:rPr lang="en" sz="1200"/>
              <a:t> = -1</a:t>
            </a:r>
            <a:endParaRPr sz="1200"/>
          </a:p>
        </p:txBody>
      </p:sp>
      <p:sp>
        <p:nvSpPr>
          <p:cNvPr id="566" name="Google Shape;566;p86"/>
          <p:cNvSpPr txBox="1"/>
          <p:nvPr/>
        </p:nvSpPr>
        <p:spPr>
          <a:xfrm>
            <a:off x="1218900" y="3203275"/>
            <a:ext cx="54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Primeramente tendremos que calcular el </a:t>
            </a:r>
            <a:r>
              <a:rPr lang="en">
                <a:latin typeface="Lato"/>
                <a:ea typeface="Lato"/>
                <a:cs typeface="Lato"/>
                <a:sym typeface="Lato"/>
              </a:rPr>
              <a:t>coeficiente</a:t>
            </a:r>
            <a:r>
              <a:rPr lang="en">
                <a:latin typeface="Lato"/>
                <a:ea typeface="Lato"/>
                <a:cs typeface="Lato"/>
                <a:sym typeface="Lato"/>
              </a:rPr>
              <a:t> de Silhouette</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0" st="0"/>
                                            </p:txEl>
                                          </p:spTgt>
                                        </p:tgtEl>
                                        <p:attrNameLst>
                                          <p:attrName>style.visibility</p:attrName>
                                        </p:attrNameLst>
                                      </p:cBhvr>
                                      <p:to>
                                        <p:strVal val="visible"/>
                                      </p:to>
                                    </p:set>
                                    <p:animEffect filter="fade" transition="in">
                                      <p:cBhvr>
                                        <p:cTn dur="1000"/>
                                        <p:tgtEl>
                                          <p:spTgt spid="5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1" st="1"/>
                                            </p:txEl>
                                          </p:spTgt>
                                        </p:tgtEl>
                                        <p:attrNameLst>
                                          <p:attrName>style.visibility</p:attrName>
                                        </p:attrNameLst>
                                      </p:cBhvr>
                                      <p:to>
                                        <p:strVal val="visible"/>
                                      </p:to>
                                    </p:set>
                                    <p:animEffect filter="fade" transition="in">
                                      <p:cBhvr>
                                        <p:cTn dur="1000"/>
                                        <p:tgtEl>
                                          <p:spTgt spid="5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2" st="2"/>
                                            </p:txEl>
                                          </p:spTgt>
                                        </p:tgtEl>
                                        <p:attrNameLst>
                                          <p:attrName>style.visibility</p:attrName>
                                        </p:attrNameLst>
                                      </p:cBhvr>
                                      <p:to>
                                        <p:strVal val="visible"/>
                                      </p:to>
                                    </p:set>
                                    <p:animEffect filter="fade" transition="in">
                                      <p:cBhvr>
                                        <p:cTn dur="1000"/>
                                        <p:tgtEl>
                                          <p:spTgt spid="5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3" st="3"/>
                                            </p:txEl>
                                          </p:spTgt>
                                        </p:tgtEl>
                                        <p:attrNameLst>
                                          <p:attrName>style.visibility</p:attrName>
                                        </p:attrNameLst>
                                      </p:cBhvr>
                                      <p:to>
                                        <p:strVal val="visible"/>
                                      </p:to>
                                    </p:set>
                                    <p:animEffect filter="fade" transition="in">
                                      <p:cBhvr>
                                        <p:cTn dur="1000"/>
                                        <p:tgtEl>
                                          <p:spTgt spid="5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p:txBody>
      </p:sp>
      <p:sp>
        <p:nvSpPr>
          <p:cNvPr id="572" name="Google Shape;572;p87"/>
          <p:cNvSpPr txBox="1"/>
          <p:nvPr>
            <p:ph idx="1" type="body"/>
          </p:nvPr>
        </p:nvSpPr>
        <p:spPr>
          <a:xfrm>
            <a:off x="444500" y="1853850"/>
            <a:ext cx="5552700" cy="608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Cada punto en el conjunto de datos tiene un coeficiente de </a:t>
            </a:r>
            <a:r>
              <a:rPr i="1" lang="en"/>
              <a:t>Silhouette.</a:t>
            </a:r>
            <a:endParaRPr i="1"/>
          </a:p>
          <a:p>
            <a:pPr indent="0" lvl="0" marL="0" rtl="0" algn="l">
              <a:lnSpc>
                <a:spcPct val="100000"/>
              </a:lnSpc>
              <a:spcBef>
                <a:spcPts val="0"/>
              </a:spcBef>
              <a:spcAft>
                <a:spcPts val="0"/>
              </a:spcAft>
              <a:buNone/>
            </a:pPr>
            <a:r>
              <a:rPr i="1" lang="en"/>
              <a:t> </a:t>
            </a:r>
            <a:r>
              <a:rPr lang="en"/>
              <a:t>Para calcular </a:t>
            </a:r>
            <a:r>
              <a:rPr lang="en"/>
              <a:t>este</a:t>
            </a:r>
            <a:r>
              <a:rPr lang="en"/>
              <a:t> coeficiente necesitamos calcular a(i) y b(i)</a:t>
            </a:r>
            <a:endParaRPr/>
          </a:p>
        </p:txBody>
      </p:sp>
      <p:pic>
        <p:nvPicPr>
          <p:cNvPr id="573" name="Google Shape;573;p87"/>
          <p:cNvPicPr preferRelativeResize="0"/>
          <p:nvPr/>
        </p:nvPicPr>
        <p:blipFill>
          <a:blip r:embed="rId3">
            <a:alphaModFix/>
          </a:blip>
          <a:stretch>
            <a:fillRect/>
          </a:stretch>
        </p:blipFill>
        <p:spPr>
          <a:xfrm>
            <a:off x="1492950" y="2462275"/>
            <a:ext cx="2917072" cy="2376425"/>
          </a:xfrm>
          <a:prstGeom prst="rect">
            <a:avLst/>
          </a:prstGeom>
          <a:noFill/>
          <a:ln>
            <a:noFill/>
          </a:ln>
        </p:spPr>
      </p:pic>
      <p:pic>
        <p:nvPicPr>
          <p:cNvPr id="574" name="Google Shape;574;p87"/>
          <p:cNvPicPr preferRelativeResize="0"/>
          <p:nvPr/>
        </p:nvPicPr>
        <p:blipFill>
          <a:blip r:embed="rId4">
            <a:alphaModFix/>
          </a:blip>
          <a:stretch>
            <a:fillRect/>
          </a:stretch>
        </p:blipFill>
        <p:spPr>
          <a:xfrm>
            <a:off x="2532950" y="4200775"/>
            <a:ext cx="2617600" cy="771975"/>
          </a:xfrm>
          <a:prstGeom prst="rect">
            <a:avLst/>
          </a:prstGeom>
          <a:noFill/>
          <a:ln>
            <a:noFill/>
          </a:ln>
        </p:spPr>
      </p:pic>
      <p:sp>
        <p:nvSpPr>
          <p:cNvPr id="575" name="Google Shape;575;p87"/>
          <p:cNvSpPr txBox="1"/>
          <p:nvPr/>
        </p:nvSpPr>
        <p:spPr>
          <a:xfrm>
            <a:off x="5277575" y="2709325"/>
            <a:ext cx="358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a(i) </a:t>
            </a:r>
            <a:r>
              <a:rPr lang="en">
                <a:latin typeface="Lato"/>
                <a:ea typeface="Lato"/>
                <a:cs typeface="Lato"/>
                <a:sym typeface="Lato"/>
              </a:rPr>
              <a:t>= distancia promedio del punto </a:t>
            </a:r>
            <a:r>
              <a:rPr b="1" i="1" lang="en">
                <a:latin typeface="Lato"/>
                <a:ea typeface="Lato"/>
                <a:cs typeface="Lato"/>
                <a:sym typeface="Lato"/>
              </a:rPr>
              <a:t>i</a:t>
            </a:r>
            <a:r>
              <a:rPr lang="en">
                <a:latin typeface="Lato"/>
                <a:ea typeface="Lato"/>
                <a:cs typeface="Lato"/>
                <a:sym typeface="Lato"/>
              </a:rPr>
              <a:t> a cada uno de los puntos de su cluster</a:t>
            </a:r>
            <a:endParaRPr>
              <a:latin typeface="Lato"/>
              <a:ea typeface="Lato"/>
              <a:cs typeface="Lato"/>
              <a:sym typeface="Lato"/>
            </a:endParaRPr>
          </a:p>
        </p:txBody>
      </p:sp>
      <p:pic>
        <p:nvPicPr>
          <p:cNvPr id="576" name="Google Shape;576;p87"/>
          <p:cNvPicPr preferRelativeResize="0"/>
          <p:nvPr/>
        </p:nvPicPr>
        <p:blipFill>
          <a:blip r:embed="rId5">
            <a:alphaModFix/>
          </a:blip>
          <a:stretch>
            <a:fillRect/>
          </a:stretch>
        </p:blipFill>
        <p:spPr>
          <a:xfrm>
            <a:off x="1492950" y="2709325"/>
            <a:ext cx="2817650" cy="2314349"/>
          </a:xfrm>
          <a:prstGeom prst="rect">
            <a:avLst/>
          </a:prstGeom>
          <a:noFill/>
          <a:ln>
            <a:noFill/>
          </a:ln>
        </p:spPr>
      </p:pic>
      <p:sp>
        <p:nvSpPr>
          <p:cNvPr id="577" name="Google Shape;577;p87"/>
          <p:cNvSpPr txBox="1"/>
          <p:nvPr/>
        </p:nvSpPr>
        <p:spPr>
          <a:xfrm>
            <a:off x="5277575" y="3572000"/>
            <a:ext cx="3584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b</a:t>
            </a:r>
            <a:r>
              <a:rPr b="1" lang="en">
                <a:latin typeface="Lato"/>
                <a:ea typeface="Lato"/>
                <a:cs typeface="Lato"/>
                <a:sym typeface="Lato"/>
              </a:rPr>
              <a:t>(i) </a:t>
            </a:r>
            <a:r>
              <a:rPr lang="en">
                <a:latin typeface="Lato"/>
                <a:ea typeface="Lato"/>
                <a:cs typeface="Lato"/>
                <a:sym typeface="Lato"/>
              </a:rPr>
              <a:t>= distancia promedio del punto </a:t>
            </a:r>
            <a:r>
              <a:rPr b="1" i="1" lang="en">
                <a:latin typeface="Lato"/>
                <a:ea typeface="Lato"/>
                <a:cs typeface="Lato"/>
                <a:sym typeface="Lato"/>
              </a:rPr>
              <a:t>i</a:t>
            </a:r>
            <a:r>
              <a:rPr lang="en">
                <a:latin typeface="Lato"/>
                <a:ea typeface="Lato"/>
                <a:cs typeface="Lato"/>
                <a:sym typeface="Lato"/>
              </a:rPr>
              <a:t> a cada uno de los puntos del cluster más cercano a su propio cluster</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1000"/>
                                        <p:tgtEl>
                                          <p:spTgt spid="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10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74"/>
                                        </p:tgtEl>
                                      </p:cBhvr>
                                    </p:animEffect>
                                    <p:set>
                                      <p:cBhvr>
                                        <p:cTn dur="1" fill="hold">
                                          <p:stCondLst>
                                            <p:cond delay="1000"/>
                                          </p:stCondLst>
                                        </p:cTn>
                                        <p:tgtEl>
                                          <p:spTgt spid="5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a:p>
            <a:pPr indent="0" lvl="0" marL="0" rtl="0" algn="l">
              <a:spcBef>
                <a:spcPts val="0"/>
              </a:spcBef>
              <a:spcAft>
                <a:spcPts val="0"/>
              </a:spcAft>
              <a:buNone/>
            </a:pPr>
            <a:r>
              <a:t/>
            </a:r>
            <a:endParaRPr/>
          </a:p>
        </p:txBody>
      </p:sp>
      <p:pic>
        <p:nvPicPr>
          <p:cNvPr id="583" name="Google Shape;583;p88"/>
          <p:cNvPicPr preferRelativeResize="0"/>
          <p:nvPr/>
        </p:nvPicPr>
        <p:blipFill>
          <a:blip r:embed="rId3">
            <a:alphaModFix/>
          </a:blip>
          <a:stretch>
            <a:fillRect/>
          </a:stretch>
        </p:blipFill>
        <p:spPr>
          <a:xfrm>
            <a:off x="729450" y="1970975"/>
            <a:ext cx="4440539" cy="2984850"/>
          </a:xfrm>
          <a:prstGeom prst="rect">
            <a:avLst/>
          </a:prstGeom>
          <a:noFill/>
          <a:ln>
            <a:noFill/>
          </a:ln>
        </p:spPr>
      </p:pic>
      <p:sp>
        <p:nvSpPr>
          <p:cNvPr id="584" name="Google Shape;584;p88"/>
          <p:cNvSpPr txBox="1"/>
          <p:nvPr/>
        </p:nvSpPr>
        <p:spPr>
          <a:xfrm>
            <a:off x="5326950" y="2144900"/>
            <a:ext cx="3831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Si a(i) &gt; b(i) i está posiblemente mal clasificado.</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¿Tiene sentido que la distancia promedio a los </a:t>
            </a:r>
            <a:r>
              <a:rPr lang="en">
                <a:latin typeface="Lato"/>
                <a:ea typeface="Lato"/>
                <a:cs typeface="Lato"/>
                <a:sym typeface="Lato"/>
              </a:rPr>
              <a:t>demás</a:t>
            </a:r>
            <a:r>
              <a:rPr lang="en">
                <a:latin typeface="Lato"/>
                <a:ea typeface="Lato"/>
                <a:cs typeface="Lato"/>
                <a:sym typeface="Lato"/>
              </a:rPr>
              <a:t> puntos de su cluster sea mayor que la distancia promedio a los puntos de otro cluster?</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Effect filter="fade" transition="in">
                                      <p:cBhvr>
                                        <p:cTn dur="1000"/>
                                        <p:tgtEl>
                                          <p:spTgt spid="5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 st="1"/>
                                            </p:txEl>
                                          </p:spTgt>
                                        </p:tgtEl>
                                        <p:attrNameLst>
                                          <p:attrName>style.visibility</p:attrName>
                                        </p:attrNameLst>
                                      </p:cBhvr>
                                      <p:to>
                                        <p:strVal val="visible"/>
                                      </p:to>
                                    </p:set>
                                    <p:animEffect filter="fade" transition="in">
                                      <p:cBhvr>
                                        <p:cTn dur="1000"/>
                                        <p:tgtEl>
                                          <p:spTgt spid="58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a:p>
            <a:pPr indent="0" lvl="0" marL="0" rtl="0" algn="l">
              <a:spcBef>
                <a:spcPts val="0"/>
              </a:spcBef>
              <a:spcAft>
                <a:spcPts val="0"/>
              </a:spcAft>
              <a:buNone/>
            </a:pPr>
            <a:r>
              <a:t/>
            </a:r>
            <a:endParaRPr/>
          </a:p>
        </p:txBody>
      </p:sp>
      <p:pic>
        <p:nvPicPr>
          <p:cNvPr id="590" name="Google Shape;590;p89"/>
          <p:cNvPicPr preferRelativeResize="0"/>
          <p:nvPr/>
        </p:nvPicPr>
        <p:blipFill>
          <a:blip r:embed="rId3">
            <a:alphaModFix/>
          </a:blip>
          <a:stretch>
            <a:fillRect/>
          </a:stretch>
        </p:blipFill>
        <p:spPr>
          <a:xfrm>
            <a:off x="729450" y="1970975"/>
            <a:ext cx="4440539" cy="2984850"/>
          </a:xfrm>
          <a:prstGeom prst="rect">
            <a:avLst/>
          </a:prstGeom>
          <a:noFill/>
          <a:ln>
            <a:noFill/>
          </a:ln>
        </p:spPr>
      </p:pic>
      <p:sp>
        <p:nvSpPr>
          <p:cNvPr id="591" name="Google Shape;591;p89"/>
          <p:cNvSpPr txBox="1"/>
          <p:nvPr/>
        </p:nvSpPr>
        <p:spPr>
          <a:xfrm>
            <a:off x="5326950" y="2144900"/>
            <a:ext cx="323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s(i) =                      b(i) -a(i)</a:t>
            </a:r>
            <a:r>
              <a:rPr lang="en" u="sng">
                <a:latin typeface="Lato"/>
                <a:ea typeface="Lato"/>
                <a:cs typeface="Lato"/>
                <a:sym typeface="Lato"/>
              </a:rPr>
              <a:t>  </a:t>
            </a:r>
            <a:endParaRPr u="sng">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                  El mayor de (b(i) o a(i))</a:t>
            </a:r>
            <a:endParaRPr>
              <a:latin typeface="Lato"/>
              <a:ea typeface="Lato"/>
              <a:cs typeface="Lato"/>
              <a:sym typeface="Lato"/>
            </a:endParaRPr>
          </a:p>
        </p:txBody>
      </p:sp>
      <p:cxnSp>
        <p:nvCxnSpPr>
          <p:cNvPr id="592" name="Google Shape;592;p89"/>
          <p:cNvCxnSpPr/>
          <p:nvPr/>
        </p:nvCxnSpPr>
        <p:spPr>
          <a:xfrm>
            <a:off x="5877275" y="2427100"/>
            <a:ext cx="1961400" cy="0"/>
          </a:xfrm>
          <a:prstGeom prst="straightConnector1">
            <a:avLst/>
          </a:prstGeom>
          <a:noFill/>
          <a:ln cap="flat" cmpd="sng" w="9525">
            <a:solidFill>
              <a:schemeClr val="dk2"/>
            </a:solidFill>
            <a:prstDash val="solid"/>
            <a:round/>
            <a:headEnd len="med" w="med" type="none"/>
            <a:tailEnd len="med" w="med" type="none"/>
          </a:ln>
        </p:spPr>
      </p:cxnSp>
      <p:sp>
        <p:nvSpPr>
          <p:cNvPr id="593" name="Google Shape;593;p89"/>
          <p:cNvSpPr txBox="1"/>
          <p:nvPr/>
        </p:nvSpPr>
        <p:spPr>
          <a:xfrm>
            <a:off x="5326950" y="3000350"/>
            <a:ext cx="346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En el peor de los casos s(i) es -1</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Silhouette Plot</a:t>
            </a:r>
            <a:endParaRPr/>
          </a:p>
        </p:txBody>
      </p:sp>
      <p:pic>
        <p:nvPicPr>
          <p:cNvPr id="599" name="Google Shape;599;p90"/>
          <p:cNvPicPr preferRelativeResize="0"/>
          <p:nvPr/>
        </p:nvPicPr>
        <p:blipFill>
          <a:blip r:embed="rId3">
            <a:alphaModFix/>
          </a:blip>
          <a:stretch>
            <a:fillRect/>
          </a:stretch>
        </p:blipFill>
        <p:spPr>
          <a:xfrm>
            <a:off x="729450" y="1853850"/>
            <a:ext cx="2014650" cy="2984850"/>
          </a:xfrm>
          <a:prstGeom prst="rect">
            <a:avLst/>
          </a:prstGeom>
          <a:noFill/>
          <a:ln>
            <a:noFill/>
          </a:ln>
        </p:spPr>
      </p:pic>
      <p:sp>
        <p:nvSpPr>
          <p:cNvPr id="600" name="Google Shape;600;p90"/>
          <p:cNvSpPr txBox="1"/>
          <p:nvPr/>
        </p:nvSpPr>
        <p:spPr>
          <a:xfrm>
            <a:off x="4021675" y="1968500"/>
            <a:ext cx="406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Calculamos s(i) para cada punto</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Lo graficamos para identificar </a:t>
            </a:r>
            <a:r>
              <a:rPr i="1" lang="en">
                <a:latin typeface="Lato"/>
                <a:ea typeface="Lato"/>
                <a:cs typeface="Lato"/>
                <a:sym typeface="Lato"/>
              </a:rPr>
              <a:t>outliers</a:t>
            </a:r>
            <a:endParaRPr i="1">
              <a:latin typeface="Lato"/>
              <a:ea typeface="Lato"/>
              <a:cs typeface="Lato"/>
              <a:sym typeface="Lato"/>
            </a:endParaRPr>
          </a:p>
        </p:txBody>
      </p:sp>
      <p:grpSp>
        <p:nvGrpSpPr>
          <p:cNvPr id="601" name="Google Shape;601;p90"/>
          <p:cNvGrpSpPr/>
          <p:nvPr/>
        </p:nvGrpSpPr>
        <p:grpSpPr>
          <a:xfrm>
            <a:off x="1373025" y="2822225"/>
            <a:ext cx="405050" cy="1567825"/>
            <a:chOff x="1373025" y="2822225"/>
            <a:chExt cx="405050" cy="1567825"/>
          </a:xfrm>
        </p:grpSpPr>
        <p:sp>
          <p:nvSpPr>
            <p:cNvPr id="602" name="Google Shape;602;p90"/>
            <p:cNvSpPr/>
            <p:nvPr/>
          </p:nvSpPr>
          <p:spPr>
            <a:xfrm>
              <a:off x="1481675" y="2822225"/>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90"/>
            <p:cNvSpPr/>
            <p:nvPr/>
          </p:nvSpPr>
          <p:spPr>
            <a:xfrm>
              <a:off x="1373025" y="3419125"/>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90"/>
            <p:cNvSpPr/>
            <p:nvPr/>
          </p:nvSpPr>
          <p:spPr>
            <a:xfrm>
              <a:off x="1373025" y="4121850"/>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5" name="Google Shape;605;p90"/>
          <p:cNvSpPr txBox="1"/>
          <p:nvPr/>
        </p:nvSpPr>
        <p:spPr>
          <a:xfrm>
            <a:off x="4078125" y="2638775"/>
            <a:ext cx="131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Lato"/>
                <a:ea typeface="Lato"/>
                <a:cs typeface="Lato"/>
                <a:sym typeface="Lato"/>
              </a:rPr>
              <a:t>Outliers</a:t>
            </a:r>
            <a:endParaRPr b="1" i="1">
              <a:latin typeface="Lato"/>
              <a:ea typeface="Lato"/>
              <a:cs typeface="Lato"/>
              <a:sym typeface="Lato"/>
            </a:endParaRPr>
          </a:p>
        </p:txBody>
      </p:sp>
      <p:cxnSp>
        <p:nvCxnSpPr>
          <p:cNvPr id="606" name="Google Shape;606;p90"/>
          <p:cNvCxnSpPr>
            <a:stCxn id="602" idx="6"/>
            <a:endCxn id="605" idx="1"/>
          </p:cNvCxnSpPr>
          <p:nvPr/>
        </p:nvCxnSpPr>
        <p:spPr>
          <a:xfrm flipH="1" rot="10800000">
            <a:off x="1778075" y="2838725"/>
            <a:ext cx="2300100" cy="117600"/>
          </a:xfrm>
          <a:prstGeom prst="straightConnector1">
            <a:avLst/>
          </a:prstGeom>
          <a:noFill/>
          <a:ln cap="flat" cmpd="sng" w="9525">
            <a:solidFill>
              <a:schemeClr val="dk2"/>
            </a:solidFill>
            <a:prstDash val="solid"/>
            <a:round/>
            <a:headEnd len="med" w="med" type="none"/>
            <a:tailEnd len="med" w="med" type="triangle"/>
          </a:ln>
        </p:spPr>
      </p:cxnSp>
      <p:cxnSp>
        <p:nvCxnSpPr>
          <p:cNvPr id="607" name="Google Shape;607;p90"/>
          <p:cNvCxnSpPr>
            <a:stCxn id="603" idx="6"/>
            <a:endCxn id="605" idx="1"/>
          </p:cNvCxnSpPr>
          <p:nvPr/>
        </p:nvCxnSpPr>
        <p:spPr>
          <a:xfrm flipH="1" rot="10800000">
            <a:off x="1669425" y="2838925"/>
            <a:ext cx="2408700" cy="714300"/>
          </a:xfrm>
          <a:prstGeom prst="straightConnector1">
            <a:avLst/>
          </a:prstGeom>
          <a:noFill/>
          <a:ln cap="flat" cmpd="sng" w="9525">
            <a:solidFill>
              <a:schemeClr val="dk2"/>
            </a:solidFill>
            <a:prstDash val="solid"/>
            <a:round/>
            <a:headEnd len="med" w="med" type="none"/>
            <a:tailEnd len="med" w="med" type="triangle"/>
          </a:ln>
        </p:spPr>
      </p:cxnSp>
      <p:cxnSp>
        <p:nvCxnSpPr>
          <p:cNvPr id="608" name="Google Shape;608;p90"/>
          <p:cNvCxnSpPr>
            <a:stCxn id="604" idx="6"/>
            <a:endCxn id="605" idx="1"/>
          </p:cNvCxnSpPr>
          <p:nvPr/>
        </p:nvCxnSpPr>
        <p:spPr>
          <a:xfrm flipH="1" rot="10800000">
            <a:off x="1669425" y="2838750"/>
            <a:ext cx="2408700" cy="141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Silhouette Plot</a:t>
            </a:r>
            <a:r>
              <a:rPr lang="en"/>
              <a:t> para buscar el mejor K</a:t>
            </a:r>
            <a:endParaRPr/>
          </a:p>
        </p:txBody>
      </p:sp>
      <p:pic>
        <p:nvPicPr>
          <p:cNvPr id="614" name="Google Shape;614;p91"/>
          <p:cNvPicPr preferRelativeResize="0"/>
          <p:nvPr/>
        </p:nvPicPr>
        <p:blipFill>
          <a:blip r:embed="rId3">
            <a:alphaModFix/>
          </a:blip>
          <a:stretch>
            <a:fillRect/>
          </a:stretch>
        </p:blipFill>
        <p:spPr>
          <a:xfrm>
            <a:off x="3522325" y="1853850"/>
            <a:ext cx="3752850" cy="2886075"/>
          </a:xfrm>
          <a:prstGeom prst="rect">
            <a:avLst/>
          </a:prstGeom>
          <a:noFill/>
          <a:ln>
            <a:noFill/>
          </a:ln>
        </p:spPr>
      </p:pic>
      <p:pic>
        <p:nvPicPr>
          <p:cNvPr id="615" name="Google Shape;615;p91"/>
          <p:cNvPicPr preferRelativeResize="0"/>
          <p:nvPr/>
        </p:nvPicPr>
        <p:blipFill>
          <a:blip r:embed="rId4">
            <a:alphaModFix/>
          </a:blip>
          <a:stretch>
            <a:fillRect/>
          </a:stretch>
        </p:blipFill>
        <p:spPr>
          <a:xfrm>
            <a:off x="57500" y="1853850"/>
            <a:ext cx="3943350" cy="3067050"/>
          </a:xfrm>
          <a:prstGeom prst="rect">
            <a:avLst/>
          </a:prstGeom>
          <a:noFill/>
          <a:ln>
            <a:noFill/>
          </a:ln>
        </p:spPr>
      </p:pic>
      <p:sp>
        <p:nvSpPr>
          <p:cNvPr id="616" name="Google Shape;616;p91"/>
          <p:cNvSpPr/>
          <p:nvPr/>
        </p:nvSpPr>
        <p:spPr>
          <a:xfrm>
            <a:off x="1284100" y="3993450"/>
            <a:ext cx="289200" cy="2400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7" name="Google Shape;617;p91"/>
          <p:cNvGrpSpPr/>
          <p:nvPr/>
        </p:nvGrpSpPr>
        <p:grpSpPr>
          <a:xfrm>
            <a:off x="4933250" y="3045175"/>
            <a:ext cx="404900" cy="1487450"/>
            <a:chOff x="4933250" y="3045175"/>
            <a:chExt cx="404900" cy="1487450"/>
          </a:xfrm>
        </p:grpSpPr>
        <p:sp>
          <p:nvSpPr>
            <p:cNvPr id="618" name="Google Shape;618;p91"/>
            <p:cNvSpPr/>
            <p:nvPr/>
          </p:nvSpPr>
          <p:spPr>
            <a:xfrm>
              <a:off x="5048950" y="3045175"/>
              <a:ext cx="289200" cy="2400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91"/>
            <p:cNvSpPr/>
            <p:nvPr/>
          </p:nvSpPr>
          <p:spPr>
            <a:xfrm>
              <a:off x="4933250" y="3606800"/>
              <a:ext cx="365400" cy="3021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91"/>
            <p:cNvSpPr/>
            <p:nvPr/>
          </p:nvSpPr>
          <p:spPr>
            <a:xfrm>
              <a:off x="4933250" y="4230525"/>
              <a:ext cx="365400" cy="3021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91"/>
          <p:cNvSpPr/>
          <p:nvPr/>
        </p:nvSpPr>
        <p:spPr>
          <a:xfrm>
            <a:off x="49400" y="1820325"/>
            <a:ext cx="3400800" cy="28860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91"/>
          <p:cNvSpPr txBox="1"/>
          <p:nvPr/>
        </p:nvSpPr>
        <p:spPr>
          <a:xfrm>
            <a:off x="6152450" y="1883825"/>
            <a:ext cx="300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K=3, es decir con 3 clusters se ajustan mejor los valores del conjunto.</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10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par>
                                <p:cTn fill="hold" nodeType="withEffect" presetClass="exit" presetID="10" presetSubtype="0">
                                  <p:stCondLst>
                                    <p:cond delay="0"/>
                                  </p:stCondLst>
                                  <p:childTnLst>
                                    <p:animEffect filter="fade" transition="out">
                                      <p:cBhvr>
                                        <p:cTn dur="1000"/>
                                        <p:tgtEl>
                                          <p:spTgt spid="617"/>
                                        </p:tgtEl>
                                      </p:cBhvr>
                                    </p:animEffect>
                                    <p:set>
                                      <p:cBhvr>
                                        <p:cTn dur="1" fill="hold">
                                          <p:stCondLst>
                                            <p:cond delay="1000"/>
                                          </p:stCondLst>
                                        </p:cTn>
                                        <p:tgtEl>
                                          <p:spTgt spid="6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a:t>
            </a:r>
            <a:r>
              <a:rPr lang="en"/>
              <a:t>Hopkins</a:t>
            </a:r>
            <a:endParaRPr/>
          </a:p>
        </p:txBody>
      </p:sp>
      <p:sp>
        <p:nvSpPr>
          <p:cNvPr id="628" name="Google Shape;628;p9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 estadística de </a:t>
            </a:r>
            <a:r>
              <a:rPr i="1" lang="en"/>
              <a:t>Hopkins</a:t>
            </a:r>
            <a:r>
              <a:rPr lang="en"/>
              <a:t> (Lawson y Jurs 1990) se utiliza para evaluar la tendencia de agrupación de un conjunto de datos midiendo la probabilidad de que un conjunto de datos dado sea generado por una distribución de datos uniforme. </a:t>
            </a:r>
            <a:endParaRPr/>
          </a:p>
          <a:p>
            <a:pPr indent="0" lvl="0" marL="0" rtl="0" algn="l">
              <a:spcBef>
                <a:spcPts val="1600"/>
              </a:spcBef>
              <a:spcAft>
                <a:spcPts val="1600"/>
              </a:spcAft>
              <a:buNone/>
            </a:pPr>
            <a:r>
              <a:rPr lang="en"/>
              <a:t>En otras palabras, prueba la </a:t>
            </a:r>
            <a:r>
              <a:rPr b="1" lang="en"/>
              <a:t>aleatoriedad</a:t>
            </a:r>
            <a:r>
              <a:rPr lang="en"/>
              <a:t> espacial de los datos.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p:txBody>
      </p:sp>
      <p:sp>
        <p:nvSpPr>
          <p:cNvPr id="634" name="Google Shape;634;p93"/>
          <p:cNvSpPr txBox="1"/>
          <p:nvPr>
            <p:ph idx="1" type="body"/>
          </p:nvPr>
        </p:nvSpPr>
        <p:spPr>
          <a:xfrm>
            <a:off x="729450" y="2078875"/>
            <a:ext cx="7688700" cy="404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Veamos</a:t>
            </a:r>
            <a:r>
              <a:rPr lang="en"/>
              <a:t> una muestra uniforme aleatoria, para ver que se puede deducir a </a:t>
            </a:r>
            <a:r>
              <a:rPr lang="en"/>
              <a:t>simple</a:t>
            </a:r>
            <a:r>
              <a:rPr lang="en"/>
              <a:t> vista</a:t>
            </a:r>
            <a:endParaRPr/>
          </a:p>
        </p:txBody>
      </p:sp>
      <p:pic>
        <p:nvPicPr>
          <p:cNvPr id="635" name="Google Shape;635;p93"/>
          <p:cNvPicPr preferRelativeResize="0"/>
          <p:nvPr/>
        </p:nvPicPr>
        <p:blipFill>
          <a:blip r:embed="rId3">
            <a:alphaModFix/>
          </a:blip>
          <a:stretch>
            <a:fillRect/>
          </a:stretch>
        </p:blipFill>
        <p:spPr>
          <a:xfrm>
            <a:off x="729450" y="2482975"/>
            <a:ext cx="1936678" cy="2355725"/>
          </a:xfrm>
          <a:prstGeom prst="rect">
            <a:avLst/>
          </a:prstGeom>
          <a:noFill/>
          <a:ln>
            <a:noFill/>
          </a:ln>
        </p:spPr>
      </p:pic>
      <p:pic>
        <p:nvPicPr>
          <p:cNvPr id="636" name="Google Shape;636;p93"/>
          <p:cNvPicPr preferRelativeResize="0"/>
          <p:nvPr/>
        </p:nvPicPr>
        <p:blipFill>
          <a:blip r:embed="rId4">
            <a:alphaModFix/>
          </a:blip>
          <a:stretch>
            <a:fillRect/>
          </a:stretch>
        </p:blipFill>
        <p:spPr>
          <a:xfrm>
            <a:off x="2966775" y="2630500"/>
            <a:ext cx="2586800" cy="2060675"/>
          </a:xfrm>
          <a:prstGeom prst="rect">
            <a:avLst/>
          </a:prstGeom>
          <a:noFill/>
          <a:ln>
            <a:noFill/>
          </a:ln>
        </p:spPr>
      </p:pic>
      <p:sp>
        <p:nvSpPr>
          <p:cNvPr id="637" name="Google Shape;637;p93"/>
          <p:cNvSpPr txBox="1"/>
          <p:nvPr/>
        </p:nvSpPr>
        <p:spPr>
          <a:xfrm>
            <a:off x="5729000" y="3209150"/>
            <a:ext cx="329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¿Vemos “tendencia” al agrupamiento aquí?</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0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10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p:txBody>
      </p:sp>
      <p:sp>
        <p:nvSpPr>
          <p:cNvPr id="643" name="Google Shape;643;p94"/>
          <p:cNvSpPr txBox="1"/>
          <p:nvPr>
            <p:ph idx="1" type="body"/>
          </p:nvPr>
        </p:nvSpPr>
        <p:spPr>
          <a:xfrm>
            <a:off x="729450" y="2078875"/>
            <a:ext cx="7688700" cy="404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¿Qué observamos entre estas dos muestras? ¿Cuál tiene tendencia al agrupamiento?</a:t>
            </a:r>
            <a:endParaRPr/>
          </a:p>
        </p:txBody>
      </p:sp>
      <p:pic>
        <p:nvPicPr>
          <p:cNvPr id="644" name="Google Shape;644;p94"/>
          <p:cNvPicPr preferRelativeResize="0"/>
          <p:nvPr/>
        </p:nvPicPr>
        <p:blipFill>
          <a:blip r:embed="rId3">
            <a:alphaModFix/>
          </a:blip>
          <a:stretch>
            <a:fillRect/>
          </a:stretch>
        </p:blipFill>
        <p:spPr>
          <a:xfrm>
            <a:off x="1371600" y="2482975"/>
            <a:ext cx="6400800" cy="22860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5"/>
          <p:cNvSpPr txBox="1"/>
          <p:nvPr>
            <p:ph type="title"/>
          </p:nvPr>
        </p:nvSpPr>
        <p:spPr>
          <a:xfrm>
            <a:off x="677575" y="562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0" name="Google Shape;650;p95"/>
          <p:cNvSpPr txBox="1"/>
          <p:nvPr>
            <p:ph idx="1" type="body"/>
          </p:nvPr>
        </p:nvSpPr>
        <p:spPr>
          <a:xfrm>
            <a:off x="727650" y="1330325"/>
            <a:ext cx="7688700" cy="603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La idea es comparar una muestra cualquiera con una muestra uniforme (creada de forma aleatoria) y ver </a:t>
            </a:r>
            <a:r>
              <a:rPr lang="en">
                <a:solidFill>
                  <a:srgbClr val="000000"/>
                </a:solidFill>
              </a:rPr>
              <a:t>cómo</a:t>
            </a:r>
            <a:r>
              <a:rPr lang="en">
                <a:solidFill>
                  <a:srgbClr val="000000"/>
                </a:solidFill>
              </a:rPr>
              <a:t> se distribuyen los ejemplos (los puntos) en dicho espacio.</a:t>
            </a:r>
            <a:endParaRPr>
              <a:solidFill>
                <a:srgbClr val="000000"/>
              </a:solidFill>
            </a:endParaRPr>
          </a:p>
        </p:txBody>
      </p:sp>
      <p:sp>
        <p:nvSpPr>
          <p:cNvPr id="651" name="Google Shape;651;p95"/>
          <p:cNvSpPr txBox="1"/>
          <p:nvPr/>
        </p:nvSpPr>
        <p:spPr>
          <a:xfrm>
            <a:off x="147450" y="1993675"/>
            <a:ext cx="88491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S</a:t>
            </a:r>
            <a:r>
              <a:rPr lang="en" sz="1200"/>
              <a:t>ea D un conjunto de datos reales: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AutoNum type="arabicPeriod"/>
            </a:pPr>
            <a:r>
              <a:rPr lang="en" sz="1200"/>
              <a:t>Tomar una muestra uniformemente de </a:t>
            </a:r>
            <a:r>
              <a:rPr b="1" i="1" lang="en" sz="1200"/>
              <a:t>n</a:t>
            </a:r>
            <a:r>
              <a:rPr lang="en" sz="1200"/>
              <a:t> puntos (p</a:t>
            </a:r>
            <a:r>
              <a:rPr baseline="-25000" lang="en" sz="1200"/>
              <a:t>1</a:t>
            </a:r>
            <a:r>
              <a:rPr lang="en" sz="1200"/>
              <a:t>,…, p</a:t>
            </a:r>
            <a:r>
              <a:rPr baseline="-25000" lang="en" sz="1200"/>
              <a:t>n</a:t>
            </a:r>
            <a:r>
              <a:rPr lang="en" sz="1200"/>
              <a:t>) de D.</a:t>
            </a:r>
            <a:endParaRPr sz="1200"/>
          </a:p>
          <a:p>
            <a:pPr indent="-304800" lvl="0" marL="457200" rtl="0" algn="l">
              <a:spcBef>
                <a:spcPts val="0"/>
              </a:spcBef>
              <a:spcAft>
                <a:spcPts val="0"/>
              </a:spcAft>
              <a:buSzPts val="1200"/>
              <a:buAutoNum type="arabicPeriod"/>
            </a:pPr>
            <a:r>
              <a:rPr lang="en" sz="1200"/>
              <a:t>Calcular la distancia, </a:t>
            </a:r>
            <a:r>
              <a:rPr b="1" i="1" lang="en" sz="1200"/>
              <a:t>x</a:t>
            </a:r>
            <a:r>
              <a:rPr b="1" baseline="-25000" i="1" lang="en" sz="1200"/>
              <a:t>i</a:t>
            </a:r>
            <a:r>
              <a:rPr lang="en" sz="1200"/>
              <a:t>, de cada punto </a:t>
            </a:r>
            <a:r>
              <a:rPr b="1" lang="en" sz="1200"/>
              <a:t>real</a:t>
            </a:r>
            <a:r>
              <a:rPr lang="en" sz="1200"/>
              <a:t> a cada vecino más cercano. </a:t>
            </a:r>
            <a:endParaRPr sz="1200"/>
          </a:p>
          <a:p>
            <a:pPr indent="-304800" lvl="1" marL="914400" rtl="0" algn="l">
              <a:spcBef>
                <a:spcPts val="0"/>
              </a:spcBef>
              <a:spcAft>
                <a:spcPts val="0"/>
              </a:spcAft>
              <a:buSzPts val="1200"/>
              <a:buAutoNum type="alphaLcPeriod"/>
            </a:pPr>
            <a:r>
              <a:rPr lang="en" sz="1200"/>
              <a:t>Para cada punto </a:t>
            </a:r>
            <a:r>
              <a:rPr b="1" i="1" lang="en" sz="1200"/>
              <a:t>p</a:t>
            </a:r>
            <a:r>
              <a:rPr b="1" baseline="-25000" i="1" lang="en" sz="1200"/>
              <a:t>i</a:t>
            </a:r>
            <a:r>
              <a:rPr lang="en" sz="1200"/>
              <a:t> ∈ D, encuentre su vecino más cercano </a:t>
            </a:r>
            <a:r>
              <a:rPr b="1" i="1" lang="en" sz="1200"/>
              <a:t>p</a:t>
            </a:r>
            <a:r>
              <a:rPr b="1" baseline="-25000" i="1" lang="en" sz="1200"/>
              <a:t>j</a:t>
            </a:r>
            <a:r>
              <a:rPr lang="en" sz="1200"/>
              <a:t>; l</a:t>
            </a:r>
            <a:endParaRPr sz="1200"/>
          </a:p>
          <a:p>
            <a:pPr indent="-304800" lvl="1" marL="914400" rtl="0" algn="l">
              <a:spcBef>
                <a:spcPts val="0"/>
              </a:spcBef>
              <a:spcAft>
                <a:spcPts val="0"/>
              </a:spcAft>
              <a:buSzPts val="1200"/>
              <a:buAutoNum type="alphaLcPeriod"/>
            </a:pPr>
            <a:r>
              <a:rPr lang="en" sz="1200"/>
              <a:t>calcular la distancia entre </a:t>
            </a:r>
            <a:r>
              <a:rPr b="1" i="1" lang="en" sz="1200"/>
              <a:t>p</a:t>
            </a:r>
            <a:r>
              <a:rPr b="1" baseline="-25000" i="1" lang="en" sz="1200"/>
              <a:t>i</a:t>
            </a:r>
            <a:r>
              <a:rPr lang="en" sz="1200"/>
              <a:t> y </a:t>
            </a:r>
            <a:r>
              <a:rPr b="1" i="1" lang="en" sz="1200"/>
              <a:t>p</a:t>
            </a:r>
            <a:r>
              <a:rPr b="1" baseline="-25000" i="1" lang="en" sz="1200"/>
              <a:t>j</a:t>
            </a:r>
            <a:r>
              <a:rPr lang="en" sz="1200"/>
              <a:t> y llámela</a:t>
            </a:r>
            <a:r>
              <a:rPr b="1" i="1" lang="en" sz="1200"/>
              <a:t> x</a:t>
            </a:r>
            <a:r>
              <a:rPr b="1" baseline="-25000" i="1" lang="en" sz="1200"/>
              <a:t>i</a:t>
            </a:r>
            <a:r>
              <a:rPr lang="en" sz="1200"/>
              <a:t>=</a:t>
            </a:r>
            <a:r>
              <a:rPr b="1" i="1" lang="en" sz="1200"/>
              <a:t>dist</a:t>
            </a:r>
            <a:r>
              <a:rPr lang="en" sz="1200"/>
              <a:t>(</a:t>
            </a:r>
            <a:r>
              <a:rPr b="1" i="1" lang="en" sz="1200"/>
              <a:t>p</a:t>
            </a:r>
            <a:r>
              <a:rPr b="1" baseline="-25000" i="1" lang="en" sz="1200"/>
              <a:t>i</a:t>
            </a:r>
            <a:r>
              <a:rPr lang="en" sz="1200"/>
              <a:t> , </a:t>
            </a:r>
            <a:r>
              <a:rPr b="1" i="1" lang="en" sz="1200"/>
              <a:t>p</a:t>
            </a:r>
            <a:r>
              <a:rPr b="1" baseline="-25000" i="1" lang="en" sz="1200"/>
              <a:t>j</a:t>
            </a:r>
            <a:r>
              <a:rPr lang="en" sz="1200"/>
              <a:t>)</a:t>
            </a:r>
            <a:endParaRPr sz="1200"/>
          </a:p>
          <a:p>
            <a:pPr indent="-304800" lvl="0" marL="457200" rtl="0" algn="l">
              <a:spcBef>
                <a:spcPts val="0"/>
              </a:spcBef>
              <a:spcAft>
                <a:spcPts val="0"/>
              </a:spcAft>
              <a:buSzPts val="1200"/>
              <a:buAutoNum type="arabicPeriod"/>
            </a:pPr>
            <a:r>
              <a:rPr lang="en" sz="1200"/>
              <a:t>Generar un conjunto de datos simulados (</a:t>
            </a:r>
            <a:r>
              <a:rPr b="1" i="1" lang="en" sz="1200"/>
              <a:t>random</a:t>
            </a:r>
            <a:r>
              <a:rPr b="1" baseline="-25000" i="1" lang="en" sz="1200"/>
              <a:t>D</a:t>
            </a:r>
            <a:r>
              <a:rPr lang="en" sz="1200"/>
              <a:t>) extraído de una distribución uniforme aleatoria con </a:t>
            </a:r>
            <a:r>
              <a:rPr b="1" i="1" lang="en" sz="1200"/>
              <a:t>n</a:t>
            </a:r>
            <a:r>
              <a:rPr lang="en" sz="1200"/>
              <a:t> puntos (q</a:t>
            </a:r>
            <a:r>
              <a:rPr baseline="-25000" lang="en" sz="1200"/>
              <a:t>1</a:t>
            </a:r>
            <a:r>
              <a:rPr lang="en" sz="1200"/>
              <a:t>,…, q</a:t>
            </a:r>
            <a:r>
              <a:rPr baseline="-25000" lang="en" sz="1200"/>
              <a:t>n</a:t>
            </a:r>
            <a:r>
              <a:rPr lang="en" sz="1200"/>
              <a:t>)</a:t>
            </a:r>
            <a:r>
              <a:rPr lang="en" sz="1200"/>
              <a:t> y la misma variación que el conjunto de datos reales original </a:t>
            </a:r>
            <a:r>
              <a:rPr b="1" lang="en" sz="1200"/>
              <a:t>D</a:t>
            </a:r>
            <a:r>
              <a:rPr lang="en" sz="1200"/>
              <a:t>.</a:t>
            </a:r>
            <a:endParaRPr sz="1200"/>
          </a:p>
          <a:p>
            <a:pPr indent="-304800" lvl="0" marL="457200" rtl="0" algn="l">
              <a:spcBef>
                <a:spcPts val="0"/>
              </a:spcBef>
              <a:spcAft>
                <a:spcPts val="0"/>
              </a:spcAft>
              <a:buSzPts val="1200"/>
              <a:buAutoNum type="arabicPeriod"/>
            </a:pPr>
            <a:r>
              <a:rPr lang="en" sz="1200"/>
              <a:t>Calcular</a:t>
            </a:r>
            <a:r>
              <a:rPr lang="en" sz="1200"/>
              <a:t> la distancia, </a:t>
            </a:r>
            <a:r>
              <a:rPr b="1" i="1" lang="en" sz="1200"/>
              <a:t>y</a:t>
            </a:r>
            <a:r>
              <a:rPr b="1" baseline="-25000" i="1" lang="en" sz="1200"/>
              <a:t>i</a:t>
            </a:r>
            <a:r>
              <a:rPr lang="en" sz="1200"/>
              <a:t> desde cada punto artificial hasta el punto de datos </a:t>
            </a:r>
            <a:r>
              <a:rPr b="1" i="1" lang="en" sz="1200"/>
              <a:t>real</a:t>
            </a:r>
            <a:r>
              <a:rPr lang="en" sz="1200"/>
              <a:t> más cercano.</a:t>
            </a:r>
            <a:endParaRPr sz="1200"/>
          </a:p>
          <a:p>
            <a:pPr indent="-304800" lvl="1" marL="914400" rtl="0" algn="l">
              <a:spcBef>
                <a:spcPts val="0"/>
              </a:spcBef>
              <a:spcAft>
                <a:spcPts val="0"/>
              </a:spcAft>
              <a:buSzPts val="1200"/>
              <a:buAutoNum type="alphaLcPeriod"/>
            </a:pPr>
            <a:r>
              <a:rPr lang="en" sz="1200"/>
              <a:t>Para cada punto </a:t>
            </a:r>
            <a:r>
              <a:rPr b="1" i="1" lang="en" sz="1200"/>
              <a:t>q</a:t>
            </a:r>
            <a:r>
              <a:rPr b="1" baseline="-25000" i="1" lang="en" sz="1200"/>
              <a:t>i</a:t>
            </a:r>
            <a:r>
              <a:rPr b="1" i="1" lang="en" sz="1200"/>
              <a:t> </a:t>
            </a:r>
            <a:r>
              <a:rPr lang="en" sz="1200"/>
              <a:t>∈ </a:t>
            </a:r>
            <a:r>
              <a:rPr b="1" i="1" lang="en" sz="1200"/>
              <a:t>random</a:t>
            </a:r>
            <a:r>
              <a:rPr b="1" baseline="-25000" i="1" lang="en" sz="1200"/>
              <a:t>D</a:t>
            </a:r>
            <a:r>
              <a:rPr lang="en" sz="1200"/>
              <a:t>, encuentre su vecino más cercano </a:t>
            </a:r>
            <a:r>
              <a:rPr b="1" i="1" lang="en" sz="1200"/>
              <a:t>q</a:t>
            </a:r>
            <a:r>
              <a:rPr b="1" baseline="-25000" i="1" lang="en" sz="1200"/>
              <a:t>j</a:t>
            </a:r>
            <a:r>
              <a:rPr lang="en" sz="1200"/>
              <a:t> en </a:t>
            </a:r>
            <a:r>
              <a:rPr b="1" lang="en" sz="1200"/>
              <a:t>D</a:t>
            </a:r>
            <a:endParaRPr sz="1200"/>
          </a:p>
          <a:p>
            <a:pPr indent="-304800" lvl="1" marL="914400" rtl="0" algn="l">
              <a:spcBef>
                <a:spcPts val="0"/>
              </a:spcBef>
              <a:spcAft>
                <a:spcPts val="0"/>
              </a:spcAft>
              <a:buSzPts val="1200"/>
              <a:buAutoNum type="alphaLcPeriod"/>
            </a:pPr>
            <a:r>
              <a:rPr lang="en" sz="1200"/>
              <a:t>calcular</a:t>
            </a:r>
            <a:r>
              <a:rPr lang="en" sz="1200"/>
              <a:t> la distancia entre </a:t>
            </a:r>
            <a:r>
              <a:rPr b="1" i="1" lang="en" sz="1200"/>
              <a:t>q</a:t>
            </a:r>
            <a:r>
              <a:rPr b="1" baseline="-25000" i="1" lang="en" sz="1200"/>
              <a:t>i</a:t>
            </a:r>
            <a:r>
              <a:rPr lang="en" sz="1200"/>
              <a:t> y </a:t>
            </a:r>
            <a:r>
              <a:rPr b="1" i="1" lang="en" sz="1200"/>
              <a:t>q</a:t>
            </a:r>
            <a:r>
              <a:rPr b="1" baseline="-25000" i="1" lang="en" sz="1200"/>
              <a:t>j</a:t>
            </a:r>
            <a:r>
              <a:rPr lang="en" sz="1200"/>
              <a:t> y </a:t>
            </a:r>
            <a:r>
              <a:rPr lang="en" sz="1200"/>
              <a:t>llámela </a:t>
            </a:r>
            <a:r>
              <a:rPr b="1" i="1" lang="en" sz="1200"/>
              <a:t>y</a:t>
            </a:r>
            <a:r>
              <a:rPr b="1" baseline="-25000" i="1" lang="en" sz="1200"/>
              <a:t>i</a:t>
            </a:r>
            <a:r>
              <a:rPr lang="en" sz="1200"/>
              <a:t>=</a:t>
            </a:r>
            <a:r>
              <a:rPr b="1" i="1" lang="en" sz="1200"/>
              <a:t>dist</a:t>
            </a:r>
            <a:r>
              <a:rPr lang="en" sz="1200"/>
              <a:t>(</a:t>
            </a:r>
            <a:r>
              <a:rPr b="1" i="1" lang="en" sz="1200"/>
              <a:t>q</a:t>
            </a:r>
            <a:r>
              <a:rPr b="1" baseline="-25000" i="1" lang="en" sz="1200"/>
              <a:t>i</a:t>
            </a:r>
            <a:r>
              <a:rPr lang="en" sz="1200"/>
              <a:t> , </a:t>
            </a:r>
            <a:r>
              <a:rPr b="1" i="1" lang="en" sz="1200"/>
              <a:t>q</a:t>
            </a:r>
            <a:r>
              <a:rPr b="1" baseline="-25000" i="1" lang="en" sz="1200"/>
              <a:t>j</a:t>
            </a:r>
            <a:r>
              <a:rPr lang="en" sz="1200"/>
              <a:t>)</a:t>
            </a:r>
            <a:endParaRPr sz="1200"/>
          </a:p>
          <a:p>
            <a:pPr indent="-304800" lvl="0" marL="457200" rtl="0" algn="l">
              <a:spcBef>
                <a:spcPts val="0"/>
              </a:spcBef>
              <a:spcAft>
                <a:spcPts val="0"/>
              </a:spcAft>
              <a:buSzPts val="1200"/>
              <a:buAutoNum type="arabicPeriod"/>
            </a:pPr>
            <a:r>
              <a:rPr lang="en" sz="1200"/>
              <a:t>Calcule la estadística de </a:t>
            </a:r>
            <a:r>
              <a:rPr b="1" lang="en" sz="1200"/>
              <a:t>Hopkins (H)</a:t>
            </a:r>
            <a:r>
              <a:rPr lang="en" sz="1200"/>
              <a:t> como: la distancia media del vecino más cercano en el conjunto de datos aleatorios dividida por la suma de las distancias medias del vecino más cercano en el conjunto de datos real y simulado.</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0" st="0"/>
                                            </p:txEl>
                                          </p:spTgt>
                                        </p:tgtEl>
                                        <p:attrNameLst>
                                          <p:attrName>style.visibility</p:attrName>
                                        </p:attrNameLst>
                                      </p:cBhvr>
                                      <p:to>
                                        <p:strVal val="visible"/>
                                      </p:to>
                                    </p:set>
                                    <p:animEffect filter="fade" transition="in">
                                      <p:cBhvr>
                                        <p:cTn dur="1000"/>
                                        <p:tgtEl>
                                          <p:spTgt spid="6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1" st="1"/>
                                            </p:txEl>
                                          </p:spTgt>
                                        </p:tgtEl>
                                        <p:attrNameLst>
                                          <p:attrName>style.visibility</p:attrName>
                                        </p:attrNameLst>
                                      </p:cBhvr>
                                      <p:to>
                                        <p:strVal val="visible"/>
                                      </p:to>
                                    </p:set>
                                    <p:animEffect filter="fade" transition="in">
                                      <p:cBhvr>
                                        <p:cTn dur="1000"/>
                                        <p:tgtEl>
                                          <p:spTgt spid="6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2" st="2"/>
                                            </p:txEl>
                                          </p:spTgt>
                                        </p:tgtEl>
                                        <p:attrNameLst>
                                          <p:attrName>style.visibility</p:attrName>
                                        </p:attrNameLst>
                                      </p:cBhvr>
                                      <p:to>
                                        <p:strVal val="visible"/>
                                      </p:to>
                                    </p:set>
                                    <p:animEffect filter="fade" transition="in">
                                      <p:cBhvr>
                                        <p:cTn dur="1000"/>
                                        <p:tgtEl>
                                          <p:spTgt spid="6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3" st="3"/>
                                            </p:txEl>
                                          </p:spTgt>
                                        </p:tgtEl>
                                        <p:attrNameLst>
                                          <p:attrName>style.visibility</p:attrName>
                                        </p:attrNameLst>
                                      </p:cBhvr>
                                      <p:to>
                                        <p:strVal val="visible"/>
                                      </p:to>
                                    </p:set>
                                    <p:animEffect filter="fade" transition="in">
                                      <p:cBhvr>
                                        <p:cTn dur="1000"/>
                                        <p:tgtEl>
                                          <p:spTgt spid="6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4" st="4"/>
                                            </p:txEl>
                                          </p:spTgt>
                                        </p:tgtEl>
                                        <p:attrNameLst>
                                          <p:attrName>style.visibility</p:attrName>
                                        </p:attrNameLst>
                                      </p:cBhvr>
                                      <p:to>
                                        <p:strVal val="visible"/>
                                      </p:to>
                                    </p:set>
                                    <p:animEffect filter="fade" transition="in">
                                      <p:cBhvr>
                                        <p:cTn dur="1000"/>
                                        <p:tgtEl>
                                          <p:spTgt spid="6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5" st="5"/>
                                            </p:txEl>
                                          </p:spTgt>
                                        </p:tgtEl>
                                        <p:attrNameLst>
                                          <p:attrName>style.visibility</p:attrName>
                                        </p:attrNameLst>
                                      </p:cBhvr>
                                      <p:to>
                                        <p:strVal val="visible"/>
                                      </p:to>
                                    </p:set>
                                    <p:animEffect filter="fade" transition="in">
                                      <p:cBhvr>
                                        <p:cTn dur="1000"/>
                                        <p:tgtEl>
                                          <p:spTgt spid="6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6" st="6"/>
                                            </p:txEl>
                                          </p:spTgt>
                                        </p:tgtEl>
                                        <p:attrNameLst>
                                          <p:attrName>style.visibility</p:attrName>
                                        </p:attrNameLst>
                                      </p:cBhvr>
                                      <p:to>
                                        <p:strVal val="visible"/>
                                      </p:to>
                                    </p:set>
                                    <p:animEffect filter="fade" transition="in">
                                      <p:cBhvr>
                                        <p:cTn dur="1000"/>
                                        <p:tgtEl>
                                          <p:spTgt spid="6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7" st="7"/>
                                            </p:txEl>
                                          </p:spTgt>
                                        </p:tgtEl>
                                        <p:attrNameLst>
                                          <p:attrName>style.visibility</p:attrName>
                                        </p:attrNameLst>
                                      </p:cBhvr>
                                      <p:to>
                                        <p:strVal val="visible"/>
                                      </p:to>
                                    </p:set>
                                    <p:animEffect filter="fade" transition="in">
                                      <p:cBhvr>
                                        <p:cTn dur="1000"/>
                                        <p:tgtEl>
                                          <p:spTgt spid="6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8" st="8"/>
                                            </p:txEl>
                                          </p:spTgt>
                                        </p:tgtEl>
                                        <p:attrNameLst>
                                          <p:attrName>style.visibility</p:attrName>
                                        </p:attrNameLst>
                                      </p:cBhvr>
                                      <p:to>
                                        <p:strVal val="visible"/>
                                      </p:to>
                                    </p:set>
                                    <p:animEffect filter="fade" transition="in">
                                      <p:cBhvr>
                                        <p:cTn dur="1000"/>
                                        <p:tgtEl>
                                          <p:spTgt spid="6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9" st="9"/>
                                            </p:txEl>
                                          </p:spTgt>
                                        </p:tgtEl>
                                        <p:attrNameLst>
                                          <p:attrName>style.visibility</p:attrName>
                                        </p:attrNameLst>
                                      </p:cBhvr>
                                      <p:to>
                                        <p:strVal val="visible"/>
                                      </p:to>
                                    </p:set>
                                    <p:animEffect filter="fade" transition="in">
                                      <p:cBhvr>
                                        <p:cTn dur="1000"/>
                                        <p:tgtEl>
                                          <p:spTgt spid="6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10" st="10"/>
                                            </p:txEl>
                                          </p:spTgt>
                                        </p:tgtEl>
                                        <p:attrNameLst>
                                          <p:attrName>style.visibility</p:attrName>
                                        </p:attrNameLst>
                                      </p:cBhvr>
                                      <p:to>
                                        <p:strVal val="visible"/>
                                      </p:to>
                                    </p:set>
                                    <p:animEffect filter="fade" transition="in">
                                      <p:cBhvr>
                                        <p:cTn dur="1000"/>
                                        <p:tgtEl>
                                          <p:spTgt spid="65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57" name="Google Shape;657;p96"/>
          <p:cNvPicPr preferRelativeResize="0"/>
          <p:nvPr/>
        </p:nvPicPr>
        <p:blipFill>
          <a:blip r:embed="rId3">
            <a:alphaModFix/>
          </a:blip>
          <a:stretch>
            <a:fillRect/>
          </a:stretch>
        </p:blipFill>
        <p:spPr>
          <a:xfrm>
            <a:off x="729450" y="1991425"/>
            <a:ext cx="2381250" cy="1676400"/>
          </a:xfrm>
          <a:prstGeom prst="rect">
            <a:avLst/>
          </a:prstGeom>
          <a:noFill/>
          <a:ln>
            <a:noFill/>
          </a:ln>
        </p:spPr>
      </p:pic>
      <p:sp>
        <p:nvSpPr>
          <p:cNvPr id="658" name="Google Shape;658;p96"/>
          <p:cNvSpPr txBox="1"/>
          <p:nvPr/>
        </p:nvSpPr>
        <p:spPr>
          <a:xfrm>
            <a:off x="4022250" y="1805075"/>
            <a:ext cx="43959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Lato"/>
                <a:ea typeface="Lato"/>
                <a:cs typeface="Lato"/>
                <a:sym typeface="Lato"/>
              </a:rPr>
              <a:t>¿Cómo interpretar la estadística de Hopkins? </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Si D está distribuida de forma uniforme, entonces ∑ x</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y </a:t>
            </a:r>
            <a:r>
              <a:rPr lang="en">
                <a:solidFill>
                  <a:schemeClr val="accent1"/>
                </a:solidFill>
                <a:latin typeface="Lato"/>
                <a:ea typeface="Lato"/>
                <a:cs typeface="Lato"/>
                <a:sym typeface="Lato"/>
              </a:rPr>
              <a:t>∑ y</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a:t>
            </a:r>
            <a:r>
              <a:rPr lang="en">
                <a:solidFill>
                  <a:schemeClr val="accent1"/>
                </a:solidFill>
                <a:latin typeface="Lato"/>
                <a:ea typeface="Lato"/>
                <a:cs typeface="Lato"/>
                <a:sym typeface="Lato"/>
              </a:rPr>
              <a:t>  serían muy parecidos, entonces H sería aproximadamente ½ (0.5). </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Pero si hay </a:t>
            </a:r>
            <a:r>
              <a:rPr lang="en">
                <a:solidFill>
                  <a:schemeClr val="accent1"/>
                </a:solidFill>
                <a:latin typeface="Lato"/>
                <a:ea typeface="Lato"/>
                <a:cs typeface="Lato"/>
                <a:sym typeface="Lato"/>
              </a:rPr>
              <a:t>clústeres</a:t>
            </a:r>
            <a:r>
              <a:rPr lang="en">
                <a:solidFill>
                  <a:schemeClr val="accent1"/>
                </a:solidFill>
                <a:latin typeface="Lato"/>
                <a:ea typeface="Lato"/>
                <a:cs typeface="Lato"/>
                <a:sym typeface="Lato"/>
              </a:rPr>
              <a:t> en D, las distancias de los puntos artificiales </a:t>
            </a:r>
            <a:r>
              <a:rPr lang="en">
                <a:solidFill>
                  <a:schemeClr val="accent1"/>
                </a:solidFill>
                <a:latin typeface="Lato"/>
                <a:ea typeface="Lato"/>
                <a:cs typeface="Lato"/>
                <a:sym typeface="Lato"/>
              </a:rPr>
              <a:t>∑ y</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serían mucho más grandes que las distancias de los puntos reales: </a:t>
            </a:r>
            <a:r>
              <a:rPr lang="en">
                <a:solidFill>
                  <a:schemeClr val="accent1"/>
                </a:solidFill>
                <a:latin typeface="Lato"/>
                <a:ea typeface="Lato"/>
                <a:cs typeface="Lato"/>
                <a:sym typeface="Lato"/>
              </a:rPr>
              <a:t> ∑ x</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y por lo tanto H sería mayor que 0.5.</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Un valor de H superior a 0,75 indica una tendencia a la agrupación en un nivel de confianza del 90 %.</a:t>
            </a:r>
            <a:endParaRPr>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0" st="0"/>
                                            </p:txEl>
                                          </p:spTgt>
                                        </p:tgtEl>
                                        <p:attrNameLst>
                                          <p:attrName>style.visibility</p:attrName>
                                        </p:attrNameLst>
                                      </p:cBhvr>
                                      <p:to>
                                        <p:strVal val="visible"/>
                                      </p:to>
                                    </p:set>
                                    <p:animEffect filter="fade" transition="in">
                                      <p:cBhvr>
                                        <p:cTn dur="1000"/>
                                        <p:tgtEl>
                                          <p:spTgt spid="6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1" st="1"/>
                                            </p:txEl>
                                          </p:spTgt>
                                        </p:tgtEl>
                                        <p:attrNameLst>
                                          <p:attrName>style.visibility</p:attrName>
                                        </p:attrNameLst>
                                      </p:cBhvr>
                                      <p:to>
                                        <p:strVal val="visible"/>
                                      </p:to>
                                    </p:set>
                                    <p:animEffect filter="fade" transition="in">
                                      <p:cBhvr>
                                        <p:cTn dur="1000"/>
                                        <p:tgtEl>
                                          <p:spTgt spid="6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2" st="2"/>
                                            </p:txEl>
                                          </p:spTgt>
                                        </p:tgtEl>
                                        <p:attrNameLst>
                                          <p:attrName>style.visibility</p:attrName>
                                        </p:attrNameLst>
                                      </p:cBhvr>
                                      <p:to>
                                        <p:strVal val="visible"/>
                                      </p:to>
                                    </p:set>
                                    <p:animEffect filter="fade" transition="in">
                                      <p:cBhvr>
                                        <p:cTn dur="1000"/>
                                        <p:tgtEl>
                                          <p:spTgt spid="6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3" st="3"/>
                                            </p:txEl>
                                          </p:spTgt>
                                        </p:tgtEl>
                                        <p:attrNameLst>
                                          <p:attrName>style.visibility</p:attrName>
                                        </p:attrNameLst>
                                      </p:cBhvr>
                                      <p:to>
                                        <p:strVal val="visible"/>
                                      </p:to>
                                    </p:set>
                                    <p:animEffect filter="fade" transition="in">
                                      <p:cBhvr>
                                        <p:cTn dur="1000"/>
                                        <p:tgtEl>
                                          <p:spTgt spid="6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4" st="4"/>
                                            </p:txEl>
                                          </p:spTgt>
                                        </p:tgtEl>
                                        <p:attrNameLst>
                                          <p:attrName>style.visibility</p:attrName>
                                        </p:attrNameLst>
                                      </p:cBhvr>
                                      <p:to>
                                        <p:strVal val="visible"/>
                                      </p:to>
                                    </p:set>
                                    <p:animEffect filter="fade" transition="in">
                                      <p:cBhvr>
                                        <p:cTn dur="1000"/>
                                        <p:tgtEl>
                                          <p:spTgt spid="6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5" st="5"/>
                                            </p:txEl>
                                          </p:spTgt>
                                        </p:tgtEl>
                                        <p:attrNameLst>
                                          <p:attrName>style.visibility</p:attrName>
                                        </p:attrNameLst>
                                      </p:cBhvr>
                                      <p:to>
                                        <p:strVal val="visible"/>
                                      </p:to>
                                    </p:set>
                                    <p:animEffect filter="fade" transition="in">
                                      <p:cBhvr>
                                        <p:cTn dur="1000"/>
                                        <p:tgtEl>
                                          <p:spTgt spid="6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xEl>
                                              <p:pRg end="6" st="6"/>
                                            </p:txEl>
                                          </p:spTgt>
                                        </p:tgtEl>
                                        <p:attrNameLst>
                                          <p:attrName>style.visibility</p:attrName>
                                        </p:attrNameLst>
                                      </p:cBhvr>
                                      <p:to>
                                        <p:strVal val="visible"/>
                                      </p:to>
                                    </p:set>
                                    <p:animEffect filter="fade" transition="in">
                                      <p:cBhvr>
                                        <p:cTn dur="1000"/>
                                        <p:tgtEl>
                                          <p:spTgt spid="65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 h</a:t>
            </a:r>
            <a:r>
              <a:rPr lang="en"/>
              <a:t>ipótesis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64" name="Google Shape;664;p97"/>
          <p:cNvSpPr txBox="1"/>
          <p:nvPr/>
        </p:nvSpPr>
        <p:spPr>
          <a:xfrm>
            <a:off x="729450" y="1853850"/>
            <a:ext cx="6625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Lato"/>
                <a:ea typeface="Lato"/>
                <a:cs typeface="Lato"/>
                <a:sym typeface="Lato"/>
              </a:rPr>
              <a:t>Hipótesis</a:t>
            </a:r>
            <a:r>
              <a:rPr lang="en">
                <a:solidFill>
                  <a:schemeClr val="accent1"/>
                </a:solidFill>
                <a:latin typeface="Lato"/>
                <a:ea typeface="Lato"/>
                <a:cs typeface="Lato"/>
                <a:sym typeface="Lato"/>
              </a:rPr>
              <a:t> que maneja Hopkins:</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Hipótesis nula</a:t>
            </a:r>
            <a:r>
              <a:rPr lang="en">
                <a:solidFill>
                  <a:schemeClr val="accent1"/>
                </a:solidFill>
                <a:latin typeface="Lato"/>
                <a:ea typeface="Lato"/>
                <a:cs typeface="Lato"/>
                <a:sym typeface="Lato"/>
              </a:rPr>
              <a:t>: el conjunto de datos D se distribuye uniformemente (es decir, no hay clusters significativos)</a:t>
            </a:r>
            <a:br>
              <a:rPr lang="en">
                <a:solidFill>
                  <a:schemeClr val="accent1"/>
                </a:solidFill>
                <a:latin typeface="Lato"/>
                <a:ea typeface="Lato"/>
                <a:cs typeface="Lato"/>
                <a:sym typeface="Lato"/>
              </a:rPr>
            </a:b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Hipótesis alternativa</a:t>
            </a:r>
            <a:r>
              <a:rPr lang="en">
                <a:solidFill>
                  <a:schemeClr val="accent1"/>
                </a:solidFill>
                <a:latin typeface="Lato"/>
                <a:ea typeface="Lato"/>
                <a:cs typeface="Lato"/>
                <a:sym typeface="Lato"/>
              </a:rPr>
              <a:t>: el conjunto de datos D no está uniformemente distribuido (es decir, contiene clusters significativos)</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665" name="Google Shape;665;p97"/>
          <p:cNvSpPr txBox="1"/>
          <p:nvPr/>
        </p:nvSpPr>
        <p:spPr>
          <a:xfrm>
            <a:off x="266800" y="3609350"/>
            <a:ext cx="8700900" cy="1262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478948"/>
                </a:solidFill>
                <a:latin typeface="Lato"/>
                <a:ea typeface="Lato"/>
                <a:cs typeface="Lato"/>
                <a:sym typeface="Lato"/>
              </a:rPr>
              <a:t>Podemos realizar la prueba de la estadística de Hopkins de forma iterativa, utilizando 0,5 como umbral para rechazar la hipótesis alternativa. </a:t>
            </a:r>
            <a:endParaRPr>
              <a:solidFill>
                <a:srgbClr val="478948"/>
              </a:solidFill>
              <a:latin typeface="Lato"/>
              <a:ea typeface="Lato"/>
              <a:cs typeface="Lato"/>
              <a:sym typeface="Lato"/>
            </a:endParaRPr>
          </a:p>
          <a:p>
            <a:pPr indent="-317500" lvl="0" marL="457200" rtl="0" algn="l">
              <a:lnSpc>
                <a:spcPct val="100000"/>
              </a:lnSpc>
              <a:spcBef>
                <a:spcPts val="0"/>
              </a:spcBef>
              <a:spcAft>
                <a:spcPts val="0"/>
              </a:spcAft>
              <a:buClr>
                <a:srgbClr val="478948"/>
              </a:buClr>
              <a:buSzPts val="1400"/>
              <a:buFont typeface="Lato"/>
              <a:buChar char="●"/>
            </a:pPr>
            <a:r>
              <a:rPr lang="en">
                <a:solidFill>
                  <a:srgbClr val="478948"/>
                </a:solidFill>
                <a:latin typeface="Lato"/>
                <a:ea typeface="Lato"/>
                <a:cs typeface="Lato"/>
                <a:sym typeface="Lato"/>
              </a:rPr>
              <a:t>Es decir, si </a:t>
            </a:r>
            <a:r>
              <a:rPr b="1" lang="en">
                <a:solidFill>
                  <a:srgbClr val="478948"/>
                </a:solidFill>
                <a:latin typeface="Lato"/>
                <a:ea typeface="Lato"/>
                <a:cs typeface="Lato"/>
                <a:sym typeface="Lato"/>
              </a:rPr>
              <a:t>H &lt; 0,5</a:t>
            </a:r>
            <a:r>
              <a:rPr lang="en">
                <a:solidFill>
                  <a:srgbClr val="478948"/>
                </a:solidFill>
                <a:latin typeface="Lato"/>
                <a:ea typeface="Lato"/>
                <a:cs typeface="Lato"/>
                <a:sym typeface="Lato"/>
              </a:rPr>
              <a:t>, es poco probable que D tenga conglomerados estadísticamente significativos.</a:t>
            </a:r>
            <a:endParaRPr>
              <a:solidFill>
                <a:srgbClr val="478948"/>
              </a:solidFill>
              <a:latin typeface="Lato"/>
              <a:ea typeface="Lato"/>
              <a:cs typeface="Lato"/>
              <a:sym typeface="Lato"/>
            </a:endParaRPr>
          </a:p>
          <a:p>
            <a:pPr indent="-317500" lvl="0" marL="457200" rtl="0" algn="l">
              <a:lnSpc>
                <a:spcPct val="100000"/>
              </a:lnSpc>
              <a:spcBef>
                <a:spcPts val="0"/>
              </a:spcBef>
              <a:spcAft>
                <a:spcPts val="0"/>
              </a:spcAft>
              <a:buClr>
                <a:srgbClr val="478948"/>
              </a:buClr>
              <a:buSzPts val="1400"/>
              <a:buFont typeface="Lato"/>
              <a:buChar char="●"/>
            </a:pPr>
            <a:r>
              <a:rPr lang="en">
                <a:solidFill>
                  <a:srgbClr val="478948"/>
                </a:solidFill>
                <a:latin typeface="Lato"/>
                <a:ea typeface="Lato"/>
                <a:cs typeface="Lato"/>
                <a:sym typeface="Lato"/>
              </a:rPr>
              <a:t>O si el valor de la estadística de Hopkins es cercano a 1, entonces podemos rechazar la hipótesis nula y concluir que el conjunto de datos D es significativamente un dato agrupable.</a:t>
            </a:r>
            <a:endParaRPr>
              <a:solidFill>
                <a:srgbClr val="478948"/>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0" st="0"/>
                                            </p:txEl>
                                          </p:spTgt>
                                        </p:tgtEl>
                                        <p:attrNameLst>
                                          <p:attrName>style.visibility</p:attrName>
                                        </p:attrNameLst>
                                      </p:cBhvr>
                                      <p:to>
                                        <p:strVal val="visible"/>
                                      </p:to>
                                    </p:set>
                                    <p:animEffect filter="fade" transition="in">
                                      <p:cBhvr>
                                        <p:cTn dur="1000"/>
                                        <p:tgtEl>
                                          <p:spTgt spid="6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1" st="1"/>
                                            </p:txEl>
                                          </p:spTgt>
                                        </p:tgtEl>
                                        <p:attrNameLst>
                                          <p:attrName>style.visibility</p:attrName>
                                        </p:attrNameLst>
                                      </p:cBhvr>
                                      <p:to>
                                        <p:strVal val="visible"/>
                                      </p:to>
                                    </p:set>
                                    <p:animEffect filter="fade" transition="in">
                                      <p:cBhvr>
                                        <p:cTn dur="1000"/>
                                        <p:tgtEl>
                                          <p:spTgt spid="6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2" st="2"/>
                                            </p:txEl>
                                          </p:spTgt>
                                        </p:tgtEl>
                                        <p:attrNameLst>
                                          <p:attrName>style.visibility</p:attrName>
                                        </p:attrNameLst>
                                      </p:cBhvr>
                                      <p:to>
                                        <p:strVal val="visible"/>
                                      </p:to>
                                    </p:set>
                                    <p:animEffect filter="fade" transition="in">
                                      <p:cBhvr>
                                        <p:cTn dur="1000"/>
                                        <p:tgtEl>
                                          <p:spTgt spid="6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3" st="3"/>
                                            </p:txEl>
                                          </p:spTgt>
                                        </p:tgtEl>
                                        <p:attrNameLst>
                                          <p:attrName>style.visibility</p:attrName>
                                        </p:attrNameLst>
                                      </p:cBhvr>
                                      <p:to>
                                        <p:strVal val="visible"/>
                                      </p:to>
                                    </p:set>
                                    <p:animEffect filter="fade" transition="in">
                                      <p:cBhvr>
                                        <p:cTn dur="1000"/>
                                        <p:tgtEl>
                                          <p:spTgt spid="6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4" st="4"/>
                                            </p:txEl>
                                          </p:spTgt>
                                        </p:tgtEl>
                                        <p:attrNameLst>
                                          <p:attrName>style.visibility</p:attrName>
                                        </p:attrNameLst>
                                      </p:cBhvr>
                                      <p:to>
                                        <p:strVal val="visible"/>
                                      </p:to>
                                    </p:set>
                                    <p:animEffect filter="fade" transition="in">
                                      <p:cBhvr>
                                        <p:cTn dur="1000"/>
                                        <p:tgtEl>
                                          <p:spTgt spid="6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Entrenamiento</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676" name="Google Shape;676;p99"/>
          <p:cNvPicPr preferRelativeResize="0"/>
          <p:nvPr/>
        </p:nvPicPr>
        <p:blipFill>
          <a:blip r:embed="rId3">
            <a:alphaModFix/>
          </a:blip>
          <a:stretch>
            <a:fillRect/>
          </a:stretch>
        </p:blipFill>
        <p:spPr>
          <a:xfrm>
            <a:off x="729451" y="2018449"/>
            <a:ext cx="6088776" cy="248247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682" name="Google Shape;682;p100"/>
          <p:cNvPicPr preferRelativeResize="0"/>
          <p:nvPr/>
        </p:nvPicPr>
        <p:blipFill>
          <a:blip r:embed="rId3">
            <a:alphaModFix/>
          </a:blip>
          <a:stretch>
            <a:fillRect/>
          </a:stretch>
        </p:blipFill>
        <p:spPr>
          <a:xfrm>
            <a:off x="2334700" y="1853850"/>
            <a:ext cx="4289222" cy="29848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688" name="Google Shape;688;p101"/>
          <p:cNvPicPr preferRelativeResize="0"/>
          <p:nvPr/>
        </p:nvPicPr>
        <p:blipFill>
          <a:blip r:embed="rId3">
            <a:alphaModFix/>
          </a:blip>
          <a:stretch>
            <a:fillRect/>
          </a:stretch>
        </p:blipFill>
        <p:spPr>
          <a:xfrm>
            <a:off x="1404975" y="1905550"/>
            <a:ext cx="6334050" cy="28475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balanceados</a:t>
            </a:r>
            <a:endParaRPr/>
          </a:p>
        </p:txBody>
      </p:sp>
      <p:pic>
        <p:nvPicPr>
          <p:cNvPr id="694" name="Google Shape;694;p102"/>
          <p:cNvPicPr preferRelativeResize="0"/>
          <p:nvPr/>
        </p:nvPicPr>
        <p:blipFill>
          <a:blip r:embed="rId3">
            <a:alphaModFix/>
          </a:blip>
          <a:stretch>
            <a:fillRect/>
          </a:stretch>
        </p:blipFill>
        <p:spPr>
          <a:xfrm>
            <a:off x="152400" y="2006250"/>
            <a:ext cx="8839200" cy="265176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Overfitting</a:t>
            </a:r>
            <a:endParaRPr/>
          </a:p>
        </p:txBody>
      </p:sp>
      <p:pic>
        <p:nvPicPr>
          <p:cNvPr id="700" name="Google Shape;700;p103"/>
          <p:cNvPicPr preferRelativeResize="0"/>
          <p:nvPr/>
        </p:nvPicPr>
        <p:blipFill>
          <a:blip r:embed="rId3">
            <a:alphaModFix/>
          </a:blip>
          <a:stretch>
            <a:fillRect/>
          </a:stretch>
        </p:blipFill>
        <p:spPr>
          <a:xfrm>
            <a:off x="729450" y="1959250"/>
            <a:ext cx="6615845" cy="29848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Overfitting</a:t>
            </a:r>
            <a:endParaRPr/>
          </a:p>
        </p:txBody>
      </p:sp>
      <p:pic>
        <p:nvPicPr>
          <p:cNvPr id="706" name="Google Shape;706;p104"/>
          <p:cNvPicPr preferRelativeResize="0"/>
          <p:nvPr/>
        </p:nvPicPr>
        <p:blipFill>
          <a:blip r:embed="rId3">
            <a:alphaModFix/>
          </a:blip>
          <a:stretch>
            <a:fillRect/>
          </a:stretch>
        </p:blipFill>
        <p:spPr>
          <a:xfrm>
            <a:off x="763800" y="1939100"/>
            <a:ext cx="7620000" cy="26479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Métricas de clasificación</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Precision</a:t>
            </a:r>
            <a:endParaRPr/>
          </a:p>
        </p:txBody>
      </p:sp>
      <p:pic>
        <p:nvPicPr>
          <p:cNvPr id="717" name="Google Shape;717;p106"/>
          <p:cNvPicPr preferRelativeResize="0"/>
          <p:nvPr/>
        </p:nvPicPr>
        <p:blipFill>
          <a:blip r:embed="rId3">
            <a:alphaModFix/>
          </a:blip>
          <a:stretch>
            <a:fillRect/>
          </a:stretch>
        </p:blipFill>
        <p:spPr>
          <a:xfrm>
            <a:off x="3328500" y="1853850"/>
            <a:ext cx="5306404" cy="298485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Precisión</a:t>
            </a:r>
            <a:endParaRPr/>
          </a:p>
        </p:txBody>
      </p:sp>
      <p:pic>
        <p:nvPicPr>
          <p:cNvPr id="723" name="Google Shape;723;p107"/>
          <p:cNvPicPr preferRelativeResize="0"/>
          <p:nvPr/>
        </p:nvPicPr>
        <p:blipFill>
          <a:blip r:embed="rId3">
            <a:alphaModFix/>
          </a:blip>
          <a:stretch>
            <a:fillRect/>
          </a:stretch>
        </p:blipFill>
        <p:spPr>
          <a:xfrm>
            <a:off x="358950" y="1853850"/>
            <a:ext cx="2117399" cy="2984850"/>
          </a:xfrm>
          <a:prstGeom prst="rect">
            <a:avLst/>
          </a:prstGeom>
          <a:noFill/>
          <a:ln>
            <a:noFill/>
          </a:ln>
        </p:spPr>
      </p:pic>
      <p:pic>
        <p:nvPicPr>
          <p:cNvPr id="724" name="Google Shape;724;p107"/>
          <p:cNvPicPr preferRelativeResize="0"/>
          <p:nvPr/>
        </p:nvPicPr>
        <p:blipFill>
          <a:blip r:embed="rId4">
            <a:alphaModFix/>
          </a:blip>
          <a:stretch>
            <a:fillRect/>
          </a:stretch>
        </p:blipFill>
        <p:spPr>
          <a:xfrm>
            <a:off x="3515099" y="1853850"/>
            <a:ext cx="2117399" cy="2984850"/>
          </a:xfrm>
          <a:prstGeom prst="rect">
            <a:avLst/>
          </a:prstGeom>
          <a:noFill/>
          <a:ln>
            <a:noFill/>
          </a:ln>
        </p:spPr>
      </p:pic>
      <p:sp>
        <p:nvSpPr>
          <p:cNvPr id="725" name="Google Shape;725;p107"/>
          <p:cNvSpPr txBox="1"/>
          <p:nvPr/>
        </p:nvSpPr>
        <p:spPr>
          <a:xfrm>
            <a:off x="5792600" y="1869725"/>
            <a:ext cx="3235200" cy="233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Lato"/>
              <a:buChar char="●"/>
            </a:pPr>
            <a:r>
              <a:rPr lang="en">
                <a:latin typeface="Lato"/>
                <a:ea typeface="Lato"/>
                <a:cs typeface="Lato"/>
                <a:sym typeface="Lato"/>
              </a:rPr>
              <a:t>Verdaderos Positivos = 3</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Falsos Positivos = 2</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Falsos Negativos = 2</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Verdaderos Negativos =3</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Precisión = VP / VP + FP = 3 / 5</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726" name="Google Shape;726;p107"/>
          <p:cNvSpPr/>
          <p:nvPr/>
        </p:nvSpPr>
        <p:spPr>
          <a:xfrm>
            <a:off x="2476350" y="2942150"/>
            <a:ext cx="1002000" cy="3387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07"/>
          <p:cNvSpPr txBox="1"/>
          <p:nvPr/>
        </p:nvSpPr>
        <p:spPr>
          <a:xfrm>
            <a:off x="4557900" y="1319400"/>
            <a:ext cx="2970300" cy="4155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ato"/>
                <a:ea typeface="Lato"/>
                <a:cs typeface="Lato"/>
                <a:sym typeface="Lato"/>
              </a:rPr>
              <a:t>Clasificación de la red en </a:t>
            </a:r>
            <a:r>
              <a:rPr b="1" lang="en" sz="1500">
                <a:solidFill>
                  <a:srgbClr val="0000FF"/>
                </a:solidFill>
                <a:latin typeface="Lato"/>
                <a:ea typeface="Lato"/>
                <a:cs typeface="Lato"/>
                <a:sym typeface="Lato"/>
              </a:rPr>
              <a:t>azul</a:t>
            </a:r>
            <a:endParaRPr b="1" sz="1500">
              <a:solidFill>
                <a:srgbClr val="0000FF"/>
              </a:solidFill>
              <a:latin typeface="Lato"/>
              <a:ea typeface="Lato"/>
              <a:cs typeface="Lato"/>
              <a:sym typeface="Lato"/>
            </a:endParaRPr>
          </a:p>
        </p:txBody>
      </p:sp>
      <p:sp>
        <p:nvSpPr>
          <p:cNvPr id="728" name="Google Shape;728;p107"/>
          <p:cNvSpPr txBox="1"/>
          <p:nvPr/>
        </p:nvSpPr>
        <p:spPr>
          <a:xfrm>
            <a:off x="4557900" y="4550825"/>
            <a:ext cx="202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latin typeface="Lato"/>
                <a:ea typeface="Lato"/>
                <a:cs typeface="Lato"/>
                <a:sym typeface="Lato"/>
              </a:rPr>
              <a:t>detección de morrones</a:t>
            </a:r>
            <a:endParaRPr>
              <a:solidFill>
                <a:srgbClr val="0000FF"/>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1000"/>
                                        <p:tgtEl>
                                          <p:spTgt spid="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1000"/>
                                        <p:tgtEl>
                                          <p:spTgt spid="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1000"/>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0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0" st="0"/>
                                            </p:txEl>
                                          </p:spTgt>
                                        </p:tgtEl>
                                        <p:attrNameLst>
                                          <p:attrName>style.visibility</p:attrName>
                                        </p:attrNameLst>
                                      </p:cBhvr>
                                      <p:to>
                                        <p:strVal val="visible"/>
                                      </p:to>
                                    </p:set>
                                    <p:animEffect filter="fade" transition="in">
                                      <p:cBhvr>
                                        <p:cTn dur="1000"/>
                                        <p:tgtEl>
                                          <p:spTgt spid="7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1" st="1"/>
                                            </p:txEl>
                                          </p:spTgt>
                                        </p:tgtEl>
                                        <p:attrNameLst>
                                          <p:attrName>style.visibility</p:attrName>
                                        </p:attrNameLst>
                                      </p:cBhvr>
                                      <p:to>
                                        <p:strVal val="visible"/>
                                      </p:to>
                                    </p:set>
                                    <p:animEffect filter="fade" transition="in">
                                      <p:cBhvr>
                                        <p:cTn dur="1000"/>
                                        <p:tgtEl>
                                          <p:spTgt spid="7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2" st="2"/>
                                            </p:txEl>
                                          </p:spTgt>
                                        </p:tgtEl>
                                        <p:attrNameLst>
                                          <p:attrName>style.visibility</p:attrName>
                                        </p:attrNameLst>
                                      </p:cBhvr>
                                      <p:to>
                                        <p:strVal val="visible"/>
                                      </p:to>
                                    </p:set>
                                    <p:animEffect filter="fade" transition="in">
                                      <p:cBhvr>
                                        <p:cTn dur="1000"/>
                                        <p:tgtEl>
                                          <p:spTgt spid="7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3" st="3"/>
                                            </p:txEl>
                                          </p:spTgt>
                                        </p:tgtEl>
                                        <p:attrNameLst>
                                          <p:attrName>style.visibility</p:attrName>
                                        </p:attrNameLst>
                                      </p:cBhvr>
                                      <p:to>
                                        <p:strVal val="visible"/>
                                      </p:to>
                                    </p:set>
                                    <p:animEffect filter="fade" transition="in">
                                      <p:cBhvr>
                                        <p:cTn dur="1000"/>
                                        <p:tgtEl>
                                          <p:spTgt spid="7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4" st="4"/>
                                            </p:txEl>
                                          </p:spTgt>
                                        </p:tgtEl>
                                        <p:attrNameLst>
                                          <p:attrName>style.visibility</p:attrName>
                                        </p:attrNameLst>
                                      </p:cBhvr>
                                      <p:to>
                                        <p:strVal val="visible"/>
                                      </p:to>
                                    </p:set>
                                    <p:animEffect filter="fade" transition="in">
                                      <p:cBhvr>
                                        <p:cTn dur="1000"/>
                                        <p:tgtEl>
                                          <p:spTgt spid="7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5" st="5"/>
                                            </p:txEl>
                                          </p:spTgt>
                                        </p:tgtEl>
                                        <p:attrNameLst>
                                          <p:attrName>style.visibility</p:attrName>
                                        </p:attrNameLst>
                                      </p:cBhvr>
                                      <p:to>
                                        <p:strVal val="visible"/>
                                      </p:to>
                                    </p:set>
                                    <p:animEffect filter="fade" transition="in">
                                      <p:cBhvr>
                                        <p:cTn dur="1000"/>
                                        <p:tgtEl>
                                          <p:spTgt spid="72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6" st="6"/>
                                            </p:txEl>
                                          </p:spTgt>
                                        </p:tgtEl>
                                        <p:attrNameLst>
                                          <p:attrName>style.visibility</p:attrName>
                                        </p:attrNameLst>
                                      </p:cBhvr>
                                      <p:to>
                                        <p:strVal val="visible"/>
                                      </p:to>
                                    </p:set>
                                    <p:animEffect filter="fade" transition="in">
                                      <p:cBhvr>
                                        <p:cTn dur="1000"/>
                                        <p:tgtEl>
                                          <p:spTgt spid="72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7" st="7"/>
                                            </p:txEl>
                                          </p:spTgt>
                                        </p:tgtEl>
                                        <p:attrNameLst>
                                          <p:attrName>style.visibility</p:attrName>
                                        </p:attrNameLst>
                                      </p:cBhvr>
                                      <p:to>
                                        <p:strVal val="visible"/>
                                      </p:to>
                                    </p:set>
                                    <p:animEffect filter="fade" transition="in">
                                      <p:cBhvr>
                                        <p:cTn dur="1000"/>
                                        <p:tgtEl>
                                          <p:spTgt spid="72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8" st="8"/>
                                            </p:txEl>
                                          </p:spTgt>
                                        </p:tgtEl>
                                        <p:attrNameLst>
                                          <p:attrName>style.visibility</p:attrName>
                                        </p:attrNameLst>
                                      </p:cBhvr>
                                      <p:to>
                                        <p:strVal val="visible"/>
                                      </p:to>
                                    </p:set>
                                    <p:animEffect filter="fade" transition="in">
                                      <p:cBhvr>
                                        <p:cTn dur="1000"/>
                                        <p:tgtEl>
                                          <p:spTgt spid="72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xEl>
                                              <p:pRg end="9" st="9"/>
                                            </p:txEl>
                                          </p:spTgt>
                                        </p:tgtEl>
                                        <p:attrNameLst>
                                          <p:attrName>style.visibility</p:attrName>
                                        </p:attrNameLst>
                                      </p:cBhvr>
                                      <p:to>
                                        <p:strVal val="visible"/>
                                      </p:to>
                                    </p:set>
                                    <p:animEffect filter="fade" transition="in">
                                      <p:cBhvr>
                                        <p:cTn dur="1000"/>
                                        <p:tgtEl>
                                          <p:spTgt spid="72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 exhaustividad</a:t>
            </a:r>
            <a:endParaRPr/>
          </a:p>
        </p:txBody>
      </p:sp>
      <p:pic>
        <p:nvPicPr>
          <p:cNvPr id="734" name="Google Shape;734;p108"/>
          <p:cNvPicPr preferRelativeResize="0"/>
          <p:nvPr/>
        </p:nvPicPr>
        <p:blipFill>
          <a:blip r:embed="rId3">
            <a:alphaModFix/>
          </a:blip>
          <a:stretch>
            <a:fillRect/>
          </a:stretch>
        </p:blipFill>
        <p:spPr>
          <a:xfrm>
            <a:off x="826924" y="1869725"/>
            <a:ext cx="2117399" cy="2984850"/>
          </a:xfrm>
          <a:prstGeom prst="rect">
            <a:avLst/>
          </a:prstGeom>
          <a:noFill/>
          <a:ln>
            <a:noFill/>
          </a:ln>
        </p:spPr>
      </p:pic>
      <p:sp>
        <p:nvSpPr>
          <p:cNvPr id="735" name="Google Shape;735;p108"/>
          <p:cNvSpPr txBox="1"/>
          <p:nvPr/>
        </p:nvSpPr>
        <p:spPr>
          <a:xfrm>
            <a:off x="5326950" y="1869725"/>
            <a:ext cx="3327000" cy="212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Lato"/>
              <a:buChar char="●"/>
            </a:pPr>
            <a:r>
              <a:rPr lang="en">
                <a:latin typeface="Lato"/>
                <a:ea typeface="Lato"/>
                <a:cs typeface="Lato"/>
                <a:sym typeface="Lato"/>
              </a:rPr>
              <a:t>Verdaderos Positivos = 3</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Falsos Positivos = 2</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Falsos Negativos = 2</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Verdaderos Negativos =3</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
                <a:latin typeface="Lato"/>
                <a:ea typeface="Lato"/>
                <a:cs typeface="Lato"/>
                <a:sym typeface="Lato"/>
              </a:rPr>
              <a:t>Recall = VP / VP + FN = 3 / 5</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41" name="Google Shape;741;p109"/>
          <p:cNvPicPr preferRelativeResize="0"/>
          <p:nvPr/>
        </p:nvPicPr>
        <p:blipFill>
          <a:blip r:embed="rId3">
            <a:alphaModFix/>
          </a:blip>
          <a:stretch>
            <a:fillRect/>
          </a:stretch>
        </p:blipFill>
        <p:spPr>
          <a:xfrm>
            <a:off x="525675" y="1804638"/>
            <a:ext cx="8096250" cy="31146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47" name="Google Shape;747;p110"/>
          <p:cNvPicPr preferRelativeResize="0"/>
          <p:nvPr/>
        </p:nvPicPr>
        <p:blipFill>
          <a:blip r:embed="rId3">
            <a:alphaModFix/>
          </a:blip>
          <a:stretch>
            <a:fillRect/>
          </a:stretch>
        </p:blipFill>
        <p:spPr>
          <a:xfrm>
            <a:off x="152400" y="2006250"/>
            <a:ext cx="8625994" cy="29848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53" name="Google Shape;753;p111"/>
          <p:cNvPicPr preferRelativeResize="0"/>
          <p:nvPr/>
        </p:nvPicPr>
        <p:blipFill>
          <a:blip r:embed="rId3">
            <a:alphaModFix/>
          </a:blip>
          <a:stretch>
            <a:fillRect/>
          </a:stretch>
        </p:blipFill>
        <p:spPr>
          <a:xfrm>
            <a:off x="152400" y="2006250"/>
            <a:ext cx="8073862" cy="2984851"/>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59" name="Google Shape;759;p112"/>
          <p:cNvPicPr preferRelativeResize="0"/>
          <p:nvPr/>
        </p:nvPicPr>
        <p:blipFill>
          <a:blip r:embed="rId3">
            <a:alphaModFix/>
          </a:blip>
          <a:stretch>
            <a:fillRect/>
          </a:stretch>
        </p:blipFill>
        <p:spPr>
          <a:xfrm>
            <a:off x="5388611" y="643450"/>
            <a:ext cx="3390488" cy="2244783"/>
          </a:xfrm>
          <a:prstGeom prst="rect">
            <a:avLst/>
          </a:prstGeom>
          <a:noFill/>
          <a:ln>
            <a:noFill/>
          </a:ln>
        </p:spPr>
      </p:pic>
      <p:grpSp>
        <p:nvGrpSpPr>
          <p:cNvPr id="760" name="Google Shape;760;p112"/>
          <p:cNvGrpSpPr/>
          <p:nvPr/>
        </p:nvGrpSpPr>
        <p:grpSpPr>
          <a:xfrm>
            <a:off x="5492315" y="3113950"/>
            <a:ext cx="1927166" cy="969600"/>
            <a:chOff x="5568450" y="3113950"/>
            <a:chExt cx="3590100" cy="969600"/>
          </a:xfrm>
        </p:grpSpPr>
        <p:sp>
          <p:nvSpPr>
            <p:cNvPr id="761" name="Google Shape;761;p112"/>
            <p:cNvSpPr txBox="1"/>
            <p:nvPr/>
          </p:nvSpPr>
          <p:spPr>
            <a:xfrm>
              <a:off x="5568450" y="3113950"/>
              <a:ext cx="35901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accent1"/>
                  </a:solidFill>
                  <a:latin typeface="Lato"/>
                  <a:ea typeface="Lato"/>
                  <a:cs typeface="Lato"/>
                  <a:sym typeface="Lato"/>
                </a:rPr>
                <a:t>5 + 7</a:t>
              </a:r>
              <a:endParaRPr sz="1700">
                <a:solidFill>
                  <a:schemeClr val="accent1"/>
                </a:solidFill>
                <a:latin typeface="Lato"/>
                <a:ea typeface="Lato"/>
                <a:cs typeface="Lato"/>
                <a:sym typeface="Lato"/>
              </a:endParaRPr>
            </a:p>
            <a:p>
              <a:pPr indent="0" lvl="0" marL="0" rtl="0" algn="ctr">
                <a:spcBef>
                  <a:spcPts val="0"/>
                </a:spcBef>
                <a:spcAft>
                  <a:spcPts val="0"/>
                </a:spcAft>
                <a:buNone/>
              </a:pPr>
              <a:r>
                <a:t/>
              </a:r>
              <a:endParaRPr sz="1700">
                <a:solidFill>
                  <a:schemeClr val="accent1"/>
                </a:solidFill>
                <a:latin typeface="Lato"/>
                <a:ea typeface="Lato"/>
                <a:cs typeface="Lato"/>
                <a:sym typeface="Lato"/>
              </a:endParaRPr>
            </a:p>
            <a:p>
              <a:pPr indent="0" lvl="0" marL="0" rtl="0" algn="ctr">
                <a:spcBef>
                  <a:spcPts val="0"/>
                </a:spcBef>
                <a:spcAft>
                  <a:spcPts val="0"/>
                </a:spcAft>
                <a:buNone/>
              </a:pPr>
              <a:r>
                <a:rPr lang="en" sz="1700">
                  <a:solidFill>
                    <a:schemeClr val="accent1"/>
                  </a:solidFill>
                  <a:latin typeface="Lato"/>
                  <a:ea typeface="Lato"/>
                  <a:cs typeface="Lato"/>
                  <a:sym typeface="Lato"/>
                </a:rPr>
                <a:t>5+7+3+2</a:t>
              </a:r>
              <a:endParaRPr sz="1700">
                <a:solidFill>
                  <a:schemeClr val="accent1"/>
                </a:solidFill>
                <a:latin typeface="Lato"/>
                <a:ea typeface="Lato"/>
                <a:cs typeface="Lato"/>
                <a:sym typeface="Lato"/>
              </a:endParaRPr>
            </a:p>
          </p:txBody>
        </p:sp>
        <p:cxnSp>
          <p:nvCxnSpPr>
            <p:cNvPr id="762" name="Google Shape;762;p112"/>
            <p:cNvCxnSpPr/>
            <p:nvPr/>
          </p:nvCxnSpPr>
          <p:spPr>
            <a:xfrm>
              <a:off x="6092170" y="3582875"/>
              <a:ext cx="2424300" cy="0"/>
            </a:xfrm>
            <a:prstGeom prst="straightConnector1">
              <a:avLst/>
            </a:prstGeom>
            <a:noFill/>
            <a:ln cap="flat" cmpd="sng" w="9525">
              <a:solidFill>
                <a:schemeClr val="dk2"/>
              </a:solidFill>
              <a:prstDash val="solid"/>
              <a:round/>
              <a:headEnd len="med" w="med" type="none"/>
              <a:tailEnd len="med" w="med" type="none"/>
            </a:ln>
          </p:spPr>
        </p:cxnSp>
      </p:grpSp>
      <p:grpSp>
        <p:nvGrpSpPr>
          <p:cNvPr id="763" name="Google Shape;763;p112"/>
          <p:cNvGrpSpPr/>
          <p:nvPr/>
        </p:nvGrpSpPr>
        <p:grpSpPr>
          <a:xfrm>
            <a:off x="7312139" y="3217000"/>
            <a:ext cx="1794993" cy="1098600"/>
            <a:chOff x="6975225" y="4220300"/>
            <a:chExt cx="1660800" cy="1098600"/>
          </a:xfrm>
        </p:grpSpPr>
        <p:sp>
          <p:nvSpPr>
            <p:cNvPr id="764" name="Google Shape;764;p112"/>
            <p:cNvSpPr txBox="1"/>
            <p:nvPr/>
          </p:nvSpPr>
          <p:spPr>
            <a:xfrm>
              <a:off x="6975225" y="4220300"/>
              <a:ext cx="1660800" cy="10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accent1"/>
                  </a:solidFill>
                  <a:latin typeface="Lato"/>
                  <a:ea typeface="Lato"/>
                  <a:cs typeface="Lato"/>
                  <a:sym typeface="Lato"/>
                </a:rPr>
                <a:t>= 12   =  0.7</a:t>
              </a:r>
              <a:endParaRPr sz="1900">
                <a:solidFill>
                  <a:schemeClr val="accent1"/>
                </a:solidFill>
                <a:latin typeface="Lato"/>
                <a:ea typeface="Lato"/>
                <a:cs typeface="Lato"/>
                <a:sym typeface="Lato"/>
              </a:endParaRPr>
            </a:p>
            <a:p>
              <a:pPr indent="0" lvl="0" marL="0" rtl="0" algn="l">
                <a:spcBef>
                  <a:spcPts val="0"/>
                </a:spcBef>
                <a:spcAft>
                  <a:spcPts val="0"/>
                </a:spcAft>
                <a:buNone/>
              </a:pPr>
              <a:r>
                <a:rPr lang="en" sz="1900">
                  <a:solidFill>
                    <a:schemeClr val="accent1"/>
                  </a:solidFill>
                  <a:latin typeface="Lato"/>
                  <a:ea typeface="Lato"/>
                  <a:cs typeface="Lato"/>
                  <a:sym typeface="Lato"/>
                </a:rPr>
                <a:t>     17 </a:t>
              </a:r>
              <a:endParaRPr sz="1900">
                <a:solidFill>
                  <a:schemeClr val="accent1"/>
                </a:solidFill>
                <a:latin typeface="Lato"/>
                <a:ea typeface="Lato"/>
                <a:cs typeface="Lato"/>
                <a:sym typeface="Lato"/>
              </a:endParaRPr>
            </a:p>
          </p:txBody>
        </p:sp>
        <p:cxnSp>
          <p:nvCxnSpPr>
            <p:cNvPr id="765" name="Google Shape;765;p112"/>
            <p:cNvCxnSpPr/>
            <p:nvPr/>
          </p:nvCxnSpPr>
          <p:spPr>
            <a:xfrm>
              <a:off x="7219406" y="4600825"/>
              <a:ext cx="407400" cy="900"/>
            </a:xfrm>
            <a:prstGeom prst="straightConnector1">
              <a:avLst/>
            </a:prstGeom>
            <a:noFill/>
            <a:ln cap="flat" cmpd="sng" w="9525">
              <a:solidFill>
                <a:schemeClr val="dk2"/>
              </a:solidFill>
              <a:prstDash val="solid"/>
              <a:round/>
              <a:headEnd len="med" w="med" type="none"/>
              <a:tailEnd len="med" w="med" type="none"/>
            </a:ln>
          </p:spPr>
        </p:cxnSp>
      </p:grpSp>
      <p:pic>
        <p:nvPicPr>
          <p:cNvPr id="766" name="Google Shape;766;p112"/>
          <p:cNvPicPr preferRelativeResize="0"/>
          <p:nvPr/>
        </p:nvPicPr>
        <p:blipFill>
          <a:blip r:embed="rId4">
            <a:alphaModFix/>
          </a:blip>
          <a:stretch>
            <a:fillRect/>
          </a:stretch>
        </p:blipFill>
        <p:spPr>
          <a:xfrm>
            <a:off x="144697" y="1918547"/>
            <a:ext cx="4684226" cy="13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000"/>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0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1000"/>
                                        <p:tgtEl>
                                          <p:spTgt spid="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72" name="Google Shape;772;p113"/>
          <p:cNvPicPr preferRelativeResize="0"/>
          <p:nvPr/>
        </p:nvPicPr>
        <p:blipFill>
          <a:blip r:embed="rId3">
            <a:alphaModFix/>
          </a:blip>
          <a:stretch>
            <a:fillRect/>
          </a:stretch>
        </p:blipFill>
        <p:spPr>
          <a:xfrm>
            <a:off x="2079375" y="1853850"/>
            <a:ext cx="4772025" cy="27622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14"/>
          <p:cNvSpPr txBox="1"/>
          <p:nvPr>
            <p:ph type="title"/>
          </p:nvPr>
        </p:nvSpPr>
        <p:spPr>
          <a:xfrm>
            <a:off x="754200" y="375125"/>
            <a:ext cx="4083900" cy="91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Bibliografía</a:t>
            </a:r>
            <a:endParaRPr/>
          </a:p>
        </p:txBody>
      </p:sp>
      <p:pic>
        <p:nvPicPr>
          <p:cNvPr id="778" name="Google Shape;778;p114"/>
          <p:cNvPicPr preferRelativeResize="0"/>
          <p:nvPr/>
        </p:nvPicPr>
        <p:blipFill>
          <a:blip r:embed="rId3">
            <a:alphaModFix/>
          </a:blip>
          <a:stretch>
            <a:fillRect/>
          </a:stretch>
        </p:blipFill>
        <p:spPr>
          <a:xfrm>
            <a:off x="833000" y="1352625"/>
            <a:ext cx="2609850" cy="3429000"/>
          </a:xfrm>
          <a:prstGeom prst="rect">
            <a:avLst/>
          </a:prstGeom>
          <a:noFill/>
          <a:ln>
            <a:noFill/>
          </a:ln>
        </p:spPr>
      </p:pic>
      <p:sp>
        <p:nvSpPr>
          <p:cNvPr id="779" name="Google Shape;779;p114"/>
          <p:cNvSpPr txBox="1"/>
          <p:nvPr/>
        </p:nvSpPr>
        <p:spPr>
          <a:xfrm>
            <a:off x="3617025" y="1352625"/>
            <a:ext cx="261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Aurélien Géron</a:t>
            </a:r>
            <a:endParaRPr sz="2000">
              <a:solidFill>
                <a:schemeClr val="lt1"/>
              </a:solidFill>
              <a:latin typeface="Lato"/>
              <a:ea typeface="Lato"/>
              <a:cs typeface="Lato"/>
              <a:sym typeface="Lato"/>
            </a:endParaRPr>
          </a:p>
        </p:txBody>
      </p:sp>
      <p:pic>
        <p:nvPicPr>
          <p:cNvPr id="780" name="Google Shape;780;p114"/>
          <p:cNvPicPr preferRelativeResize="0"/>
          <p:nvPr/>
        </p:nvPicPr>
        <p:blipFill>
          <a:blip r:embed="rId4">
            <a:alphaModFix/>
          </a:blip>
          <a:stretch>
            <a:fillRect/>
          </a:stretch>
        </p:blipFill>
        <p:spPr>
          <a:xfrm>
            <a:off x="6227025" y="1845225"/>
            <a:ext cx="2612175" cy="3193368"/>
          </a:xfrm>
          <a:prstGeom prst="rect">
            <a:avLst/>
          </a:prstGeom>
          <a:noFill/>
          <a:ln>
            <a:noFill/>
          </a:ln>
        </p:spPr>
      </p:pic>
      <p:sp>
        <p:nvSpPr>
          <p:cNvPr id="781" name="Google Shape;781;p114"/>
          <p:cNvSpPr txBox="1"/>
          <p:nvPr/>
        </p:nvSpPr>
        <p:spPr>
          <a:xfrm>
            <a:off x="6227025" y="1088850"/>
            <a:ext cx="232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Lato"/>
                <a:ea typeface="Lato"/>
                <a:cs typeface="Lato"/>
                <a:sym typeface="Lato"/>
              </a:rPr>
              <a:t>También</a:t>
            </a:r>
            <a:r>
              <a:rPr b="1" lang="en" sz="1800">
                <a:solidFill>
                  <a:schemeClr val="lt1"/>
                </a:solidFill>
                <a:latin typeface="Lato"/>
                <a:ea typeface="Lato"/>
                <a:cs typeface="Lato"/>
                <a:sym typeface="Lato"/>
              </a:rPr>
              <a:t> en español</a:t>
            </a:r>
            <a:endParaRPr b="1" sz="18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par>
                                <p:cTn fill="hold" nodeType="with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1000"/>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