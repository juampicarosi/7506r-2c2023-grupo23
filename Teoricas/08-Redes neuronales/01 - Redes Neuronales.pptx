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CD4452-8201-42E7-90C9-7D3AE1CBF671}">
  <a:tblStyle styleId="{8FCD4452-8201-42E7-90C9-7D3AE1CBF6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81e733f9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81e733f9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81e733f9e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81e733f9e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1e733f9e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1e733f9e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81e733f9e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81e733f9e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81e733f9e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81e733f9e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1e733f9e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1e733f9e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0407a3a2e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0407a3a2e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1e733f9e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1e733f9e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d0407a3a2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d0407a3a2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d0407a3a2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d0407a3a2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d0407a3a2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d0407a3a2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d5636842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d5636842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d0407a3a2e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d0407a3a2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d0407a3a2e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d0407a3a2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d56368428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d56368428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d0407a3a2e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d0407a3a2e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5636842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5636842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d56368428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d56368428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d56368428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d56368428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d56368428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d56368428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d563684285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d563684285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d563684285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d563684285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d56368428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d56368428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d563684285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d563684285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d563684285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d563684285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d563684285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d563684285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d563684285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d563684285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d563684285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d563684285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d563684285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d563684285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d0407a3a2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d0407a3a2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82090a27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82090a2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d0407a3a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d0407a3a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d0407a3a2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d0407a3a2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d0407a3a2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d0407a3a2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d0407a3a2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d0407a3a2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d0407a3a2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d0407a3a2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d0407a3a2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d0407a3a2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d0407a3a2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d0407a3a2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d0407a3a2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d0407a3a2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d0407a3a2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d0407a3a2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0407a3a2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0407a3a2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0407a3a2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0407a3a2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0407a3a2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0407a3a2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d0407a3a2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d0407a3a2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d0407a3a2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d0407a3a2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d0407a3a2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d0407a3a2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d0407a3a2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d0407a3a2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81e733f9e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81e733f9e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Relationship Id="rId4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researchgate.net/publication/331641249_Tutorial_sobre_Redes_Neuronales_Artificiales_Los_Mapas_Autoorganizados_de_Kohonen" TargetMode="External"/><Relationship Id="rId4" Type="http://schemas.openxmlformats.org/officeDocument/2006/relationships/hyperlink" Target="https://www.slideshare.net/KirillEremenko/deep-learning-az-self-organizing-maps-som-module-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Neuronales	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Ing. Juan M. Rodriguez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550" y="178350"/>
            <a:ext cx="38100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625" y="203325"/>
            <a:ext cx="6076950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050" y="319725"/>
            <a:ext cx="4762500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225" y="152400"/>
            <a:ext cx="721098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675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/>
        </p:nvSpPr>
        <p:spPr>
          <a:xfrm>
            <a:off x="3254450" y="378300"/>
            <a:ext cx="41904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Función escalón</a:t>
            </a:r>
            <a:endParaRPr sz="2400"/>
          </a:p>
        </p:txBody>
      </p:sp>
      <p:pic>
        <p:nvPicPr>
          <p:cNvPr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9813" y="1258950"/>
            <a:ext cx="3543875" cy="32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9"/>
          <p:cNvSpPr txBox="1"/>
          <p:nvPr/>
        </p:nvSpPr>
        <p:spPr>
          <a:xfrm>
            <a:off x="5252125" y="2252950"/>
            <a:ext cx="87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a = 1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942275" y="378300"/>
            <a:ext cx="69999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Heaviside - </a:t>
            </a:r>
            <a:r>
              <a:rPr lang="en" sz="2400"/>
              <a:t>Función escalón</a:t>
            </a:r>
            <a:endParaRPr sz="2400"/>
          </a:p>
        </p:txBody>
      </p:sp>
      <p:sp>
        <p:nvSpPr>
          <p:cNvPr id="93" name="Google Shape;93;p20"/>
          <p:cNvSpPr txBox="1"/>
          <p:nvPr/>
        </p:nvSpPr>
        <p:spPr>
          <a:xfrm>
            <a:off x="4519975" y="2317800"/>
            <a:ext cx="71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f(x)</a:t>
            </a:r>
            <a:endParaRPr sz="2100"/>
          </a:p>
        </p:txBody>
      </p:sp>
      <p:sp>
        <p:nvSpPr>
          <p:cNvPr id="94" name="Google Shape;94;p20"/>
          <p:cNvSpPr txBox="1"/>
          <p:nvPr/>
        </p:nvSpPr>
        <p:spPr>
          <a:xfrm>
            <a:off x="5334800" y="2156100"/>
            <a:ext cx="296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 si x &gt;= 0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0 para todo otro valor</a:t>
            </a:r>
            <a:endParaRPr/>
          </a:p>
        </p:txBody>
      </p:sp>
      <p:sp>
        <p:nvSpPr>
          <p:cNvPr id="95" name="Google Shape;95;p20"/>
          <p:cNvSpPr/>
          <p:nvPr/>
        </p:nvSpPr>
        <p:spPr>
          <a:xfrm>
            <a:off x="5235475" y="1643700"/>
            <a:ext cx="2897700" cy="18561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50" y="1019700"/>
            <a:ext cx="3971400" cy="39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250" y="116025"/>
            <a:ext cx="540067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AND</a:t>
            </a:r>
            <a:endParaRPr/>
          </a:p>
        </p:txBody>
      </p:sp>
      <p:pic>
        <p:nvPicPr>
          <p:cNvPr id="107" name="Google Shape;1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950" y="1553250"/>
            <a:ext cx="7222100" cy="20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AND</a:t>
            </a:r>
            <a:endParaRPr/>
          </a:p>
        </p:txBody>
      </p:sp>
      <p:sp>
        <p:nvSpPr>
          <p:cNvPr id="113" name="Google Shape;113;p23"/>
          <p:cNvSpPr/>
          <p:nvPr/>
        </p:nvSpPr>
        <p:spPr>
          <a:xfrm>
            <a:off x="1494850" y="1494875"/>
            <a:ext cx="5727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</a:t>
            </a:r>
            <a:endParaRPr/>
          </a:p>
        </p:txBody>
      </p:sp>
      <p:sp>
        <p:nvSpPr>
          <p:cNvPr id="114" name="Google Shape;114;p23"/>
          <p:cNvSpPr/>
          <p:nvPr/>
        </p:nvSpPr>
        <p:spPr>
          <a:xfrm>
            <a:off x="1565725" y="2601425"/>
            <a:ext cx="5727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X2</a:t>
            </a:r>
            <a:endParaRPr/>
          </a:p>
        </p:txBody>
      </p:sp>
      <p:sp>
        <p:nvSpPr>
          <p:cNvPr id="115" name="Google Shape;115;p23"/>
          <p:cNvSpPr/>
          <p:nvPr/>
        </p:nvSpPr>
        <p:spPr>
          <a:xfrm>
            <a:off x="4159950" y="1815125"/>
            <a:ext cx="786300" cy="7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3"/>
          <p:cNvSpPr/>
          <p:nvPr/>
        </p:nvSpPr>
        <p:spPr>
          <a:xfrm>
            <a:off x="2855150" y="1691150"/>
            <a:ext cx="517200" cy="476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w1</a:t>
            </a:r>
            <a:endParaRPr sz="1100"/>
          </a:p>
        </p:txBody>
      </p:sp>
      <p:sp>
        <p:nvSpPr>
          <p:cNvPr id="117" name="Google Shape;117;p23"/>
          <p:cNvSpPr/>
          <p:nvPr/>
        </p:nvSpPr>
        <p:spPr>
          <a:xfrm>
            <a:off x="2855150" y="2432075"/>
            <a:ext cx="517200" cy="476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w2</a:t>
            </a:r>
            <a:endParaRPr sz="1100"/>
          </a:p>
        </p:txBody>
      </p:sp>
      <p:cxnSp>
        <p:nvCxnSpPr>
          <p:cNvPr id="118" name="Google Shape;118;p23"/>
          <p:cNvCxnSpPr>
            <a:stCxn id="113" idx="6"/>
            <a:endCxn id="116" idx="2"/>
          </p:cNvCxnSpPr>
          <p:nvPr/>
        </p:nvCxnSpPr>
        <p:spPr>
          <a:xfrm>
            <a:off x="2067550" y="1781225"/>
            <a:ext cx="787500" cy="14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23"/>
          <p:cNvCxnSpPr>
            <a:endCxn id="117" idx="2"/>
          </p:cNvCxnSpPr>
          <p:nvPr/>
        </p:nvCxnSpPr>
        <p:spPr>
          <a:xfrm flipH="1" rot="10800000">
            <a:off x="2138450" y="2670425"/>
            <a:ext cx="716700" cy="21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3"/>
          <p:cNvCxnSpPr>
            <a:stCxn id="116" idx="6"/>
            <a:endCxn id="115" idx="1"/>
          </p:cNvCxnSpPr>
          <p:nvPr/>
        </p:nvCxnSpPr>
        <p:spPr>
          <a:xfrm>
            <a:off x="3372350" y="1929500"/>
            <a:ext cx="787500" cy="27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23"/>
          <p:cNvCxnSpPr>
            <a:endCxn id="115" idx="1"/>
          </p:cNvCxnSpPr>
          <p:nvPr/>
        </p:nvCxnSpPr>
        <p:spPr>
          <a:xfrm flipH="1" rot="10800000">
            <a:off x="3372450" y="2208275"/>
            <a:ext cx="787500" cy="4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23"/>
          <p:cNvSpPr txBox="1"/>
          <p:nvPr/>
        </p:nvSpPr>
        <p:spPr>
          <a:xfrm>
            <a:off x="4380750" y="1908125"/>
            <a:ext cx="38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Σ</a:t>
            </a:r>
            <a:endParaRPr sz="2700"/>
          </a:p>
        </p:txBody>
      </p:sp>
      <p:sp>
        <p:nvSpPr>
          <p:cNvPr id="123" name="Google Shape;123;p23"/>
          <p:cNvSpPr/>
          <p:nvPr/>
        </p:nvSpPr>
        <p:spPr>
          <a:xfrm>
            <a:off x="5887350" y="1875125"/>
            <a:ext cx="871500" cy="66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escalon</a:t>
            </a:r>
            <a:endParaRPr/>
          </a:p>
        </p:txBody>
      </p:sp>
      <p:cxnSp>
        <p:nvCxnSpPr>
          <p:cNvPr id="124" name="Google Shape;124;p23"/>
          <p:cNvCxnSpPr>
            <a:stCxn id="115" idx="3"/>
            <a:endCxn id="123" idx="1"/>
          </p:cNvCxnSpPr>
          <p:nvPr/>
        </p:nvCxnSpPr>
        <p:spPr>
          <a:xfrm>
            <a:off x="4946250" y="2208275"/>
            <a:ext cx="94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23"/>
          <p:cNvCxnSpPr>
            <a:stCxn id="123" idx="3"/>
          </p:cNvCxnSpPr>
          <p:nvPr/>
        </p:nvCxnSpPr>
        <p:spPr>
          <a:xfrm>
            <a:off x="6758850" y="2208275"/>
            <a:ext cx="86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23"/>
          <p:cNvSpPr txBox="1"/>
          <p:nvPr/>
        </p:nvSpPr>
        <p:spPr>
          <a:xfrm>
            <a:off x="7699950" y="1961975"/>
            <a:ext cx="34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y</a:t>
            </a:r>
            <a:endParaRPr sz="2000"/>
          </a:p>
        </p:txBody>
      </p:sp>
      <p:sp>
        <p:nvSpPr>
          <p:cNvPr id="127" name="Google Shape;127;p23"/>
          <p:cNvSpPr/>
          <p:nvPr/>
        </p:nvSpPr>
        <p:spPr>
          <a:xfrm>
            <a:off x="3705300" y="2989750"/>
            <a:ext cx="517200" cy="517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/>
              <a:t>b</a:t>
            </a:r>
            <a:endParaRPr i="1" sz="1700"/>
          </a:p>
        </p:txBody>
      </p:sp>
      <p:cxnSp>
        <p:nvCxnSpPr>
          <p:cNvPr id="128" name="Google Shape;128;p23"/>
          <p:cNvCxnSpPr>
            <a:stCxn id="127" idx="0"/>
            <a:endCxn id="115" idx="1"/>
          </p:cNvCxnSpPr>
          <p:nvPr/>
        </p:nvCxnSpPr>
        <p:spPr>
          <a:xfrm flipH="1" rot="10800000">
            <a:off x="3963900" y="2208250"/>
            <a:ext cx="196200" cy="7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23"/>
          <p:cNvSpPr txBox="1"/>
          <p:nvPr/>
        </p:nvSpPr>
        <p:spPr>
          <a:xfrm>
            <a:off x="2309600" y="3895275"/>
            <a:ext cx="408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 * w1 + x2*w2 + b &gt;=   0             y = 1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X1 * w1 + x2*w2 + b &lt;     0             y = 0</a:t>
            </a:r>
            <a:endParaRPr/>
          </a:p>
        </p:txBody>
      </p:sp>
      <p:sp>
        <p:nvSpPr>
          <p:cNvPr id="130" name="Google Shape;130;p23"/>
          <p:cNvSpPr/>
          <p:nvPr/>
        </p:nvSpPr>
        <p:spPr>
          <a:xfrm>
            <a:off x="4512150" y="4012525"/>
            <a:ext cx="434100" cy="21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/>
          <p:nvPr/>
        </p:nvSpPr>
        <p:spPr>
          <a:xfrm>
            <a:off x="4512150" y="4398725"/>
            <a:ext cx="434100" cy="21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4831775" y="3018075"/>
            <a:ext cx="222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b (bias)= umbral </a:t>
            </a:r>
            <a:endParaRPr i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AND</a:t>
            </a:r>
            <a:endParaRPr/>
          </a:p>
        </p:txBody>
      </p:sp>
      <p:sp>
        <p:nvSpPr>
          <p:cNvPr id="138" name="Google Shape;138;p24"/>
          <p:cNvSpPr txBox="1"/>
          <p:nvPr/>
        </p:nvSpPr>
        <p:spPr>
          <a:xfrm>
            <a:off x="4305738" y="2936713"/>
            <a:ext cx="408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 * w1 + x2*w2 + b &gt;= 1                 y = 1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X1 * w1 + x2*w2 + b &lt;   1                 y = 0</a:t>
            </a:r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6524200" y="3050675"/>
            <a:ext cx="434100" cy="21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4"/>
          <p:cNvSpPr/>
          <p:nvPr/>
        </p:nvSpPr>
        <p:spPr>
          <a:xfrm>
            <a:off x="6524200" y="3436875"/>
            <a:ext cx="434100" cy="21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6524200" y="3050675"/>
            <a:ext cx="434100" cy="21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0075" y="1017725"/>
            <a:ext cx="4972224" cy="1674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p24"/>
          <p:cNvGraphicFramePr/>
          <p:nvPr/>
        </p:nvGraphicFramePr>
        <p:xfrm>
          <a:off x="311700" y="187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{8FCD4452-8201-42E7-90C9-7D3AE1CBF671}</a:tableStyleId>
              </a:tblPr>
              <a:tblGrid>
                <a:gridCol w="945275"/>
                <a:gridCol w="945275"/>
                <a:gridCol w="945275"/>
              </a:tblGrid>
              <a:tr h="47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y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Conjunto etiquetado</a:t>
            </a:r>
            <a:endParaRPr/>
          </a:p>
        </p:txBody>
      </p:sp>
      <p:graphicFrame>
        <p:nvGraphicFramePr>
          <p:cNvPr id="149" name="Google Shape;149;p25"/>
          <p:cNvGraphicFramePr/>
          <p:nvPr/>
        </p:nvGraphicFramePr>
        <p:xfrm>
          <a:off x="311700" y="187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{8FCD4452-8201-42E7-90C9-7D3AE1CBF671}</a:tableStyleId>
              </a:tblPr>
              <a:tblGrid>
                <a:gridCol w="945275"/>
                <a:gridCol w="945275"/>
                <a:gridCol w="945275"/>
              </a:tblGrid>
              <a:tr h="47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y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0" name="Google Shape;150;p25"/>
          <p:cNvSpPr/>
          <p:nvPr/>
        </p:nvSpPr>
        <p:spPr>
          <a:xfrm>
            <a:off x="355850" y="1706925"/>
            <a:ext cx="1658400" cy="26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25"/>
          <p:cNvCxnSpPr/>
          <p:nvPr/>
        </p:nvCxnSpPr>
        <p:spPr>
          <a:xfrm flipH="1">
            <a:off x="2053125" y="1389950"/>
            <a:ext cx="3182100" cy="40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5"/>
          <p:cNvSpPr txBox="1"/>
          <p:nvPr/>
        </p:nvSpPr>
        <p:spPr>
          <a:xfrm>
            <a:off x="5235225" y="117825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Datos de entrenamiento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2202250" y="1941975"/>
            <a:ext cx="747900" cy="2222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25"/>
          <p:cNvCxnSpPr/>
          <p:nvPr/>
        </p:nvCxnSpPr>
        <p:spPr>
          <a:xfrm flipH="1">
            <a:off x="2998550" y="2589400"/>
            <a:ext cx="1834500" cy="846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25"/>
          <p:cNvSpPr txBox="1"/>
          <p:nvPr/>
        </p:nvSpPr>
        <p:spPr>
          <a:xfrm>
            <a:off x="4910675" y="23947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Etiquetas. Valores esperados de salida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AND</a:t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5050" y="660000"/>
            <a:ext cx="4496451" cy="1514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26"/>
          <p:cNvGraphicFramePr/>
          <p:nvPr/>
        </p:nvGraphicFramePr>
        <p:xfrm>
          <a:off x="1101625" y="24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{8FCD4452-8201-42E7-90C9-7D3AE1CBF671}</a:tableStyleId>
              </a:tblPr>
              <a:tblGrid>
                <a:gridCol w="1251100"/>
                <a:gridCol w="1251100"/>
                <a:gridCol w="2333750"/>
                <a:gridCol w="987650"/>
                <a:gridCol w="841500"/>
              </a:tblGrid>
              <a:tr h="71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x1*w1+x2*w2 + b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z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y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3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w1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w1 + 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&gt;=0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26"/>
          <p:cNvSpPr txBox="1"/>
          <p:nvPr/>
        </p:nvSpPr>
        <p:spPr>
          <a:xfrm>
            <a:off x="6935925" y="1217025"/>
            <a:ext cx="26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¿w1, w2 y b?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98825" y="210575"/>
            <a:ext cx="5367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Aleatoria</a:t>
            </a:r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536225" y="1312325"/>
            <a:ext cx="43038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W1 = 0.3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W2 = 0.2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b = -1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AND</a:t>
            </a:r>
            <a:endParaRPr/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5050" y="660000"/>
            <a:ext cx="4496451" cy="1514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29"/>
          <p:cNvGraphicFramePr/>
          <p:nvPr/>
        </p:nvGraphicFramePr>
        <p:xfrm>
          <a:off x="1101625" y="24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{8FCD4452-8201-42E7-90C9-7D3AE1CBF671}</a:tableStyleId>
              </a:tblPr>
              <a:tblGrid>
                <a:gridCol w="1251100"/>
                <a:gridCol w="1251100"/>
                <a:gridCol w="2333750"/>
                <a:gridCol w="987650"/>
                <a:gridCol w="841500"/>
              </a:tblGrid>
              <a:tr h="71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x1*w1+x2*w2 + b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z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y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3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w1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w1 + 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&gt;=0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2" name="Google Shape;182;p29"/>
          <p:cNvSpPr txBox="1"/>
          <p:nvPr/>
        </p:nvSpPr>
        <p:spPr>
          <a:xfrm>
            <a:off x="6935925" y="1217025"/>
            <a:ext cx="26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sp>
        <p:nvSpPr>
          <p:cNvPr id="183" name="Google Shape;183;p29"/>
          <p:cNvSpPr txBox="1"/>
          <p:nvPr/>
        </p:nvSpPr>
        <p:spPr>
          <a:xfrm>
            <a:off x="311700" y="1121400"/>
            <a:ext cx="21435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W1  = 0.3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W2  = 0.2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b     = -1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Primera Iteración</a:t>
            </a:r>
            <a:endParaRPr/>
          </a:p>
        </p:txBody>
      </p:sp>
      <p:pic>
        <p:nvPicPr>
          <p:cNvPr id="189" name="Google Shape;18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83956"/>
            <a:ext cx="3936174" cy="13255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" name="Google Shape;190;p30"/>
          <p:cNvGraphicFramePr/>
          <p:nvPr/>
        </p:nvGraphicFramePr>
        <p:xfrm>
          <a:off x="279650" y="24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{8FCD4452-8201-42E7-90C9-7D3AE1CBF671}</a:tableStyleId>
              </a:tblPr>
              <a:tblGrid>
                <a:gridCol w="1195750"/>
                <a:gridCol w="1195750"/>
                <a:gridCol w="2230525"/>
                <a:gridCol w="943950"/>
                <a:gridCol w="943950"/>
                <a:gridCol w="655100"/>
                <a:gridCol w="953450"/>
              </a:tblGrid>
              <a:tr h="73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x1*w1+x2*w2 + b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z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</a:rPr>
                        <a:t>y’</a:t>
                      </a:r>
                      <a:endParaRPr b="1" sz="1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y</a:t>
                      </a:r>
                      <a:endParaRPr b="1" sz="1800"/>
                    </a:p>
                  </a:txBody>
                  <a:tcPr marT="91425" marB="91425" marR="91425" marL="91425"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0000"/>
                          </a:solidFill>
                        </a:rPr>
                        <a:t>Error (|y-y’|)</a:t>
                      </a:r>
                      <a:endParaRPr b="1"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w1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w1 + 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-0.5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1" name="Google Shape;191;p30"/>
          <p:cNvSpPr txBox="1"/>
          <p:nvPr/>
        </p:nvSpPr>
        <p:spPr>
          <a:xfrm>
            <a:off x="6789575" y="1393425"/>
            <a:ext cx="26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sp>
        <p:nvSpPr>
          <p:cNvPr id="192" name="Google Shape;192;p30"/>
          <p:cNvSpPr txBox="1"/>
          <p:nvPr/>
        </p:nvSpPr>
        <p:spPr>
          <a:xfrm>
            <a:off x="311700" y="1121400"/>
            <a:ext cx="19671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0.3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0.2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93" name="Google Shape;193;p30"/>
          <p:cNvSpPr/>
          <p:nvPr/>
        </p:nvSpPr>
        <p:spPr>
          <a:xfrm>
            <a:off x="211675" y="4445000"/>
            <a:ext cx="8339700" cy="282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Función del error</a:t>
            </a:r>
            <a:endParaRPr/>
          </a:p>
        </p:txBody>
      </p:sp>
      <p:sp>
        <p:nvSpPr>
          <p:cNvPr id="199" name="Google Shape;199;p31"/>
          <p:cNvSpPr txBox="1"/>
          <p:nvPr/>
        </p:nvSpPr>
        <p:spPr>
          <a:xfrm>
            <a:off x="311700" y="1121400"/>
            <a:ext cx="19671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0.3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0.2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00" name="Google Shape;200;p31"/>
          <p:cNvSpPr txBox="1"/>
          <p:nvPr/>
        </p:nvSpPr>
        <p:spPr>
          <a:xfrm>
            <a:off x="2049800" y="959125"/>
            <a:ext cx="3146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Escalon(w1 + w2 -1) - 1 = </a:t>
            </a:r>
            <a:r>
              <a:rPr lang="en">
                <a:solidFill>
                  <a:schemeClr val="dk1"/>
                </a:solidFill>
              </a:rPr>
              <a:t>error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</a:t>
            </a:r>
            <a:r>
              <a:rPr lang="en">
                <a:solidFill>
                  <a:schemeClr val="dk1"/>
                </a:solidFill>
              </a:rPr>
              <a:t>w1 + w2 -1 &lt;  0     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   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	w1 + w2 -1 &gt;= 0     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" name="Google Shape;201;p31"/>
          <p:cNvSpPr/>
          <p:nvPr/>
        </p:nvSpPr>
        <p:spPr>
          <a:xfrm>
            <a:off x="2391600" y="1481625"/>
            <a:ext cx="2180400" cy="6423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00" y="2350575"/>
            <a:ext cx="2397550" cy="2669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800" y="1402950"/>
            <a:ext cx="3887701" cy="350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1"/>
          <p:cNvSpPr/>
          <p:nvPr/>
        </p:nvSpPr>
        <p:spPr>
          <a:xfrm>
            <a:off x="3868425" y="1481613"/>
            <a:ext cx="223200" cy="23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/>
          <p:nvPr/>
        </p:nvSpPr>
        <p:spPr>
          <a:xfrm>
            <a:off x="3898350" y="1886138"/>
            <a:ext cx="223200" cy="23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Función del error: Escalón</a:t>
            </a:r>
            <a:endParaRPr/>
          </a:p>
        </p:txBody>
      </p:sp>
      <p:sp>
        <p:nvSpPr>
          <p:cNvPr id="211" name="Google Shape;211;p32"/>
          <p:cNvSpPr txBox="1"/>
          <p:nvPr/>
        </p:nvSpPr>
        <p:spPr>
          <a:xfrm>
            <a:off x="311700" y="1121400"/>
            <a:ext cx="19671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0.3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0.2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49400" y="3393300"/>
            <a:ext cx="3146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Escalon(w1 + w2 -1) - 1 = </a:t>
            </a:r>
            <a:r>
              <a:rPr lang="en">
                <a:solidFill>
                  <a:schemeClr val="dk1"/>
                </a:solidFill>
              </a:rPr>
              <a:t>error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w1 + w2 -1 &lt;  0   =&gt; 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   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	w1 + w2 -1 &lt;= 0  =&gt; 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3" name="Google Shape;213;p32"/>
          <p:cNvSpPr/>
          <p:nvPr/>
        </p:nvSpPr>
        <p:spPr>
          <a:xfrm>
            <a:off x="311700" y="3915825"/>
            <a:ext cx="2180400" cy="6423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3650" y="1017725"/>
            <a:ext cx="424212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type="title"/>
          </p:nvPr>
        </p:nvSpPr>
        <p:spPr>
          <a:xfrm>
            <a:off x="198825" y="459125"/>
            <a:ext cx="306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Función del error:</a:t>
            </a:r>
            <a:endParaRPr/>
          </a:p>
        </p:txBody>
      </p:sp>
      <p:sp>
        <p:nvSpPr>
          <p:cNvPr id="220" name="Google Shape;220;p33"/>
          <p:cNvSpPr txBox="1"/>
          <p:nvPr/>
        </p:nvSpPr>
        <p:spPr>
          <a:xfrm>
            <a:off x="311700" y="1121400"/>
            <a:ext cx="19671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0.3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0.2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21" name="Google Shape;221;p33"/>
          <p:cNvSpPr txBox="1"/>
          <p:nvPr/>
        </p:nvSpPr>
        <p:spPr>
          <a:xfrm>
            <a:off x="49400" y="3393300"/>
            <a:ext cx="3146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</a:t>
            </a:r>
            <a:r>
              <a:rPr b="1" lang="en">
                <a:solidFill>
                  <a:schemeClr val="dk1"/>
                </a:solidFill>
              </a:rPr>
              <a:t>rror: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w1 + w2 -1 &lt;  0   =&gt; |0 -1| = 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   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	w1 + w2 -1 &lt;= 0  =&gt;  |1-1| = 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2" name="Google Shape;222;p33"/>
          <p:cNvSpPr/>
          <p:nvPr/>
        </p:nvSpPr>
        <p:spPr>
          <a:xfrm>
            <a:off x="448400" y="3902775"/>
            <a:ext cx="2649600" cy="8010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3050" y="591575"/>
            <a:ext cx="424212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3"/>
          <p:cNvSpPr/>
          <p:nvPr/>
        </p:nvSpPr>
        <p:spPr>
          <a:xfrm rot="-2297493">
            <a:off x="6434610" y="1643679"/>
            <a:ext cx="510277" cy="3088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3"/>
          <p:cNvSpPr txBox="1"/>
          <p:nvPr/>
        </p:nvSpPr>
        <p:spPr>
          <a:xfrm>
            <a:off x="4120425" y="43674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Dirección de decrecimiento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198825" y="459125"/>
            <a:ext cx="70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Actualización de los pesos</a:t>
            </a:r>
            <a:endParaRPr/>
          </a:p>
        </p:txBody>
      </p:sp>
      <p:sp>
        <p:nvSpPr>
          <p:cNvPr id="231" name="Google Shape;231;p34"/>
          <p:cNvSpPr txBox="1"/>
          <p:nvPr/>
        </p:nvSpPr>
        <p:spPr>
          <a:xfrm>
            <a:off x="239900" y="3016250"/>
            <a:ext cx="3344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0.3 + 0.2 * </a:t>
            </a:r>
            <a:r>
              <a:rPr lang="en" sz="1900">
                <a:solidFill>
                  <a:srgbClr val="FF0000"/>
                </a:solidFill>
              </a:rPr>
              <a:t>error</a:t>
            </a:r>
            <a:endParaRPr sz="1900">
              <a:solidFill>
                <a:srgbClr val="FF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0.2 + 0.2 * </a:t>
            </a:r>
            <a:r>
              <a:rPr lang="en" sz="1900">
                <a:solidFill>
                  <a:srgbClr val="FF0000"/>
                </a:solidFill>
              </a:rPr>
              <a:t>error</a:t>
            </a:r>
            <a:endParaRPr sz="1900">
              <a:solidFill>
                <a:srgbClr val="FF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32" name="Google Shape;23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8625" y="1827375"/>
            <a:ext cx="3034600" cy="27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4"/>
          <p:cNvSpPr txBox="1"/>
          <p:nvPr/>
        </p:nvSpPr>
        <p:spPr>
          <a:xfrm>
            <a:off x="239900" y="1206500"/>
            <a:ext cx="285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𝝰 = tasa de crecimiento.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Valor entre 0 y 1.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Suele ser 0.5</a:t>
            </a:r>
            <a:endParaRPr sz="1800"/>
          </a:p>
        </p:txBody>
      </p:sp>
      <p:sp>
        <p:nvSpPr>
          <p:cNvPr id="234" name="Google Shape;234;p34"/>
          <p:cNvSpPr txBox="1"/>
          <p:nvPr/>
        </p:nvSpPr>
        <p:spPr>
          <a:xfrm>
            <a:off x="239900" y="2340900"/>
            <a:ext cx="110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𝝰 = 0.2</a:t>
            </a:r>
            <a:endParaRPr>
              <a:highlight>
                <a:srgbClr val="FF0000"/>
              </a:highlight>
            </a:endParaRPr>
          </a:p>
        </p:txBody>
      </p:sp>
      <p:cxnSp>
        <p:nvCxnSpPr>
          <p:cNvPr id="235" name="Google Shape;235;p34"/>
          <p:cNvCxnSpPr/>
          <p:nvPr/>
        </p:nvCxnSpPr>
        <p:spPr>
          <a:xfrm rot="10800000">
            <a:off x="2878575" y="3647800"/>
            <a:ext cx="825600" cy="87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34"/>
          <p:cNvSpPr txBox="1"/>
          <p:nvPr/>
        </p:nvSpPr>
        <p:spPr>
          <a:xfrm>
            <a:off x="3704175" y="45607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A medida que se acerque a cero, más pequeña será la actualización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37" name="Google Shape;237;p34"/>
          <p:cNvCxnSpPr/>
          <p:nvPr/>
        </p:nvCxnSpPr>
        <p:spPr>
          <a:xfrm>
            <a:off x="5707950" y="2695225"/>
            <a:ext cx="15945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34"/>
          <p:cNvCxnSpPr/>
          <p:nvPr/>
        </p:nvCxnSpPr>
        <p:spPr>
          <a:xfrm flipH="1" rot="10800000">
            <a:off x="7302500" y="2702275"/>
            <a:ext cx="7200" cy="1524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34"/>
          <p:cNvSpPr/>
          <p:nvPr/>
        </p:nvSpPr>
        <p:spPr>
          <a:xfrm>
            <a:off x="5325075" y="2702263"/>
            <a:ext cx="321900" cy="224400"/>
          </a:xfrm>
          <a:prstGeom prst="leftBrace">
            <a:avLst>
              <a:gd fmla="val 578469" name="adj1"/>
              <a:gd fmla="val 52133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4"/>
          <p:cNvSpPr/>
          <p:nvPr/>
        </p:nvSpPr>
        <p:spPr>
          <a:xfrm rot="-5400000">
            <a:off x="7069975" y="4290250"/>
            <a:ext cx="253200" cy="211500"/>
          </a:xfrm>
          <a:prstGeom prst="leftBrace">
            <a:avLst>
              <a:gd fmla="val 578469" name="adj1"/>
              <a:gd fmla="val 63392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Segunda Iteración</a:t>
            </a:r>
            <a:endParaRPr/>
          </a:p>
        </p:txBody>
      </p:sp>
      <p:pic>
        <p:nvPicPr>
          <p:cNvPr id="246" name="Google Shape;2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550" y="1157575"/>
            <a:ext cx="3018951" cy="1016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" name="Google Shape;247;p35"/>
          <p:cNvGraphicFramePr/>
          <p:nvPr/>
        </p:nvGraphicFramePr>
        <p:xfrm>
          <a:off x="279650" y="24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{8FCD4452-8201-42E7-90C9-7D3AE1CBF671}</a:tableStyleId>
              </a:tblPr>
              <a:tblGrid>
                <a:gridCol w="1195750"/>
                <a:gridCol w="1195750"/>
                <a:gridCol w="2230525"/>
                <a:gridCol w="943950"/>
                <a:gridCol w="943950"/>
                <a:gridCol w="655100"/>
                <a:gridCol w="953450"/>
              </a:tblGrid>
              <a:tr h="73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x1*w1+x2*w2 + b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z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</a:rPr>
                        <a:t>y’</a:t>
                      </a:r>
                      <a:endParaRPr b="1" sz="1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y</a:t>
                      </a:r>
                      <a:endParaRPr b="1" sz="1800"/>
                    </a:p>
                  </a:txBody>
                  <a:tcPr marT="91425" marB="91425" marR="91425" marL="91425"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0000"/>
                          </a:solidFill>
                        </a:rPr>
                        <a:t>Error (|y-y’|)</a:t>
                      </a:r>
                      <a:endParaRPr b="1"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w1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w1 + 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-0.1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8" name="Google Shape;248;p35"/>
          <p:cNvSpPr txBox="1"/>
          <p:nvPr/>
        </p:nvSpPr>
        <p:spPr>
          <a:xfrm>
            <a:off x="7549750" y="1351075"/>
            <a:ext cx="26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sp>
        <p:nvSpPr>
          <p:cNvPr id="249" name="Google Shape;249;p35"/>
          <p:cNvSpPr txBox="1"/>
          <p:nvPr/>
        </p:nvSpPr>
        <p:spPr>
          <a:xfrm>
            <a:off x="311700" y="1121400"/>
            <a:ext cx="19671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0.5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0.4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Tercera Iteración</a:t>
            </a:r>
            <a:endParaRPr/>
          </a:p>
        </p:txBody>
      </p:sp>
      <p:pic>
        <p:nvPicPr>
          <p:cNvPr id="255" name="Google Shape;25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550" y="1157575"/>
            <a:ext cx="3018951" cy="1016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6" name="Google Shape;256;p36"/>
          <p:cNvGraphicFramePr/>
          <p:nvPr/>
        </p:nvGraphicFramePr>
        <p:xfrm>
          <a:off x="279650" y="24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{8FCD4452-8201-42E7-90C9-7D3AE1CBF671}</a:tableStyleId>
              </a:tblPr>
              <a:tblGrid>
                <a:gridCol w="1195750"/>
                <a:gridCol w="1195750"/>
                <a:gridCol w="2230525"/>
                <a:gridCol w="943950"/>
                <a:gridCol w="943950"/>
                <a:gridCol w="655100"/>
                <a:gridCol w="953450"/>
              </a:tblGrid>
              <a:tr h="73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x1*w1+x2*w2 + b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z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</a:rPr>
                        <a:t>y’</a:t>
                      </a:r>
                      <a:endParaRPr b="1" sz="1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y</a:t>
                      </a:r>
                      <a:endParaRPr b="1" sz="1800"/>
                    </a:p>
                  </a:txBody>
                  <a:tcPr marT="91425" marB="91425" marR="91425" marL="91425"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0000"/>
                          </a:solidFill>
                        </a:rPr>
                        <a:t>Error (|y-y’|)</a:t>
                      </a:r>
                      <a:endParaRPr b="1"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w1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0E0E3"/>
                          </a:highlight>
                        </a:rPr>
                        <a:t>1</a:t>
                      </a:r>
                      <a:endParaRPr>
                        <a:highlight>
                          <a:srgbClr val="D0E0E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0E0E3"/>
                          </a:highlight>
                        </a:rPr>
                        <a:t>1</a:t>
                      </a:r>
                      <a:endParaRPr>
                        <a:highlight>
                          <a:srgbClr val="D0E0E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D0E0E3"/>
                          </a:highlight>
                        </a:rPr>
                        <a:t>w1 + w2 + b</a:t>
                      </a:r>
                      <a:endParaRPr>
                        <a:highlight>
                          <a:srgbClr val="D0E0E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D0E0E3"/>
                          </a:highlight>
                        </a:rPr>
                        <a:t>0.3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D0E0E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D0E0E3"/>
                          </a:highlight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D0E0E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0E0E3"/>
                          </a:highlight>
                        </a:rPr>
                        <a:t>1</a:t>
                      </a:r>
                      <a:endParaRPr>
                        <a:highlight>
                          <a:srgbClr val="D0E0E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0E0E3"/>
                          </a:highlight>
                        </a:rPr>
                        <a:t>0</a:t>
                      </a:r>
                      <a:endParaRPr>
                        <a:highlight>
                          <a:srgbClr val="D0E0E3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7" name="Google Shape;257;p36"/>
          <p:cNvSpPr txBox="1"/>
          <p:nvPr/>
        </p:nvSpPr>
        <p:spPr>
          <a:xfrm>
            <a:off x="7549750" y="1351075"/>
            <a:ext cx="26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sp>
        <p:nvSpPr>
          <p:cNvPr id="258" name="Google Shape;258;p36"/>
          <p:cNvSpPr txBox="1"/>
          <p:nvPr/>
        </p:nvSpPr>
        <p:spPr>
          <a:xfrm>
            <a:off x="311700" y="1121400"/>
            <a:ext cx="3406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0.5 + 0.2 = 0.7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0.4 + 0.2</a:t>
            </a:r>
            <a:r>
              <a:rPr lang="en" sz="1900">
                <a:solidFill>
                  <a:schemeClr val="dk1"/>
                </a:solidFill>
              </a:rPr>
              <a:t> = 0.6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AND en producción</a:t>
            </a:r>
            <a:endParaRPr/>
          </a:p>
        </p:txBody>
      </p:sp>
      <p:pic>
        <p:nvPicPr>
          <p:cNvPr id="264" name="Google Shape;26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550" y="1157575"/>
            <a:ext cx="3018951" cy="1016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5" name="Google Shape;265;p37"/>
          <p:cNvGraphicFramePr/>
          <p:nvPr/>
        </p:nvGraphicFramePr>
        <p:xfrm>
          <a:off x="964250" y="248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{8FCD4452-8201-42E7-90C9-7D3AE1CBF671}</a:tableStyleId>
              </a:tblPr>
              <a:tblGrid>
                <a:gridCol w="1414775"/>
                <a:gridCol w="1414775"/>
                <a:gridCol w="2639100"/>
                <a:gridCol w="1116850"/>
              </a:tblGrid>
              <a:tr h="73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z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</a:rPr>
                        <a:t>AND= y’</a:t>
                      </a:r>
                      <a:endParaRPr b="1" sz="1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r>
                        <a:rPr lang="en"/>
                        <a:t>0,05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6" name="Google Shape;266;p37"/>
          <p:cNvSpPr txBox="1"/>
          <p:nvPr/>
        </p:nvSpPr>
        <p:spPr>
          <a:xfrm>
            <a:off x="7549750" y="1351075"/>
            <a:ext cx="26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sp>
        <p:nvSpPr>
          <p:cNvPr id="267" name="Google Shape;267;p37"/>
          <p:cNvSpPr txBox="1"/>
          <p:nvPr/>
        </p:nvSpPr>
        <p:spPr>
          <a:xfrm>
            <a:off x="311700" y="1121400"/>
            <a:ext cx="3406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0.7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0.6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Red entrenada </a:t>
            </a:r>
            <a:r>
              <a:rPr lang="en"/>
              <a:t>- AND</a:t>
            </a:r>
            <a:endParaRPr/>
          </a:p>
        </p:txBody>
      </p:sp>
      <p:pic>
        <p:nvPicPr>
          <p:cNvPr id="273" name="Google Shape;27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975" y="1121406"/>
            <a:ext cx="4572024" cy="153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8"/>
          <p:cNvSpPr txBox="1"/>
          <p:nvPr/>
        </p:nvSpPr>
        <p:spPr>
          <a:xfrm>
            <a:off x="311700" y="1121400"/>
            <a:ext cx="34065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0.7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0.6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800">
                <a:solidFill>
                  <a:schemeClr val="dk1"/>
                </a:solidFill>
              </a:rPr>
              <a:t>x1*0.7+x2*0.6 -1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75" name="Google Shape;27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800" y="2579575"/>
            <a:ext cx="2894298" cy="23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8"/>
          <p:cNvSpPr/>
          <p:nvPr/>
        </p:nvSpPr>
        <p:spPr>
          <a:xfrm>
            <a:off x="994850" y="4445000"/>
            <a:ext cx="126900" cy="112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8"/>
          <p:cNvSpPr/>
          <p:nvPr/>
        </p:nvSpPr>
        <p:spPr>
          <a:xfrm>
            <a:off x="994850" y="3990600"/>
            <a:ext cx="126900" cy="112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8"/>
          <p:cNvSpPr/>
          <p:nvPr/>
        </p:nvSpPr>
        <p:spPr>
          <a:xfrm>
            <a:off x="1440750" y="4474625"/>
            <a:ext cx="126900" cy="112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8"/>
          <p:cNvSpPr/>
          <p:nvPr/>
        </p:nvSpPr>
        <p:spPr>
          <a:xfrm>
            <a:off x="1440750" y="3990600"/>
            <a:ext cx="126900" cy="1128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8"/>
          <p:cNvSpPr/>
          <p:nvPr/>
        </p:nvSpPr>
        <p:spPr>
          <a:xfrm>
            <a:off x="3379600" y="3810000"/>
            <a:ext cx="11220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4000" y="2813481"/>
            <a:ext cx="2588675" cy="217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Almacenamiento</a:t>
            </a:r>
            <a:endParaRPr/>
          </a:p>
        </p:txBody>
      </p:sp>
      <p:sp>
        <p:nvSpPr>
          <p:cNvPr id="287" name="Google Shape;287;p39"/>
          <p:cNvSpPr txBox="1"/>
          <p:nvPr/>
        </p:nvSpPr>
        <p:spPr>
          <a:xfrm>
            <a:off x="917225" y="2151950"/>
            <a:ext cx="11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   X2    1 </a:t>
            </a:r>
            <a:endParaRPr/>
          </a:p>
        </p:txBody>
      </p:sp>
      <p:sp>
        <p:nvSpPr>
          <p:cNvPr id="288" name="Google Shape;288;p39"/>
          <p:cNvSpPr txBox="1"/>
          <p:nvPr/>
        </p:nvSpPr>
        <p:spPr>
          <a:xfrm>
            <a:off x="2434175" y="1926150"/>
            <a:ext cx="465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289" name="Google Shape;289;p39"/>
          <p:cNvSpPr/>
          <p:nvPr/>
        </p:nvSpPr>
        <p:spPr>
          <a:xfrm>
            <a:off x="2377725" y="1861200"/>
            <a:ext cx="522000" cy="14211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9"/>
          <p:cNvSpPr/>
          <p:nvPr/>
        </p:nvSpPr>
        <p:spPr>
          <a:xfrm>
            <a:off x="747900" y="2194275"/>
            <a:ext cx="1389900" cy="357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9"/>
          <p:cNvSpPr txBox="1"/>
          <p:nvPr/>
        </p:nvSpPr>
        <p:spPr>
          <a:xfrm>
            <a:off x="3436050" y="2109600"/>
            <a:ext cx="20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 x1 * w1 +x2 * w2 + b</a:t>
            </a:r>
            <a:endParaRPr/>
          </a:p>
        </p:txBody>
      </p:sp>
      <p:sp>
        <p:nvSpPr>
          <p:cNvPr id="292" name="Google Shape;292;p39"/>
          <p:cNvSpPr/>
          <p:nvPr/>
        </p:nvSpPr>
        <p:spPr>
          <a:xfrm>
            <a:off x="2187225" y="1545175"/>
            <a:ext cx="888900" cy="1947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3" name="Google Shape;293;p39"/>
          <p:cNvCxnSpPr/>
          <p:nvPr/>
        </p:nvCxnSpPr>
        <p:spPr>
          <a:xfrm>
            <a:off x="3210275" y="2956275"/>
            <a:ext cx="691500" cy="451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" name="Google Shape;294;p39"/>
          <p:cNvSpPr txBox="1"/>
          <p:nvPr/>
        </p:nvSpPr>
        <p:spPr>
          <a:xfrm>
            <a:off x="3259650" y="349247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Modelo entrenado = matriz de números flotantes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95" name="Google Shape;295;p39"/>
          <p:cNvSpPr/>
          <p:nvPr/>
        </p:nvSpPr>
        <p:spPr>
          <a:xfrm>
            <a:off x="7394225" y="3407775"/>
            <a:ext cx="571500" cy="1234500"/>
          </a:xfrm>
          <a:prstGeom prst="bracketPair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Limitaciones</a:t>
            </a:r>
            <a:endParaRPr/>
          </a:p>
        </p:txBody>
      </p:sp>
      <p:pic>
        <p:nvPicPr>
          <p:cNvPr id="301" name="Google Shape;30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975" y="1121406"/>
            <a:ext cx="4572024" cy="15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250" y="2813481"/>
            <a:ext cx="8306818" cy="217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"/>
          <p:cNvSpPr txBox="1"/>
          <p:nvPr>
            <p:ph type="title"/>
          </p:nvPr>
        </p:nvSpPr>
        <p:spPr>
          <a:xfrm>
            <a:off x="311700" y="445025"/>
            <a:ext cx="411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Perceptrón Multicapa</a:t>
            </a:r>
            <a:endParaRPr b="1"/>
          </a:p>
        </p:txBody>
      </p:sp>
      <p:pic>
        <p:nvPicPr>
          <p:cNvPr id="308" name="Google Shape;30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625" y="1212450"/>
            <a:ext cx="5287425" cy="345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2750" y="238887"/>
            <a:ext cx="2658174" cy="466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"/>
          <p:cNvSpPr txBox="1"/>
          <p:nvPr>
            <p:ph type="title"/>
          </p:nvPr>
        </p:nvSpPr>
        <p:spPr>
          <a:xfrm>
            <a:off x="311700" y="445025"/>
            <a:ext cx="85206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</a:rPr>
              <a:t>Entrenamiento</a:t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315" name="Google Shape;315;p42"/>
          <p:cNvSpPr txBox="1"/>
          <p:nvPr>
            <p:ph idx="1" type="body"/>
          </p:nvPr>
        </p:nvSpPr>
        <p:spPr>
          <a:xfrm>
            <a:off x="311700" y="1152475"/>
            <a:ext cx="82821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C9DAF8"/>
                </a:solidFill>
              </a:rPr>
              <a:t>Backpropagation</a:t>
            </a:r>
            <a:endParaRPr b="1" sz="2900">
              <a:solidFill>
                <a:srgbClr val="C9DAF8"/>
              </a:solidFill>
            </a:endParaRPr>
          </a:p>
        </p:txBody>
      </p:sp>
      <p:pic>
        <p:nvPicPr>
          <p:cNvPr id="316" name="Google Shape;31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450" y="1961575"/>
            <a:ext cx="5124879" cy="287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SOM (Kohonen)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8850"/>
            <a:ext cx="8839201" cy="359371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4"/>
          <p:cNvSpPr txBox="1"/>
          <p:nvPr/>
        </p:nvSpPr>
        <p:spPr>
          <a:xfrm>
            <a:off x="2723450" y="4028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Teuvo Kohonen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7372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788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200" y="152400"/>
            <a:ext cx="784959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6775"/>
            <a:ext cx="8839204" cy="3069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3575" y="152400"/>
            <a:ext cx="476142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700" y="152400"/>
            <a:ext cx="4187025" cy="387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9325" y="169700"/>
            <a:ext cx="4308477" cy="384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500" y="173650"/>
            <a:ext cx="4313275" cy="309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6425" y="124050"/>
            <a:ext cx="4196424" cy="3056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7977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97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825" y="152400"/>
            <a:ext cx="589951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290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013400" cy="335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3000" y="123500"/>
            <a:ext cx="3970901" cy="331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713" y="152400"/>
            <a:ext cx="727857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900" y="110075"/>
            <a:ext cx="650388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000" y="152400"/>
            <a:ext cx="635521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025" y="152400"/>
            <a:ext cx="603894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1"/>
          <p:cNvSpPr txBox="1"/>
          <p:nvPr/>
        </p:nvSpPr>
        <p:spPr>
          <a:xfrm>
            <a:off x="894225" y="575350"/>
            <a:ext cx="13800" cy="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61"/>
          <p:cNvSpPr txBox="1"/>
          <p:nvPr/>
        </p:nvSpPr>
        <p:spPr>
          <a:xfrm>
            <a:off x="959550" y="952500"/>
            <a:ext cx="73866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https://www.researchgate.net/publication/331641249_Tutorial_sobre_Redes_Neuronales_Artificiales_Los_Mapas_Autoorganizados_de_Kohonen</a:t>
            </a:r>
            <a:br>
              <a:rPr lang="en" sz="1600"/>
            </a:b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https://www.slideshare.net/KirillEremenko/deep-learning-az-self-organizing-maps-som-module-4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61"/>
          <p:cNvSpPr txBox="1"/>
          <p:nvPr/>
        </p:nvSpPr>
        <p:spPr>
          <a:xfrm>
            <a:off x="465675" y="2813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Referencias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