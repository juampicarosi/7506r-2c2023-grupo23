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Raleway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9F2DDC-F17D-4EFD-8AE5-2A2EE554EBEE}">
  <a:tblStyle styleId="{139F2DDC-F17D-4EFD-8AE5-2A2EE554EB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italic.fntdata"/><Relationship Id="rId20" Type="http://schemas.openxmlformats.org/officeDocument/2006/relationships/slide" Target="slides/slide14.xml"/><Relationship Id="rId42" Type="http://schemas.openxmlformats.org/officeDocument/2006/relationships/font" Target="fonts/Lato-regular.fntdata"/><Relationship Id="rId41" Type="http://schemas.openxmlformats.org/officeDocument/2006/relationships/font" Target="fonts/Raleway-boldItalic.fntdata"/><Relationship Id="rId22" Type="http://schemas.openxmlformats.org/officeDocument/2006/relationships/slide" Target="slides/slide16.xml"/><Relationship Id="rId44" Type="http://schemas.openxmlformats.org/officeDocument/2006/relationships/font" Target="fonts/Lato-italic.fntdata"/><Relationship Id="rId21" Type="http://schemas.openxmlformats.org/officeDocument/2006/relationships/slide" Target="slides/slide15.xml"/><Relationship Id="rId43" Type="http://schemas.openxmlformats.org/officeDocument/2006/relationships/font" Target="fonts/Lat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aleway-bold.fntdata"/><Relationship Id="rId16" Type="http://schemas.openxmlformats.org/officeDocument/2006/relationships/slide" Target="slides/slide10.xml"/><Relationship Id="rId38" Type="http://schemas.openxmlformats.org/officeDocument/2006/relationships/font" Target="fonts/Raleway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e66af865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e66af865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e66af865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e66af865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e66af865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e66af865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de66af865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de66af865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e66af865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e66af865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e66af8658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e66af865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e66af865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e66af865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de66af865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de66af865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bfa209f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bfa209f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dbfa209fc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dbfa209fc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66af865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66af865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bfa209fc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bfa209fc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dbfa209fc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dbfa209fc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dbfa209fc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dbfa209fc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dbfa209fc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dbfa209fc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bfa209fc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dbfa209fc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dbfa209fc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dbfa209fc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dbfa209fc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dbfa209fc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dbfa209fc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dbfa209fc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bfa209fc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bfa209fc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dbfa209fc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dbfa209fc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bfa209fc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dbfa209fc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dbfa209fca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dbfa209fc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dbfa209fca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dbfa209fc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dbfa209fc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dbfa209fc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dbfa209fca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dbfa209fc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dbfa209fca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dbfa209fca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dbfa209fca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dbfa209fc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dbfa209fca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dbfa209fca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dbfa209f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dbfa209f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36.png"/><Relationship Id="rId7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Relationship Id="rId7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42.png"/><Relationship Id="rId6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5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38.png"/><Relationship Id="rId6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Backpropagation: paso a paso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175" y="1853850"/>
            <a:ext cx="4012421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684100" y="2266600"/>
            <a:ext cx="3064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                  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 :  entradas (inputs)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 : neuronas primera capa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 : neuronas de salida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b1 y b2 : Umbrales (bias)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684100" y="2266600"/>
            <a:ext cx="3064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                  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 :  entradas (inputs)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 : neuronas primera capa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 : neuronas de salida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b1 y b2 : Umbrales (bias)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970950"/>
            <a:ext cx="3314701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4695575" y="3855275"/>
            <a:ext cx="36072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Se inicializa con pesos aleatorios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9" name="Google Shape;109;p16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29950"/>
                <a:gridCol w="600550"/>
                <a:gridCol w="600550"/>
                <a:gridCol w="720625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5425" y="1227500"/>
            <a:ext cx="2338369" cy="100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3698538" y="1493925"/>
            <a:ext cx="204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Función de activación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869425" y="2571738"/>
            <a:ext cx="2647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50">
                <a:solidFill>
                  <a:srgbClr val="444444"/>
                </a:solidFill>
              </a:rPr>
              <a:t>Calculamos la entrada para </a:t>
            </a:r>
            <a:r>
              <a:rPr b="1" lang="en" sz="1250">
                <a:solidFill>
                  <a:srgbClr val="444444"/>
                </a:solidFill>
              </a:rPr>
              <a:t>h1</a:t>
            </a:r>
            <a:endParaRPr b="1"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5343" y="3036599"/>
            <a:ext cx="4828519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3869425" y="3739950"/>
            <a:ext cx="464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50">
                <a:solidFill>
                  <a:srgbClr val="444444"/>
                </a:solidFill>
              </a:rPr>
              <a:t>Calculamos la salida para </a:t>
            </a:r>
            <a:r>
              <a:rPr b="1" lang="en" sz="1250">
                <a:solidFill>
                  <a:srgbClr val="444444"/>
                </a:solidFill>
              </a:rPr>
              <a:t>h1</a:t>
            </a:r>
            <a:r>
              <a:rPr lang="en" sz="1250">
                <a:solidFill>
                  <a:srgbClr val="444444"/>
                </a:solidFill>
              </a:rPr>
              <a:t>, usando la activación sigmoide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4778" y="4117050"/>
            <a:ext cx="4056222" cy="8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" name="Google Shape;122;p17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91750"/>
                <a:gridCol w="670550"/>
                <a:gridCol w="670550"/>
                <a:gridCol w="804650"/>
                <a:gridCol w="903500"/>
                <a:gridCol w="70580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3" name="Google Shape;123;p17"/>
          <p:cNvSpPr txBox="1"/>
          <p:nvPr/>
        </p:nvSpPr>
        <p:spPr>
          <a:xfrm>
            <a:off x="4074200" y="1496925"/>
            <a:ext cx="406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 igual forma se calcula la salida de la neurona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h2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3075" y="1897125"/>
            <a:ext cx="1821100" cy="32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p18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91750"/>
                <a:gridCol w="670550"/>
                <a:gridCol w="670550"/>
                <a:gridCol w="804650"/>
                <a:gridCol w="903500"/>
                <a:gridCol w="70580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2" name="Google Shape;132;p18"/>
          <p:cNvSpPr txBox="1"/>
          <p:nvPr/>
        </p:nvSpPr>
        <p:spPr>
          <a:xfrm>
            <a:off x="3866225" y="1227500"/>
            <a:ext cx="45009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" sz="1350">
                <a:solidFill>
                  <a:srgbClr val="444444"/>
                </a:solidFill>
                <a:highlight>
                  <a:srgbClr val="FFFFFF"/>
                </a:highlight>
              </a:rPr>
              <a:t>Repetimos los mismos pasos para calcular la salida de las neuronas de salida, usando como entrada las salidas de las neuronas </a:t>
            </a:r>
            <a:r>
              <a:rPr b="1" lang="en" sz="1350">
                <a:solidFill>
                  <a:srgbClr val="444444"/>
                </a:solidFill>
                <a:highlight>
                  <a:srgbClr val="FFFFFF"/>
                </a:highlight>
              </a:rPr>
              <a:t>h</a:t>
            </a:r>
            <a:r>
              <a:rPr lang="en" sz="1350">
                <a:solidFill>
                  <a:srgbClr val="444444"/>
                </a:solidFill>
                <a:highlight>
                  <a:srgbClr val="FFFFFF"/>
                </a:highlight>
              </a:rPr>
              <a:t>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3906200" y="2083025"/>
            <a:ext cx="331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Calculo</a:t>
            </a:r>
            <a:r>
              <a:rPr lang="en" sz="1200">
                <a:solidFill>
                  <a:srgbClr val="444444"/>
                </a:solidFill>
              </a:rPr>
              <a:t> la entrada para </a:t>
            </a:r>
            <a:r>
              <a:rPr b="1" lang="en" sz="1200">
                <a:solidFill>
                  <a:srgbClr val="444444"/>
                </a:solidFill>
              </a:rPr>
              <a:t>o1</a:t>
            </a:r>
            <a:r>
              <a:rPr lang="en" sz="1200">
                <a:solidFill>
                  <a:srgbClr val="444444"/>
                </a:solidFill>
              </a:rPr>
              <a:t>:</a:t>
            </a:r>
            <a:endParaRPr sz="1200"/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4191" y="2535213"/>
            <a:ext cx="4821259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3975350" y="3153325"/>
            <a:ext cx="31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Calculo la salida para </a:t>
            </a:r>
            <a:r>
              <a:rPr b="1" lang="en" sz="1200">
                <a:solidFill>
                  <a:srgbClr val="444444"/>
                </a:solidFill>
              </a:rPr>
              <a:t>o1</a:t>
            </a:r>
            <a:r>
              <a:rPr lang="en" sz="1200">
                <a:solidFill>
                  <a:srgbClr val="444444"/>
                </a:solidFill>
              </a:rPr>
              <a:t>:</a:t>
            </a:r>
            <a:endParaRPr sz="1200"/>
          </a:p>
        </p:txBody>
      </p:sp>
      <p:pic>
        <p:nvPicPr>
          <p:cNvPr id="136" name="Google Shape;13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6775" y="3605520"/>
            <a:ext cx="3067818" cy="100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19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616850"/>
                <a:gridCol w="699000"/>
                <a:gridCol w="699000"/>
                <a:gridCol w="838775"/>
                <a:gridCol w="730025"/>
                <a:gridCol w="763125"/>
                <a:gridCol w="743600"/>
                <a:gridCol w="9122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4" name="Google Shape;144;p19"/>
          <p:cNvSpPr txBox="1"/>
          <p:nvPr/>
        </p:nvSpPr>
        <p:spPr>
          <a:xfrm>
            <a:off x="3866225" y="1190350"/>
            <a:ext cx="469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Calculamos la salida para </a:t>
            </a:r>
            <a:r>
              <a:rPr b="1" lang="en" sz="1200">
                <a:solidFill>
                  <a:srgbClr val="444444"/>
                </a:solidFill>
              </a:rPr>
              <a:t>o2</a:t>
            </a:r>
            <a:r>
              <a:rPr lang="en" sz="1200">
                <a:solidFill>
                  <a:srgbClr val="444444"/>
                </a:solidFill>
              </a:rPr>
              <a:t> de igual forma que para o1</a:t>
            </a:r>
            <a:r>
              <a:rPr lang="en" sz="1200">
                <a:solidFill>
                  <a:srgbClr val="444444"/>
                </a:solidFill>
              </a:rPr>
              <a:t>:</a:t>
            </a:r>
            <a:endParaRPr sz="1200"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8325" y="1595175"/>
            <a:ext cx="2117675" cy="4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20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616850"/>
                <a:gridCol w="699000"/>
                <a:gridCol w="699000"/>
                <a:gridCol w="838775"/>
                <a:gridCol w="730025"/>
                <a:gridCol w="763125"/>
                <a:gridCol w="743600"/>
                <a:gridCol w="9122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3" name="Google Shape;153;p20"/>
          <p:cNvSpPr txBox="1"/>
          <p:nvPr/>
        </p:nvSpPr>
        <p:spPr>
          <a:xfrm>
            <a:off x="3866225" y="1190350"/>
            <a:ext cx="469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Calculamos el error </a:t>
            </a:r>
            <a:r>
              <a:rPr lang="en" sz="1200">
                <a:solidFill>
                  <a:srgbClr val="444444"/>
                </a:solidFill>
              </a:rPr>
              <a:t>cuadrático</a:t>
            </a:r>
            <a:r>
              <a:rPr lang="en" sz="1200">
                <a:solidFill>
                  <a:srgbClr val="444444"/>
                </a:solidFill>
              </a:rPr>
              <a:t> medio de cada neurona de salida, con la siguiente </a:t>
            </a:r>
            <a:r>
              <a:rPr lang="en" sz="1200">
                <a:solidFill>
                  <a:srgbClr val="444444"/>
                </a:solidFill>
              </a:rPr>
              <a:t>fórmula</a:t>
            </a:r>
            <a:r>
              <a:rPr lang="en" sz="1200">
                <a:solidFill>
                  <a:srgbClr val="444444"/>
                </a:solidFill>
              </a:rPr>
              <a:t>:</a:t>
            </a:r>
            <a:endParaRPr sz="1200"/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1725" y="1882375"/>
            <a:ext cx="2663325" cy="5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5013" y="3115300"/>
            <a:ext cx="5581327" cy="7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814200" y="61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multicapa (fully connected)</a:t>
            </a:r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21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1575"/>
                <a:gridCol w="647675"/>
                <a:gridCol w="647675"/>
                <a:gridCol w="777175"/>
                <a:gridCol w="676425"/>
                <a:gridCol w="707125"/>
                <a:gridCol w="689025"/>
                <a:gridCol w="845250"/>
                <a:gridCol w="845250"/>
                <a:gridCol w="8452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1"/>
          <p:cNvSpPr txBox="1"/>
          <p:nvPr/>
        </p:nvSpPr>
        <p:spPr>
          <a:xfrm>
            <a:off x="3866225" y="1190350"/>
            <a:ext cx="469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Calculamos el error total, como la suma de todos los errores:</a:t>
            </a:r>
            <a:endParaRPr sz="1200"/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4225" y="1811725"/>
            <a:ext cx="5202897" cy="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idx="4294967295" type="title"/>
          </p:nvPr>
        </p:nvSpPr>
        <p:spPr>
          <a:xfrm>
            <a:off x="304800" y="745325"/>
            <a:ext cx="81129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Aplicamos Backpropagation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0963"/>
            <a:ext cx="8839198" cy="73861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/>
        </p:nvSpPr>
        <p:spPr>
          <a:xfrm>
            <a:off x="2434200" y="3238475"/>
            <a:ext cx="3774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Lato"/>
                <a:ea typeface="Lato"/>
                <a:cs typeface="Lato"/>
                <a:sym typeface="Lato"/>
              </a:rPr>
              <a:t>¿Hacia </a:t>
            </a:r>
            <a:r>
              <a:rPr lang="en" sz="2100">
                <a:latin typeface="Lato"/>
                <a:ea typeface="Lato"/>
                <a:cs typeface="Lato"/>
                <a:sym typeface="Lato"/>
              </a:rPr>
              <a:t>dónde</a:t>
            </a:r>
            <a:r>
              <a:rPr lang="en" sz="2100">
                <a:latin typeface="Lato"/>
                <a:ea typeface="Lato"/>
                <a:cs typeface="Lato"/>
                <a:sym typeface="Lato"/>
              </a:rPr>
              <a:t> decrece el error?</a:t>
            </a:r>
            <a:endParaRPr sz="2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Lato"/>
                <a:ea typeface="Lato"/>
                <a:cs typeface="Lato"/>
                <a:sym typeface="Lato"/>
              </a:rPr>
              <a:t>Hacia allá vamos</a:t>
            </a:r>
            <a:endParaRPr sz="2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idx="4294967295" type="title"/>
          </p:nvPr>
        </p:nvSpPr>
        <p:spPr>
          <a:xfrm>
            <a:off x="304800" y="745325"/>
            <a:ext cx="81129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Aplicamos Backpropagation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0963"/>
            <a:ext cx="8839198" cy="73861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5094100" y="1439325"/>
            <a:ext cx="1037100" cy="10020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3"/>
          <p:cNvCxnSpPr>
            <a:stCxn id="178" idx="3"/>
            <a:endCxn id="180" idx="0"/>
          </p:cNvCxnSpPr>
          <p:nvPr/>
        </p:nvCxnSpPr>
        <p:spPr>
          <a:xfrm flipH="1">
            <a:off x="2159580" y="2294585"/>
            <a:ext cx="3086400" cy="5736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23"/>
          <p:cNvSpPr txBox="1"/>
          <p:nvPr/>
        </p:nvSpPr>
        <p:spPr>
          <a:xfrm>
            <a:off x="304800" y="2868275"/>
            <a:ext cx="370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Empecemos por calcular uno de estos valores.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Es el primero de los pesos, en la última capa de la red.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1" name="Google Shape;18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851975"/>
            <a:ext cx="8839198" cy="51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p24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9" name="Google Shape;189;p24"/>
          <p:cNvSpPr txBox="1"/>
          <p:nvPr/>
        </p:nvSpPr>
        <p:spPr>
          <a:xfrm>
            <a:off x="4092225" y="9313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 regla de la cadena: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0" name="Google Shape;19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225" y="1392225"/>
            <a:ext cx="3657400" cy="68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196" name="Google Shape;1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5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98" name="Google Shape;19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3550" y="719650"/>
            <a:ext cx="5182725" cy="285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/>
          <p:nvPr/>
        </p:nvSpPr>
        <p:spPr>
          <a:xfrm>
            <a:off x="2645825" y="1354675"/>
            <a:ext cx="684300" cy="6984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5"/>
          <p:cNvCxnSpPr>
            <a:stCxn id="199" idx="6"/>
            <a:endCxn id="201" idx="2"/>
          </p:cNvCxnSpPr>
          <p:nvPr/>
        </p:nvCxnSpPr>
        <p:spPr>
          <a:xfrm>
            <a:off x="3330125" y="1703875"/>
            <a:ext cx="262200" cy="395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25"/>
          <p:cNvSpPr/>
          <p:nvPr/>
        </p:nvSpPr>
        <p:spPr>
          <a:xfrm>
            <a:off x="3592250" y="0"/>
            <a:ext cx="5348100" cy="41982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p26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9" name="Google Shape;209;p26"/>
          <p:cNvSpPr txBox="1"/>
          <p:nvPr/>
        </p:nvSpPr>
        <p:spPr>
          <a:xfrm>
            <a:off x="4092225" y="9313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 regla de la cadena: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225" y="1392225"/>
            <a:ext cx="2840267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3150" y="2229550"/>
            <a:ext cx="5732625" cy="15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5919600" y="2180175"/>
            <a:ext cx="1651500" cy="684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26"/>
          <p:cNvCxnSpPr>
            <a:stCxn id="212" idx="0"/>
          </p:cNvCxnSpPr>
          <p:nvPr/>
        </p:nvCxnSpPr>
        <p:spPr>
          <a:xfrm flipH="1" rot="10800000">
            <a:off x="6745350" y="2003775"/>
            <a:ext cx="687600" cy="176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26"/>
          <p:cNvSpPr txBox="1"/>
          <p:nvPr/>
        </p:nvSpPr>
        <p:spPr>
          <a:xfrm>
            <a:off x="7365975" y="1779975"/>
            <a:ext cx="119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Es constante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27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2" name="Google Shape;222;p27"/>
          <p:cNvSpPr txBox="1"/>
          <p:nvPr/>
        </p:nvSpPr>
        <p:spPr>
          <a:xfrm>
            <a:off x="4092225" y="9313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 regla de la cadena: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3" name="Google Shape;2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225" y="1392225"/>
            <a:ext cx="2840267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6200" y="2314600"/>
            <a:ext cx="5390900" cy="12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28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2" name="Google Shape;232;p28"/>
          <p:cNvSpPr txBox="1"/>
          <p:nvPr/>
        </p:nvSpPr>
        <p:spPr>
          <a:xfrm>
            <a:off x="4092225" y="9313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 regla de la cadena: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3" name="Google Shape;23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225" y="1392225"/>
            <a:ext cx="2840267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2250" y="2369425"/>
            <a:ext cx="5256375" cy="12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40" name="Google Shape;2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Google Shape;241;p29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2" name="Google Shape;242;p29"/>
          <p:cNvSpPr txBox="1"/>
          <p:nvPr/>
        </p:nvSpPr>
        <p:spPr>
          <a:xfrm>
            <a:off x="4092225" y="9313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 regla de la cadena: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3" name="Google Shape;24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225" y="1392225"/>
            <a:ext cx="2840267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 txBox="1"/>
          <p:nvPr/>
        </p:nvSpPr>
        <p:spPr>
          <a:xfrm>
            <a:off x="3620550" y="2379938"/>
            <a:ext cx="11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Todo junto: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5" name="Google Shape;24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0550" y="2853975"/>
            <a:ext cx="5290625" cy="6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51" name="Google Shape;25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2" name="Google Shape;252;p30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3" name="Google Shape;253;p30"/>
          <p:cNvSpPr txBox="1"/>
          <p:nvPr/>
        </p:nvSpPr>
        <p:spPr>
          <a:xfrm>
            <a:off x="3711200" y="16387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Calculando el nuevo peso w5 o w5’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4" name="Google Shape;25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2175" y="2135000"/>
            <a:ext cx="5680247" cy="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/>
          <p:nvPr/>
        </p:nvSpPr>
        <p:spPr>
          <a:xfrm>
            <a:off x="4790725" y="2173100"/>
            <a:ext cx="324600" cy="3147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30"/>
          <p:cNvCxnSpPr>
            <a:stCxn id="255" idx="4"/>
            <a:endCxn id="257" idx="1"/>
          </p:cNvCxnSpPr>
          <p:nvPr/>
        </p:nvCxnSpPr>
        <p:spPr>
          <a:xfrm>
            <a:off x="4953025" y="2487800"/>
            <a:ext cx="430500" cy="771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30"/>
          <p:cNvSpPr txBox="1"/>
          <p:nvPr/>
        </p:nvSpPr>
        <p:spPr>
          <a:xfrm>
            <a:off x="5383400" y="2843400"/>
            <a:ext cx="258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Tasa de aprendizaje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(learning rate)</a:t>
            </a:r>
            <a:endParaRPr i="1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= 0.5 en este ejemplo</a:t>
            </a:r>
            <a:endParaRPr i="1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63" name="Google Shape;2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4" name="Google Shape;264;p31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5" name="Google Shape;265;p31"/>
          <p:cNvSpPr txBox="1"/>
          <p:nvPr/>
        </p:nvSpPr>
        <p:spPr>
          <a:xfrm>
            <a:off x="3715975" y="1525800"/>
            <a:ext cx="322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Repetimos para los otros pesos: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6" name="Google Shape;26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6451" y="2728225"/>
            <a:ext cx="24479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1201" y="2326775"/>
            <a:ext cx="24479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5963" y="3129675"/>
            <a:ext cx="24384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274" name="Google Shape;2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5" name="Google Shape;275;p32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6" name="Google Shape;276;p32"/>
          <p:cNvSpPr/>
          <p:nvPr/>
        </p:nvSpPr>
        <p:spPr>
          <a:xfrm>
            <a:off x="1030100" y="1446400"/>
            <a:ext cx="352800" cy="31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6500" y="1446400"/>
            <a:ext cx="4936050" cy="8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4425" y="2833575"/>
            <a:ext cx="3670749" cy="9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2"/>
          <p:cNvSpPr/>
          <p:nvPr/>
        </p:nvSpPr>
        <p:spPr>
          <a:xfrm>
            <a:off x="4953000" y="1227500"/>
            <a:ext cx="1347600" cy="13902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32"/>
          <p:cNvCxnSpPr>
            <a:stCxn id="279" idx="3"/>
          </p:cNvCxnSpPr>
          <p:nvPr/>
        </p:nvCxnSpPr>
        <p:spPr>
          <a:xfrm flipH="1">
            <a:off x="4832951" y="2414110"/>
            <a:ext cx="317400" cy="358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286" name="Google Shape;2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925" y="1154825"/>
            <a:ext cx="4630300" cy="37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292" name="Google Shape;2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3" name="Google Shape;293;p34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4" name="Google Shape;294;p34"/>
          <p:cNvSpPr txBox="1"/>
          <p:nvPr/>
        </p:nvSpPr>
        <p:spPr>
          <a:xfrm>
            <a:off x="3592250" y="1624575"/>
            <a:ext cx="330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Empezaremos por el primer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término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5" name="Google Shape;29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176" y="970675"/>
            <a:ext cx="3000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2251" y="2099550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7101" y="2753600"/>
            <a:ext cx="6667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4"/>
          <p:cNvSpPr txBox="1"/>
          <p:nvPr/>
        </p:nvSpPr>
        <p:spPr>
          <a:xfrm>
            <a:off x="4304850" y="2767825"/>
            <a:ext cx="270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Ya fue calculado anteriormente: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9" name="Google Shape;299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43000" y="3482425"/>
            <a:ext cx="6394445" cy="31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4"/>
          <p:cNvSpPr/>
          <p:nvPr/>
        </p:nvSpPr>
        <p:spPr>
          <a:xfrm>
            <a:off x="4741325" y="733775"/>
            <a:ext cx="1016100" cy="8256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4"/>
          <p:cNvSpPr/>
          <p:nvPr/>
        </p:nvSpPr>
        <p:spPr>
          <a:xfrm>
            <a:off x="4656675" y="1912050"/>
            <a:ext cx="846600" cy="7947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307" name="Google Shape;3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8" name="Google Shape;308;p35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09" name="Google Shape;3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176" y="970675"/>
            <a:ext cx="3000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7376" y="1612700"/>
            <a:ext cx="28479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5"/>
          <p:cNvSpPr/>
          <p:nvPr/>
        </p:nvSpPr>
        <p:spPr>
          <a:xfrm>
            <a:off x="4790725" y="684400"/>
            <a:ext cx="903000" cy="8820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5"/>
          <p:cNvSpPr/>
          <p:nvPr/>
        </p:nvSpPr>
        <p:spPr>
          <a:xfrm>
            <a:off x="5827900" y="1488725"/>
            <a:ext cx="903000" cy="691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4701" y="2353800"/>
            <a:ext cx="52197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1176" y="2808975"/>
            <a:ext cx="24193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320" name="Google Shape;3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1" name="Google Shape;321;p36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22" name="Google Shape;32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176" y="970675"/>
            <a:ext cx="3000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7376" y="1612700"/>
            <a:ext cx="28479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6"/>
          <p:cNvSpPr/>
          <p:nvPr/>
        </p:nvSpPr>
        <p:spPr>
          <a:xfrm>
            <a:off x="4790725" y="684400"/>
            <a:ext cx="903000" cy="8820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92250" y="2254724"/>
            <a:ext cx="5321800" cy="8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1951" y="2944100"/>
            <a:ext cx="1804262" cy="795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332" name="Google Shape;33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37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34" name="Google Shape;33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176" y="970675"/>
            <a:ext cx="30003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7"/>
          <p:cNvSpPr/>
          <p:nvPr/>
        </p:nvSpPr>
        <p:spPr>
          <a:xfrm>
            <a:off x="5898450" y="684400"/>
            <a:ext cx="903000" cy="8820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2251" y="1694438"/>
            <a:ext cx="29813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3923" y="2260625"/>
            <a:ext cx="5395275" cy="83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8450" y="3020425"/>
            <a:ext cx="1543847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44" name="Google Shape;3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5" name="Google Shape;345;p38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46" name="Google Shape;34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6500" y="1446400"/>
            <a:ext cx="4936050" cy="89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8"/>
          <p:cNvSpPr/>
          <p:nvPr/>
        </p:nvSpPr>
        <p:spPr>
          <a:xfrm>
            <a:off x="6342950" y="1220600"/>
            <a:ext cx="2412900" cy="1291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8" name="Google Shape;348;p38"/>
          <p:cNvCxnSpPr>
            <a:stCxn id="347" idx="2"/>
            <a:endCxn id="349" idx="0"/>
          </p:cNvCxnSpPr>
          <p:nvPr/>
        </p:nvCxnSpPr>
        <p:spPr>
          <a:xfrm flipH="1">
            <a:off x="5051000" y="2511800"/>
            <a:ext cx="2498400" cy="768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38"/>
          <p:cNvSpPr txBox="1"/>
          <p:nvPr/>
        </p:nvSpPr>
        <p:spPr>
          <a:xfrm>
            <a:off x="3393725" y="3280825"/>
            <a:ext cx="331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Aún hay que calcular estos dos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términos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55" name="Google Shape;3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6" name="Google Shape;356;p39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57" name="Google Shape;35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6426" y="1401625"/>
            <a:ext cx="22098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600" y="2004300"/>
            <a:ext cx="5281600" cy="81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4750" y="2671375"/>
            <a:ext cx="1702250" cy="5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65" name="Google Shape;3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6" name="Google Shape;366;p40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67" name="Google Shape;36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8696" y="1495775"/>
            <a:ext cx="4688654" cy="31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8700" y="2069925"/>
            <a:ext cx="2878162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1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74" name="Google Shape;3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5" name="Google Shape;375;p41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76" name="Google Shape;37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2250" y="1425250"/>
            <a:ext cx="4936050" cy="8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5175" y="2694175"/>
            <a:ext cx="5267898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83" name="Google Shape;38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4" name="Google Shape;384;p42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85" name="Google Shape;38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1900" y="1448325"/>
            <a:ext cx="2629588" cy="6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1900" y="2212275"/>
            <a:ext cx="5360450" cy="5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3"/>
          <p:cNvSpPr txBox="1"/>
          <p:nvPr>
            <p:ph type="title"/>
          </p:nvPr>
        </p:nvSpPr>
        <p:spPr>
          <a:xfrm>
            <a:off x="225225" y="619625"/>
            <a:ext cx="8277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capa anterior, oculta</a:t>
            </a:r>
            <a:endParaRPr/>
          </a:p>
        </p:txBody>
      </p:sp>
      <p:pic>
        <p:nvPicPr>
          <p:cNvPr id="392" name="Google Shape;39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50" y="1227488"/>
            <a:ext cx="3314701" cy="270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3" name="Google Shape;393;p43"/>
          <p:cNvGraphicFramePr/>
          <p:nvPr/>
        </p:nvGraphicFramePr>
        <p:xfrm>
          <a:off x="225225" y="40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{139F2DDC-F17D-4EFD-8AE5-2A2EE554EBEE}</a:tableStyleId>
              </a:tblPr>
              <a:tblGrid>
                <a:gridCol w="578975"/>
                <a:gridCol w="656025"/>
                <a:gridCol w="656025"/>
                <a:gridCol w="787200"/>
                <a:gridCol w="685150"/>
                <a:gridCol w="716250"/>
                <a:gridCol w="697900"/>
                <a:gridCol w="856150"/>
                <a:gridCol w="856150"/>
                <a:gridCol w="856150"/>
                <a:gridCol w="856150"/>
              </a:tblGrid>
              <a:tr h="3258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Entrada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esperada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Salida - real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Errores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 hMerge="1"/>
                <a:tc hMerge="1"/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h2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o1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o2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2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0.59327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0.59688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0.75137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0.7729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0.274811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0.02356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0.29837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4" name="Google Shape;394;p43"/>
          <p:cNvSpPr txBox="1"/>
          <p:nvPr/>
        </p:nvSpPr>
        <p:spPr>
          <a:xfrm>
            <a:off x="3824100" y="1262950"/>
            <a:ext cx="24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Repetimos para w2, w3 y  w4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5" name="Google Shape;39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4651" y="1815550"/>
            <a:ext cx="2295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4651" y="2310850"/>
            <a:ext cx="23050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4650" y="2806150"/>
            <a:ext cx="22955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