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Raleway"/>
      <p:regular r:id="rId42"/>
      <p:bold r:id="rId43"/>
      <p:italic r:id="rId44"/>
      <p:boldItalic r:id="rId45"/>
    </p:embeddedFont>
    <p:embeddedFont>
      <p:font typeface="Lato"/>
      <p:regular r:id="rId46"/>
      <p:bold r:id="rId47"/>
      <p:italic r:id="rId48"/>
      <p:boldItalic r:id="rId49"/>
    </p:embeddedFont>
    <p:embeddedFont>
      <p:font typeface="Open Sans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4" roundtripDataSignature="AMtx7mgndXGh/Edyj1w+Ld/jlTBMGXQJ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Raleway-regular.fntdata"/><Relationship Id="rId41" Type="http://schemas.openxmlformats.org/officeDocument/2006/relationships/slide" Target="slides/slide36.xml"/><Relationship Id="rId44" Type="http://schemas.openxmlformats.org/officeDocument/2006/relationships/font" Target="fonts/Raleway-italic.fntdata"/><Relationship Id="rId43" Type="http://schemas.openxmlformats.org/officeDocument/2006/relationships/font" Target="fonts/Raleway-bold.fntdata"/><Relationship Id="rId46" Type="http://schemas.openxmlformats.org/officeDocument/2006/relationships/font" Target="fonts/Lato-regular.fntdata"/><Relationship Id="rId45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Lato-italic.fntdata"/><Relationship Id="rId47" Type="http://schemas.openxmlformats.org/officeDocument/2006/relationships/font" Target="fonts/Lato-bold.fntdata"/><Relationship Id="rId49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penSans-bold.fntdata"/><Relationship Id="rId50" Type="http://schemas.openxmlformats.org/officeDocument/2006/relationships/font" Target="fonts/OpenSans-regular.fntdata"/><Relationship Id="rId53" Type="http://schemas.openxmlformats.org/officeDocument/2006/relationships/font" Target="fonts/OpenSans-boldItalic.fntdata"/><Relationship Id="rId52" Type="http://schemas.openxmlformats.org/officeDocument/2006/relationships/font" Target="fonts/Open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5ca31495c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15ca31495c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15ca31495c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15ca31495c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197b9ccfa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197b9ccfa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1d9cd76a0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1d9cd76a0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197b9ccfa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197b9ccfa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197b9ccfa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197b9ccfa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1c5ea2a63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1c5ea2a63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1e3d73b2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1e3d73b2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1c5ea2a63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1c5ea2a63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197b9ccfa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197b9ccfa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197b9ccfa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197b9ccfa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197b9ccfa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197b9ccfa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197b9ccfa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197b9ccfa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1e3d73b2b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1e3d73b2b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1e3d73b2b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11e3d73b2b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1e3d73b2b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1e3d73b2b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1e3d73b2b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1e3d73b2b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1e3d73b2b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1e3d73b2b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1e3d73b2bd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1e3d73b2b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1e3d73b2b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11e3d73b2b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1e3d73b2b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11e3d73b2b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1e3d73b2b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1e3d73b2b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76657b137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276657b137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1e3d73b2bd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1e3d73b2b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15ca31495c_0_22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g115ca31495c_0_22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g115ca31495c_0_22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115ca31495c_0_22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g115ca31495c_0_228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g115ca31495c_0_228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g115ca31495c_0_2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g115ca31495c_0_2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g115ca31495c_0_2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g115ca31495c_0_2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g115ca31495c_0_23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g115ca31495c_0_2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115ca31495c_0_24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g115ca31495c_0_24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g115ca31495c_0_24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g115ca31495c_0_24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g115ca31495c_0_2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g115ca31495c_0_24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g115ca31495c_0_24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115ca31495c_0_25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g115ca31495c_0_25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g115ca31495c_0_25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g115ca31495c_0_25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g115ca31495c_0_25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g115ca31495c_0_250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g115ca31495c_0_250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g115ca31495c_0_25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15ca31495c_0_25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g115ca31495c_0_25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g115ca31495c_0_25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g115ca31495c_0_25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g115ca31495c_0_25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g115ca31495c_0_25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115ca31495c_0_26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g115ca31495c_0_26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g115ca31495c_0_26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g115ca31495c_0_26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g115ca31495c_0_266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g115ca31495c_0_266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g115ca31495c_0_26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g115ca31495c_0_274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g115ca31495c_0_27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g115ca31495c_0_27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g115ca31495c_0_274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g115ca31495c_0_27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15ca31495c_0_28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g115ca31495c_0_28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g115ca31495c_0_28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g115ca31495c_0_28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g115ca31495c_0_280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g115ca31495c_0_280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g115ca31495c_0_280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g115ca31495c_0_28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5ca31495c_0_289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g115ca31495c_0_28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g115ca31495c_0_292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g115ca31495c_0_29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g115ca31495c_0_29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g115ca31495c_0_292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g115ca31495c_0_292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g115ca31495c_0_29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15ca31495c_0_29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15ca31495c_0_3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84" name="Google Shape;84;g115ca31495c_0_30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08200" y="0"/>
            <a:ext cx="835800" cy="8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115ca31495c_0_301"/>
          <p:cNvSpPr txBox="1"/>
          <p:nvPr>
            <p:ph idx="1" type="subTitle"/>
          </p:nvPr>
        </p:nvSpPr>
        <p:spPr>
          <a:xfrm>
            <a:off x="332325" y="3403825"/>
            <a:ext cx="852060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g115ca31495c_0_301"/>
          <p:cNvSpPr txBox="1"/>
          <p:nvPr>
            <p:ph type="title"/>
          </p:nvPr>
        </p:nvSpPr>
        <p:spPr>
          <a:xfrm>
            <a:off x="191350" y="1107750"/>
            <a:ext cx="8829900" cy="1953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5000"/>
              <a:buNone/>
              <a:defRPr b="1" sz="5000">
                <a:solidFill>
                  <a:srgbClr val="CC0000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800"/>
              <a:buFont typeface="Open Sans"/>
              <a:buNone/>
              <a:defRPr b="1" sz="4800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800"/>
              <a:buFont typeface="Open Sans"/>
              <a:buNone/>
              <a:defRPr b="1" sz="4800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800"/>
              <a:buFont typeface="Open Sans"/>
              <a:buNone/>
              <a:defRPr b="1" sz="4800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800"/>
              <a:buFont typeface="Open Sans"/>
              <a:buNone/>
              <a:defRPr b="1" sz="4800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800"/>
              <a:buFont typeface="Open Sans"/>
              <a:buNone/>
              <a:defRPr b="1" sz="4800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800"/>
              <a:buFont typeface="Open Sans"/>
              <a:buNone/>
              <a:defRPr b="1" sz="4800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800"/>
              <a:buFont typeface="Open Sans"/>
              <a:buNone/>
              <a:defRPr b="1" sz="4800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800"/>
              <a:buFont typeface="Open Sans"/>
              <a:buNone/>
              <a:defRPr b="1" sz="4800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2">
  <p:cSld name="TITLE_AND_BODY_2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15ca31495c_0_306"/>
          <p:cNvSpPr/>
          <p:nvPr/>
        </p:nvSpPr>
        <p:spPr>
          <a:xfrm>
            <a:off x="8122570" y="0"/>
            <a:ext cx="1007100" cy="92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115ca31495c_0_306"/>
          <p:cNvSpPr txBox="1"/>
          <p:nvPr>
            <p:ph idx="1" type="body"/>
          </p:nvPr>
        </p:nvSpPr>
        <p:spPr>
          <a:xfrm>
            <a:off x="0" y="926400"/>
            <a:ext cx="9123900" cy="42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4064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90" name="Google Shape;90;g115ca31495c_0_306"/>
          <p:cNvSpPr txBox="1"/>
          <p:nvPr>
            <p:ph type="title"/>
          </p:nvPr>
        </p:nvSpPr>
        <p:spPr>
          <a:xfrm>
            <a:off x="-100" y="0"/>
            <a:ext cx="8119200" cy="92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g115ca31495c_0_30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92" name="Google Shape;92;g115ca31495c_0_30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9507" y="-2525"/>
            <a:ext cx="964350" cy="9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15ca31495c_0_2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g115ca31495c_0_2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115ca31495c_0_2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atos7506-fiuba.github.io/" TargetMode="External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atos7506-fiuba.github.io/calendar/" TargetMode="External"/><Relationship Id="rId4" Type="http://schemas.openxmlformats.org/officeDocument/2006/relationships/hyperlink" Target="https://docs.google.com/spreadsheets/d/1gMO0dbqciDDul1R30pGUIK9txBC3cT1k-OWtxwbHgxc" TargetMode="External"/><Relationship Id="rId5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rive.google.com/drive/folders/16WyWC1HBv2dLF3rPTlhrK0OXw3G3hbhh" TargetMode="External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7.png"/><Relationship Id="rId5" Type="http://schemas.openxmlformats.org/officeDocument/2006/relationships/image" Target="../media/image18.png"/><Relationship Id="rId6" Type="http://schemas.openxmlformats.org/officeDocument/2006/relationships/image" Target="../media/image9.png"/><Relationship Id="rId7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11.png"/><Relationship Id="rId5" Type="http://schemas.openxmlformats.org/officeDocument/2006/relationships/image" Target="../media/image25.png"/><Relationship Id="rId6" Type="http://schemas.openxmlformats.org/officeDocument/2006/relationships/image" Target="../media/image1.png"/><Relationship Id="rId7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olab.research.google.com/" TargetMode="External"/><Relationship Id="rId4" Type="http://schemas.openxmlformats.org/officeDocument/2006/relationships/hyperlink" Target="https://www.kaggle.com/" TargetMode="External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news.antiwar.com/2020/03/24/israel-may-try-to-detect-coronavirus-by-voice/" TargetMode="External"/><Relationship Id="rId4" Type="http://schemas.openxmlformats.org/officeDocument/2006/relationships/image" Target="../media/image2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cloud.google.com/video-intelligence?hl=es" TargetMode="External"/><Relationship Id="rId4" Type="http://schemas.openxmlformats.org/officeDocument/2006/relationships/image" Target="../media/image28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cloud.google.com/vision?hl=es" TargetMode="External"/><Relationship Id="rId4" Type="http://schemas.openxmlformats.org/officeDocument/2006/relationships/hyperlink" Target="https://youtu.be/zxoxL4Io_1M?t=114" TargetMode="External"/><Relationship Id="rId5" Type="http://schemas.openxmlformats.org/officeDocument/2006/relationships/hyperlink" Target="https://aiir.ai/industries/fire-detection/?utm_campaign=JorgeTeTiraLeads" TargetMode="External"/><Relationship Id="rId6" Type="http://schemas.openxmlformats.org/officeDocument/2006/relationships/image" Target="../media/image40.png"/></Relationships>
</file>

<file path=ppt/slides/_rels/slide32.xml.rels><?xml version="1.0" encoding="UTF-8" standalone="yes"?><Relationships xmlns="http://schemas.openxmlformats.org/package/2006/relationships"><Relationship Id="rId10" Type="http://schemas.openxmlformats.org/officeDocument/2006/relationships/image" Target="../media/image27.jp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jpg"/><Relationship Id="rId4" Type="http://schemas.openxmlformats.org/officeDocument/2006/relationships/image" Target="../media/image38.jpg"/><Relationship Id="rId9" Type="http://schemas.openxmlformats.org/officeDocument/2006/relationships/image" Target="../media/image34.png"/><Relationship Id="rId5" Type="http://schemas.openxmlformats.org/officeDocument/2006/relationships/image" Target="../media/image35.jpg"/><Relationship Id="rId6" Type="http://schemas.openxmlformats.org/officeDocument/2006/relationships/image" Target="../media/image26.jpg"/><Relationship Id="rId7" Type="http://schemas.openxmlformats.org/officeDocument/2006/relationships/image" Target="../media/image31.jpg"/><Relationship Id="rId8" Type="http://schemas.openxmlformats.org/officeDocument/2006/relationships/image" Target="../media/image3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3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4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15ca31495c_0_31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</a:t>
            </a:r>
            <a:r>
              <a:rPr lang="es-419"/>
              <a:t>ntroducción a la cátedra</a:t>
            </a:r>
            <a:endParaRPr/>
          </a:p>
        </p:txBody>
      </p:sp>
      <p:sp>
        <p:nvSpPr>
          <p:cNvPr id="98" name="Google Shape;98;g115ca31495c_0_31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Dr. </a:t>
            </a:r>
            <a:r>
              <a:rPr lang="es-419"/>
              <a:t>Ing. Juan M. Rodríguez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15ca31495c_0_32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Slack como canal de </a:t>
            </a:r>
            <a:r>
              <a:rPr lang="es-419"/>
              <a:t>comunicación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g115ca31495c_0_3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2000" y="2117613"/>
            <a:ext cx="3343275" cy="13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197b9ccfaf_0_7"/>
          <p:cNvSpPr txBox="1"/>
          <p:nvPr>
            <p:ph type="title"/>
          </p:nvPr>
        </p:nvSpPr>
        <p:spPr>
          <a:xfrm>
            <a:off x="729450" y="1318650"/>
            <a:ext cx="25908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Docentes</a:t>
            </a:r>
            <a:endParaRPr/>
          </a:p>
        </p:txBody>
      </p:sp>
      <p:sp>
        <p:nvSpPr>
          <p:cNvPr id="110" name="Google Shape;110;g1197b9ccfaf_0_7"/>
          <p:cNvSpPr txBox="1"/>
          <p:nvPr>
            <p:ph idx="1" type="body"/>
          </p:nvPr>
        </p:nvSpPr>
        <p:spPr>
          <a:xfrm>
            <a:off x="1849275" y="1727775"/>
            <a:ext cx="6584100" cy="25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Titular</a:t>
            </a:r>
            <a:r>
              <a:rPr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Juan M. Rodríguez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Jefa de TPs</a:t>
            </a:r>
            <a:r>
              <a:rPr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Azul Villanueva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Profesor</a:t>
            </a:r>
            <a:r>
              <a:rPr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Nacho Velasco 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rofesor</a:t>
            </a:r>
            <a:r>
              <a:rPr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Mateo Suster 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Profesor</a:t>
            </a:r>
            <a:r>
              <a:rPr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Franco Mastelli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1d9cd76a05_0_5"/>
          <p:cNvSpPr txBox="1"/>
          <p:nvPr>
            <p:ph type="title"/>
          </p:nvPr>
        </p:nvSpPr>
        <p:spPr>
          <a:xfrm>
            <a:off x="729450" y="1318650"/>
            <a:ext cx="25908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Colaboradores</a:t>
            </a:r>
            <a:endParaRPr/>
          </a:p>
        </p:txBody>
      </p:sp>
      <p:sp>
        <p:nvSpPr>
          <p:cNvPr id="116" name="Google Shape;116;g11d9cd76a05_0_5"/>
          <p:cNvSpPr txBox="1"/>
          <p:nvPr>
            <p:ph idx="1" type="body"/>
          </p:nvPr>
        </p:nvSpPr>
        <p:spPr>
          <a:xfrm>
            <a:off x="3114675" y="1609675"/>
            <a:ext cx="3723900" cy="24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Gabriel Bedoya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Francisco Pereira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Axel Perez Machado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Dolores Levi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Manuel Dávila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197b9ccfaf_0_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Modalidad de cursada</a:t>
            </a:r>
            <a:endParaRPr/>
          </a:p>
        </p:txBody>
      </p:sp>
      <p:sp>
        <p:nvSpPr>
          <p:cNvPr id="122" name="Google Shape;122;g1197b9ccfaf_0_13"/>
          <p:cNvSpPr txBox="1"/>
          <p:nvPr>
            <p:ph idx="1" type="body"/>
          </p:nvPr>
        </p:nvSpPr>
        <p:spPr>
          <a:xfrm>
            <a:off x="729450" y="2078875"/>
            <a:ext cx="6837600" cy="9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s-419" sz="2100"/>
              <a:t>Teórica</a:t>
            </a:r>
            <a:r>
              <a:rPr lang="es-419" sz="2100"/>
              <a:t>:   Martes 19:00 - 22:00 hs virtual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s-419" sz="2100"/>
              <a:t>Práctica</a:t>
            </a:r>
            <a:r>
              <a:rPr lang="es-419" sz="2100"/>
              <a:t>: Jueves  19:00 - 22:00 hs virtual</a:t>
            </a:r>
            <a:endParaRPr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197b9ccfaf_0_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aprobar?</a:t>
            </a:r>
            <a:endParaRPr/>
          </a:p>
        </p:txBody>
      </p:sp>
      <p:sp>
        <p:nvSpPr>
          <p:cNvPr id="128" name="Google Shape;128;g1197b9ccfaf_0_18"/>
          <p:cNvSpPr txBox="1"/>
          <p:nvPr>
            <p:ph idx="1" type="body"/>
          </p:nvPr>
        </p:nvSpPr>
        <p:spPr>
          <a:xfrm>
            <a:off x="729450" y="1898800"/>
            <a:ext cx="8236800" cy="27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s-419" sz="2100"/>
              <a:t>2 t</a:t>
            </a:r>
            <a:r>
              <a:rPr b="1" lang="es-419" sz="2100"/>
              <a:t>rabajos prácticos</a:t>
            </a:r>
            <a:endParaRPr b="1"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s-419" sz="2100"/>
              <a:t>El segundo será una competencia privada en Kaggle.</a:t>
            </a:r>
            <a:endParaRPr b="1"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s-419" sz="2100"/>
              <a:t>Parcial, presencial y escrito. (2 recuperatorios)</a:t>
            </a:r>
            <a:endParaRPr b="1"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s-419" sz="2100"/>
              <a:t>Examen final, presencial y escrito. (Pero se puede promocionar)</a:t>
            </a:r>
            <a:endParaRPr b="1"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1c5ea2a631_0_1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Sitio Web:</a:t>
            </a:r>
            <a:endParaRPr/>
          </a:p>
        </p:txBody>
      </p:sp>
      <p:sp>
        <p:nvSpPr>
          <p:cNvPr id="134" name="Google Shape;134;g21c5ea2a631_0_12"/>
          <p:cNvSpPr txBox="1"/>
          <p:nvPr>
            <p:ph idx="1" type="body"/>
          </p:nvPr>
        </p:nvSpPr>
        <p:spPr>
          <a:xfrm>
            <a:off x="2533800" y="1318650"/>
            <a:ext cx="5005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-419" sz="2100" u="sng">
                <a:solidFill>
                  <a:schemeClr val="hlink"/>
                </a:solidFill>
                <a:hlinkClick r:id="rId3"/>
              </a:rPr>
              <a:t>https://datos7506-fiuba.github.io/</a:t>
            </a:r>
            <a:endParaRPr b="1" sz="2100"/>
          </a:p>
        </p:txBody>
      </p:sp>
      <p:pic>
        <p:nvPicPr>
          <p:cNvPr id="135" name="Google Shape;135;g21c5ea2a631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9013" y="1853850"/>
            <a:ext cx="6529577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1e3d73b2bd_0_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Calendario</a:t>
            </a:r>
            <a:endParaRPr/>
          </a:p>
        </p:txBody>
      </p:sp>
      <p:sp>
        <p:nvSpPr>
          <p:cNvPr id="141" name="Google Shape;141;g11e3d73b2bd_0_0">
            <a:hlinkClick r:id="rId3"/>
          </p:cNvPr>
          <p:cNvSpPr txBox="1"/>
          <p:nvPr/>
        </p:nvSpPr>
        <p:spPr>
          <a:xfrm>
            <a:off x="51850" y="4743275"/>
            <a:ext cx="895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>
                <a:solidFill>
                  <a:schemeClr val="hlink"/>
                </a:solidFill>
                <a:hlinkClick r:id="rId4"/>
              </a:rPr>
              <a:t>Calendario</a:t>
            </a:r>
            <a:endParaRPr/>
          </a:p>
        </p:txBody>
      </p:sp>
      <p:pic>
        <p:nvPicPr>
          <p:cNvPr id="142" name="Google Shape;142;g11e3d73b2bd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16227" y="1369150"/>
            <a:ext cx="6390626" cy="3253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1c5ea2a631_0_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Material para alumnos:</a:t>
            </a:r>
            <a:endParaRPr/>
          </a:p>
        </p:txBody>
      </p:sp>
      <p:sp>
        <p:nvSpPr>
          <p:cNvPr id="148" name="Google Shape;148;g21c5ea2a631_0_2"/>
          <p:cNvSpPr txBox="1"/>
          <p:nvPr/>
        </p:nvSpPr>
        <p:spPr>
          <a:xfrm>
            <a:off x="846025" y="1781875"/>
            <a:ext cx="801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>
                <a:solidFill>
                  <a:schemeClr val="hlink"/>
                </a:solidFill>
                <a:hlinkClick r:id="rId3"/>
              </a:rPr>
              <a:t>Link al drive</a:t>
            </a:r>
            <a:endParaRPr/>
          </a:p>
        </p:txBody>
      </p:sp>
      <p:pic>
        <p:nvPicPr>
          <p:cNvPr id="149" name="Google Shape;149;g21c5ea2a631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025" y="2182075"/>
            <a:ext cx="4447426" cy="265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197b9ccfaf_0_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Herramientas y </a:t>
            </a:r>
            <a:r>
              <a:rPr lang="es-419"/>
              <a:t>tecnologías</a:t>
            </a:r>
            <a:r>
              <a:rPr lang="es-419"/>
              <a:t> a utilizar</a:t>
            </a:r>
            <a:endParaRPr/>
          </a:p>
        </p:txBody>
      </p:sp>
      <p:sp>
        <p:nvSpPr>
          <p:cNvPr id="155" name="Google Shape;155;g1197b9ccfaf_0_23"/>
          <p:cNvSpPr txBox="1"/>
          <p:nvPr>
            <p:ph idx="1" type="body"/>
          </p:nvPr>
        </p:nvSpPr>
        <p:spPr>
          <a:xfrm>
            <a:off x="729450" y="2078875"/>
            <a:ext cx="4132500" cy="26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s-419" sz="2300"/>
              <a:t>Python 3: </a:t>
            </a:r>
            <a:endParaRPr b="1"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b="1" lang="es-419" sz="2300"/>
              <a:t>Tensorflow, </a:t>
            </a:r>
            <a:endParaRPr b="1"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b="1" lang="es-419" sz="2300"/>
              <a:t>Keras, </a:t>
            </a:r>
            <a:endParaRPr b="1"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b="1" lang="es-419" sz="2300"/>
              <a:t>Numpy, </a:t>
            </a:r>
            <a:endParaRPr b="1"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b="1" lang="es-419" sz="2300"/>
              <a:t>Pandas</a:t>
            </a:r>
            <a:endParaRPr b="1" sz="2500"/>
          </a:p>
        </p:txBody>
      </p:sp>
      <p:pic>
        <p:nvPicPr>
          <p:cNvPr id="156" name="Google Shape;156;g1197b9ccfaf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8725" y="991650"/>
            <a:ext cx="2568576" cy="1087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1197b9ccfaf_0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9650" y="1927400"/>
            <a:ext cx="1175199" cy="125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1197b9ccfaf_0_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89550" y="2030274"/>
            <a:ext cx="2667150" cy="77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1197b9ccfaf_0_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09650" y="3183875"/>
            <a:ext cx="1307650" cy="130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1197b9ccfaf_0_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32221" y="3183871"/>
            <a:ext cx="2372600" cy="961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197b9ccfaf_0_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Herramientas y tecnologías a utilizar</a:t>
            </a:r>
            <a:endParaRPr/>
          </a:p>
        </p:txBody>
      </p:sp>
      <p:sp>
        <p:nvSpPr>
          <p:cNvPr id="166" name="Google Shape;166;g1197b9ccfaf_0_35"/>
          <p:cNvSpPr txBox="1"/>
          <p:nvPr>
            <p:ph idx="1" type="body"/>
          </p:nvPr>
        </p:nvSpPr>
        <p:spPr>
          <a:xfrm>
            <a:off x="729450" y="2078875"/>
            <a:ext cx="3842400" cy="26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s-419" sz="2100"/>
              <a:t>Python 3: </a:t>
            </a:r>
            <a:endParaRPr b="1"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b="1" lang="es-419" sz="2100"/>
              <a:t>PyTorch (a través de Yolo), </a:t>
            </a:r>
            <a:endParaRPr b="1"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b="1" lang="es-419" sz="2100"/>
              <a:t>Yolo,  </a:t>
            </a:r>
            <a:endParaRPr b="1"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b="1" lang="es-419" sz="2100"/>
              <a:t>scikit-learn</a:t>
            </a:r>
            <a:endParaRPr b="1"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s-419" sz="2100"/>
              <a:t>Weka</a:t>
            </a:r>
            <a:endParaRPr b="1" sz="2100"/>
          </a:p>
        </p:txBody>
      </p:sp>
      <p:pic>
        <p:nvPicPr>
          <p:cNvPr id="167" name="Google Shape;167;g1197b9ccfaf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8725" y="991650"/>
            <a:ext cx="2568576" cy="1087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1197b9ccfaf_0_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0488" y="1853850"/>
            <a:ext cx="1503089" cy="1503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1197b9ccfaf_0_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11250" y="2162675"/>
            <a:ext cx="2693575" cy="88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1197b9ccfaf_0_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32225" y="3356948"/>
            <a:ext cx="2395748" cy="129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1197b9ccfaf_0_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97150" y="3459246"/>
            <a:ext cx="1835085" cy="108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197b9ccfaf_0_4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Herramientas y tecnologías a utilizar</a:t>
            </a:r>
            <a:endParaRPr/>
          </a:p>
        </p:txBody>
      </p:sp>
      <p:sp>
        <p:nvSpPr>
          <p:cNvPr id="177" name="Google Shape;177;g1197b9ccfaf_0_49"/>
          <p:cNvSpPr txBox="1"/>
          <p:nvPr>
            <p:ph idx="1" type="body"/>
          </p:nvPr>
        </p:nvSpPr>
        <p:spPr>
          <a:xfrm>
            <a:off x="729450" y="2078875"/>
            <a:ext cx="3191100" cy="19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s-419" sz="2100"/>
              <a:t>Máquinas</a:t>
            </a:r>
            <a:r>
              <a:rPr b="1" lang="es-419" sz="2100"/>
              <a:t> </a:t>
            </a:r>
            <a:r>
              <a:rPr b="1" lang="es-419" sz="2100"/>
              <a:t>Júpiter</a:t>
            </a:r>
            <a:endParaRPr b="1"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s-419" sz="2100" u="sng">
                <a:solidFill>
                  <a:schemeClr val="hlink"/>
                </a:solidFill>
                <a:hlinkClick r:id="rId3"/>
              </a:rPr>
              <a:t>Google Colab</a:t>
            </a:r>
            <a:endParaRPr b="1"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s-419" sz="2100" u="sng">
                <a:solidFill>
                  <a:schemeClr val="hlink"/>
                </a:solidFill>
                <a:hlinkClick r:id="rId4"/>
              </a:rPr>
              <a:t>Kaggle</a:t>
            </a:r>
            <a:endParaRPr b="1" sz="2100"/>
          </a:p>
        </p:txBody>
      </p:sp>
      <p:pic>
        <p:nvPicPr>
          <p:cNvPr id="178" name="Google Shape;178;g1197b9ccfaf_0_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4475" y="1853850"/>
            <a:ext cx="1581924" cy="21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1197b9ccfaf_0_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78074" y="1829475"/>
            <a:ext cx="21336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1197b9ccfaf_0_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43900" y="3657975"/>
            <a:ext cx="2622026" cy="101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197b9ccfaf_0_6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Introducción a la materia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 txBox="1"/>
          <p:nvPr>
            <p:ph type="title"/>
          </p:nvPr>
        </p:nvSpPr>
        <p:spPr>
          <a:xfrm>
            <a:off x="-100" y="0"/>
            <a:ext cx="8119200" cy="92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¿Qué es un </a:t>
            </a:r>
            <a:r>
              <a:rPr i="1" lang="es-419"/>
              <a:t>d</a:t>
            </a:r>
            <a:r>
              <a:rPr i="1" lang="es-419"/>
              <a:t>ata scientist</a:t>
            </a:r>
            <a:r>
              <a:rPr lang="es-419"/>
              <a:t>?</a:t>
            </a:r>
            <a:endParaRPr/>
          </a:p>
        </p:txBody>
      </p:sp>
      <p:sp>
        <p:nvSpPr>
          <p:cNvPr id="191" name="Google Shape;191;p12"/>
          <p:cNvSpPr txBox="1"/>
          <p:nvPr>
            <p:ph idx="1" type="body"/>
          </p:nvPr>
        </p:nvSpPr>
        <p:spPr>
          <a:xfrm>
            <a:off x="700375" y="1311425"/>
            <a:ext cx="7686600" cy="30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/>
              <a:t>Es capaz de:</a:t>
            </a:r>
            <a:endParaRPr sz="1900"/>
          </a:p>
          <a:p>
            <a:pPr indent="-444500" lvl="0" marL="457200" rtl="0" algn="l">
              <a:spcBef>
                <a:spcPts val="0"/>
              </a:spcBef>
              <a:spcAft>
                <a:spcPts val="0"/>
              </a:spcAft>
              <a:buSzPts val="3400"/>
              <a:buChar char="●"/>
            </a:pPr>
            <a:r>
              <a:rPr lang="es-419" sz="1900"/>
              <a:t>Obtener, Interpretar, procesar y filtrar los datos.</a:t>
            </a:r>
            <a:endParaRPr sz="1900"/>
          </a:p>
          <a:p>
            <a:pPr indent="-444500" lvl="0" marL="457200" rtl="0" algn="l">
              <a:spcBef>
                <a:spcPts val="0"/>
              </a:spcBef>
              <a:spcAft>
                <a:spcPts val="0"/>
              </a:spcAft>
              <a:buSzPts val="3400"/>
              <a:buChar char="●"/>
            </a:pPr>
            <a:r>
              <a:rPr lang="es-419" sz="1900"/>
              <a:t>Llegar a conclusiones a partir de lo anterior.</a:t>
            </a:r>
            <a:endParaRPr sz="1900"/>
          </a:p>
          <a:p>
            <a:pPr indent="-444500" lvl="0" marL="457200" rtl="0" algn="l">
              <a:spcBef>
                <a:spcPts val="0"/>
              </a:spcBef>
              <a:spcAft>
                <a:spcPts val="0"/>
              </a:spcAft>
              <a:buSzPts val="3400"/>
              <a:buChar char="●"/>
            </a:pPr>
            <a:r>
              <a:rPr lang="es-419" sz="1900"/>
              <a:t>Construir soluciones para los problemas que se quiere solucionar.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419"/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60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 txBox="1"/>
          <p:nvPr>
            <p:ph type="title"/>
          </p:nvPr>
        </p:nvSpPr>
        <p:spPr>
          <a:xfrm>
            <a:off x="-100" y="0"/>
            <a:ext cx="8119200" cy="92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i="1" lang="es-419"/>
              <a:t>Data Scientist != Data Engineer</a:t>
            </a:r>
            <a:endParaRPr i="1"/>
          </a:p>
        </p:txBody>
      </p:sp>
      <p:sp>
        <p:nvSpPr>
          <p:cNvPr id="197" name="Google Shape;197;p13"/>
          <p:cNvSpPr txBox="1"/>
          <p:nvPr>
            <p:ph idx="1" type="body"/>
          </p:nvPr>
        </p:nvSpPr>
        <p:spPr>
          <a:xfrm>
            <a:off x="162975" y="1075300"/>
            <a:ext cx="8175000" cy="3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s-419" sz="1600"/>
              <a:t>Considerable solapamiento entre las habilidades y responsabilidades.</a:t>
            </a:r>
            <a:endParaRPr sz="1600"/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s-419" sz="1600"/>
              <a:t>Hay una importante diferencia en el enfoque.</a:t>
            </a:r>
            <a:endParaRPr sz="1600"/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s-419" sz="1600"/>
              <a:t>El ingeniero de datos se enfoca en la</a:t>
            </a:r>
            <a:r>
              <a:rPr b="1" lang="es-419" sz="1600"/>
              <a:t> creación de la infraestructura</a:t>
            </a:r>
            <a:r>
              <a:rPr lang="es-419" sz="1600"/>
              <a:t> y a</a:t>
            </a:r>
            <a:r>
              <a:rPr b="1" lang="es-419" sz="1600"/>
              <a:t>rquitectura para la generación, soporte y extracción de los datos</a:t>
            </a:r>
            <a:r>
              <a:rPr lang="es-419" sz="1600"/>
              <a:t>. (</a:t>
            </a:r>
            <a:r>
              <a:rPr b="1" lang="es-419" sz="1600"/>
              <a:t>Big Data</a:t>
            </a:r>
            <a:r>
              <a:rPr lang="es-419" sz="1600"/>
              <a:t>)</a:t>
            </a:r>
            <a:endParaRPr sz="1600"/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s-419" sz="1600"/>
              <a:t>El </a:t>
            </a:r>
            <a:r>
              <a:rPr lang="es-419" sz="1600" u="sng"/>
              <a:t>científico de datos</a:t>
            </a:r>
            <a:r>
              <a:rPr lang="es-419" sz="1600"/>
              <a:t> se enfoca en la interpretación y análisis de los datos mediante el análisis estadístico y matemático.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 txBox="1"/>
          <p:nvPr/>
        </p:nvSpPr>
        <p:spPr>
          <a:xfrm>
            <a:off x="0" y="835800"/>
            <a:ext cx="9144000" cy="43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3" name="Google Shape;2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5963" y="1066625"/>
            <a:ext cx="4245924" cy="384827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4"/>
          <p:cNvSpPr txBox="1"/>
          <p:nvPr>
            <p:ph type="title"/>
          </p:nvPr>
        </p:nvSpPr>
        <p:spPr>
          <a:xfrm>
            <a:off x="-100" y="0"/>
            <a:ext cx="8119200" cy="92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Dominios de conocimiento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"/>
          <p:cNvSpPr txBox="1"/>
          <p:nvPr/>
        </p:nvSpPr>
        <p:spPr>
          <a:xfrm>
            <a:off x="0" y="835800"/>
            <a:ext cx="27378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 mining</a:t>
            </a:r>
            <a:endParaRPr b="0" i="0" sz="2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10" name="Google Shape;2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7750" y="835794"/>
            <a:ext cx="1147425" cy="93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1236" y="1384700"/>
            <a:ext cx="2429725" cy="136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5"/>
          <p:cNvPicPr preferRelativeResize="0"/>
          <p:nvPr/>
        </p:nvPicPr>
        <p:blipFill rotWithShape="1">
          <a:blip r:embed="rId5">
            <a:alphaModFix/>
          </a:blip>
          <a:srcRect b="0" l="14320" r="15782" t="28866"/>
          <a:stretch/>
        </p:blipFill>
        <p:spPr>
          <a:xfrm>
            <a:off x="4400225" y="3423060"/>
            <a:ext cx="1497450" cy="106899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5"/>
          <p:cNvSpPr txBox="1"/>
          <p:nvPr/>
        </p:nvSpPr>
        <p:spPr>
          <a:xfrm>
            <a:off x="121175" y="1876175"/>
            <a:ext cx="43431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Visualización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5"/>
          <p:cNvSpPr txBox="1"/>
          <p:nvPr/>
        </p:nvSpPr>
        <p:spPr>
          <a:xfrm>
            <a:off x="33650" y="2652575"/>
            <a:ext cx="39255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Matemática y Estadística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5"/>
          <p:cNvSpPr txBox="1"/>
          <p:nvPr/>
        </p:nvSpPr>
        <p:spPr>
          <a:xfrm>
            <a:off x="44975" y="3835788"/>
            <a:ext cx="37035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Machine Learning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5"/>
          <p:cNvSpPr txBox="1"/>
          <p:nvPr/>
        </p:nvSpPr>
        <p:spPr>
          <a:xfrm>
            <a:off x="44975" y="4445400"/>
            <a:ext cx="79455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Plataformas: Linux, AWS, Google Cloud, etc.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5"/>
          <p:cNvSpPr txBox="1"/>
          <p:nvPr>
            <p:ph type="title"/>
          </p:nvPr>
        </p:nvSpPr>
        <p:spPr>
          <a:xfrm>
            <a:off x="-100" y="0"/>
            <a:ext cx="8119200" cy="92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Habilidades técnicas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1e3d73b2bd_0_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¿Qué es </a:t>
            </a:r>
            <a:r>
              <a:rPr i="1" lang="es-419"/>
              <a:t>machine learning</a:t>
            </a:r>
            <a:r>
              <a:rPr lang="es-419"/>
              <a:t>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1e3d73b2bd_0_1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Machine Learning (Aprendizaje </a:t>
            </a:r>
            <a:r>
              <a:rPr lang="es-419"/>
              <a:t>automático</a:t>
            </a:r>
            <a:r>
              <a:rPr lang="es-419"/>
              <a:t>)</a:t>
            </a:r>
            <a:endParaRPr/>
          </a:p>
        </p:txBody>
      </p:sp>
      <p:sp>
        <p:nvSpPr>
          <p:cNvPr id="228" name="Google Shape;228;g11e3d73b2bd_0_1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El aprendizaje </a:t>
            </a:r>
            <a:r>
              <a:rPr lang="es-419" sz="1800"/>
              <a:t>automático</a:t>
            </a:r>
            <a:r>
              <a:rPr lang="es-419" sz="1800"/>
              <a:t> es la </a:t>
            </a:r>
            <a:r>
              <a:rPr lang="es-419" sz="1800"/>
              <a:t>ciencia</a:t>
            </a:r>
            <a:r>
              <a:rPr lang="es-419" sz="1800"/>
              <a:t> (y el arte) de programar computadoras para que aprendan a partir de datos.</a:t>
            </a:r>
            <a:endParaRPr sz="18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800"/>
              <a:t>(Aurélien Géron, 2019)</a:t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1e3d73b2bd_0_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Machine Learning (Aprendizaje automático)</a:t>
            </a:r>
            <a:endParaRPr/>
          </a:p>
        </p:txBody>
      </p:sp>
      <p:sp>
        <p:nvSpPr>
          <p:cNvPr id="234" name="Google Shape;234;g11e3d73b2bd_0_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Se dice que un programa de computadoras aprende de la experiencia E, respecto de una tarea T y una medida de rendimiento R, si su rendimiento en T, medido por R, mejora la experiencia E.</a:t>
            </a:r>
            <a:endParaRPr sz="18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800"/>
              <a:t>(Tom Mitchell, 1997)</a:t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1e3d73b2bd_0_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Machine Learning (Aprendizaje automático)</a:t>
            </a:r>
            <a:endParaRPr/>
          </a:p>
        </p:txBody>
      </p:sp>
      <p:sp>
        <p:nvSpPr>
          <p:cNvPr id="240" name="Google Shape;240;g11e3d73b2bd_0_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El aprendizaje automático es el campo de estudio que da a las computadoras la capacidad de aprender sin ser programadas de manera </a:t>
            </a:r>
            <a:r>
              <a:rPr lang="es-419" sz="1800"/>
              <a:t>explícita</a:t>
            </a:r>
            <a:r>
              <a:rPr lang="es-419" sz="1800"/>
              <a:t>.</a:t>
            </a:r>
            <a:endParaRPr sz="18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800"/>
              <a:t>(Arthur Samuel, 1959)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1e3d73b2bd_0_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Machine Learning (Aprendizaje automático)</a:t>
            </a:r>
            <a:endParaRPr/>
          </a:p>
        </p:txBody>
      </p:sp>
      <p:sp>
        <p:nvSpPr>
          <p:cNvPr id="246" name="Google Shape;246;g11e3d73b2bd_0_30"/>
          <p:cNvSpPr txBox="1"/>
          <p:nvPr>
            <p:ph idx="1" type="body"/>
          </p:nvPr>
        </p:nvSpPr>
        <p:spPr>
          <a:xfrm>
            <a:off x="729450" y="2078875"/>
            <a:ext cx="1926600" cy="4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-419" sz="1800"/>
              <a:t>Filtro de SPAM</a:t>
            </a:r>
            <a:endParaRPr b="1" sz="1800"/>
          </a:p>
        </p:txBody>
      </p:sp>
      <p:pic>
        <p:nvPicPr>
          <p:cNvPr id="247" name="Google Shape;247;g11e3d73b2bd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5200" y="2078875"/>
            <a:ext cx="6183148" cy="27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11e3d73b2bd_0_30"/>
          <p:cNvSpPr txBox="1"/>
          <p:nvPr>
            <p:ph idx="1" type="body"/>
          </p:nvPr>
        </p:nvSpPr>
        <p:spPr>
          <a:xfrm>
            <a:off x="729450" y="2617775"/>
            <a:ext cx="1926600" cy="4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-419" sz="1800"/>
              <a:t>Enfoque tradicional</a:t>
            </a:r>
            <a:endParaRPr b="1"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e3d73b2bd_0_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Machine Learning (Aprendizaje automático)</a:t>
            </a:r>
            <a:endParaRPr/>
          </a:p>
        </p:txBody>
      </p:sp>
      <p:sp>
        <p:nvSpPr>
          <p:cNvPr id="254" name="Google Shape;254;g11e3d73b2bd_0_37"/>
          <p:cNvSpPr txBox="1"/>
          <p:nvPr>
            <p:ph idx="1" type="body"/>
          </p:nvPr>
        </p:nvSpPr>
        <p:spPr>
          <a:xfrm>
            <a:off x="729450" y="2078875"/>
            <a:ext cx="1926600" cy="4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-419" sz="1800"/>
              <a:t>Filtro de SPAM</a:t>
            </a:r>
            <a:endParaRPr b="1" sz="1800"/>
          </a:p>
        </p:txBody>
      </p:sp>
      <p:sp>
        <p:nvSpPr>
          <p:cNvPr id="255" name="Google Shape;255;g11e3d73b2bd_0_37"/>
          <p:cNvSpPr txBox="1"/>
          <p:nvPr>
            <p:ph idx="1" type="body"/>
          </p:nvPr>
        </p:nvSpPr>
        <p:spPr>
          <a:xfrm>
            <a:off x="729450" y="2617775"/>
            <a:ext cx="1926600" cy="4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-419" sz="1800"/>
              <a:t>Enfoque ML</a:t>
            </a:r>
            <a:endParaRPr b="1" sz="1800"/>
          </a:p>
        </p:txBody>
      </p:sp>
      <p:pic>
        <p:nvPicPr>
          <p:cNvPr id="256" name="Google Shape;256;g11e3d73b2bd_0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6050" y="2004550"/>
            <a:ext cx="6183151" cy="2815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1e3d73b2bd_0_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Machine Learning (Aprendizaje automático)</a:t>
            </a:r>
            <a:endParaRPr/>
          </a:p>
        </p:txBody>
      </p:sp>
      <p:sp>
        <p:nvSpPr>
          <p:cNvPr id="262" name="Google Shape;262;g11e3d73b2bd_0_45"/>
          <p:cNvSpPr txBox="1"/>
          <p:nvPr>
            <p:ph idx="1" type="body"/>
          </p:nvPr>
        </p:nvSpPr>
        <p:spPr>
          <a:xfrm>
            <a:off x="729450" y="1913025"/>
            <a:ext cx="3061200" cy="4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rPr b="1" lang="es-419" sz="1690"/>
              <a:t>Filtro de SPAM - enfoque ML</a:t>
            </a:r>
            <a:endParaRPr b="1" sz="1690"/>
          </a:p>
        </p:txBody>
      </p:sp>
      <p:sp>
        <p:nvSpPr>
          <p:cNvPr id="263" name="Google Shape;263;g11e3d73b2bd_0_45"/>
          <p:cNvSpPr txBox="1"/>
          <p:nvPr>
            <p:ph idx="1" type="body"/>
          </p:nvPr>
        </p:nvSpPr>
        <p:spPr>
          <a:xfrm>
            <a:off x="729450" y="2405925"/>
            <a:ext cx="4794000" cy="4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-419" sz="1800"/>
              <a:t>Adaptación al cambio de forma </a:t>
            </a:r>
            <a:r>
              <a:rPr b="1" lang="es-419" sz="1800"/>
              <a:t>automática</a:t>
            </a:r>
            <a:endParaRPr b="1" sz="1800"/>
          </a:p>
        </p:txBody>
      </p:sp>
      <p:pic>
        <p:nvPicPr>
          <p:cNvPr id="264" name="Google Shape;264;g11e3d73b2bd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6700" y="2954600"/>
            <a:ext cx="5024503" cy="193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1e3d73b2bd_0_5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Machine Learning (Aprendizaje automático)</a:t>
            </a:r>
            <a:endParaRPr/>
          </a:p>
        </p:txBody>
      </p:sp>
      <p:sp>
        <p:nvSpPr>
          <p:cNvPr id="270" name="Google Shape;270;g11e3d73b2bd_0_53"/>
          <p:cNvSpPr txBox="1"/>
          <p:nvPr>
            <p:ph idx="1" type="body"/>
          </p:nvPr>
        </p:nvSpPr>
        <p:spPr>
          <a:xfrm>
            <a:off x="729450" y="1913025"/>
            <a:ext cx="3061200" cy="4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rPr b="1" lang="es-419" sz="1690"/>
              <a:t>Pueden ayudarnos a aprender</a:t>
            </a:r>
            <a:endParaRPr b="1" sz="1690"/>
          </a:p>
        </p:txBody>
      </p:sp>
      <p:pic>
        <p:nvPicPr>
          <p:cNvPr id="271" name="Google Shape;271;g11e3d73b2bd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650" y="2036000"/>
            <a:ext cx="5048550" cy="2693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1e3d73b2bd_0_2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¿Para qué se usa?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3"/>
          <p:cNvSpPr txBox="1"/>
          <p:nvPr>
            <p:ph idx="1" type="body"/>
          </p:nvPr>
        </p:nvSpPr>
        <p:spPr>
          <a:xfrm>
            <a:off x="0" y="926400"/>
            <a:ext cx="9123900" cy="42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Pre-diagnosticos en base a historial clínico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Detección temprana de tumores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Generación de nuevas drogas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Test de </a:t>
            </a:r>
            <a:r>
              <a:rPr lang="es-419" u="sng">
                <a:solidFill>
                  <a:schemeClr val="hlink"/>
                </a:solidFill>
                <a:hlinkClick r:id="rId3"/>
              </a:rPr>
              <a:t>coronavirus a través de la voz</a:t>
            </a:r>
            <a:r>
              <a:rPr lang="es-419"/>
              <a:t>?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Psiquiatría (depresión "pura" y psicosis "pura")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Epidemiología</a:t>
            </a:r>
            <a:endParaRPr/>
          </a:p>
        </p:txBody>
      </p:sp>
      <p:sp>
        <p:nvSpPr>
          <p:cNvPr id="282" name="Google Shape;282;p23"/>
          <p:cNvSpPr txBox="1"/>
          <p:nvPr>
            <p:ph type="title"/>
          </p:nvPr>
        </p:nvSpPr>
        <p:spPr>
          <a:xfrm>
            <a:off x="-100" y="0"/>
            <a:ext cx="8119200" cy="92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Áreas de aplicación: Salud</a:t>
            </a:r>
            <a:endParaRPr/>
          </a:p>
        </p:txBody>
      </p:sp>
      <p:pic>
        <p:nvPicPr>
          <p:cNvPr id="283" name="Google Shape;283;p23"/>
          <p:cNvPicPr preferRelativeResize="0"/>
          <p:nvPr/>
        </p:nvPicPr>
        <p:blipFill rotWithShape="1">
          <a:blip r:embed="rId4">
            <a:alphaModFix/>
          </a:blip>
          <a:srcRect b="8978" l="5769" r="8112" t="29565"/>
          <a:stretch/>
        </p:blipFill>
        <p:spPr>
          <a:xfrm>
            <a:off x="4904650" y="3441750"/>
            <a:ext cx="4239350" cy="170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4"/>
          <p:cNvSpPr txBox="1"/>
          <p:nvPr>
            <p:ph idx="1" type="body"/>
          </p:nvPr>
        </p:nvSpPr>
        <p:spPr>
          <a:xfrm>
            <a:off x="0" y="926400"/>
            <a:ext cx="9123900" cy="42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Aumentar la conexión emocional (</a:t>
            </a:r>
            <a:r>
              <a:rPr i="1" lang="es-419"/>
              <a:t>engagement</a:t>
            </a:r>
            <a:r>
              <a:rPr lang="es-419"/>
              <a:t>) de los jugadores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Monetización del juego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Mejorar la calidad visual de los juegos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Hacer jugadores virtuales de distintas dificultades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Elegir el </a:t>
            </a:r>
            <a:r>
              <a:rPr lang="es-419" u="sng">
                <a:solidFill>
                  <a:schemeClr val="hlink"/>
                </a:solidFill>
                <a:hlinkClick r:id="rId3"/>
              </a:rPr>
              <a:t>mejor thumbnail</a:t>
            </a:r>
            <a:r>
              <a:rPr lang="es-419"/>
              <a:t> para un video</a:t>
            </a:r>
            <a:endParaRPr/>
          </a:p>
        </p:txBody>
      </p:sp>
      <p:sp>
        <p:nvSpPr>
          <p:cNvPr id="289" name="Google Shape;289;p24"/>
          <p:cNvSpPr txBox="1"/>
          <p:nvPr>
            <p:ph type="title"/>
          </p:nvPr>
        </p:nvSpPr>
        <p:spPr>
          <a:xfrm>
            <a:off x="-100" y="0"/>
            <a:ext cx="8119200" cy="92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Áreas de aplicación: Gaming y Videos</a:t>
            </a:r>
            <a:endParaRPr/>
          </a:p>
        </p:txBody>
      </p:sp>
      <p:pic>
        <p:nvPicPr>
          <p:cNvPr id="290" name="Google Shape;290;p24"/>
          <p:cNvPicPr preferRelativeResize="0"/>
          <p:nvPr/>
        </p:nvPicPr>
        <p:blipFill rotWithShape="1">
          <a:blip r:embed="rId4">
            <a:alphaModFix/>
          </a:blip>
          <a:srcRect b="6134" l="0" r="48363" t="11736"/>
          <a:stretch/>
        </p:blipFill>
        <p:spPr>
          <a:xfrm>
            <a:off x="7177425" y="3272403"/>
            <a:ext cx="1827450" cy="1661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 txBox="1"/>
          <p:nvPr>
            <p:ph idx="1" type="body"/>
          </p:nvPr>
        </p:nvSpPr>
        <p:spPr>
          <a:xfrm>
            <a:off x="0" y="926400"/>
            <a:ext cx="9123900" cy="42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Proporcionar costos e inversiones óptimos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Minimizar riesgos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Descubrir nuevas fuentes de energía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Optimizar y eficientizar el abastecimiento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Maximizar extracción/generación</a:t>
            </a:r>
            <a:endParaRPr/>
          </a:p>
        </p:txBody>
      </p:sp>
      <p:sp>
        <p:nvSpPr>
          <p:cNvPr id="296" name="Google Shape;296;p25"/>
          <p:cNvSpPr txBox="1"/>
          <p:nvPr>
            <p:ph type="title"/>
          </p:nvPr>
        </p:nvSpPr>
        <p:spPr>
          <a:xfrm>
            <a:off x="-100" y="0"/>
            <a:ext cx="8119200" cy="92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Áreas de aplicación: Energía</a:t>
            </a:r>
            <a:endParaRPr/>
          </a:p>
        </p:txBody>
      </p:sp>
      <p:pic>
        <p:nvPicPr>
          <p:cNvPr id="297" name="Google Shape;297;p25"/>
          <p:cNvPicPr preferRelativeResize="0"/>
          <p:nvPr/>
        </p:nvPicPr>
        <p:blipFill rotWithShape="1">
          <a:blip r:embed="rId3">
            <a:alphaModFix/>
          </a:blip>
          <a:srcRect b="7740" l="15516" r="18568" t="28123"/>
          <a:stretch/>
        </p:blipFill>
        <p:spPr>
          <a:xfrm>
            <a:off x="6019325" y="3472550"/>
            <a:ext cx="3053025" cy="167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"/>
          <p:cNvSpPr txBox="1"/>
          <p:nvPr>
            <p:ph idx="1" type="body"/>
          </p:nvPr>
        </p:nvSpPr>
        <p:spPr>
          <a:xfrm>
            <a:off x="0" y="926400"/>
            <a:ext cx="9123900" cy="42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Crear perfiles de viajantes en base a redes sociales y otras fuentes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Optimización de rutas aéreas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Búsqueda de hospedajes, actividades, destinos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419"/>
              <a:t>Optimización de costos</a:t>
            </a:r>
            <a:endParaRPr/>
          </a:p>
        </p:txBody>
      </p:sp>
      <p:sp>
        <p:nvSpPr>
          <p:cNvPr id="303" name="Google Shape;303;p26"/>
          <p:cNvSpPr txBox="1"/>
          <p:nvPr>
            <p:ph type="title"/>
          </p:nvPr>
        </p:nvSpPr>
        <p:spPr>
          <a:xfrm>
            <a:off x="-100" y="0"/>
            <a:ext cx="8119200" cy="92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Áreas de aplicación: Turismo</a:t>
            </a:r>
            <a:endParaRPr/>
          </a:p>
        </p:txBody>
      </p:sp>
      <p:pic>
        <p:nvPicPr>
          <p:cNvPr id="304" name="Google Shape;304;p26"/>
          <p:cNvPicPr preferRelativeResize="0"/>
          <p:nvPr/>
        </p:nvPicPr>
        <p:blipFill rotWithShape="1">
          <a:blip r:embed="rId3">
            <a:alphaModFix/>
          </a:blip>
          <a:srcRect b="5106" l="11078" r="66804" t="26148"/>
          <a:stretch/>
        </p:blipFill>
        <p:spPr>
          <a:xfrm>
            <a:off x="7606175" y="2877225"/>
            <a:ext cx="1325299" cy="2316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7"/>
          <p:cNvSpPr txBox="1"/>
          <p:nvPr>
            <p:ph idx="1" type="body"/>
          </p:nvPr>
        </p:nvSpPr>
        <p:spPr>
          <a:xfrm>
            <a:off x="0" y="926400"/>
            <a:ext cx="9123900" cy="42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s-419" u="sng">
                <a:solidFill>
                  <a:schemeClr val="hlink"/>
                </a:solidFill>
                <a:hlinkClick r:id="rId3"/>
              </a:rPr>
              <a:t>Detección de objetos</a:t>
            </a:r>
            <a:r>
              <a:rPr lang="es-419"/>
              <a:t> en imagen.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s-419"/>
              <a:t>Personas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s-419" u="sng">
                <a:solidFill>
                  <a:schemeClr val="hlink"/>
                </a:solidFill>
                <a:hlinkClick r:id="rId4"/>
              </a:rPr>
              <a:t>Fallas en tuberías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s-419" u="sng">
                <a:solidFill>
                  <a:schemeClr val="hlink"/>
                </a:solidFill>
                <a:hlinkClick r:id="rId5"/>
              </a:rPr>
              <a:t>Deteccion de humo o incendios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10" name="Google Shape;310;p27"/>
          <p:cNvSpPr txBox="1"/>
          <p:nvPr>
            <p:ph type="title"/>
          </p:nvPr>
        </p:nvSpPr>
        <p:spPr>
          <a:xfrm>
            <a:off x="-100" y="0"/>
            <a:ext cx="8119200" cy="92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Áreas de aplicación: Seguridad</a:t>
            </a:r>
            <a:endParaRPr/>
          </a:p>
        </p:txBody>
      </p:sp>
      <p:pic>
        <p:nvPicPr>
          <p:cNvPr id="311" name="Google Shape;311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1225" y="1836000"/>
            <a:ext cx="2782675" cy="330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8"/>
          <p:cNvSpPr txBox="1"/>
          <p:nvPr>
            <p:ph type="title"/>
          </p:nvPr>
        </p:nvSpPr>
        <p:spPr>
          <a:xfrm>
            <a:off x="-100" y="0"/>
            <a:ext cx="8119200" cy="92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Más y más aplicaciones</a:t>
            </a:r>
            <a:endParaRPr/>
          </a:p>
        </p:txBody>
      </p:sp>
      <p:pic>
        <p:nvPicPr>
          <p:cNvPr id="317" name="Google Shape;31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8402" y="2953175"/>
            <a:ext cx="2486674" cy="199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0398" y="1643875"/>
            <a:ext cx="2168277" cy="121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07625" y="1666363"/>
            <a:ext cx="1827450" cy="121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2880" y="3198525"/>
            <a:ext cx="2235520" cy="139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9450" y="1724989"/>
            <a:ext cx="2235526" cy="1257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7725" y="3317861"/>
            <a:ext cx="2168276" cy="1627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8"/>
          <p:cNvPicPr preferRelativeResize="0"/>
          <p:nvPr/>
        </p:nvPicPr>
        <p:blipFill rotWithShape="1">
          <a:blip r:embed="rId9">
            <a:alphaModFix/>
          </a:blip>
          <a:srcRect b="0" l="0" r="0" t="18052"/>
          <a:stretch/>
        </p:blipFill>
        <p:spPr>
          <a:xfrm rot="125084">
            <a:off x="2554675" y="3816625"/>
            <a:ext cx="2098100" cy="109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8"/>
          <p:cNvPicPr preferRelativeResize="0"/>
          <p:nvPr/>
        </p:nvPicPr>
        <p:blipFill rotWithShape="1">
          <a:blip r:embed="rId10">
            <a:alphaModFix/>
          </a:blip>
          <a:srcRect b="15627" l="59311" r="3293" t="48114"/>
          <a:stretch/>
        </p:blipFill>
        <p:spPr>
          <a:xfrm>
            <a:off x="2282475" y="1532347"/>
            <a:ext cx="2642501" cy="1441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5"/>
          <p:cNvSpPr txBox="1"/>
          <p:nvPr>
            <p:ph type="title"/>
          </p:nvPr>
        </p:nvSpPr>
        <p:spPr>
          <a:xfrm>
            <a:off x="-100" y="0"/>
            <a:ext cx="8119200" cy="92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¿Por qué ahora?        Uso de Internet</a:t>
            </a:r>
            <a:endParaRPr/>
          </a:p>
        </p:txBody>
      </p:sp>
      <p:pic>
        <p:nvPicPr>
          <p:cNvPr id="330" name="Google Shape;33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4888" y="926400"/>
            <a:ext cx="5189231" cy="3912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5"/>
          <p:cNvSpPr txBox="1"/>
          <p:nvPr/>
        </p:nvSpPr>
        <p:spPr>
          <a:xfrm>
            <a:off x="3939075" y="1075675"/>
            <a:ext cx="19545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rgbClr val="202124"/>
                </a:solidFill>
                <a:highlight>
                  <a:srgbClr val="FFFFFF"/>
                </a:highlight>
              </a:rPr>
              <a:t>(Terabit por segundo)</a:t>
            </a:r>
            <a:endParaRPr sz="8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76657b1374_0_2"/>
          <p:cNvSpPr txBox="1"/>
          <p:nvPr>
            <p:ph type="title"/>
          </p:nvPr>
        </p:nvSpPr>
        <p:spPr>
          <a:xfrm>
            <a:off x="-100" y="0"/>
            <a:ext cx="8119200" cy="92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¿Por qué ahora?        </a:t>
            </a:r>
            <a:endParaRPr/>
          </a:p>
        </p:txBody>
      </p:sp>
      <p:pic>
        <p:nvPicPr>
          <p:cNvPr id="337" name="Google Shape;337;g276657b1374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2363" y="926400"/>
            <a:ext cx="4939280" cy="391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8"/>
          <p:cNvSpPr txBox="1"/>
          <p:nvPr>
            <p:ph type="title"/>
          </p:nvPr>
        </p:nvSpPr>
        <p:spPr>
          <a:xfrm>
            <a:off x="-100" y="0"/>
            <a:ext cx="8119200" cy="926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Metodología</a:t>
            </a:r>
            <a:endParaRPr/>
          </a:p>
        </p:txBody>
      </p:sp>
      <p:pic>
        <p:nvPicPr>
          <p:cNvPr id="343" name="Google Shape;343;p38"/>
          <p:cNvPicPr preferRelativeResize="0"/>
          <p:nvPr/>
        </p:nvPicPr>
        <p:blipFill rotWithShape="1">
          <a:blip r:embed="rId3">
            <a:alphaModFix/>
          </a:blip>
          <a:srcRect b="3714" l="6640" r="7677" t="24307"/>
          <a:stretch/>
        </p:blipFill>
        <p:spPr>
          <a:xfrm>
            <a:off x="110028" y="926400"/>
            <a:ext cx="8923955" cy="421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1e3d73b2bd_0_69"/>
          <p:cNvSpPr txBox="1"/>
          <p:nvPr>
            <p:ph type="title"/>
          </p:nvPr>
        </p:nvSpPr>
        <p:spPr>
          <a:xfrm>
            <a:off x="754200" y="375125"/>
            <a:ext cx="4083900" cy="91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Bibliografía</a:t>
            </a:r>
            <a:endParaRPr/>
          </a:p>
        </p:txBody>
      </p:sp>
      <p:pic>
        <p:nvPicPr>
          <p:cNvPr id="349" name="Google Shape;349;g11e3d73b2bd_0_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000" y="1352625"/>
            <a:ext cx="260985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11e3d73b2bd_0_69"/>
          <p:cNvSpPr txBox="1"/>
          <p:nvPr/>
        </p:nvSpPr>
        <p:spPr>
          <a:xfrm>
            <a:off x="3617025" y="1352625"/>
            <a:ext cx="261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Aurélien Géron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51" name="Google Shape;351;g11e3d73b2bd_0_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7025" y="1845225"/>
            <a:ext cx="2612175" cy="3193368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11e3d73b2bd_0_69"/>
          <p:cNvSpPr txBox="1"/>
          <p:nvPr/>
        </p:nvSpPr>
        <p:spPr>
          <a:xfrm>
            <a:off x="6227025" y="1088850"/>
            <a:ext cx="232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También en español</a:t>
            </a:r>
            <a:endParaRPr b="1"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