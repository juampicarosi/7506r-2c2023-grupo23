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embeddedFontLst>
    <p:embeddedFont>
      <p:font typeface="Raleway"/>
      <p:regular r:id="rId27"/>
      <p:bold r:id="rId28"/>
      <p:italic r:id="rId29"/>
      <p:boldItalic r:id="rId30"/>
    </p:embeddedFont>
    <p:embeddedFont>
      <p:font typeface="Lato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Raleway-bold.fntdata"/><Relationship Id="rId27" Type="http://schemas.openxmlformats.org/officeDocument/2006/relationships/font" Target="fonts/Raleway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aleway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-regular.fntdata"/><Relationship Id="rId30" Type="http://schemas.openxmlformats.org/officeDocument/2006/relationships/font" Target="fonts/Raleway-boldItalic.fntdata"/><Relationship Id="rId11" Type="http://schemas.openxmlformats.org/officeDocument/2006/relationships/slide" Target="slides/slide6.xml"/><Relationship Id="rId33" Type="http://schemas.openxmlformats.org/officeDocument/2006/relationships/font" Target="fonts/Lato-italic.fntdata"/><Relationship Id="rId10" Type="http://schemas.openxmlformats.org/officeDocument/2006/relationships/slide" Target="slides/slide5.xml"/><Relationship Id="rId32" Type="http://schemas.openxmlformats.org/officeDocument/2006/relationships/font" Target="fonts/Lat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Lato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11fdff1f769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11fdff1f769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1fdff1f769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11fdff1f769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35326b4b04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35326b4b04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35326b4b04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135326b4b04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135326b4b04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135326b4b04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135326b4b04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135326b4b04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135326b4b04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135326b4b04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135326b4b04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135326b4b04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135326b4b04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135326b4b04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35326b4b04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135326b4b04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135326b4b04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135326b4b04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135326b4b04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135326b4b04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135326b4b04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135326b4b04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135326b4b04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135326b4b04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135326b4b04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135326b4b04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135326b4b04_0_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135326b4b04_0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135326b4b04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135326b4b04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135326b4b04_0_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135326b4b04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135326b4b04_0_2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135326b4b04_0_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135326b4b04_0_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135326b4b04_0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8.png"/><Relationship Id="rId5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5" Type="http://schemas.openxmlformats.org/officeDocument/2006/relationships/image" Target="../media/image17.gif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Relationship Id="rId4" Type="http://schemas.openxmlformats.org/officeDocument/2006/relationships/image" Target="../media/image24.png"/><Relationship Id="rId5" Type="http://schemas.openxmlformats.org/officeDocument/2006/relationships/image" Target="../media/image2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Relationship Id="rId4" Type="http://schemas.openxmlformats.org/officeDocument/2006/relationships/image" Target="../media/image24.png"/><Relationship Id="rId5" Type="http://schemas.openxmlformats.org/officeDocument/2006/relationships/image" Target="../media/image2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5.png"/><Relationship Id="rId4" Type="http://schemas.openxmlformats.org/officeDocument/2006/relationships/image" Target="../media/image2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3.png"/><Relationship Id="rId4" Type="http://schemas.openxmlformats.org/officeDocument/2006/relationships/image" Target="../media/image2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3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t-SNE: </a:t>
            </a:r>
            <a:r>
              <a:rPr lang="en" sz="3877"/>
              <a:t>t-distributed stochastic neighbor embedding</a:t>
            </a:r>
            <a:endParaRPr sz="3877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877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877"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5" y="4078100"/>
            <a:ext cx="7688100" cy="69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Ing. Juan M. Rodríguez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648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t-SNE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1389950"/>
            <a:ext cx="7688700" cy="29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Se trata de otro método que al igual que PCA, toma datos de un espacio de alta dimensión y los proyecta en un espacio de </a:t>
            </a:r>
            <a:r>
              <a:rPr lang="en" sz="1900"/>
              <a:t>menor dimensión</a:t>
            </a:r>
            <a:r>
              <a:rPr lang="en" sz="1900"/>
              <a:t> para que puedan ser representados.</a:t>
            </a:r>
            <a:endParaRPr sz="19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900"/>
              <a:t>D</a:t>
            </a:r>
            <a:r>
              <a:rPr lang="en" sz="1900"/>
              <a:t>esarrollada en 2008 por Geoffrey Hinton y Laurens Van Der Maaten</a:t>
            </a:r>
            <a:endParaRPr sz="1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729450" y="648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t-SNE</a:t>
            </a:r>
            <a:endParaRPr/>
          </a:p>
        </p:txBody>
      </p:sp>
      <p:pic>
        <p:nvPicPr>
          <p:cNvPr id="99" name="Google Shape;9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925" y="1362075"/>
            <a:ext cx="2997774" cy="24193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5"/>
          <p:cNvSpPr txBox="1"/>
          <p:nvPr/>
        </p:nvSpPr>
        <p:spPr>
          <a:xfrm>
            <a:off x="892375" y="3864650"/>
            <a:ext cx="404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Datos en un espacio en 2D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01" name="Google Shape;10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38975" y="605200"/>
            <a:ext cx="2838575" cy="2142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/>
        </p:nvSpPr>
        <p:spPr>
          <a:xfrm>
            <a:off x="400525" y="4264850"/>
            <a:ext cx="404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Si solo los proyectamos en un eje….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3" name="Google Shape;103;p15"/>
          <p:cNvSpPr/>
          <p:nvPr/>
        </p:nvSpPr>
        <p:spPr>
          <a:xfrm rot="4073225">
            <a:off x="4530252" y="945455"/>
            <a:ext cx="430355" cy="1192519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4642550" y="783375"/>
            <a:ext cx="916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Eje Y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05" name="Google Shape;105;p15"/>
          <p:cNvGrpSpPr/>
          <p:nvPr/>
        </p:nvGrpSpPr>
        <p:grpSpPr>
          <a:xfrm>
            <a:off x="4112115" y="2899825"/>
            <a:ext cx="4865436" cy="2091274"/>
            <a:chOff x="4112115" y="2899825"/>
            <a:chExt cx="4865436" cy="2091274"/>
          </a:xfrm>
        </p:grpSpPr>
        <p:pic>
          <p:nvPicPr>
            <p:cNvPr id="106" name="Google Shape;106;p1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201825" y="2899825"/>
              <a:ext cx="2775726" cy="20912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" name="Google Shape;107;p15"/>
            <p:cNvSpPr/>
            <p:nvPr/>
          </p:nvSpPr>
          <p:spPr>
            <a:xfrm rot="6971392">
              <a:off x="4527129" y="2759524"/>
              <a:ext cx="430273" cy="1192614"/>
            </a:xfrm>
            <a:prstGeom prst="up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5"/>
            <p:cNvSpPr txBox="1"/>
            <p:nvPr/>
          </p:nvSpPr>
          <p:spPr>
            <a:xfrm>
              <a:off x="4498300" y="3745363"/>
              <a:ext cx="916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Lato"/>
                  <a:ea typeface="Lato"/>
                  <a:cs typeface="Lato"/>
                  <a:sym typeface="Lato"/>
                </a:rPr>
                <a:t>Eje X</a:t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109" name="Google Shape;109;p15"/>
          <p:cNvSpPr/>
          <p:nvPr/>
        </p:nvSpPr>
        <p:spPr>
          <a:xfrm>
            <a:off x="6752175" y="818450"/>
            <a:ext cx="1848600" cy="1968600"/>
          </a:xfrm>
          <a:prstGeom prst="mathMultiply">
            <a:avLst>
              <a:gd fmla="val 7633" name="adj1"/>
            </a:avLst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5"/>
          <p:cNvSpPr/>
          <p:nvPr/>
        </p:nvSpPr>
        <p:spPr>
          <a:xfrm>
            <a:off x="6678800" y="2899825"/>
            <a:ext cx="1848600" cy="1968600"/>
          </a:xfrm>
          <a:prstGeom prst="mathMultiply">
            <a:avLst>
              <a:gd fmla="val 7633" name="adj1"/>
            </a:avLst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 txBox="1"/>
          <p:nvPr>
            <p:ph type="title"/>
          </p:nvPr>
        </p:nvSpPr>
        <p:spPr>
          <a:xfrm>
            <a:off x="729450" y="648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t-SNE</a:t>
            </a:r>
            <a:endParaRPr/>
          </a:p>
        </p:txBody>
      </p:sp>
      <p:pic>
        <p:nvPicPr>
          <p:cNvPr id="116" name="Google Shape;11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001" y="1300825"/>
            <a:ext cx="3701320" cy="3655126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 txBox="1"/>
          <p:nvPr/>
        </p:nvSpPr>
        <p:spPr>
          <a:xfrm>
            <a:off x="3231425" y="1114775"/>
            <a:ext cx="52494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La proyección de t-SNE preserva los </a:t>
            </a:r>
            <a:r>
              <a:rPr b="1" i="1" lang="en">
                <a:latin typeface="Lato"/>
                <a:ea typeface="Lato"/>
                <a:cs typeface="Lato"/>
                <a:sym typeface="Lato"/>
              </a:rPr>
              <a:t>clusters</a:t>
            </a:r>
            <a:endParaRPr b="1" i="1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El espacio de menor dimensión puede ser cualquiera que elijamos. Habitualmente se utiliza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un espacio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con 2D, pero usaremos en este ejemplo un espacio unidimensional.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7"/>
          <p:cNvSpPr txBox="1"/>
          <p:nvPr>
            <p:ph type="title"/>
          </p:nvPr>
        </p:nvSpPr>
        <p:spPr>
          <a:xfrm>
            <a:off x="729450" y="648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t-SNE</a:t>
            </a:r>
            <a:endParaRPr/>
          </a:p>
        </p:txBody>
      </p:sp>
      <p:sp>
        <p:nvSpPr>
          <p:cNvPr id="123" name="Google Shape;123;p17"/>
          <p:cNvSpPr txBox="1"/>
          <p:nvPr/>
        </p:nvSpPr>
        <p:spPr>
          <a:xfrm>
            <a:off x="3704175" y="1183575"/>
            <a:ext cx="53058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Empieza colocando los puntos en una recta (para este caso), en orden aleatorio.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Luego va moviendo los puntos, uno por uno,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en pasos secuenciales.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¿Pero cómo los mueve?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24" name="Google Shape;12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696" y="1670200"/>
            <a:ext cx="3470273" cy="3323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33380" y="2365375"/>
            <a:ext cx="4847383" cy="535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6" name="Google Shape;126;p17"/>
          <p:cNvGrpSpPr/>
          <p:nvPr/>
        </p:nvGrpSpPr>
        <p:grpSpPr>
          <a:xfrm>
            <a:off x="3638975" y="2391825"/>
            <a:ext cx="2187300" cy="1044050"/>
            <a:chOff x="3638975" y="2391825"/>
            <a:chExt cx="2187300" cy="1044050"/>
          </a:xfrm>
        </p:grpSpPr>
        <p:sp>
          <p:nvSpPr>
            <p:cNvPr id="127" name="Google Shape;127;p17"/>
            <p:cNvSpPr/>
            <p:nvPr/>
          </p:nvSpPr>
          <p:spPr>
            <a:xfrm>
              <a:off x="4303900" y="2391825"/>
              <a:ext cx="381000" cy="3882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28" name="Google Shape;128;p17"/>
            <p:cNvCxnSpPr>
              <a:stCxn id="127" idx="4"/>
            </p:cNvCxnSpPr>
            <p:nvPr/>
          </p:nvCxnSpPr>
          <p:spPr>
            <a:xfrm>
              <a:off x="4494400" y="2780025"/>
              <a:ext cx="0" cy="275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29" name="Google Shape;129;p17"/>
            <p:cNvSpPr txBox="1"/>
            <p:nvPr/>
          </p:nvSpPr>
          <p:spPr>
            <a:xfrm>
              <a:off x="3638975" y="3035675"/>
              <a:ext cx="2187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Lato"/>
                  <a:ea typeface="Lato"/>
                  <a:cs typeface="Lato"/>
                  <a:sym typeface="Lato"/>
                </a:rPr>
                <a:t>¿derecha o izquierda?</a:t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30" name="Google Shape;130;p17"/>
          <p:cNvGrpSpPr/>
          <p:nvPr/>
        </p:nvGrpSpPr>
        <p:grpSpPr>
          <a:xfrm>
            <a:off x="1707450" y="1785050"/>
            <a:ext cx="5692400" cy="999675"/>
            <a:chOff x="1707450" y="1785050"/>
            <a:chExt cx="5692400" cy="999675"/>
          </a:xfrm>
        </p:grpSpPr>
        <p:sp>
          <p:nvSpPr>
            <p:cNvPr id="131" name="Google Shape;131;p17"/>
            <p:cNvSpPr/>
            <p:nvPr/>
          </p:nvSpPr>
          <p:spPr>
            <a:xfrm>
              <a:off x="1707450" y="1785050"/>
              <a:ext cx="867900" cy="8325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32" name="Google Shape;132;p17"/>
            <p:cNvCxnSpPr>
              <a:stCxn id="131" idx="6"/>
              <a:endCxn id="133" idx="1"/>
            </p:cNvCxnSpPr>
            <p:nvPr/>
          </p:nvCxnSpPr>
          <p:spPr>
            <a:xfrm>
              <a:off x="2575350" y="2201300"/>
              <a:ext cx="3213900" cy="233100"/>
            </a:xfrm>
            <a:prstGeom prst="curvedConnector2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34" name="Google Shape;134;p17"/>
            <p:cNvCxnSpPr>
              <a:endCxn id="135" idx="0"/>
            </p:cNvCxnSpPr>
            <p:nvPr/>
          </p:nvCxnSpPr>
          <p:spPr>
            <a:xfrm>
              <a:off x="2568425" y="2137650"/>
              <a:ext cx="3987600" cy="240000"/>
            </a:xfrm>
            <a:prstGeom prst="curvedConnector2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36" name="Google Shape;136;p17"/>
            <p:cNvCxnSpPr>
              <a:stCxn id="131" idx="6"/>
              <a:endCxn id="137" idx="0"/>
            </p:cNvCxnSpPr>
            <p:nvPr/>
          </p:nvCxnSpPr>
          <p:spPr>
            <a:xfrm>
              <a:off x="2575350" y="2201300"/>
              <a:ext cx="4634100" cy="195300"/>
            </a:xfrm>
            <a:prstGeom prst="curvedConnector2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33" name="Google Shape;133;p17"/>
            <p:cNvSpPr/>
            <p:nvPr/>
          </p:nvSpPr>
          <p:spPr>
            <a:xfrm>
              <a:off x="5733350" y="2377650"/>
              <a:ext cx="381000" cy="3882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7"/>
            <p:cNvSpPr/>
            <p:nvPr/>
          </p:nvSpPr>
          <p:spPr>
            <a:xfrm>
              <a:off x="6365525" y="2377650"/>
              <a:ext cx="381000" cy="3882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7"/>
            <p:cNvSpPr/>
            <p:nvPr/>
          </p:nvSpPr>
          <p:spPr>
            <a:xfrm>
              <a:off x="7018850" y="2396525"/>
              <a:ext cx="381000" cy="3882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8" name="Google Shape;138;p17"/>
          <p:cNvSpPr txBox="1"/>
          <p:nvPr/>
        </p:nvSpPr>
        <p:spPr>
          <a:xfrm>
            <a:off x="3704175" y="3435875"/>
            <a:ext cx="4064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Los puntos de su cluster accionan como “imanes” y atraen el punto hacia ellos.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39" name="Google Shape;139;p17"/>
          <p:cNvGrpSpPr/>
          <p:nvPr/>
        </p:nvGrpSpPr>
        <p:grpSpPr>
          <a:xfrm>
            <a:off x="474125" y="1619950"/>
            <a:ext cx="5311550" cy="2027675"/>
            <a:chOff x="474125" y="1619950"/>
            <a:chExt cx="5311550" cy="2027675"/>
          </a:xfrm>
        </p:grpSpPr>
        <p:sp>
          <p:nvSpPr>
            <p:cNvPr id="140" name="Google Shape;140;p17"/>
            <p:cNvSpPr/>
            <p:nvPr/>
          </p:nvSpPr>
          <p:spPr>
            <a:xfrm>
              <a:off x="4593175" y="2377725"/>
              <a:ext cx="1192500" cy="437400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rgbClr val="0000FF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7"/>
            <p:cNvSpPr/>
            <p:nvPr/>
          </p:nvSpPr>
          <p:spPr>
            <a:xfrm>
              <a:off x="611000" y="1619950"/>
              <a:ext cx="867900" cy="832500"/>
            </a:xfrm>
            <a:prstGeom prst="ellipse">
              <a:avLst/>
            </a:prstGeom>
            <a:noFill/>
            <a:ln cap="flat" cmpd="sng" w="1905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7"/>
            <p:cNvSpPr/>
            <p:nvPr/>
          </p:nvSpPr>
          <p:spPr>
            <a:xfrm>
              <a:off x="474125" y="2815125"/>
              <a:ext cx="867900" cy="832500"/>
            </a:xfrm>
            <a:prstGeom prst="ellipse">
              <a:avLst/>
            </a:prstGeom>
            <a:noFill/>
            <a:ln cap="flat" cmpd="sng" w="1905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43" name="Google Shape;143;p17"/>
            <p:cNvCxnSpPr>
              <a:stCxn id="140" idx="2"/>
              <a:endCxn id="142" idx="6"/>
            </p:cNvCxnSpPr>
            <p:nvPr/>
          </p:nvCxnSpPr>
          <p:spPr>
            <a:xfrm rot="5400000">
              <a:off x="3057475" y="1099575"/>
              <a:ext cx="416400" cy="3847500"/>
            </a:xfrm>
            <a:prstGeom prst="curvedConnector2">
              <a:avLst/>
            </a:prstGeom>
            <a:noFill/>
            <a:ln cap="flat" cmpd="sng" w="9525">
              <a:solidFill>
                <a:srgbClr val="0000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44" name="Google Shape;144;p17"/>
            <p:cNvCxnSpPr>
              <a:stCxn id="140" idx="0"/>
              <a:endCxn id="141" idx="7"/>
            </p:cNvCxnSpPr>
            <p:nvPr/>
          </p:nvCxnSpPr>
          <p:spPr>
            <a:xfrm flipH="1" rot="5400000">
              <a:off x="2952625" y="140925"/>
              <a:ext cx="636000" cy="3837600"/>
            </a:xfrm>
            <a:prstGeom prst="curvedConnector3">
              <a:avLst>
                <a:gd fmla="val 156588" name="adj1"/>
              </a:avLst>
            </a:prstGeom>
            <a:noFill/>
            <a:ln cap="flat" cmpd="sng" w="9525">
              <a:solidFill>
                <a:srgbClr val="0000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45" name="Google Shape;145;p17"/>
          <p:cNvSpPr txBox="1"/>
          <p:nvPr/>
        </p:nvSpPr>
        <p:spPr>
          <a:xfrm>
            <a:off x="3704175" y="3980925"/>
            <a:ext cx="47697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Pero estos de acá están más lejos en el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gráfico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original y entonces lo repelen.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Finalmente, gana la “atracción” y el punto se mueve un poco a la derecha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46" name="Google Shape;146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40850" y="2391824"/>
            <a:ext cx="4832443" cy="61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8"/>
          <p:cNvSpPr txBox="1"/>
          <p:nvPr>
            <p:ph type="title"/>
          </p:nvPr>
        </p:nvSpPr>
        <p:spPr>
          <a:xfrm>
            <a:off x="729450" y="648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t-SNE</a:t>
            </a:r>
            <a:endParaRPr/>
          </a:p>
        </p:txBody>
      </p:sp>
      <p:pic>
        <p:nvPicPr>
          <p:cNvPr id="152" name="Google Shape;15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696" y="1670200"/>
            <a:ext cx="3470273" cy="33237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3" name="Google Shape;153;p18"/>
          <p:cNvGrpSpPr/>
          <p:nvPr/>
        </p:nvGrpSpPr>
        <p:grpSpPr>
          <a:xfrm>
            <a:off x="3466819" y="1465800"/>
            <a:ext cx="5200232" cy="2669475"/>
            <a:chOff x="3466819" y="1465800"/>
            <a:chExt cx="5200232" cy="2669475"/>
          </a:xfrm>
        </p:grpSpPr>
        <p:pic>
          <p:nvPicPr>
            <p:cNvPr id="154" name="Google Shape;154;p1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466819" y="2055625"/>
              <a:ext cx="5200232" cy="198995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5" name="Google Shape;155;p18"/>
            <p:cNvSpPr txBox="1"/>
            <p:nvPr/>
          </p:nvSpPr>
          <p:spPr>
            <a:xfrm>
              <a:off x="3638975" y="1465800"/>
              <a:ext cx="40641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Lato"/>
                  <a:ea typeface="Lato"/>
                  <a:cs typeface="Lato"/>
                  <a:sym typeface="Lato"/>
                </a:rPr>
                <a:t>Sigue con el </a:t>
              </a:r>
              <a:r>
                <a:rPr lang="en">
                  <a:latin typeface="Lato"/>
                  <a:ea typeface="Lato"/>
                  <a:cs typeface="Lato"/>
                  <a:sym typeface="Lato"/>
                </a:rPr>
                <a:t>próximo</a:t>
              </a:r>
              <a:r>
                <a:rPr lang="en">
                  <a:latin typeface="Lato"/>
                  <a:ea typeface="Lato"/>
                  <a:cs typeface="Lato"/>
                  <a:sym typeface="Lato"/>
                </a:rPr>
                <a:t> punto en el </a:t>
              </a:r>
              <a:r>
                <a:rPr lang="en">
                  <a:latin typeface="Lato"/>
                  <a:ea typeface="Lato"/>
                  <a:cs typeface="Lato"/>
                  <a:sym typeface="Lato"/>
                </a:rPr>
                <a:t>gráfico</a:t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6" name="Google Shape;156;p18"/>
            <p:cNvSpPr txBox="1"/>
            <p:nvPr/>
          </p:nvSpPr>
          <p:spPr>
            <a:xfrm>
              <a:off x="6469950" y="2171550"/>
              <a:ext cx="2109600" cy="400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latin typeface="Lato"/>
                  <a:ea typeface="Lato"/>
                  <a:cs typeface="Lato"/>
                  <a:sym typeface="Lato"/>
                </a:rPr>
                <a:t>Estos puntos atraen</a:t>
              </a:r>
              <a:endParaRPr b="1"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7" name="Google Shape;157;p18"/>
            <p:cNvSpPr txBox="1"/>
            <p:nvPr/>
          </p:nvSpPr>
          <p:spPr>
            <a:xfrm>
              <a:off x="4230525" y="3735075"/>
              <a:ext cx="3142500" cy="400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latin typeface="Lato"/>
                  <a:ea typeface="Lato"/>
                  <a:cs typeface="Lato"/>
                  <a:sym typeface="Lato"/>
                </a:rPr>
                <a:t>Y este lo repele</a:t>
              </a:r>
              <a:endParaRPr b="1"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8" name="Google Shape;158;p18"/>
            <p:cNvSpPr/>
            <p:nvPr/>
          </p:nvSpPr>
          <p:spPr>
            <a:xfrm>
              <a:off x="4268600" y="2984500"/>
              <a:ext cx="360000" cy="3669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59" name="Google Shape;159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85550" y="2698750"/>
            <a:ext cx="6286500" cy="102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9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¿Cómo funciona internamente?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0"/>
          <p:cNvSpPr txBox="1"/>
          <p:nvPr>
            <p:ph type="title"/>
          </p:nvPr>
        </p:nvSpPr>
        <p:spPr>
          <a:xfrm>
            <a:off x="729450" y="648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t-SNE</a:t>
            </a:r>
            <a:endParaRPr/>
          </a:p>
        </p:txBody>
      </p:sp>
      <p:sp>
        <p:nvSpPr>
          <p:cNvPr id="170" name="Google Shape;170;p20"/>
          <p:cNvSpPr txBox="1"/>
          <p:nvPr>
            <p:ph idx="1" type="body"/>
          </p:nvPr>
        </p:nvSpPr>
        <p:spPr>
          <a:xfrm>
            <a:off x="649100" y="1291175"/>
            <a:ext cx="3175200" cy="34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" sz="1900"/>
              <a:t>Determinar la similitud de todos los puntos el </a:t>
            </a:r>
            <a:r>
              <a:rPr lang="en" sz="1900"/>
              <a:t>gráfico</a:t>
            </a:r>
            <a:endParaRPr sz="2200"/>
          </a:p>
        </p:txBody>
      </p:sp>
      <p:pic>
        <p:nvPicPr>
          <p:cNvPr id="171" name="Google Shape;17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450" y="2540350"/>
            <a:ext cx="2997774" cy="241935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0"/>
          <p:cNvSpPr/>
          <p:nvPr/>
        </p:nvSpPr>
        <p:spPr>
          <a:xfrm>
            <a:off x="1495775" y="2779900"/>
            <a:ext cx="296400" cy="296400"/>
          </a:xfrm>
          <a:prstGeom prst="ellipse">
            <a:avLst/>
          </a:prstGeom>
          <a:solidFill>
            <a:srgbClr val="999999">
              <a:alpha val="36310"/>
            </a:srgbClr>
          </a:solidFill>
          <a:ln cap="flat" cmpd="sng" w="19050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3" name="Google Shape;173;p20"/>
          <p:cNvCxnSpPr>
            <a:stCxn id="172" idx="3"/>
          </p:cNvCxnSpPr>
          <p:nvPr/>
        </p:nvCxnSpPr>
        <p:spPr>
          <a:xfrm>
            <a:off x="1539182" y="3032893"/>
            <a:ext cx="182400" cy="20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174" name="Google Shape;174;p20"/>
          <p:cNvSpPr txBox="1"/>
          <p:nvPr/>
        </p:nvSpPr>
        <p:spPr>
          <a:xfrm>
            <a:off x="4176900" y="747900"/>
            <a:ext cx="40641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1.a tomamos el primer punto, (punto de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interés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) y medimos la distancia al siguiente punto.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1.b luego la proyectamos sobre una curva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Normal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(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campana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de Gauss), centrada en el punto de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interés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75" name="Google Shape;17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83750" y="2540350"/>
            <a:ext cx="4772025" cy="2324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6" name="Google Shape;176;p20"/>
          <p:cNvCxnSpPr/>
          <p:nvPr/>
        </p:nvCxnSpPr>
        <p:spPr>
          <a:xfrm rot="10800000">
            <a:off x="6738200" y="3238375"/>
            <a:ext cx="6900" cy="987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77" name="Google Shape;177;p20"/>
          <p:cNvSpPr/>
          <p:nvPr/>
        </p:nvSpPr>
        <p:spPr>
          <a:xfrm>
            <a:off x="6544100" y="2945150"/>
            <a:ext cx="395100" cy="381000"/>
          </a:xfrm>
          <a:prstGeom prst="mathMultiply">
            <a:avLst>
              <a:gd fmla="val 12966" name="adj1"/>
            </a:avLst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0"/>
          <p:cNvSpPr txBox="1"/>
          <p:nvPr/>
        </p:nvSpPr>
        <p:spPr>
          <a:xfrm>
            <a:off x="6939200" y="2571750"/>
            <a:ext cx="1912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Esta es la similitud (no escalada)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1"/>
          <p:cNvSpPr txBox="1"/>
          <p:nvPr>
            <p:ph type="title"/>
          </p:nvPr>
        </p:nvSpPr>
        <p:spPr>
          <a:xfrm>
            <a:off x="729450" y="648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t-SNE</a:t>
            </a:r>
            <a:endParaRPr/>
          </a:p>
        </p:txBody>
      </p:sp>
      <p:pic>
        <p:nvPicPr>
          <p:cNvPr id="184" name="Google Shape;18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725" y="2011961"/>
            <a:ext cx="4298775" cy="3007189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1"/>
          <p:cNvSpPr txBox="1"/>
          <p:nvPr/>
        </p:nvSpPr>
        <p:spPr>
          <a:xfrm>
            <a:off x="49400" y="1843700"/>
            <a:ext cx="1573500" cy="1262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Continuamos con el siguiente punto y calculamos la similitud, de igual forma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86" name="Google Shape;186;p21"/>
          <p:cNvGrpSpPr/>
          <p:nvPr/>
        </p:nvGrpSpPr>
        <p:grpSpPr>
          <a:xfrm>
            <a:off x="4540950" y="1843700"/>
            <a:ext cx="4463875" cy="3217775"/>
            <a:chOff x="4540950" y="1843700"/>
            <a:chExt cx="4463875" cy="3217775"/>
          </a:xfrm>
        </p:grpSpPr>
        <p:pic>
          <p:nvPicPr>
            <p:cNvPr id="187" name="Google Shape;187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706050" y="1843700"/>
              <a:ext cx="4298775" cy="3217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8" name="Google Shape;188;p21"/>
            <p:cNvSpPr txBox="1"/>
            <p:nvPr/>
          </p:nvSpPr>
          <p:spPr>
            <a:xfrm>
              <a:off x="4540950" y="1843700"/>
              <a:ext cx="1646700" cy="12621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Lato"/>
                  <a:ea typeface="Lato"/>
                  <a:cs typeface="Lato"/>
                  <a:sym typeface="Lato"/>
                </a:rPr>
                <a:t>Luego con este otro punto….</a:t>
              </a:r>
              <a:br>
                <a:rPr lang="en">
                  <a:latin typeface="Lato"/>
                  <a:ea typeface="Lato"/>
                  <a:cs typeface="Lato"/>
                  <a:sym typeface="Lato"/>
                </a:rPr>
              </a:br>
              <a:br>
                <a:rPr lang="en">
                  <a:latin typeface="Lato"/>
                  <a:ea typeface="Lato"/>
                  <a:cs typeface="Lato"/>
                  <a:sym typeface="Lato"/>
                </a:rPr>
              </a:br>
              <a:br>
                <a:rPr lang="en">
                  <a:latin typeface="Lato"/>
                  <a:ea typeface="Lato"/>
                  <a:cs typeface="Lato"/>
                  <a:sym typeface="Lato"/>
                </a:rPr>
              </a:b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2"/>
          <p:cNvSpPr txBox="1"/>
          <p:nvPr>
            <p:ph type="title"/>
          </p:nvPr>
        </p:nvSpPr>
        <p:spPr>
          <a:xfrm>
            <a:off x="729450" y="648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t-SNE</a:t>
            </a:r>
            <a:endParaRPr/>
          </a:p>
        </p:txBody>
      </p:sp>
      <p:pic>
        <p:nvPicPr>
          <p:cNvPr id="194" name="Google Shape;19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65425"/>
            <a:ext cx="3191925" cy="257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2"/>
          <p:cNvSpPr txBox="1"/>
          <p:nvPr/>
        </p:nvSpPr>
        <p:spPr>
          <a:xfrm>
            <a:off x="197550" y="3986400"/>
            <a:ext cx="3273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Finalmente medimos la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distancia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a todos los puntos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96" name="Google Shape;196;p22"/>
          <p:cNvGrpSpPr/>
          <p:nvPr/>
        </p:nvGrpSpPr>
        <p:grpSpPr>
          <a:xfrm>
            <a:off x="3167950" y="1277050"/>
            <a:ext cx="5798375" cy="2421000"/>
            <a:chOff x="3167950" y="1277050"/>
            <a:chExt cx="5798375" cy="2421000"/>
          </a:xfrm>
        </p:grpSpPr>
        <p:pic>
          <p:nvPicPr>
            <p:cNvPr id="197" name="Google Shape;197;p2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471450" y="1858100"/>
              <a:ext cx="5494875" cy="18399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8" name="Google Shape;198;p22"/>
            <p:cNvSpPr txBox="1"/>
            <p:nvPr/>
          </p:nvSpPr>
          <p:spPr>
            <a:xfrm>
              <a:off x="3167950" y="1277050"/>
              <a:ext cx="1933200" cy="1262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Lato"/>
                  <a:ea typeface="Lato"/>
                  <a:cs typeface="Lato"/>
                  <a:sym typeface="Lato"/>
                </a:rPr>
                <a:t>Y los proyectamos en la misma curva.</a:t>
              </a:r>
              <a:endParaRPr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3"/>
          <p:cNvSpPr txBox="1"/>
          <p:nvPr>
            <p:ph type="title"/>
          </p:nvPr>
        </p:nvSpPr>
        <p:spPr>
          <a:xfrm>
            <a:off x="729450" y="648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t-SNE</a:t>
            </a:r>
            <a:endParaRPr/>
          </a:p>
        </p:txBody>
      </p:sp>
      <p:sp>
        <p:nvSpPr>
          <p:cNvPr id="204" name="Google Shape;204;p23"/>
          <p:cNvSpPr txBox="1"/>
          <p:nvPr/>
        </p:nvSpPr>
        <p:spPr>
          <a:xfrm>
            <a:off x="162275" y="1361725"/>
            <a:ext cx="8720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El ancho de la curva Normal, (su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desvío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estándar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) NO es siempre igual. Depende de la densidad de los datos en la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cercanía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del punto de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interés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05" name="Google Shape;20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5800" y="1977325"/>
            <a:ext cx="5233247" cy="2861376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3"/>
          <p:cNvSpPr/>
          <p:nvPr/>
        </p:nvSpPr>
        <p:spPr>
          <a:xfrm>
            <a:off x="3485450" y="2046100"/>
            <a:ext cx="811500" cy="564600"/>
          </a:xfrm>
          <a:prstGeom prst="ellipse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7" name="Google Shape;207;p23"/>
          <p:cNvCxnSpPr>
            <a:stCxn id="206" idx="2"/>
          </p:cNvCxnSpPr>
          <p:nvPr/>
        </p:nvCxnSpPr>
        <p:spPr>
          <a:xfrm flipH="1">
            <a:off x="1665050" y="2328400"/>
            <a:ext cx="1820400" cy="4020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8" name="Google Shape;208;p23"/>
          <p:cNvSpPr txBox="1"/>
          <p:nvPr/>
        </p:nvSpPr>
        <p:spPr>
          <a:xfrm>
            <a:off x="190500" y="2730400"/>
            <a:ext cx="19122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Estos puntos están más juntos, la densidad es mayor y por lo tanto la curva Normal es más angosta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09" name="Google Shape;209;p23"/>
          <p:cNvCxnSpPr>
            <a:stCxn id="208" idx="3"/>
          </p:cNvCxnSpPr>
          <p:nvPr/>
        </p:nvCxnSpPr>
        <p:spPr>
          <a:xfrm>
            <a:off x="2102700" y="3469150"/>
            <a:ext cx="663000" cy="3480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0" name="Google Shape;210;p23"/>
          <p:cNvSpPr/>
          <p:nvPr/>
        </p:nvSpPr>
        <p:spPr>
          <a:xfrm>
            <a:off x="4953000" y="2695125"/>
            <a:ext cx="1100700" cy="910200"/>
          </a:xfrm>
          <a:prstGeom prst="ellipse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3"/>
          <p:cNvSpPr txBox="1"/>
          <p:nvPr/>
        </p:nvSpPr>
        <p:spPr>
          <a:xfrm>
            <a:off x="6589900" y="1930300"/>
            <a:ext cx="24102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Estos puntos de acá tienen la mitad de densidad, están más separados. Su curva tendrá el doble de ancho.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12" name="Google Shape;212;p23"/>
          <p:cNvCxnSpPr>
            <a:stCxn id="210" idx="7"/>
            <a:endCxn id="211" idx="1"/>
          </p:cNvCxnSpPr>
          <p:nvPr/>
        </p:nvCxnSpPr>
        <p:spPr>
          <a:xfrm flipH="1" rot="10800000">
            <a:off x="5892506" y="2453721"/>
            <a:ext cx="697500" cy="3747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3" name="Google Shape;213;p23"/>
          <p:cNvCxnSpPr>
            <a:stCxn id="211" idx="2"/>
          </p:cNvCxnSpPr>
          <p:nvPr/>
        </p:nvCxnSpPr>
        <p:spPr>
          <a:xfrm flipH="1">
            <a:off x="6357100" y="2977000"/>
            <a:ext cx="1437900" cy="12210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4"/>
          <p:cNvSpPr txBox="1"/>
          <p:nvPr>
            <p:ph type="title"/>
          </p:nvPr>
        </p:nvSpPr>
        <p:spPr>
          <a:xfrm>
            <a:off x="729450" y="648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t-SNE</a:t>
            </a:r>
            <a:endParaRPr/>
          </a:p>
        </p:txBody>
      </p:sp>
      <p:sp>
        <p:nvSpPr>
          <p:cNvPr id="219" name="Google Shape;219;p24"/>
          <p:cNvSpPr txBox="1"/>
          <p:nvPr>
            <p:ph idx="1" type="body"/>
          </p:nvPr>
        </p:nvSpPr>
        <p:spPr>
          <a:xfrm>
            <a:off x="729450" y="1389950"/>
            <a:ext cx="7688700" cy="138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Cómo las curvas no son iguales, hay normalizar la similitud: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700" u="sng"/>
              <a:t>                 Similitud                             </a:t>
            </a:r>
            <a:r>
              <a:rPr lang="en" sz="1700"/>
              <a:t>= </a:t>
            </a:r>
            <a:r>
              <a:rPr lang="en" sz="1700"/>
              <a:t>Similitud</a:t>
            </a:r>
            <a:r>
              <a:rPr lang="en" sz="1700"/>
              <a:t> escalada = puntaje (score)</a:t>
            </a:r>
            <a:br>
              <a:rPr lang="en" sz="1700"/>
            </a:br>
            <a:r>
              <a:rPr lang="en" sz="1700"/>
              <a:t>Suma de todas las similitude</a:t>
            </a:r>
            <a:r>
              <a:rPr lang="en" sz="1700"/>
              <a:t>s</a:t>
            </a:r>
            <a:endParaRPr sz="2000"/>
          </a:p>
        </p:txBody>
      </p:sp>
      <p:sp>
        <p:nvSpPr>
          <p:cNvPr id="220" name="Google Shape;220;p24"/>
          <p:cNvSpPr txBox="1"/>
          <p:nvPr/>
        </p:nvSpPr>
        <p:spPr>
          <a:xfrm>
            <a:off x="729450" y="2571750"/>
            <a:ext cx="7758300" cy="28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En realidad, t-SNE tiene un parámetro llamado “perplejidad” (</a:t>
            </a:r>
            <a:r>
              <a:rPr i="1" lang="en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perplexity</a:t>
            </a:r>
            <a:r>
              <a:rPr lang="en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) que es igual a la densidad esperada para un punto. </a:t>
            </a:r>
            <a:endParaRPr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La desviación estándar se define por este valor de </a:t>
            </a:r>
            <a:r>
              <a:rPr b="1" lang="en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perplejidad</a:t>
            </a:r>
            <a:r>
              <a:rPr lang="en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que corresponde al número de vecinos alrededor de cada punto. Este valor lo establece el usuario de antemano y permite estimar la desviación estándar de las distribuciones gaussianas definidas para cada punto xi. </a:t>
            </a:r>
            <a:endParaRPr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Cuanto mayor es la perplejidad, mayor es la variación.</a:t>
            </a:r>
            <a:endParaRPr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5"/>
          <p:cNvSpPr txBox="1"/>
          <p:nvPr>
            <p:ph type="title"/>
          </p:nvPr>
        </p:nvSpPr>
        <p:spPr>
          <a:xfrm>
            <a:off x="729450" y="648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t-SNE</a:t>
            </a:r>
            <a:endParaRPr/>
          </a:p>
        </p:txBody>
      </p:sp>
      <p:pic>
        <p:nvPicPr>
          <p:cNvPr id="226" name="Google Shape;22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65425"/>
            <a:ext cx="3191925" cy="25781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5"/>
          <p:cNvSpPr txBox="1"/>
          <p:nvPr/>
        </p:nvSpPr>
        <p:spPr>
          <a:xfrm>
            <a:off x="197550" y="3986400"/>
            <a:ext cx="3273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Una vez que calculamos todos los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puntajes de similitud o </a:t>
            </a:r>
            <a:r>
              <a:rPr b="1" i="1" lang="en">
                <a:latin typeface="Lato"/>
                <a:ea typeface="Lato"/>
                <a:cs typeface="Lato"/>
                <a:sym typeface="Lato"/>
              </a:rPr>
              <a:t>similarity scores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 t-SNE hace un último ajuste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28" name="Google Shape;228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57575" y="2571750"/>
            <a:ext cx="2997774" cy="241935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5"/>
          <p:cNvSpPr txBox="1"/>
          <p:nvPr/>
        </p:nvSpPr>
        <p:spPr>
          <a:xfrm>
            <a:off x="3294950" y="896050"/>
            <a:ext cx="5531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Cómo el ancho de la curva Normal usada dependen de los puntos que rodean al mismo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230" name="Google Shape;230;p25"/>
          <p:cNvGrpSpPr/>
          <p:nvPr/>
        </p:nvGrpSpPr>
        <p:grpSpPr>
          <a:xfrm>
            <a:off x="3344325" y="1518350"/>
            <a:ext cx="5355300" cy="2574000"/>
            <a:chOff x="3344325" y="1518350"/>
            <a:chExt cx="5355300" cy="2574000"/>
          </a:xfrm>
        </p:grpSpPr>
        <p:cxnSp>
          <p:nvCxnSpPr>
            <p:cNvPr id="231" name="Google Shape;231;p25"/>
            <p:cNvCxnSpPr>
              <a:stCxn id="232" idx="2"/>
            </p:cNvCxnSpPr>
            <p:nvPr/>
          </p:nvCxnSpPr>
          <p:spPr>
            <a:xfrm>
              <a:off x="6021975" y="2349650"/>
              <a:ext cx="864300" cy="804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33" name="Google Shape;233;p25"/>
            <p:cNvCxnSpPr>
              <a:stCxn id="232" idx="2"/>
            </p:cNvCxnSpPr>
            <p:nvPr/>
          </p:nvCxnSpPr>
          <p:spPr>
            <a:xfrm>
              <a:off x="6021975" y="2349650"/>
              <a:ext cx="546900" cy="1742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32" name="Google Shape;232;p25"/>
            <p:cNvSpPr txBox="1"/>
            <p:nvPr/>
          </p:nvSpPr>
          <p:spPr>
            <a:xfrm>
              <a:off x="3344325" y="1518350"/>
              <a:ext cx="5355300" cy="8313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Lato"/>
                  <a:ea typeface="Lato"/>
                  <a:cs typeface="Lato"/>
                  <a:sym typeface="Lato"/>
                </a:rPr>
                <a:t>El puntaje de similitud del punto amarillo, respecto del azul, puede que no sea el mismo que el puntaje de similitud del punto azul respecto del amarillo</a:t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234" name="Google Shape;234;p25"/>
          <p:cNvGrpSpPr/>
          <p:nvPr/>
        </p:nvGrpSpPr>
        <p:grpSpPr>
          <a:xfrm>
            <a:off x="3365500" y="2518825"/>
            <a:ext cx="3584225" cy="1488775"/>
            <a:chOff x="3365500" y="2518825"/>
            <a:chExt cx="3584225" cy="1488775"/>
          </a:xfrm>
        </p:grpSpPr>
        <p:cxnSp>
          <p:nvCxnSpPr>
            <p:cNvPr id="235" name="Google Shape;235;p25"/>
            <p:cNvCxnSpPr/>
            <p:nvPr/>
          </p:nvCxnSpPr>
          <p:spPr>
            <a:xfrm flipH="1">
              <a:off x="6752025" y="3302000"/>
              <a:ext cx="197700" cy="705600"/>
            </a:xfrm>
            <a:prstGeom prst="straightConnector1">
              <a:avLst/>
            </a:prstGeom>
            <a:noFill/>
            <a:ln cap="flat" cmpd="sng" w="19050">
              <a:solidFill>
                <a:srgbClr val="6AA84F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36" name="Google Shape;236;p25"/>
            <p:cNvSpPr txBox="1"/>
            <p:nvPr/>
          </p:nvSpPr>
          <p:spPr>
            <a:xfrm>
              <a:off x="3365500" y="2518825"/>
              <a:ext cx="2370600" cy="1046700"/>
            </a:xfrm>
            <a:prstGeom prst="rect">
              <a:avLst/>
            </a:prstGeom>
            <a:noFill/>
            <a:ln cap="flat" cmpd="sng" w="9525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Lato"/>
                  <a:ea typeface="Lato"/>
                  <a:cs typeface="Lato"/>
                  <a:sym typeface="Lato"/>
                </a:rPr>
                <a:t>t-SNE promedia los dos puntajes de similitud, en ambas direcciones. Para unificar el valor.</a:t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6"/>
          <p:cNvSpPr txBox="1"/>
          <p:nvPr>
            <p:ph type="title"/>
          </p:nvPr>
        </p:nvSpPr>
        <p:spPr>
          <a:xfrm>
            <a:off x="729450" y="648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t-SNE</a:t>
            </a:r>
            <a:endParaRPr/>
          </a:p>
        </p:txBody>
      </p:sp>
      <p:pic>
        <p:nvPicPr>
          <p:cNvPr id="242" name="Google Shape;24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65425"/>
            <a:ext cx="3191925" cy="25781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6"/>
          <p:cNvSpPr txBox="1"/>
          <p:nvPr/>
        </p:nvSpPr>
        <p:spPr>
          <a:xfrm>
            <a:off x="3294950" y="896050"/>
            <a:ext cx="5531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Finalmente tendremos una matriz de puntajes de similitud o </a:t>
            </a:r>
            <a:r>
              <a:rPr b="1" i="1" lang="en">
                <a:latin typeface="Lato"/>
                <a:ea typeface="Lato"/>
                <a:cs typeface="Lato"/>
                <a:sym typeface="Lato"/>
              </a:rPr>
              <a:t>Similarity Scores</a:t>
            </a:r>
            <a:endParaRPr b="1" i="1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44" name="Google Shape;244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9500" y="1511650"/>
            <a:ext cx="2769850" cy="332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696" y="1670200"/>
            <a:ext cx="3470273" cy="3323724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7"/>
          <p:cNvSpPr txBox="1"/>
          <p:nvPr>
            <p:ph type="title"/>
          </p:nvPr>
        </p:nvSpPr>
        <p:spPr>
          <a:xfrm>
            <a:off x="729450" y="648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t-SNE</a:t>
            </a:r>
            <a:endParaRPr/>
          </a:p>
        </p:txBody>
      </p:sp>
      <p:sp>
        <p:nvSpPr>
          <p:cNvPr id="251" name="Google Shape;251;p27"/>
          <p:cNvSpPr txBox="1"/>
          <p:nvPr/>
        </p:nvSpPr>
        <p:spPr>
          <a:xfrm>
            <a:off x="3351400" y="1445125"/>
            <a:ext cx="5439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El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próximo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paso es calcular el puntaje de similitud en el nuevo espacio.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Tomamos el primer punto, medimos la distancia al siguiente punto…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2" name="Google Shape;252;p27"/>
          <p:cNvSpPr txBox="1"/>
          <p:nvPr/>
        </p:nvSpPr>
        <p:spPr>
          <a:xfrm>
            <a:off x="3351400" y="613825"/>
            <a:ext cx="5510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Ahora que tenemos la matriz de similitud, hacemos lo que dijimos al principio. Proyectamos los puntos del espacio en una recta de forma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aleatoria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pic>
        <p:nvPicPr>
          <p:cNvPr id="253" name="Google Shape;253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08950" y="2338925"/>
            <a:ext cx="5124800" cy="914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08943" y="3898225"/>
            <a:ext cx="2175425" cy="9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7"/>
          <p:cNvSpPr txBox="1"/>
          <p:nvPr/>
        </p:nvSpPr>
        <p:spPr>
          <a:xfrm>
            <a:off x="3508950" y="3225275"/>
            <a:ext cx="5510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Luego lo proyectamos en una curva, centrada en el punto de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interés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y vemos su valor…</a:t>
            </a:r>
            <a:endParaRPr/>
          </a:p>
        </p:txBody>
      </p:sp>
      <p:sp>
        <p:nvSpPr>
          <p:cNvPr id="256" name="Google Shape;256;p27"/>
          <p:cNvSpPr txBox="1"/>
          <p:nvPr/>
        </p:nvSpPr>
        <p:spPr>
          <a:xfrm>
            <a:off x="5919625" y="3898225"/>
            <a:ext cx="2871600" cy="831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Pero esta NO es una curva Normal, </a:t>
            </a:r>
            <a:r>
              <a:rPr b="1" lang="en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¡es una</a:t>
            </a:r>
            <a:r>
              <a:rPr b="1" lang="en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 distribución t-Student!</a:t>
            </a:r>
            <a:endParaRPr b="1">
              <a:solidFill>
                <a:schemeClr val="accent3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8"/>
          <p:cNvSpPr txBox="1"/>
          <p:nvPr>
            <p:ph idx="1" type="body"/>
          </p:nvPr>
        </p:nvSpPr>
        <p:spPr>
          <a:xfrm>
            <a:off x="4995450" y="1183575"/>
            <a:ext cx="3845100" cy="367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 distribución T (t-Student) (en rojo) es un poco </a:t>
            </a:r>
            <a:r>
              <a:rPr lang="en"/>
              <a:t>más</a:t>
            </a:r>
            <a:r>
              <a:rPr lang="en"/>
              <a:t> baja en el centro y más alta en los extremos que una distribución </a:t>
            </a:r>
            <a:r>
              <a:rPr b="1" lang="en"/>
              <a:t>Normal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Es la “T” en t-SNE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Se usa esta distribución en lugar de la normal ya que permite una mejor visualización de los datos, estos aparecen un poco más “dispersos”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8"/>
          <p:cNvSpPr txBox="1"/>
          <p:nvPr>
            <p:ph type="title"/>
          </p:nvPr>
        </p:nvSpPr>
        <p:spPr>
          <a:xfrm>
            <a:off x="729450" y="648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t-SNE</a:t>
            </a:r>
            <a:endParaRPr/>
          </a:p>
        </p:txBody>
      </p:sp>
      <p:pic>
        <p:nvPicPr>
          <p:cNvPr id="263" name="Google Shape;26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275" y="1343025"/>
            <a:ext cx="4690525" cy="22285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9"/>
          <p:cNvSpPr txBox="1"/>
          <p:nvPr>
            <p:ph type="title"/>
          </p:nvPr>
        </p:nvSpPr>
        <p:spPr>
          <a:xfrm>
            <a:off x="729450" y="648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t-SNE</a:t>
            </a:r>
            <a:endParaRPr/>
          </a:p>
        </p:txBody>
      </p:sp>
      <p:sp>
        <p:nvSpPr>
          <p:cNvPr id="269" name="Google Shape;269;p29"/>
          <p:cNvSpPr txBox="1"/>
          <p:nvPr/>
        </p:nvSpPr>
        <p:spPr>
          <a:xfrm>
            <a:off x="3142550" y="1389950"/>
            <a:ext cx="29181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Al igual que antes, calculamos y normalizamos todos los nuevos puntajes y construimos una matriz.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Solo que esta matriz no está ordenada en absoluto.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70" name="Google Shape;27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60725" y="1389950"/>
            <a:ext cx="2769850" cy="332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335975"/>
            <a:ext cx="2990150" cy="3499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92803" y="4387400"/>
            <a:ext cx="3558400" cy="448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3" name="Google Shape;273;p29"/>
          <p:cNvGrpSpPr/>
          <p:nvPr/>
        </p:nvGrpSpPr>
        <p:grpSpPr>
          <a:xfrm>
            <a:off x="3090475" y="3767675"/>
            <a:ext cx="2617693" cy="691375"/>
            <a:chOff x="3090331" y="3767675"/>
            <a:chExt cx="1516800" cy="691375"/>
          </a:xfrm>
        </p:grpSpPr>
        <p:cxnSp>
          <p:nvCxnSpPr>
            <p:cNvPr id="274" name="Google Shape;274;p29"/>
            <p:cNvCxnSpPr/>
            <p:nvPr/>
          </p:nvCxnSpPr>
          <p:spPr>
            <a:xfrm flipH="1">
              <a:off x="3189225" y="4183950"/>
              <a:ext cx="155100" cy="275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75" name="Google Shape;275;p29"/>
            <p:cNvSpPr txBox="1"/>
            <p:nvPr/>
          </p:nvSpPr>
          <p:spPr>
            <a:xfrm>
              <a:off x="3090331" y="3767675"/>
              <a:ext cx="1516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Lato"/>
                  <a:ea typeface="Lato"/>
                  <a:cs typeface="Lato"/>
                  <a:sym typeface="Lato"/>
                </a:rPr>
                <a:t>Mover este punto</a:t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276" name="Google Shape;276;p29"/>
          <p:cNvSpPr/>
          <p:nvPr/>
        </p:nvSpPr>
        <p:spPr>
          <a:xfrm>
            <a:off x="183450" y="2413000"/>
            <a:ext cx="2769900" cy="2391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9"/>
          <p:cNvSpPr/>
          <p:nvPr/>
        </p:nvSpPr>
        <p:spPr>
          <a:xfrm>
            <a:off x="6156700" y="2413000"/>
            <a:ext cx="2769900" cy="2391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8" name="Google Shape;278;p29"/>
          <p:cNvCxnSpPr>
            <a:endCxn id="276" idx="3"/>
          </p:cNvCxnSpPr>
          <p:nvPr/>
        </p:nvCxnSpPr>
        <p:spPr>
          <a:xfrm rot="10800000">
            <a:off x="2953350" y="2532550"/>
            <a:ext cx="482700" cy="34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9" name="Google Shape;279;p29"/>
          <p:cNvCxnSpPr>
            <a:endCxn id="277" idx="1"/>
          </p:cNvCxnSpPr>
          <p:nvPr/>
        </p:nvCxnSpPr>
        <p:spPr>
          <a:xfrm flipH="1" rot="10800000">
            <a:off x="5750200" y="2532550"/>
            <a:ext cx="406500" cy="360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0" name="Google Shape;280;p29"/>
          <p:cNvSpPr txBox="1"/>
          <p:nvPr/>
        </p:nvSpPr>
        <p:spPr>
          <a:xfrm>
            <a:off x="3436050" y="2858425"/>
            <a:ext cx="2314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Tiene cómo objetivo que esta fila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Se parezca a esta otra fila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0"/>
          <p:cNvSpPr txBox="1"/>
          <p:nvPr>
            <p:ph type="title"/>
          </p:nvPr>
        </p:nvSpPr>
        <p:spPr>
          <a:xfrm>
            <a:off x="729450" y="648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t-SNE</a:t>
            </a:r>
            <a:endParaRPr/>
          </a:p>
        </p:txBody>
      </p:sp>
      <p:sp>
        <p:nvSpPr>
          <p:cNvPr id="286" name="Google Shape;286;p30"/>
          <p:cNvSpPr txBox="1"/>
          <p:nvPr/>
        </p:nvSpPr>
        <p:spPr>
          <a:xfrm>
            <a:off x="3142550" y="1389950"/>
            <a:ext cx="29181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No se puede calcular de una sola vez el orden de los puntos, es por ello que debe de hacerse en pequeños pasos y moviendo los puntos uno por uno, haciendo que de a poco la nueva matriz coincida con la original.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87" name="Google Shape;28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60725" y="1389950"/>
            <a:ext cx="2769850" cy="332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335975"/>
            <a:ext cx="2990150" cy="3499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92803" y="4387400"/>
            <a:ext cx="3558400" cy="44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1"/>
          <p:cNvSpPr txBox="1"/>
          <p:nvPr>
            <p:ph idx="1" type="body"/>
          </p:nvPr>
        </p:nvSpPr>
        <p:spPr>
          <a:xfrm>
            <a:off x="3936875" y="1368775"/>
            <a:ext cx="4481400" cy="36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Ejemplo del conjunto MNIST con t-SNE</a:t>
            </a:r>
            <a:endParaRPr/>
          </a:p>
        </p:txBody>
      </p:sp>
      <p:sp>
        <p:nvSpPr>
          <p:cNvPr id="295" name="Google Shape;295;p31"/>
          <p:cNvSpPr txBox="1"/>
          <p:nvPr>
            <p:ph type="title"/>
          </p:nvPr>
        </p:nvSpPr>
        <p:spPr>
          <a:xfrm>
            <a:off x="729450" y="648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t-SNE</a:t>
            </a:r>
            <a:endParaRPr/>
          </a:p>
        </p:txBody>
      </p:sp>
      <p:pic>
        <p:nvPicPr>
          <p:cNvPr id="296" name="Google Shape;29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35975"/>
            <a:ext cx="3784476" cy="3655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07548" y="1784221"/>
            <a:ext cx="3661074" cy="222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2"/>
          <p:cNvSpPr txBox="1"/>
          <p:nvPr>
            <p:ph type="title"/>
          </p:nvPr>
        </p:nvSpPr>
        <p:spPr>
          <a:xfrm>
            <a:off x="729450" y="648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t-SNE vs PCA</a:t>
            </a:r>
            <a:endParaRPr/>
          </a:p>
        </p:txBody>
      </p:sp>
      <p:pic>
        <p:nvPicPr>
          <p:cNvPr id="303" name="Google Shape;30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6000" y="1745225"/>
            <a:ext cx="3255425" cy="2727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745225"/>
            <a:ext cx="3255425" cy="272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32"/>
          <p:cNvSpPr txBox="1"/>
          <p:nvPr/>
        </p:nvSpPr>
        <p:spPr>
          <a:xfrm>
            <a:off x="2062363" y="4501450"/>
            <a:ext cx="1622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9 segundos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6" name="Google Shape;306;p32"/>
          <p:cNvSpPr txBox="1"/>
          <p:nvPr/>
        </p:nvSpPr>
        <p:spPr>
          <a:xfrm>
            <a:off x="5388350" y="4501450"/>
            <a:ext cx="1622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0.03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segundos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7" name="Google Shape;307;p32"/>
          <p:cNvSpPr txBox="1"/>
          <p:nvPr/>
        </p:nvSpPr>
        <p:spPr>
          <a:xfrm>
            <a:off x="2062363" y="1316700"/>
            <a:ext cx="1622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t-SNE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8" name="Google Shape;308;p32"/>
          <p:cNvSpPr txBox="1"/>
          <p:nvPr/>
        </p:nvSpPr>
        <p:spPr>
          <a:xfrm>
            <a:off x="5388338" y="1316700"/>
            <a:ext cx="1622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PCA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Resumen</a:t>
            </a:r>
            <a:endParaRPr/>
          </a:p>
        </p:txBody>
      </p:sp>
      <p:sp>
        <p:nvSpPr>
          <p:cNvPr id="314" name="Google Shape;314;p33"/>
          <p:cNvSpPr txBox="1"/>
          <p:nvPr>
            <p:ph idx="1" type="body"/>
          </p:nvPr>
        </p:nvSpPr>
        <p:spPr>
          <a:xfrm>
            <a:off x="651850" y="1756825"/>
            <a:ext cx="7688700" cy="301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b="1" lang="en" sz="2100"/>
              <a:t>Fortalezas</a:t>
            </a:r>
            <a:r>
              <a:rPr lang="en" sz="2100"/>
              <a:t>:</a:t>
            </a:r>
            <a:endParaRPr sz="21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/>
              <a:t>De lo mejor para visualizar datos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/>
              <a:t>Conserva estructuras no lineales globales y locales</a:t>
            </a:r>
            <a:endParaRPr sz="1900"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61950" lvl="0" marL="457200" rtl="0" algn="l">
              <a:spcBef>
                <a:spcPts val="1200"/>
              </a:spcBef>
              <a:spcAft>
                <a:spcPts val="0"/>
              </a:spcAft>
              <a:buSzPts val="2100"/>
              <a:buChar char="●"/>
            </a:pPr>
            <a:r>
              <a:rPr b="1" lang="en" sz="2100"/>
              <a:t>Debilidades</a:t>
            </a:r>
            <a:r>
              <a:rPr lang="en" sz="2100"/>
              <a:t>:</a:t>
            </a:r>
            <a:endParaRPr sz="21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/>
              <a:t>Es estocástico (es no determinista)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/>
              <a:t>Escala mucho en tiempo con dimensiones y puntos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/>
              <a:t>No se puede usar para nuevos puntos</a:t>
            </a:r>
            <a:endParaRPr sz="1900"/>
          </a:p>
        </p:txBody>
      </p:sp>
      <p:sp>
        <p:nvSpPr>
          <p:cNvPr id="315" name="Google Shape;315;p33"/>
          <p:cNvSpPr txBox="1"/>
          <p:nvPr>
            <p:ph type="title"/>
          </p:nvPr>
        </p:nvSpPr>
        <p:spPr>
          <a:xfrm>
            <a:off x="729450" y="648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t-SNE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