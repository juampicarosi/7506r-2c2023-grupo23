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embeddedFontLst>
    <p:embeddedFont>
      <p:font typeface="Raleway"/>
      <p:regular r:id="rId53"/>
      <p:bold r:id="rId54"/>
      <p:italic r:id="rId55"/>
      <p:boldItalic r:id="rId56"/>
    </p:embeddedFont>
    <p:embeddedFont>
      <p:font typeface="Lat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3CA04E-5F5B-42E9-9BAD-16A18EB1C55B}">
  <a:tblStyle styleId="{C63CA04E-5F5B-42E9-9BAD-16A18EB1C5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at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aleway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aleway-italic.fntdata"/><Relationship Id="rId10" Type="http://schemas.openxmlformats.org/officeDocument/2006/relationships/slide" Target="slides/slide4.xml"/><Relationship Id="rId54" Type="http://schemas.openxmlformats.org/officeDocument/2006/relationships/font" Target="fonts/Raleway-bold.fntdata"/><Relationship Id="rId13" Type="http://schemas.openxmlformats.org/officeDocument/2006/relationships/slide" Target="slides/slide7.xml"/><Relationship Id="rId57" Type="http://schemas.openxmlformats.org/officeDocument/2006/relationships/font" Target="fonts/Lato-regular.fntdata"/><Relationship Id="rId12" Type="http://schemas.openxmlformats.org/officeDocument/2006/relationships/slide" Target="slides/slide6.xml"/><Relationship Id="rId56" Type="http://schemas.openxmlformats.org/officeDocument/2006/relationships/font" Target="fonts/Raleway-boldItalic.fntdata"/><Relationship Id="rId15" Type="http://schemas.openxmlformats.org/officeDocument/2006/relationships/slide" Target="slides/slide9.xml"/><Relationship Id="rId59" Type="http://schemas.openxmlformats.org/officeDocument/2006/relationships/font" Target="fonts/Lato-italic.fntdata"/><Relationship Id="rId14" Type="http://schemas.openxmlformats.org/officeDocument/2006/relationships/slide" Target="slides/slide8.xml"/><Relationship Id="rId58" Type="http://schemas.openxmlformats.org/officeDocument/2006/relationships/font" Target="fonts/La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440a5af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440a5af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440a5afc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440a5afc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440a5af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440a5af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440a5afc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440a5afc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440a5afc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f440a5afc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4533718e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4533718e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34533718e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34533718e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4533718e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4533718e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3502d4d4c5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3502d4d4c5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4533718e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34533718e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4533718e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34533718e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34533718e8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34533718e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34533718e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34533718e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34533718e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34533718e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34533718e8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34533718e8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34533718e8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34533718e8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34533718e8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34533718e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34533718e8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34533718e8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34533718e8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34533718e8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34533718e8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34533718e8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34533718e8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34533718e8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34533718e8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34533718e8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34533718e8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34533718e8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34533718e8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34533718e8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34533718e8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34533718e8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34533718e8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34533718e8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34533718e8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34533718e8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34533718e8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134533718e8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34533718e8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34533718e8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34533718e8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34533718e8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13502d4d4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13502d4d4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13502d4d4c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3502d4d4c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3502d4d4c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3502d4d4c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3502d4d4c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3502d4d4c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13502d4d4c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13502d4d4c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13502d4d4c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13502d4d4c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3502d4d4c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3502d4d4c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13502d4d4c5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13502d4d4c5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13502d4d4c5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13502d4d4c5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3502d4d4c5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3502d4d4c5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3502d4d4c5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3502d4d4c5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13502d4d4c5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13502d4d4c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3502d4d4c5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3502d4d4c5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13502d4d4c5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13502d4d4c5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3502d4d4c5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3502d4d4c5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Organización de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853850"/>
            <a:ext cx="7688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Visualización de datos en una dimensión menor (2D o 3D), preservando características importantes de estos como distancias, correlaciones, etc.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0225" y="2473375"/>
            <a:ext cx="7688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Visualización de datos para entender su distribución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detección de patrones inherentes a simple vista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Reducción del ruido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Aceleración de los tiempos de entrenamiento de un modelo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Compresión de la información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Presentación de resultados a interesados (quienes no siempre conocen de ciencia de datos)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22529" l="46339" r="3585" t="47881"/>
          <a:stretch/>
        </p:blipFill>
        <p:spPr>
          <a:xfrm>
            <a:off x="729453" y="1909372"/>
            <a:ext cx="7759450" cy="257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2" y="2091971"/>
            <a:ext cx="3185076" cy="2368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6"/>
          <p:cNvCxnSpPr/>
          <p:nvPr/>
        </p:nvCxnSpPr>
        <p:spPr>
          <a:xfrm>
            <a:off x="3866450" y="3069175"/>
            <a:ext cx="9597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8002" y="2503098"/>
            <a:ext cx="4174276" cy="10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1319400" y="2963325"/>
            <a:ext cx="2356500" cy="945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811400" y="1792100"/>
            <a:ext cx="8022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Hay varios algoritmos que resuelven este problema, con diversos usos, ventajas y debilidades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ISOMAP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LLE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Proyecciones aleatorias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MDS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t-SNE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LDA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UMAP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1792100" y="2081400"/>
            <a:ext cx="790200" cy="1292800"/>
            <a:chOff x="1792100" y="2081400"/>
            <a:chExt cx="790200" cy="1292800"/>
          </a:xfrm>
        </p:grpSpPr>
        <p:sp>
          <p:nvSpPr>
            <p:cNvPr id="117" name="Google Shape;117;p17"/>
            <p:cNvSpPr/>
            <p:nvPr/>
          </p:nvSpPr>
          <p:spPr>
            <a:xfrm>
              <a:off x="1792100" y="2081400"/>
              <a:ext cx="486900" cy="2400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1792100" y="2321400"/>
              <a:ext cx="790200" cy="2400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1792100" y="2932400"/>
              <a:ext cx="486900" cy="2400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1792100" y="3134200"/>
              <a:ext cx="486900" cy="2400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7"/>
          <p:cNvSpPr txBox="1"/>
          <p:nvPr/>
        </p:nvSpPr>
        <p:spPr>
          <a:xfrm>
            <a:off x="811400" y="39161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son los algoritmos que veremos en clase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</a:t>
            </a:r>
            <a:r>
              <a:rPr lang="en"/>
              <a:t>Análisis</a:t>
            </a:r>
            <a:r>
              <a:rPr lang="en"/>
              <a:t> de componentes principales</a:t>
            </a:r>
            <a:endParaRPr/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729625" y="3172900"/>
            <a:ext cx="76881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33" name="Google Shape;133;p19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7125"/>
                <a:gridCol w="727125"/>
                <a:gridCol w="727125"/>
                <a:gridCol w="727125"/>
                <a:gridCol w="727125"/>
                <a:gridCol w="727125"/>
                <a:gridCol w="775975"/>
              </a:tblGrid>
              <a:tr h="52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4" name="Google Shape;134;p19"/>
          <p:cNvCxnSpPr/>
          <p:nvPr/>
        </p:nvCxnSpPr>
        <p:spPr>
          <a:xfrm>
            <a:off x="3436250" y="4421950"/>
            <a:ext cx="51135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35" name="Google Shape;135;p19"/>
          <p:cNvSpPr/>
          <p:nvPr/>
        </p:nvSpPr>
        <p:spPr>
          <a:xfrm>
            <a:off x="3688650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4093475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4429500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7269025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7673850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8009875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5721850" y="45512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cxnSp>
        <p:nvCxnSpPr>
          <p:cNvPr id="142" name="Google Shape;142;p19"/>
          <p:cNvCxnSpPr/>
          <p:nvPr/>
        </p:nvCxnSpPr>
        <p:spPr>
          <a:xfrm>
            <a:off x="5520725" y="2785300"/>
            <a:ext cx="798000" cy="105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" name="Google Shape;143;p19"/>
          <p:cNvSpPr/>
          <p:nvPr/>
        </p:nvSpPr>
        <p:spPr>
          <a:xfrm>
            <a:off x="7051500" y="3892675"/>
            <a:ext cx="1628400" cy="8712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7138950" y="2894800"/>
            <a:ext cx="145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2410275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51" name="Google Shape;151;p20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2" name="Google Shape;152;p20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53" name="Google Shape;153;p20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5279275" y="38926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71004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7470300" y="26851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78388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6267375" y="44693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6921225" y="2571750"/>
            <a:ext cx="1628400" cy="8712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7301800" y="1625875"/>
            <a:ext cx="145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64" name="Google Shape;164;p20"/>
          <p:cNvSpPr txBox="1"/>
          <p:nvPr/>
        </p:nvSpPr>
        <p:spPr>
          <a:xfrm>
            <a:off x="4550825" y="38373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5257575" y="3689125"/>
            <a:ext cx="833100" cy="67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117075" y="3787825"/>
            <a:ext cx="224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72" name="Google Shape;172;p21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73" name="Google Shape;173;p21"/>
          <p:cNvCxnSpPr/>
          <p:nvPr/>
        </p:nvCxnSpPr>
        <p:spPr>
          <a:xfrm>
            <a:off x="5138025" y="4421950"/>
            <a:ext cx="2646300" cy="374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74" name="Google Shape;174;p21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5279275" y="383047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7189925" y="30858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3</a:t>
            </a:r>
            <a:r>
              <a:rPr lang="en" sz="1000"/>
              <a:t> </a:t>
            </a:r>
            <a:endParaRPr sz="1000"/>
          </a:p>
        </p:txBody>
      </p:sp>
      <p:sp>
        <p:nvSpPr>
          <p:cNvPr id="178" name="Google Shape;178;p21"/>
          <p:cNvSpPr/>
          <p:nvPr/>
        </p:nvSpPr>
        <p:spPr>
          <a:xfrm>
            <a:off x="7555271" y="27622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7838875" y="3008600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 rot="546981">
            <a:off x="5959862" y="4648495"/>
            <a:ext cx="833123" cy="3694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7067775" y="2571750"/>
            <a:ext cx="1294800" cy="831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301800" y="1625875"/>
            <a:ext cx="145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4" name="Google Shape;184;p21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85" name="Google Shape;185;p21"/>
          <p:cNvSpPr txBox="1"/>
          <p:nvPr/>
        </p:nvSpPr>
        <p:spPr>
          <a:xfrm>
            <a:off x="4572525" y="42155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238338" y="3729025"/>
            <a:ext cx="833100" cy="67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117100" y="3899850"/>
            <a:ext cx="224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8" name="Google Shape;188;p21"/>
          <p:cNvCxnSpPr/>
          <p:nvPr/>
        </p:nvCxnSpPr>
        <p:spPr>
          <a:xfrm flipH="1" rot="10800000">
            <a:off x="5154300" y="3461175"/>
            <a:ext cx="2092500" cy="9852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89" name="Google Shape;189;p21"/>
          <p:cNvSpPr txBox="1"/>
          <p:nvPr/>
        </p:nvSpPr>
        <p:spPr>
          <a:xfrm>
            <a:off x="7335150" y="346117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pasa si tengo 4 o más variables?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200" name="Google Shape;200;p23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1" name="Google Shape;201;p23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2" name="Google Shape;202;p23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03" name="Google Shape;203;p23"/>
          <p:cNvSpPr/>
          <p:nvPr/>
        </p:nvSpPr>
        <p:spPr>
          <a:xfrm>
            <a:off x="5557000" y="31617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5192700" y="28271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6004088" y="28921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7988025" y="28272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7201600" y="26335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7597175" y="30858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6267375" y="446935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PC1 (91%)</a:t>
            </a:r>
            <a:endParaRPr/>
          </a:p>
        </p:txBody>
      </p:sp>
      <p:cxnSp>
        <p:nvCxnSpPr>
          <p:cNvPr id="210" name="Google Shape;210;p23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11" name="Google Shape;211;p23"/>
          <p:cNvSpPr txBox="1"/>
          <p:nvPr/>
        </p:nvSpPr>
        <p:spPr>
          <a:xfrm>
            <a:off x="4862725" y="179080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PC2 (4%)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912075" y="2068775"/>
            <a:ext cx="1807500" cy="288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6992200" y="2441025"/>
            <a:ext cx="1492500" cy="1060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23"/>
          <p:cNvCxnSpPr>
            <a:endCxn id="213" idx="2"/>
          </p:cNvCxnSpPr>
          <p:nvPr/>
        </p:nvCxnSpPr>
        <p:spPr>
          <a:xfrm flipH="1" rot="10800000">
            <a:off x="1807750" y="3501825"/>
            <a:ext cx="5930700" cy="1457400"/>
          </a:xfrm>
          <a:prstGeom prst="bentConnector2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887400" y="2068775"/>
            <a:ext cx="1807500" cy="288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5164050" y="2541275"/>
            <a:ext cx="1492500" cy="1060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23"/>
          <p:cNvCxnSpPr>
            <a:stCxn id="215" idx="3"/>
            <a:endCxn id="216" idx="2"/>
          </p:cNvCxnSpPr>
          <p:nvPr/>
        </p:nvCxnSpPr>
        <p:spPr>
          <a:xfrm>
            <a:off x="4694900" y="3509975"/>
            <a:ext cx="1215300" cy="92100"/>
          </a:xfrm>
          <a:prstGeom prst="bentConnector4">
            <a:avLst>
              <a:gd fmla="val 19302" name="adj1"/>
              <a:gd fmla="val 358550" name="adj2"/>
            </a:avLst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223" name="Google Shape;223;p24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24" name="Google Shape;224;p24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25" name="Google Shape;225;p24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5279275" y="38926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71004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7470300" y="26851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78388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2" name="Google Shape;232;p24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33" name="Google Shape;233;p24"/>
          <p:cNvSpPr txBox="1"/>
          <p:nvPr/>
        </p:nvSpPr>
        <p:spPr>
          <a:xfrm>
            <a:off x="6267375" y="44693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4550825" y="38373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235" name="Google Shape;235;p24"/>
          <p:cNvCxnSpPr>
            <a:stCxn id="226" idx="4"/>
          </p:cNvCxnSpPr>
          <p:nvPr/>
        </p:nvCxnSpPr>
        <p:spPr>
          <a:xfrm>
            <a:off x="5421775" y="4151263"/>
            <a:ext cx="0" cy="27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4"/>
          <p:cNvCxnSpPr/>
          <p:nvPr/>
        </p:nvCxnSpPr>
        <p:spPr>
          <a:xfrm>
            <a:off x="7242975" y="3267188"/>
            <a:ext cx="0" cy="11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4"/>
          <p:cNvCxnSpPr/>
          <p:nvPr/>
        </p:nvCxnSpPr>
        <p:spPr>
          <a:xfrm>
            <a:off x="7612800" y="2943738"/>
            <a:ext cx="600" cy="14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4"/>
          <p:cNvCxnSpPr/>
          <p:nvPr/>
        </p:nvCxnSpPr>
        <p:spPr>
          <a:xfrm>
            <a:off x="7983225" y="3267188"/>
            <a:ext cx="4800" cy="11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4"/>
          <p:cNvCxnSpPr>
            <a:stCxn id="225" idx="4"/>
            <a:endCxn id="225" idx="4"/>
          </p:cNvCxnSpPr>
          <p:nvPr/>
        </p:nvCxnSpPr>
        <p:spPr>
          <a:xfrm>
            <a:off x="5706775" y="43634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40" name="Google Shape;240;p24"/>
          <p:cNvSpPr txBox="1"/>
          <p:nvPr/>
        </p:nvSpPr>
        <p:spPr>
          <a:xfrm>
            <a:off x="273425" y="4413625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valor promedio para árboles (variable 1)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6517288" y="4286650"/>
            <a:ext cx="285000" cy="270600"/>
          </a:xfrm>
          <a:prstGeom prst="mathMultiply">
            <a:avLst>
              <a:gd fmla="val 17239" name="adj1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247" name="Google Shape;247;p25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48" name="Google Shape;248;p25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49" name="Google Shape;249;p25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5279275" y="38926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71004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7470300" y="26851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78388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6" name="Google Shape;256;p25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57" name="Google Shape;257;p25"/>
          <p:cNvSpPr txBox="1"/>
          <p:nvPr/>
        </p:nvSpPr>
        <p:spPr>
          <a:xfrm>
            <a:off x="6267375" y="44693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4550825" y="38373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259" name="Google Shape;259;p25"/>
          <p:cNvCxnSpPr>
            <a:stCxn id="249" idx="4"/>
            <a:endCxn id="249" idx="4"/>
          </p:cNvCxnSpPr>
          <p:nvPr/>
        </p:nvCxnSpPr>
        <p:spPr>
          <a:xfrm>
            <a:off x="5706775" y="43634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0" name="Google Shape;260;p25"/>
          <p:cNvSpPr txBox="1"/>
          <p:nvPr/>
        </p:nvSpPr>
        <p:spPr>
          <a:xfrm>
            <a:off x="273425" y="4413625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valor promedio para RNA (variable 2)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6517288" y="4286650"/>
            <a:ext cx="285000" cy="270600"/>
          </a:xfrm>
          <a:prstGeom prst="mathMultiply">
            <a:avLst>
              <a:gd fmla="val 17239" name="adj1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25"/>
          <p:cNvCxnSpPr>
            <a:stCxn id="253" idx="2"/>
          </p:cNvCxnSpPr>
          <p:nvPr/>
        </p:nvCxnSpPr>
        <p:spPr>
          <a:xfrm rot="10800000">
            <a:off x="5211300" y="2814438"/>
            <a:ext cx="225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5"/>
          <p:cNvCxnSpPr>
            <a:stCxn id="252" idx="2"/>
          </p:cNvCxnSpPr>
          <p:nvPr/>
        </p:nvCxnSpPr>
        <p:spPr>
          <a:xfrm flipH="1">
            <a:off x="5204175" y="3137900"/>
            <a:ext cx="18963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5"/>
          <p:cNvCxnSpPr>
            <a:stCxn id="254" idx="2"/>
          </p:cNvCxnSpPr>
          <p:nvPr/>
        </p:nvCxnSpPr>
        <p:spPr>
          <a:xfrm rot="10800000">
            <a:off x="5203075" y="3137900"/>
            <a:ext cx="263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5"/>
          <p:cNvCxnSpPr>
            <a:stCxn id="251" idx="2"/>
          </p:cNvCxnSpPr>
          <p:nvPr/>
        </p:nvCxnSpPr>
        <p:spPr>
          <a:xfrm rot="10800000">
            <a:off x="5192775" y="3890425"/>
            <a:ext cx="4581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5"/>
          <p:cNvCxnSpPr/>
          <p:nvPr/>
        </p:nvCxnSpPr>
        <p:spPr>
          <a:xfrm rot="10800000">
            <a:off x="5192725" y="4220850"/>
            <a:ext cx="4581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5"/>
          <p:cNvCxnSpPr>
            <a:stCxn id="250" idx="2"/>
          </p:cNvCxnSpPr>
          <p:nvPr/>
        </p:nvCxnSpPr>
        <p:spPr>
          <a:xfrm rot="10800000">
            <a:off x="5149375" y="3997663"/>
            <a:ext cx="129900" cy="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8" name="Google Shape;268;p25"/>
          <p:cNvSpPr/>
          <p:nvPr/>
        </p:nvSpPr>
        <p:spPr>
          <a:xfrm>
            <a:off x="5050188" y="3352313"/>
            <a:ext cx="285000" cy="270600"/>
          </a:xfrm>
          <a:prstGeom prst="mathMultiply">
            <a:avLst>
              <a:gd fmla="val 17239" name="adj1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274" name="Google Shape;274;p26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75" name="Google Shape;275;p26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76" name="Google Shape;276;p26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5279275" y="38926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71004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7470300" y="26851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78388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3" name="Google Shape;283;p26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84" name="Google Shape;284;p26"/>
          <p:cNvSpPr txBox="1"/>
          <p:nvPr/>
        </p:nvSpPr>
        <p:spPr>
          <a:xfrm>
            <a:off x="6267375" y="44693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4550825" y="38373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286" name="Google Shape;286;p26"/>
          <p:cNvCxnSpPr>
            <a:stCxn id="276" idx="4"/>
            <a:endCxn id="276" idx="4"/>
          </p:cNvCxnSpPr>
          <p:nvPr/>
        </p:nvCxnSpPr>
        <p:spPr>
          <a:xfrm>
            <a:off x="5706775" y="43634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7" name="Google Shape;287;p26"/>
          <p:cNvSpPr txBox="1"/>
          <p:nvPr/>
        </p:nvSpPr>
        <p:spPr>
          <a:xfrm>
            <a:off x="273425" y="4413625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centro del conjunto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6517288" y="4286650"/>
            <a:ext cx="285000" cy="270600"/>
          </a:xfrm>
          <a:prstGeom prst="mathMultiply">
            <a:avLst>
              <a:gd fmla="val 17239" name="adj1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050188" y="3352313"/>
            <a:ext cx="285000" cy="270600"/>
          </a:xfrm>
          <a:prstGeom prst="mathMultiply">
            <a:avLst>
              <a:gd fmla="val 17239" name="adj1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6517288" y="3352313"/>
            <a:ext cx="285000" cy="270600"/>
          </a:xfrm>
          <a:prstGeom prst="mathMultiply">
            <a:avLst>
              <a:gd fmla="val 17239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6590650" y="3687188"/>
            <a:ext cx="138300" cy="535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 rot="5400000">
            <a:off x="5724225" y="3220013"/>
            <a:ext cx="138300" cy="535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1400625" y="1914138"/>
            <a:ext cx="1977600" cy="1977600"/>
          </a:xfrm>
          <a:prstGeom prst="mathMultiply">
            <a:avLst>
              <a:gd fmla="val 741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138223" y="3687200"/>
            <a:ext cx="4022700" cy="4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necesitamos mirar los datos para lo que sigue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300" name="Google Shape;300;p27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301" name="Google Shape;301;p27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302" name="Google Shape;302;p27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304" name="Google Shape;304;p27"/>
          <p:cNvCxnSpPr>
            <a:stCxn id="305" idx="4"/>
            <a:endCxn id="305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306" name="Google Shape;306;p27"/>
          <p:cNvGrpSpPr/>
          <p:nvPr/>
        </p:nvGrpSpPr>
        <p:grpSpPr>
          <a:xfrm>
            <a:off x="4074200" y="1805738"/>
            <a:ext cx="2844600" cy="1678350"/>
            <a:chOff x="4074200" y="1805738"/>
            <a:chExt cx="2844600" cy="1678350"/>
          </a:xfrm>
        </p:grpSpPr>
        <p:sp>
          <p:nvSpPr>
            <p:cNvPr id="305" name="Google Shape;305;p27"/>
            <p:cNvSpPr/>
            <p:nvPr/>
          </p:nvSpPr>
          <p:spPr>
            <a:xfrm>
              <a:off x="4359200" y="32254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4074200" y="30132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4445800" y="29084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5895400" y="2129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6265225" y="18057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6633800" y="2129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5312213" y="2472913"/>
              <a:ext cx="285000" cy="270600"/>
            </a:xfrm>
            <a:prstGeom prst="mathMultiply">
              <a:avLst>
                <a:gd fmla="val 17239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7"/>
          <p:cNvSpPr/>
          <p:nvPr/>
        </p:nvSpPr>
        <p:spPr>
          <a:xfrm rot="-2169583">
            <a:off x="4589022" y="2175436"/>
            <a:ext cx="697074" cy="28508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A1A1A">
              <a:alpha val="517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p27"/>
          <p:cNvGrpSpPr/>
          <p:nvPr/>
        </p:nvGrpSpPr>
        <p:grpSpPr>
          <a:xfrm>
            <a:off x="2604800" y="2735938"/>
            <a:ext cx="2844600" cy="1678350"/>
            <a:chOff x="4074200" y="1805738"/>
            <a:chExt cx="2844600" cy="1678350"/>
          </a:xfrm>
        </p:grpSpPr>
        <p:sp>
          <p:nvSpPr>
            <p:cNvPr id="315" name="Google Shape;315;p27"/>
            <p:cNvSpPr/>
            <p:nvPr/>
          </p:nvSpPr>
          <p:spPr>
            <a:xfrm>
              <a:off x="4359200" y="32254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4074200" y="30132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4445800" y="29084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5895400" y="2129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6265225" y="18057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6633800" y="2129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5312213" y="2472913"/>
              <a:ext cx="285000" cy="270600"/>
            </a:xfrm>
            <a:prstGeom prst="mathMultiply">
              <a:avLst>
                <a:gd fmla="val 17239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" name="Google Shape;322;p27"/>
          <p:cNvSpPr txBox="1"/>
          <p:nvPr/>
        </p:nvSpPr>
        <p:spPr>
          <a:xfrm>
            <a:off x="325825" y="1629075"/>
            <a:ext cx="19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Centramos el conjunto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328" name="Google Shape;328;p28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329" name="Google Shape;329;p28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330" name="Google Shape;330;p28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332" name="Google Shape;332;p28"/>
          <p:cNvCxnSpPr>
            <a:stCxn id="333" idx="4"/>
            <a:endCxn id="333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34" name="Google Shape;334;p28"/>
          <p:cNvSpPr txBox="1"/>
          <p:nvPr/>
        </p:nvSpPr>
        <p:spPr>
          <a:xfrm>
            <a:off x="325825" y="1629075"/>
            <a:ext cx="19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Trazamos una línea aleatoria que pasa por el origen de coordenadas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8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1" name="Google Shape;341;p28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8"/>
          <p:cNvCxnSpPr/>
          <p:nvPr/>
        </p:nvCxnSpPr>
        <p:spPr>
          <a:xfrm flipH="1" rot="10800000">
            <a:off x="2467300" y="2560550"/>
            <a:ext cx="3199200" cy="1847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3" name="Google Shape;343;p28"/>
          <p:cNvSpPr txBox="1"/>
          <p:nvPr/>
        </p:nvSpPr>
        <p:spPr>
          <a:xfrm>
            <a:off x="6286100" y="1710500"/>
            <a:ext cx="253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rotamos hasta que ajuste bien al conjunto de datos como en regresión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lineal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(cuadrados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mínimos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por dentro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354" name="Google Shape;354;p30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355" name="Google Shape;355;p30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356" name="Google Shape;356;p30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358" name="Google Shape;358;p30"/>
          <p:cNvCxnSpPr>
            <a:stCxn id="359" idx="4"/>
            <a:endCxn id="359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60" name="Google Shape;360;p30"/>
          <p:cNvSpPr txBox="1"/>
          <p:nvPr/>
        </p:nvSpPr>
        <p:spPr>
          <a:xfrm>
            <a:off x="325825" y="1629075"/>
            <a:ext cx="19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Los pasos son similares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0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63" name="Google Shape;363;p30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64" name="Google Shape;364;p30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0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30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8" name="Google Shape;368;p30"/>
          <p:cNvSpPr txBox="1"/>
          <p:nvPr/>
        </p:nvSpPr>
        <p:spPr>
          <a:xfrm>
            <a:off x="272550" y="2244675"/>
            <a:ext cx="162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Volviendo a la línea inicial PCA proyecta en ella cada punto….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9" name="Google Shape;369;p30"/>
          <p:cNvCxnSpPr>
            <a:stCxn id="365" idx="1"/>
          </p:cNvCxnSpPr>
          <p:nvPr/>
        </p:nvCxnSpPr>
        <p:spPr>
          <a:xfrm rot="10800000">
            <a:off x="4559762" y="2606109"/>
            <a:ext cx="277800" cy="1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30"/>
          <p:cNvCxnSpPr/>
          <p:nvPr/>
        </p:nvCxnSpPr>
        <p:spPr>
          <a:xfrm rot="10800000">
            <a:off x="4294450" y="3027575"/>
            <a:ext cx="155100" cy="10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30"/>
          <p:cNvCxnSpPr/>
          <p:nvPr/>
        </p:nvCxnSpPr>
        <p:spPr>
          <a:xfrm rot="10800000">
            <a:off x="4506700" y="2724500"/>
            <a:ext cx="685800" cy="4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30"/>
          <p:cNvCxnSpPr>
            <a:stCxn id="363" idx="5"/>
          </p:cNvCxnSpPr>
          <p:nvPr/>
        </p:nvCxnSpPr>
        <p:spPr>
          <a:xfrm>
            <a:off x="3219663" y="4059354"/>
            <a:ext cx="29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0"/>
          <p:cNvCxnSpPr>
            <a:stCxn id="361" idx="5"/>
          </p:cNvCxnSpPr>
          <p:nvPr/>
        </p:nvCxnSpPr>
        <p:spPr>
          <a:xfrm>
            <a:off x="3133063" y="4376416"/>
            <a:ext cx="221700" cy="11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0"/>
          <p:cNvCxnSpPr>
            <a:stCxn id="362" idx="5"/>
          </p:cNvCxnSpPr>
          <p:nvPr/>
        </p:nvCxnSpPr>
        <p:spPr>
          <a:xfrm>
            <a:off x="2848063" y="4164191"/>
            <a:ext cx="5556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grpSp>
        <p:nvGrpSpPr>
          <p:cNvPr id="375" name="Google Shape;375;p30"/>
          <p:cNvGrpSpPr/>
          <p:nvPr/>
        </p:nvGrpSpPr>
        <p:grpSpPr>
          <a:xfrm>
            <a:off x="3257775" y="2475175"/>
            <a:ext cx="1385150" cy="2143975"/>
            <a:chOff x="3257775" y="2475175"/>
            <a:chExt cx="1385150" cy="2143975"/>
          </a:xfrm>
        </p:grpSpPr>
        <p:sp>
          <p:nvSpPr>
            <p:cNvPr id="376" name="Google Shape;376;p30"/>
            <p:cNvSpPr/>
            <p:nvPr/>
          </p:nvSpPr>
          <p:spPr>
            <a:xfrm>
              <a:off x="4421225" y="24751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4350300" y="26131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4155588" y="29136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3437025" y="41019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3296150" y="434472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3257775" y="43974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2" name="Google Shape;382;p30"/>
          <p:cNvSpPr txBox="1"/>
          <p:nvPr/>
        </p:nvSpPr>
        <p:spPr>
          <a:xfrm>
            <a:off x="5921400" y="1161750"/>
            <a:ext cx="2793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encontrar la recta que mejor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se ajusta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podemos minimizar esta distancia….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3" name="Google Shape;383;p30"/>
          <p:cNvSpPr/>
          <p:nvPr/>
        </p:nvSpPr>
        <p:spPr>
          <a:xfrm rot="-3598003">
            <a:off x="4789254" y="2371781"/>
            <a:ext cx="155244" cy="411292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4" name="Google Shape;384;p30"/>
          <p:cNvCxnSpPr>
            <a:stCxn id="382" idx="1"/>
            <a:endCxn id="383" idx="1"/>
          </p:cNvCxnSpPr>
          <p:nvPr/>
        </p:nvCxnSpPr>
        <p:spPr>
          <a:xfrm flipH="1">
            <a:off x="4905600" y="1577400"/>
            <a:ext cx="1015800" cy="9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30"/>
          <p:cNvCxnSpPr/>
          <p:nvPr/>
        </p:nvCxnSpPr>
        <p:spPr>
          <a:xfrm flipH="1" rot="10800000">
            <a:off x="3839350" y="2543225"/>
            <a:ext cx="556500" cy="880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86" name="Google Shape;386;p30"/>
          <p:cNvSpPr txBox="1"/>
          <p:nvPr/>
        </p:nvSpPr>
        <p:spPr>
          <a:xfrm>
            <a:off x="1984525" y="2036825"/>
            <a:ext cx="159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 maximizar esta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7" name="Google Shape;387;p30"/>
          <p:cNvCxnSpPr>
            <a:stCxn id="386" idx="2"/>
          </p:cNvCxnSpPr>
          <p:nvPr/>
        </p:nvCxnSpPr>
        <p:spPr>
          <a:xfrm>
            <a:off x="2781625" y="2437025"/>
            <a:ext cx="1163400" cy="73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1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393" name="Google Shape;393;p31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394" name="Google Shape;394;p31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395" name="Google Shape;395;p31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397" name="Google Shape;397;p31"/>
          <p:cNvCxnSpPr>
            <a:stCxn id="398" idx="4"/>
            <a:endCxn id="398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99" name="Google Shape;399;p31"/>
          <p:cNvSpPr txBox="1"/>
          <p:nvPr/>
        </p:nvSpPr>
        <p:spPr>
          <a:xfrm>
            <a:off x="325825" y="1629075"/>
            <a:ext cx="249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Veámoslo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desde una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perspectiva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matemática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1" name="Google Shape;401;p31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1"/>
          <p:cNvCxnSpPr>
            <a:stCxn id="400" idx="3"/>
          </p:cNvCxnSpPr>
          <p:nvPr/>
        </p:nvCxnSpPr>
        <p:spPr>
          <a:xfrm flipH="1">
            <a:off x="3980162" y="2956666"/>
            <a:ext cx="8574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1"/>
          <p:cNvCxnSpPr>
            <a:stCxn id="400" idx="1"/>
          </p:cNvCxnSpPr>
          <p:nvPr/>
        </p:nvCxnSpPr>
        <p:spPr>
          <a:xfrm rot="10800000">
            <a:off x="4551662" y="2608809"/>
            <a:ext cx="285900" cy="16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31"/>
          <p:cNvCxnSpPr/>
          <p:nvPr/>
        </p:nvCxnSpPr>
        <p:spPr>
          <a:xfrm>
            <a:off x="4466325" y="2740375"/>
            <a:ext cx="114300" cy="66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1"/>
          <p:cNvCxnSpPr/>
          <p:nvPr/>
        </p:nvCxnSpPr>
        <p:spPr>
          <a:xfrm flipH="1" rot="10800000">
            <a:off x="4591050" y="2695550"/>
            <a:ext cx="76200" cy="119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31"/>
          <p:cNvSpPr txBox="1"/>
          <p:nvPr/>
        </p:nvSpPr>
        <p:spPr>
          <a:xfrm>
            <a:off x="5743575" y="1228725"/>
            <a:ext cx="330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segmento no cambia por más que la recta rote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4619625" y="1781175"/>
            <a:ext cx="3219382" cy="1600945"/>
          </a:xfrm>
          <a:custGeom>
            <a:rect b="b" l="l" r="r" t="t"/>
            <a:pathLst>
              <a:path extrusionOk="0" h="44607" w="114681">
                <a:moveTo>
                  <a:pt x="0" y="40005"/>
                </a:moveTo>
                <a:cubicBezTo>
                  <a:pt x="15461" y="43870"/>
                  <a:pt x="31689" y="44196"/>
                  <a:pt x="47625" y="44196"/>
                </a:cubicBezTo>
                <a:cubicBezTo>
                  <a:pt x="55762" y="44196"/>
                  <a:pt x="64290" y="45626"/>
                  <a:pt x="72009" y="43053"/>
                </a:cubicBezTo>
                <a:cubicBezTo>
                  <a:pt x="79027" y="40714"/>
                  <a:pt x="84581" y="35176"/>
                  <a:pt x="90297" y="30480"/>
                </a:cubicBezTo>
                <a:cubicBezTo>
                  <a:pt x="100351" y="22221"/>
                  <a:pt x="110567" y="12343"/>
                  <a:pt x="11468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ot"/>
            <a:round/>
            <a:headEnd len="med" w="med" type="triangle"/>
            <a:tailEnd len="med" w="med" type="none"/>
          </a:ln>
        </p:spPr>
      </p:sp>
      <p:grpSp>
        <p:nvGrpSpPr>
          <p:cNvPr id="408" name="Google Shape;408;p31"/>
          <p:cNvGrpSpPr/>
          <p:nvPr/>
        </p:nvGrpSpPr>
        <p:grpSpPr>
          <a:xfrm>
            <a:off x="3987625" y="2414450"/>
            <a:ext cx="1071700" cy="1069650"/>
            <a:chOff x="3987625" y="2414450"/>
            <a:chExt cx="1071700" cy="1069650"/>
          </a:xfrm>
        </p:grpSpPr>
        <p:sp>
          <p:nvSpPr>
            <p:cNvPr id="409" name="Google Shape;409;p31"/>
            <p:cNvSpPr txBox="1"/>
            <p:nvPr/>
          </p:nvSpPr>
          <p:spPr>
            <a:xfrm>
              <a:off x="3987625" y="266515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0" name="Google Shape;410;p31"/>
            <p:cNvSpPr txBox="1"/>
            <p:nvPr/>
          </p:nvSpPr>
          <p:spPr>
            <a:xfrm>
              <a:off x="4729625" y="241445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b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1" name="Google Shape;411;p31"/>
            <p:cNvSpPr txBox="1"/>
            <p:nvPr/>
          </p:nvSpPr>
          <p:spPr>
            <a:xfrm>
              <a:off x="4358625" y="308390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12" name="Google Shape;412;p31"/>
          <p:cNvSpPr txBox="1"/>
          <p:nvPr/>
        </p:nvSpPr>
        <p:spPr>
          <a:xfrm>
            <a:off x="4076588" y="3601000"/>
            <a:ext cx="40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Por Pitágoras:    a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b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+c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" name="Google Shape;413;p31"/>
          <p:cNvSpPr txBox="1"/>
          <p:nvPr/>
        </p:nvSpPr>
        <p:spPr>
          <a:xfrm>
            <a:off x="4152900" y="4133850"/>
            <a:ext cx="40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constante, por más que rote la recta, disminuir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implica que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deberá aumentar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419" name="Google Shape;419;p32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420" name="Google Shape;420;p32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421" name="Google Shape;421;p32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422" name="Google Shape;422;p32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423" name="Google Shape;423;p32"/>
          <p:cNvCxnSpPr>
            <a:stCxn id="424" idx="4"/>
            <a:endCxn id="424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5" name="Google Shape;425;p32"/>
          <p:cNvSpPr txBox="1"/>
          <p:nvPr/>
        </p:nvSpPr>
        <p:spPr>
          <a:xfrm>
            <a:off x="325825" y="1470750"/>
            <a:ext cx="2960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lo que hace es buscar la recta que mejor ajusta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maximizando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la suma de las distancias al cuadrado, medidas desde los puntos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proyectados sobre la recta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hasta el origen de coordenadas, es decir: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</a:t>
            </a:r>
            <a:r>
              <a:rPr b="1"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="1"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7" name="Google Shape;427;p32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2"/>
          <p:cNvCxnSpPr>
            <a:stCxn id="426" idx="3"/>
          </p:cNvCxnSpPr>
          <p:nvPr/>
        </p:nvCxnSpPr>
        <p:spPr>
          <a:xfrm flipH="1">
            <a:off x="3980162" y="2956666"/>
            <a:ext cx="8574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2"/>
          <p:cNvCxnSpPr>
            <a:stCxn id="426" idx="1"/>
          </p:cNvCxnSpPr>
          <p:nvPr/>
        </p:nvCxnSpPr>
        <p:spPr>
          <a:xfrm rot="10800000">
            <a:off x="4551662" y="2608809"/>
            <a:ext cx="285900" cy="16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32"/>
          <p:cNvCxnSpPr/>
          <p:nvPr/>
        </p:nvCxnSpPr>
        <p:spPr>
          <a:xfrm>
            <a:off x="4466325" y="2740375"/>
            <a:ext cx="114300" cy="66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2"/>
          <p:cNvCxnSpPr/>
          <p:nvPr/>
        </p:nvCxnSpPr>
        <p:spPr>
          <a:xfrm flipH="1" rot="10800000">
            <a:off x="4591050" y="2695550"/>
            <a:ext cx="76200" cy="119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32"/>
          <p:cNvSpPr txBox="1"/>
          <p:nvPr/>
        </p:nvSpPr>
        <p:spPr>
          <a:xfrm>
            <a:off x="5743575" y="1228725"/>
            <a:ext cx="330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segmento no cambia por más que la recta rote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4619625" y="1781175"/>
            <a:ext cx="3219382" cy="1600945"/>
          </a:xfrm>
          <a:custGeom>
            <a:rect b="b" l="l" r="r" t="t"/>
            <a:pathLst>
              <a:path extrusionOk="0" h="44607" w="114681">
                <a:moveTo>
                  <a:pt x="0" y="40005"/>
                </a:moveTo>
                <a:cubicBezTo>
                  <a:pt x="15461" y="43870"/>
                  <a:pt x="31689" y="44196"/>
                  <a:pt x="47625" y="44196"/>
                </a:cubicBezTo>
                <a:cubicBezTo>
                  <a:pt x="55762" y="44196"/>
                  <a:pt x="64290" y="45626"/>
                  <a:pt x="72009" y="43053"/>
                </a:cubicBezTo>
                <a:cubicBezTo>
                  <a:pt x="79027" y="40714"/>
                  <a:pt x="84581" y="35176"/>
                  <a:pt x="90297" y="30480"/>
                </a:cubicBezTo>
                <a:cubicBezTo>
                  <a:pt x="100351" y="22221"/>
                  <a:pt x="110567" y="12343"/>
                  <a:pt x="11468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ot"/>
            <a:round/>
            <a:headEnd len="med" w="med" type="triangle"/>
            <a:tailEnd len="med" w="med" type="none"/>
          </a:ln>
        </p:spPr>
      </p:sp>
      <p:grpSp>
        <p:nvGrpSpPr>
          <p:cNvPr id="434" name="Google Shape;434;p32"/>
          <p:cNvGrpSpPr/>
          <p:nvPr/>
        </p:nvGrpSpPr>
        <p:grpSpPr>
          <a:xfrm>
            <a:off x="3987625" y="2414450"/>
            <a:ext cx="1071700" cy="1069650"/>
            <a:chOff x="3987625" y="2414450"/>
            <a:chExt cx="1071700" cy="1069650"/>
          </a:xfrm>
        </p:grpSpPr>
        <p:sp>
          <p:nvSpPr>
            <p:cNvPr id="435" name="Google Shape;435;p32"/>
            <p:cNvSpPr txBox="1"/>
            <p:nvPr/>
          </p:nvSpPr>
          <p:spPr>
            <a:xfrm>
              <a:off x="3987625" y="266515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6" name="Google Shape;436;p32"/>
            <p:cNvSpPr txBox="1"/>
            <p:nvPr/>
          </p:nvSpPr>
          <p:spPr>
            <a:xfrm>
              <a:off x="4729625" y="241445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b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7" name="Google Shape;437;p32"/>
            <p:cNvSpPr txBox="1"/>
            <p:nvPr/>
          </p:nvSpPr>
          <p:spPr>
            <a:xfrm>
              <a:off x="4358625" y="308390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38" name="Google Shape;438;p32"/>
          <p:cNvSpPr txBox="1"/>
          <p:nvPr/>
        </p:nvSpPr>
        <p:spPr>
          <a:xfrm>
            <a:off x="4076588" y="3601000"/>
            <a:ext cx="40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Por Pitágoras:    a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b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+c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4152900" y="4133850"/>
            <a:ext cx="40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constante, por más que rote la recta, disminuir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implica que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deberá aumentar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445" name="Google Shape;445;p33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446" name="Google Shape;446;p33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447" name="Google Shape;447;p33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448" name="Google Shape;448;p33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449" name="Google Shape;449;p33"/>
          <p:cNvCxnSpPr>
            <a:stCxn id="450" idx="4"/>
            <a:endCxn id="450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3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4" name="Google Shape;454;p33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7" name="Google Shape;457;p33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458" name="Google Shape;458;p33"/>
          <p:cNvGrpSpPr/>
          <p:nvPr/>
        </p:nvGrpSpPr>
        <p:grpSpPr>
          <a:xfrm>
            <a:off x="3257775" y="2475175"/>
            <a:ext cx="1385150" cy="2143975"/>
            <a:chOff x="3257775" y="2475175"/>
            <a:chExt cx="1385150" cy="2143975"/>
          </a:xfrm>
        </p:grpSpPr>
        <p:sp>
          <p:nvSpPr>
            <p:cNvPr id="459" name="Google Shape;459;p33"/>
            <p:cNvSpPr/>
            <p:nvPr/>
          </p:nvSpPr>
          <p:spPr>
            <a:xfrm>
              <a:off x="4421225" y="24751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3"/>
            <p:cNvSpPr/>
            <p:nvPr/>
          </p:nvSpPr>
          <p:spPr>
            <a:xfrm>
              <a:off x="4350300" y="26131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3"/>
            <p:cNvSpPr/>
            <p:nvPr/>
          </p:nvSpPr>
          <p:spPr>
            <a:xfrm>
              <a:off x="4155588" y="29136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3"/>
            <p:cNvSpPr/>
            <p:nvPr/>
          </p:nvSpPr>
          <p:spPr>
            <a:xfrm>
              <a:off x="3437025" y="41019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3"/>
            <p:cNvSpPr/>
            <p:nvPr/>
          </p:nvSpPr>
          <p:spPr>
            <a:xfrm>
              <a:off x="3296150" y="434472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3257775" y="43974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65" name="Google Shape;465;p33"/>
          <p:cNvCxnSpPr/>
          <p:nvPr/>
        </p:nvCxnSpPr>
        <p:spPr>
          <a:xfrm flipH="1" rot="10800000">
            <a:off x="3839350" y="2543225"/>
            <a:ext cx="556500" cy="880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66" name="Google Shape;466;p33"/>
          <p:cNvSpPr txBox="1"/>
          <p:nvPr/>
        </p:nvSpPr>
        <p:spPr>
          <a:xfrm>
            <a:off x="4018900" y="217515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d1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7" name="Google Shape;467;p33"/>
          <p:cNvCxnSpPr/>
          <p:nvPr/>
        </p:nvCxnSpPr>
        <p:spPr>
          <a:xfrm flipH="1" rot="10800000">
            <a:off x="3884775" y="2698100"/>
            <a:ext cx="504000" cy="786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8" name="Google Shape;468;p33"/>
          <p:cNvCxnSpPr/>
          <p:nvPr/>
        </p:nvCxnSpPr>
        <p:spPr>
          <a:xfrm flipH="1" rot="10800000">
            <a:off x="4043650" y="3091075"/>
            <a:ext cx="326100" cy="438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9" name="Google Shape;469;p33"/>
          <p:cNvCxnSpPr/>
          <p:nvPr/>
        </p:nvCxnSpPr>
        <p:spPr>
          <a:xfrm flipH="1" rot="10800000">
            <a:off x="3642100" y="3621050"/>
            <a:ext cx="450900" cy="6762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70" name="Google Shape;470;p33"/>
          <p:cNvCxnSpPr/>
          <p:nvPr/>
        </p:nvCxnSpPr>
        <p:spPr>
          <a:xfrm flipH="1" rot="10800000">
            <a:off x="3578725" y="3656200"/>
            <a:ext cx="612900" cy="96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71" name="Google Shape;471;p33"/>
          <p:cNvCxnSpPr/>
          <p:nvPr/>
        </p:nvCxnSpPr>
        <p:spPr>
          <a:xfrm flipH="1" rot="10800000">
            <a:off x="3257775" y="3529375"/>
            <a:ext cx="612900" cy="96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72" name="Google Shape;472;p33"/>
          <p:cNvSpPr txBox="1"/>
          <p:nvPr/>
        </p:nvSpPr>
        <p:spPr>
          <a:xfrm>
            <a:off x="3929800" y="247517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d2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4224925" y="330710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d3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3266500" y="362105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d4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4191625" y="366137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d5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" name="Google Shape;476;p33"/>
          <p:cNvSpPr txBox="1"/>
          <p:nvPr/>
        </p:nvSpPr>
        <p:spPr>
          <a:xfrm>
            <a:off x="3679750" y="425592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d6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4305400" y="1358238"/>
            <a:ext cx="24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d1 + d2 + d3 + d4 +d5 +d6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483" name="Google Shape;483;p34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484" name="Google Shape;484;p34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485" name="Google Shape;485;p34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486" name="Google Shape;486;p34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487" name="Google Shape;487;p34"/>
          <p:cNvCxnSpPr>
            <a:stCxn id="488" idx="4"/>
            <a:endCxn id="488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9" name="Google Shape;489;p34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2" name="Google Shape;492;p34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5" name="Google Shape;495;p34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496" name="Google Shape;496;p34"/>
          <p:cNvGrpSpPr/>
          <p:nvPr/>
        </p:nvGrpSpPr>
        <p:grpSpPr>
          <a:xfrm>
            <a:off x="3257775" y="2475175"/>
            <a:ext cx="1385150" cy="2143975"/>
            <a:chOff x="3257775" y="2475175"/>
            <a:chExt cx="1385150" cy="2143975"/>
          </a:xfrm>
        </p:grpSpPr>
        <p:sp>
          <p:nvSpPr>
            <p:cNvPr id="497" name="Google Shape;497;p34"/>
            <p:cNvSpPr/>
            <p:nvPr/>
          </p:nvSpPr>
          <p:spPr>
            <a:xfrm>
              <a:off x="4421225" y="24751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4350300" y="26131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4155588" y="29136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3437025" y="41019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3296150" y="434472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3257775" y="43974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03" name="Google Shape;503;p34"/>
          <p:cNvCxnSpPr/>
          <p:nvPr/>
        </p:nvCxnSpPr>
        <p:spPr>
          <a:xfrm flipH="1" rot="10800000">
            <a:off x="3839350" y="2543225"/>
            <a:ext cx="556500" cy="880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04" name="Google Shape;504;p34"/>
          <p:cNvSpPr txBox="1"/>
          <p:nvPr/>
        </p:nvSpPr>
        <p:spPr>
          <a:xfrm>
            <a:off x="4018900" y="217515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d1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5" name="Google Shape;505;p34"/>
          <p:cNvCxnSpPr/>
          <p:nvPr/>
        </p:nvCxnSpPr>
        <p:spPr>
          <a:xfrm flipH="1" rot="10800000">
            <a:off x="3884775" y="2698100"/>
            <a:ext cx="504000" cy="786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6" name="Google Shape;506;p34"/>
          <p:cNvCxnSpPr/>
          <p:nvPr/>
        </p:nvCxnSpPr>
        <p:spPr>
          <a:xfrm flipH="1" rot="10800000">
            <a:off x="4043650" y="3091075"/>
            <a:ext cx="326100" cy="438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7" name="Google Shape;507;p34"/>
          <p:cNvCxnSpPr/>
          <p:nvPr/>
        </p:nvCxnSpPr>
        <p:spPr>
          <a:xfrm flipH="1" rot="10800000">
            <a:off x="3642100" y="3621050"/>
            <a:ext cx="450900" cy="6762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8" name="Google Shape;508;p34"/>
          <p:cNvCxnSpPr/>
          <p:nvPr/>
        </p:nvCxnSpPr>
        <p:spPr>
          <a:xfrm flipH="1" rot="10800000">
            <a:off x="3578725" y="3656200"/>
            <a:ext cx="612900" cy="96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9" name="Google Shape;509;p34"/>
          <p:cNvCxnSpPr/>
          <p:nvPr/>
        </p:nvCxnSpPr>
        <p:spPr>
          <a:xfrm flipH="1" rot="10800000">
            <a:off x="3257775" y="3529375"/>
            <a:ext cx="612900" cy="96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10" name="Google Shape;510;p34"/>
          <p:cNvSpPr txBox="1"/>
          <p:nvPr/>
        </p:nvSpPr>
        <p:spPr>
          <a:xfrm>
            <a:off x="3929800" y="247517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d2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1" name="Google Shape;511;p34"/>
          <p:cNvSpPr txBox="1"/>
          <p:nvPr/>
        </p:nvSpPr>
        <p:spPr>
          <a:xfrm>
            <a:off x="4224925" y="330710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d3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" name="Google Shape;512;p34"/>
          <p:cNvSpPr txBox="1"/>
          <p:nvPr/>
        </p:nvSpPr>
        <p:spPr>
          <a:xfrm>
            <a:off x="3266500" y="362105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d4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4191625" y="366137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d5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" name="Google Shape;514;p34"/>
          <p:cNvSpPr txBox="1"/>
          <p:nvPr/>
        </p:nvSpPr>
        <p:spPr>
          <a:xfrm>
            <a:off x="3679750" y="425592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d6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" name="Google Shape;515;p34"/>
          <p:cNvSpPr txBox="1"/>
          <p:nvPr/>
        </p:nvSpPr>
        <p:spPr>
          <a:xfrm>
            <a:off x="3257775" y="1358238"/>
            <a:ext cx="57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d2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d3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+d5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+d6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= suma de distancias cuadradas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" name="Google Shape;516;p34"/>
          <p:cNvSpPr txBox="1"/>
          <p:nvPr/>
        </p:nvSpPr>
        <p:spPr>
          <a:xfrm>
            <a:off x="5952750" y="1859575"/>
            <a:ext cx="30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valor es el que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maximiza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PCA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Volviendo a la recta ya ajustada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527" name="Google Shape;527;p36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528" name="Google Shape;528;p36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529" name="Google Shape;529;p36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530" name="Google Shape;530;p36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531" name="Google Shape;531;p36"/>
          <p:cNvCxnSpPr>
            <a:stCxn id="532" idx="4"/>
            <a:endCxn id="532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33" name="Google Shape;533;p36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6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35" name="Google Shape;535;p36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36" name="Google Shape;536;p36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6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9" name="Google Shape;539;p36"/>
          <p:cNvCxnSpPr/>
          <p:nvPr/>
        </p:nvCxnSpPr>
        <p:spPr>
          <a:xfrm flipH="1" rot="10800000">
            <a:off x="2336425" y="2740350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0" name="Google Shape;540;p36"/>
          <p:cNvSpPr txBox="1"/>
          <p:nvPr/>
        </p:nvSpPr>
        <p:spPr>
          <a:xfrm>
            <a:off x="5896400" y="1710500"/>
            <a:ext cx="292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línea se llama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componente principal 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" name="Google Shape;541;p36"/>
          <p:cNvSpPr txBox="1"/>
          <p:nvPr/>
        </p:nvSpPr>
        <p:spPr>
          <a:xfrm>
            <a:off x="429725" y="1916150"/>
            <a:ext cx="24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pendiente de PC1 es 0,25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4047350" y="3503850"/>
            <a:ext cx="908700" cy="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6"/>
          <p:cNvSpPr/>
          <p:nvPr/>
        </p:nvSpPr>
        <p:spPr>
          <a:xfrm rot="-5400000">
            <a:off x="4828575" y="3334350"/>
            <a:ext cx="434100" cy="5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6"/>
          <p:cNvSpPr txBox="1"/>
          <p:nvPr/>
        </p:nvSpPr>
        <p:spPr>
          <a:xfrm>
            <a:off x="429725" y="2341900"/>
            <a:ext cx="266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otras palabras, cada 4 unidades que avanzamos sobre el eje: árboles, nos movemos 1 unidad en el eje RNA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36"/>
          <p:cNvSpPr/>
          <p:nvPr/>
        </p:nvSpPr>
        <p:spPr>
          <a:xfrm>
            <a:off x="2197950" y="3394950"/>
            <a:ext cx="3656100" cy="295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6"/>
          <p:cNvSpPr txBox="1"/>
          <p:nvPr/>
        </p:nvSpPr>
        <p:spPr>
          <a:xfrm>
            <a:off x="4466325" y="3943475"/>
            <a:ext cx="405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Eso quiere decir que los datos están mucho más dispersos sobre el eje X (árboles) que sobre el eje Y (RNA)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7" name="Google Shape;547;p36"/>
          <p:cNvGrpSpPr/>
          <p:nvPr/>
        </p:nvGrpSpPr>
        <p:grpSpPr>
          <a:xfrm>
            <a:off x="119750" y="2961500"/>
            <a:ext cx="4001475" cy="2109500"/>
            <a:chOff x="119750" y="2961500"/>
            <a:chExt cx="4001475" cy="2109500"/>
          </a:xfrm>
        </p:grpSpPr>
        <p:sp>
          <p:nvSpPr>
            <p:cNvPr id="548" name="Google Shape;548;p36"/>
            <p:cNvSpPr/>
            <p:nvPr/>
          </p:nvSpPr>
          <p:spPr>
            <a:xfrm rot="5400000">
              <a:off x="3451025" y="3336500"/>
              <a:ext cx="1045200" cy="295200"/>
            </a:xfrm>
            <a:prstGeom prst="leftRightArrow">
              <a:avLst>
                <a:gd fmla="val 31030" name="adj1"/>
                <a:gd fmla="val 50000" name="adj2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6"/>
            <p:cNvSpPr txBox="1"/>
            <p:nvPr/>
          </p:nvSpPr>
          <p:spPr>
            <a:xfrm>
              <a:off x="119750" y="4455400"/>
              <a:ext cx="3360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Sobre el eje RNA, la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dispersión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existe pero es menor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7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555" name="Google Shape;555;p37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556" name="Google Shape;556;p37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557" name="Google Shape;557;p37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558" name="Google Shape;558;p37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559" name="Google Shape;559;p37"/>
          <p:cNvCxnSpPr>
            <a:stCxn id="560" idx="4"/>
            <a:endCxn id="560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561" name="Google Shape;561;p37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562" name="Google Shape;562;p37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68" name="Google Shape;568;p37"/>
          <p:cNvCxnSpPr/>
          <p:nvPr/>
        </p:nvCxnSpPr>
        <p:spPr>
          <a:xfrm flipH="1" rot="10800000">
            <a:off x="2336425" y="2740350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9" name="Google Shape;569;p37"/>
          <p:cNvSpPr txBox="1"/>
          <p:nvPr/>
        </p:nvSpPr>
        <p:spPr>
          <a:xfrm>
            <a:off x="211325" y="1643250"/>
            <a:ext cx="340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una mezcla de los ejes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RNA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árboles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(en una relación de 1 árbol cada 4 RNA), se la llama: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combinación lineal de variables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37"/>
          <p:cNvSpPr/>
          <p:nvPr/>
        </p:nvSpPr>
        <p:spPr>
          <a:xfrm rot="-5400000">
            <a:off x="4959025" y="3265800"/>
            <a:ext cx="434100" cy="5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7"/>
          <p:cNvSpPr/>
          <p:nvPr/>
        </p:nvSpPr>
        <p:spPr>
          <a:xfrm>
            <a:off x="3987625" y="3512700"/>
            <a:ext cx="1218300" cy="5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7"/>
          <p:cNvSpPr txBox="1"/>
          <p:nvPr/>
        </p:nvSpPr>
        <p:spPr>
          <a:xfrm>
            <a:off x="4121150" y="2911375"/>
            <a:ext cx="108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4.12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73" name="Google Shape;573;p37"/>
          <p:cNvGrpSpPr/>
          <p:nvPr/>
        </p:nvGrpSpPr>
        <p:grpSpPr>
          <a:xfrm>
            <a:off x="4121150" y="3001025"/>
            <a:ext cx="2172388" cy="1000175"/>
            <a:chOff x="4121150" y="3001025"/>
            <a:chExt cx="2172388" cy="1000175"/>
          </a:xfrm>
        </p:grpSpPr>
        <p:sp>
          <p:nvSpPr>
            <p:cNvPr id="574" name="Google Shape;574;p37"/>
            <p:cNvSpPr txBox="1"/>
            <p:nvPr/>
          </p:nvSpPr>
          <p:spPr>
            <a:xfrm>
              <a:off x="4313125" y="3601000"/>
              <a:ext cx="83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b=4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5" name="Google Shape;575;p37"/>
            <p:cNvSpPr txBox="1"/>
            <p:nvPr/>
          </p:nvSpPr>
          <p:spPr>
            <a:xfrm>
              <a:off x="5199138" y="3172200"/>
              <a:ext cx="1094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c=1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6" name="Google Shape;576;p37"/>
            <p:cNvSpPr txBox="1"/>
            <p:nvPr/>
          </p:nvSpPr>
          <p:spPr>
            <a:xfrm>
              <a:off x="4121150" y="3001025"/>
              <a:ext cx="26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77" name="Google Shape;577;p37"/>
          <p:cNvSpPr txBox="1"/>
          <p:nvPr/>
        </p:nvSpPr>
        <p:spPr>
          <a:xfrm>
            <a:off x="4280350" y="4001200"/>
            <a:ext cx="40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 = √16 +1    = 4.12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78" name="Google Shape;578;p37"/>
          <p:cNvGrpSpPr/>
          <p:nvPr/>
        </p:nvGrpSpPr>
        <p:grpSpPr>
          <a:xfrm>
            <a:off x="4280350" y="1728775"/>
            <a:ext cx="4539600" cy="1182600"/>
            <a:chOff x="4280350" y="1728775"/>
            <a:chExt cx="4539600" cy="1182600"/>
          </a:xfrm>
        </p:grpSpPr>
        <p:sp>
          <p:nvSpPr>
            <p:cNvPr id="579" name="Google Shape;579;p37"/>
            <p:cNvSpPr txBox="1"/>
            <p:nvPr/>
          </p:nvSpPr>
          <p:spPr>
            <a:xfrm>
              <a:off x="4280350" y="1728775"/>
              <a:ext cx="4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Cuando se combina PCA con </a:t>
              </a: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SVD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 esta longitud se escala para que sea igual a 1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580" name="Google Shape;580;p37"/>
            <p:cNvCxnSpPr>
              <a:stCxn id="579" idx="2"/>
              <a:endCxn id="572" idx="0"/>
            </p:cNvCxnSpPr>
            <p:nvPr/>
          </p:nvCxnSpPr>
          <p:spPr>
            <a:xfrm flipH="1">
              <a:off x="4663450" y="2344375"/>
              <a:ext cx="1886700" cy="56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81" name="Google Shape;581;p37"/>
          <p:cNvSpPr txBox="1"/>
          <p:nvPr/>
        </p:nvSpPr>
        <p:spPr>
          <a:xfrm>
            <a:off x="4938325" y="4649500"/>
            <a:ext cx="40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SVD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Singular Value Decomposition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8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587" name="Google Shape;587;p38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588" name="Google Shape;588;p38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589" name="Google Shape;589;p38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590" name="Google Shape;590;p38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591" name="Google Shape;591;p38"/>
          <p:cNvCxnSpPr>
            <a:stCxn id="592" idx="4"/>
            <a:endCxn id="592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38"/>
          <p:cNvCxnSpPr/>
          <p:nvPr/>
        </p:nvCxnSpPr>
        <p:spPr>
          <a:xfrm flipH="1" rot="10800000">
            <a:off x="2336425" y="2740350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4" name="Google Shape;594;p38"/>
          <p:cNvSpPr txBox="1"/>
          <p:nvPr/>
        </p:nvSpPr>
        <p:spPr>
          <a:xfrm>
            <a:off x="211325" y="1643250"/>
            <a:ext cx="340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aplicar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SVD,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dividimos todo por 4.12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95" name="Google Shape;595;p38"/>
          <p:cNvGrpSpPr/>
          <p:nvPr/>
        </p:nvGrpSpPr>
        <p:grpSpPr>
          <a:xfrm>
            <a:off x="3987625" y="3078600"/>
            <a:ext cx="1218300" cy="493800"/>
            <a:chOff x="3987625" y="3078600"/>
            <a:chExt cx="1218300" cy="493800"/>
          </a:xfrm>
        </p:grpSpPr>
        <p:sp>
          <p:nvSpPr>
            <p:cNvPr id="596" name="Google Shape;596;p38"/>
            <p:cNvSpPr/>
            <p:nvPr/>
          </p:nvSpPr>
          <p:spPr>
            <a:xfrm rot="-5400000">
              <a:off x="4959025" y="3265800"/>
              <a:ext cx="434100" cy="59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3987625" y="3512700"/>
              <a:ext cx="1218300" cy="59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38"/>
          <p:cNvGrpSpPr/>
          <p:nvPr/>
        </p:nvGrpSpPr>
        <p:grpSpPr>
          <a:xfrm>
            <a:off x="4121150" y="2571750"/>
            <a:ext cx="3008210" cy="1429450"/>
            <a:chOff x="4121150" y="2571750"/>
            <a:chExt cx="3008210" cy="1429450"/>
          </a:xfrm>
        </p:grpSpPr>
        <p:sp>
          <p:nvSpPr>
            <p:cNvPr id="599" name="Google Shape;599;p38"/>
            <p:cNvSpPr txBox="1"/>
            <p:nvPr/>
          </p:nvSpPr>
          <p:spPr>
            <a:xfrm>
              <a:off x="4313125" y="3601000"/>
              <a:ext cx="1766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b=4/ 4.12 = </a:t>
              </a: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0.97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0" name="Google Shape;600;p38"/>
            <p:cNvSpPr txBox="1"/>
            <p:nvPr/>
          </p:nvSpPr>
          <p:spPr>
            <a:xfrm>
              <a:off x="5199160" y="3172200"/>
              <a:ext cx="193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c=1 / 4.12=</a:t>
              </a: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 0.241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1" name="Google Shape;601;p38"/>
            <p:cNvSpPr txBox="1"/>
            <p:nvPr/>
          </p:nvSpPr>
          <p:spPr>
            <a:xfrm>
              <a:off x="4121150" y="2571750"/>
              <a:ext cx="205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Lato"/>
                  <a:ea typeface="Lato"/>
                  <a:cs typeface="Lato"/>
                  <a:sym typeface="Lato"/>
                </a:rPr>
                <a:t>a</a:t>
              </a:r>
              <a:r>
                <a:rPr lang="en" sz="1200">
                  <a:latin typeface="Lato"/>
                  <a:ea typeface="Lato"/>
                  <a:cs typeface="Lato"/>
                  <a:sym typeface="Lato"/>
                </a:rPr>
                <a:t>= 4.12 /4.12 =</a:t>
              </a:r>
              <a:r>
                <a:rPr b="1" lang="en" sz="1200">
                  <a:latin typeface="Lato"/>
                  <a:ea typeface="Lato"/>
                  <a:cs typeface="Lato"/>
                  <a:sym typeface="Lato"/>
                </a:rPr>
                <a:t>1</a:t>
              </a:r>
              <a:endParaRPr b="1" sz="12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602" name="Google Shape;602;p38"/>
          <p:cNvSpPr txBox="1"/>
          <p:nvPr/>
        </p:nvSpPr>
        <p:spPr>
          <a:xfrm>
            <a:off x="4280350" y="4001200"/>
            <a:ext cx="40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 = √16 +1    = 4.12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03" name="Google Shape;603;p38"/>
          <p:cNvGrpSpPr/>
          <p:nvPr/>
        </p:nvGrpSpPr>
        <p:grpSpPr>
          <a:xfrm>
            <a:off x="331100" y="2028875"/>
            <a:ext cx="4081925" cy="1543516"/>
            <a:chOff x="331100" y="2028875"/>
            <a:chExt cx="4081925" cy="1543516"/>
          </a:xfrm>
        </p:grpSpPr>
        <p:sp>
          <p:nvSpPr>
            <p:cNvPr id="604" name="Google Shape;604;p38"/>
            <p:cNvSpPr/>
            <p:nvPr/>
          </p:nvSpPr>
          <p:spPr>
            <a:xfrm rot="-1471409">
              <a:off x="3985661" y="3403879"/>
              <a:ext cx="429329" cy="8322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8"/>
            <p:cNvSpPr txBox="1"/>
            <p:nvPr/>
          </p:nvSpPr>
          <p:spPr>
            <a:xfrm>
              <a:off x="331100" y="2028875"/>
              <a:ext cx="35229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Este vector, de longitud 1, que sigue teniendo la misma pendiente de la recta calculada se llama “</a:t>
              </a:r>
              <a:r>
                <a:rPr i="1" lang="en">
                  <a:latin typeface="Lato"/>
                  <a:ea typeface="Lato"/>
                  <a:cs typeface="Lato"/>
                  <a:sym typeface="Lato"/>
                </a:rPr>
                <a:t>Singular Vector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” o </a:t>
              </a: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autovector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606" name="Google Shape;606;p38"/>
            <p:cNvCxnSpPr>
              <a:stCxn id="605" idx="2"/>
              <a:endCxn id="604" idx="1"/>
            </p:cNvCxnSpPr>
            <p:nvPr/>
          </p:nvCxnSpPr>
          <p:spPr>
            <a:xfrm>
              <a:off x="2092550" y="3075575"/>
              <a:ext cx="1912500" cy="45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9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612" name="Google Shape;612;p39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613" name="Google Shape;613;p39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614" name="Google Shape;614;p39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615" name="Google Shape;615;p39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616" name="Google Shape;616;p39"/>
          <p:cNvCxnSpPr>
            <a:stCxn id="617" idx="4"/>
            <a:endCxn id="617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9"/>
          <p:cNvCxnSpPr/>
          <p:nvPr/>
        </p:nvCxnSpPr>
        <p:spPr>
          <a:xfrm flipH="1" rot="10800000">
            <a:off x="2315275" y="2719225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9" name="Google Shape;619;p39"/>
          <p:cNvSpPr/>
          <p:nvPr/>
        </p:nvSpPr>
        <p:spPr>
          <a:xfrm rot="-1471409">
            <a:off x="3996161" y="3403404"/>
            <a:ext cx="429329" cy="832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0" name="Google Shape;620;p39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621" name="Google Shape;621;p39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24" name="Google Shape;624;p39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9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9"/>
          <p:cNvSpPr txBox="1"/>
          <p:nvPr/>
        </p:nvSpPr>
        <p:spPr>
          <a:xfrm>
            <a:off x="150175" y="1580000"/>
            <a:ext cx="405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Las proporciones de cada eje (RNA y árboles)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Son llamadas: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Loading Scores</a:t>
            </a:r>
            <a:endParaRPr b="1" i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0,97 árboles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0.242 RNA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" name="Google Shape;628;p39"/>
          <p:cNvSpPr txBox="1"/>
          <p:nvPr/>
        </p:nvSpPr>
        <p:spPr>
          <a:xfrm>
            <a:off x="4452250" y="1542775"/>
            <a:ext cx="405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 las distancias al cuadrado que calculamos antes: 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d1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d2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d3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+d5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+d6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llaman </a:t>
            </a:r>
            <a:r>
              <a:rPr b="1" lang="en"/>
              <a:t>autovalores de PC1</a:t>
            </a:r>
            <a:br>
              <a:rPr b="1" lang="en">
                <a:latin typeface="Lato"/>
                <a:ea typeface="Lato"/>
                <a:cs typeface="Lato"/>
                <a:sym typeface="Lato"/>
              </a:rPr>
            </a:b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0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634" name="Google Shape;634;p40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635" name="Google Shape;635;p40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636" name="Google Shape;636;p40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637" name="Google Shape;637;p40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638" name="Google Shape;638;p40"/>
          <p:cNvCxnSpPr>
            <a:stCxn id="639" idx="4"/>
            <a:endCxn id="639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40"/>
          <p:cNvCxnSpPr/>
          <p:nvPr/>
        </p:nvCxnSpPr>
        <p:spPr>
          <a:xfrm flipH="1" rot="10800000">
            <a:off x="2315275" y="2719225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1" name="Google Shape;641;p40"/>
          <p:cNvSpPr/>
          <p:nvPr/>
        </p:nvSpPr>
        <p:spPr>
          <a:xfrm rot="-1471409">
            <a:off x="3996161" y="3403404"/>
            <a:ext cx="429329" cy="832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2" name="Google Shape;642;p40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643" name="Google Shape;643;p40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9" name="Google Shape;649;p40"/>
          <p:cNvSpPr txBox="1"/>
          <p:nvPr/>
        </p:nvSpPr>
        <p:spPr>
          <a:xfrm>
            <a:off x="150175" y="1580000"/>
            <a:ext cx="281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Ahora tenemos que calcular PC2, como estamos en 2D, solo hay una posibilidad: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Solo una recta pasa por el origen y es perpendicular a PC1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0" name="Google Shape;650;p40"/>
          <p:cNvCxnSpPr/>
          <p:nvPr/>
        </p:nvCxnSpPr>
        <p:spPr>
          <a:xfrm>
            <a:off x="3295825" y="2332350"/>
            <a:ext cx="1397400" cy="2420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1" name="Google Shape;651;p40"/>
          <p:cNvSpPr txBox="1"/>
          <p:nvPr/>
        </p:nvSpPr>
        <p:spPr>
          <a:xfrm>
            <a:off x="5304650" y="1415975"/>
            <a:ext cx="32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-1 árboles y 4 RNA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2" name="Google Shape;652;p40"/>
          <p:cNvCxnSpPr>
            <a:stCxn id="651" idx="1"/>
          </p:cNvCxnSpPr>
          <p:nvPr/>
        </p:nvCxnSpPr>
        <p:spPr>
          <a:xfrm flipH="1">
            <a:off x="3740750" y="1616075"/>
            <a:ext cx="1563900" cy="13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3" name="Google Shape;653;p40"/>
          <p:cNvSpPr txBox="1"/>
          <p:nvPr/>
        </p:nvSpPr>
        <p:spPr>
          <a:xfrm>
            <a:off x="5398750" y="1716750"/>
            <a:ext cx="210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Normalizamos este vector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4" name="Google Shape;654;p40"/>
          <p:cNvSpPr/>
          <p:nvPr/>
        </p:nvSpPr>
        <p:spPr>
          <a:xfrm rot="-7187374">
            <a:off x="3668723" y="3323163"/>
            <a:ext cx="429334" cy="832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0"/>
          <p:cNvSpPr txBox="1"/>
          <p:nvPr/>
        </p:nvSpPr>
        <p:spPr>
          <a:xfrm>
            <a:off x="5238125" y="3954375"/>
            <a:ext cx="3240600" cy="615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vector es el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Singular Vector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 PC2 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autovector de PC2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1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661" name="Google Shape;661;p41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662" name="Google Shape;662;p41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663" name="Google Shape;663;p41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664" name="Google Shape;664;p41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665" name="Google Shape;665;p41"/>
          <p:cNvCxnSpPr>
            <a:stCxn id="666" idx="4"/>
            <a:endCxn id="666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1"/>
          <p:cNvCxnSpPr/>
          <p:nvPr/>
        </p:nvCxnSpPr>
        <p:spPr>
          <a:xfrm flipH="1" rot="10800000">
            <a:off x="2315275" y="2719225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68" name="Google Shape;668;p41"/>
          <p:cNvSpPr/>
          <p:nvPr/>
        </p:nvSpPr>
        <p:spPr>
          <a:xfrm rot="-1471409">
            <a:off x="3996161" y="3403404"/>
            <a:ext cx="429329" cy="832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9" name="Google Shape;669;p41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670" name="Google Shape;670;p41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1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72" name="Google Shape;672;p41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73" name="Google Shape;673;p41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1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1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6" name="Google Shape;676;p41"/>
          <p:cNvSpPr txBox="1"/>
          <p:nvPr/>
        </p:nvSpPr>
        <p:spPr>
          <a:xfrm>
            <a:off x="150175" y="1580000"/>
            <a:ext cx="281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autovector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PC2 es la suma de las distancias cuadradas de los puntos proyectados sobre la recta PC2: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d2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d3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+d5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+d6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7" name="Google Shape;677;p41"/>
          <p:cNvCxnSpPr/>
          <p:nvPr/>
        </p:nvCxnSpPr>
        <p:spPr>
          <a:xfrm>
            <a:off x="3295825" y="2332350"/>
            <a:ext cx="1397400" cy="2420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8" name="Google Shape;678;p41"/>
          <p:cNvSpPr/>
          <p:nvPr/>
        </p:nvSpPr>
        <p:spPr>
          <a:xfrm rot="-7187374">
            <a:off x="3668723" y="3323163"/>
            <a:ext cx="429334" cy="832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9" name="Google Shape;679;p41"/>
          <p:cNvCxnSpPr>
            <a:stCxn id="675" idx="3"/>
          </p:cNvCxnSpPr>
          <p:nvPr/>
        </p:nvCxnSpPr>
        <p:spPr>
          <a:xfrm flipH="1">
            <a:off x="4177437" y="3280129"/>
            <a:ext cx="1028700" cy="5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680" name="Google Shape;680;p41"/>
          <p:cNvSpPr/>
          <p:nvPr/>
        </p:nvSpPr>
        <p:spPr>
          <a:xfrm>
            <a:off x="4071825" y="3658050"/>
            <a:ext cx="140700" cy="253800"/>
          </a:xfrm>
          <a:prstGeom prst="mathMultiply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1" name="Google Shape;681;p41"/>
          <p:cNvCxnSpPr>
            <a:endCxn id="680" idx="3"/>
          </p:cNvCxnSpPr>
          <p:nvPr/>
        </p:nvCxnSpPr>
        <p:spPr>
          <a:xfrm>
            <a:off x="3967318" y="3623494"/>
            <a:ext cx="138300" cy="2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82" name="Google Shape;682;p41"/>
          <p:cNvSpPr txBox="1"/>
          <p:nvPr/>
        </p:nvSpPr>
        <p:spPr>
          <a:xfrm>
            <a:off x="3710150" y="369365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d6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2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688" name="Google Shape;688;p42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689" name="Google Shape;689;p42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690" name="Google Shape;690;p42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691" name="Google Shape;691;p42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692" name="Google Shape;692;p42"/>
          <p:cNvCxnSpPr>
            <a:stCxn id="693" idx="4"/>
            <a:endCxn id="693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2"/>
          <p:cNvCxnSpPr/>
          <p:nvPr/>
        </p:nvCxnSpPr>
        <p:spPr>
          <a:xfrm flipH="1" rot="10800000">
            <a:off x="2315275" y="2719225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5" name="Google Shape;695;p42"/>
          <p:cNvSpPr txBox="1"/>
          <p:nvPr/>
        </p:nvSpPr>
        <p:spPr>
          <a:xfrm>
            <a:off x="150175" y="1580000"/>
            <a:ext cx="300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graficar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final de PCA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Proyectamos cada punto sobre el eje PC2 y PC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6" name="Google Shape;696;p42"/>
          <p:cNvCxnSpPr/>
          <p:nvPr/>
        </p:nvCxnSpPr>
        <p:spPr>
          <a:xfrm>
            <a:off x="3295825" y="2332350"/>
            <a:ext cx="1397400" cy="2420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697" name="Google Shape;697;p42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698" name="Google Shape;698;p42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4" name="Google Shape;704;p42"/>
          <p:cNvGrpSpPr/>
          <p:nvPr/>
        </p:nvGrpSpPr>
        <p:grpSpPr>
          <a:xfrm>
            <a:off x="3784850" y="3159775"/>
            <a:ext cx="427675" cy="752075"/>
            <a:chOff x="3784850" y="3159775"/>
            <a:chExt cx="427675" cy="752075"/>
          </a:xfrm>
        </p:grpSpPr>
        <p:sp>
          <p:nvSpPr>
            <p:cNvPr id="705" name="Google Shape;705;p42"/>
            <p:cNvSpPr/>
            <p:nvPr/>
          </p:nvSpPr>
          <p:spPr>
            <a:xfrm>
              <a:off x="4071825" y="36580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2"/>
            <p:cNvSpPr/>
            <p:nvPr/>
          </p:nvSpPr>
          <p:spPr>
            <a:xfrm>
              <a:off x="3884775" y="32887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2"/>
            <p:cNvSpPr/>
            <p:nvPr/>
          </p:nvSpPr>
          <p:spPr>
            <a:xfrm>
              <a:off x="3784850" y="3159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2"/>
            <p:cNvSpPr/>
            <p:nvPr/>
          </p:nvSpPr>
          <p:spPr>
            <a:xfrm>
              <a:off x="3924175" y="34156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2"/>
            <p:cNvSpPr/>
            <p:nvPr/>
          </p:nvSpPr>
          <p:spPr>
            <a:xfrm>
              <a:off x="4071825" y="36003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2"/>
            <p:cNvSpPr/>
            <p:nvPr/>
          </p:nvSpPr>
          <p:spPr>
            <a:xfrm>
              <a:off x="3917275" y="33572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42"/>
          <p:cNvGrpSpPr/>
          <p:nvPr/>
        </p:nvGrpSpPr>
        <p:grpSpPr>
          <a:xfrm>
            <a:off x="2690700" y="2829375"/>
            <a:ext cx="2617200" cy="1439650"/>
            <a:chOff x="2690700" y="2829375"/>
            <a:chExt cx="2617200" cy="1439650"/>
          </a:xfrm>
        </p:grpSpPr>
        <p:sp>
          <p:nvSpPr>
            <p:cNvPr id="712" name="Google Shape;712;p42"/>
            <p:cNvSpPr/>
            <p:nvPr/>
          </p:nvSpPr>
          <p:spPr>
            <a:xfrm>
              <a:off x="2690700" y="401522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2"/>
            <p:cNvSpPr/>
            <p:nvPr/>
          </p:nvSpPr>
          <p:spPr>
            <a:xfrm>
              <a:off x="3062175" y="382472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2"/>
            <p:cNvSpPr/>
            <p:nvPr/>
          </p:nvSpPr>
          <p:spPr>
            <a:xfrm>
              <a:off x="2852625" y="3943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2"/>
            <p:cNvSpPr/>
            <p:nvPr/>
          </p:nvSpPr>
          <p:spPr>
            <a:xfrm>
              <a:off x="4552525" y="3159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2"/>
            <p:cNvSpPr/>
            <p:nvPr/>
          </p:nvSpPr>
          <p:spPr>
            <a:xfrm>
              <a:off x="4952900" y="29389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2"/>
            <p:cNvSpPr/>
            <p:nvPr/>
          </p:nvSpPr>
          <p:spPr>
            <a:xfrm>
              <a:off x="5167200" y="28293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723" name="Google Shape;723;p43"/>
          <p:cNvSpPr txBox="1"/>
          <p:nvPr/>
        </p:nvSpPr>
        <p:spPr>
          <a:xfrm>
            <a:off x="150175" y="1580000"/>
            <a:ext cx="300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Rotamos los ejes, dejando a PC1, horizontal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24" name="Google Shape;724;p43"/>
          <p:cNvGrpSpPr/>
          <p:nvPr/>
        </p:nvGrpSpPr>
        <p:grpSpPr>
          <a:xfrm>
            <a:off x="2315275" y="2063064"/>
            <a:ext cx="4455294" cy="2689686"/>
            <a:chOff x="2315275" y="2063064"/>
            <a:chExt cx="4455294" cy="2689686"/>
          </a:xfrm>
        </p:grpSpPr>
        <p:sp>
          <p:nvSpPr>
            <p:cNvPr id="725" name="Google Shape;725;p43"/>
            <p:cNvSpPr txBox="1"/>
            <p:nvPr/>
          </p:nvSpPr>
          <p:spPr>
            <a:xfrm rot="-1540738">
              <a:off x="2687907" y="2165084"/>
              <a:ext cx="555237" cy="369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PC2</a:t>
              </a:r>
              <a:endParaRPr/>
            </a:p>
          </p:txBody>
        </p:sp>
        <p:cxnSp>
          <p:nvCxnSpPr>
            <p:cNvPr id="726" name="Google Shape;726;p43"/>
            <p:cNvCxnSpPr>
              <a:stCxn id="727" idx="4"/>
              <a:endCxn id="727" idx="4"/>
            </p:cNvCxnSpPr>
            <p:nvPr/>
          </p:nvCxnSpPr>
          <p:spPr>
            <a:xfrm>
              <a:off x="4501700" y="348408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43"/>
            <p:cNvCxnSpPr/>
            <p:nvPr/>
          </p:nvCxnSpPr>
          <p:spPr>
            <a:xfrm flipH="1" rot="10800000">
              <a:off x="2315275" y="2719225"/>
              <a:ext cx="3468300" cy="1642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43"/>
            <p:cNvCxnSpPr/>
            <p:nvPr/>
          </p:nvCxnSpPr>
          <p:spPr>
            <a:xfrm>
              <a:off x="3295825" y="2332350"/>
              <a:ext cx="1397400" cy="24204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730" name="Google Shape;730;p43"/>
            <p:cNvGrpSpPr/>
            <p:nvPr/>
          </p:nvGrpSpPr>
          <p:grpSpPr>
            <a:xfrm>
              <a:off x="3784850" y="3159775"/>
              <a:ext cx="427675" cy="752075"/>
              <a:chOff x="3784850" y="3159775"/>
              <a:chExt cx="427675" cy="752075"/>
            </a:xfrm>
          </p:grpSpPr>
          <p:sp>
            <p:nvSpPr>
              <p:cNvPr id="731" name="Google Shape;731;p43"/>
              <p:cNvSpPr/>
              <p:nvPr/>
            </p:nvSpPr>
            <p:spPr>
              <a:xfrm>
                <a:off x="4071825" y="36580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43"/>
              <p:cNvSpPr/>
              <p:nvPr/>
            </p:nvSpPr>
            <p:spPr>
              <a:xfrm>
                <a:off x="3884775" y="32887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43"/>
              <p:cNvSpPr/>
              <p:nvPr/>
            </p:nvSpPr>
            <p:spPr>
              <a:xfrm>
                <a:off x="3784850" y="3159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43"/>
              <p:cNvSpPr/>
              <p:nvPr/>
            </p:nvSpPr>
            <p:spPr>
              <a:xfrm>
                <a:off x="3924175" y="34156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43"/>
              <p:cNvSpPr/>
              <p:nvPr/>
            </p:nvSpPr>
            <p:spPr>
              <a:xfrm>
                <a:off x="4071825" y="36003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43"/>
              <p:cNvSpPr/>
              <p:nvPr/>
            </p:nvSpPr>
            <p:spPr>
              <a:xfrm>
                <a:off x="3917275" y="33572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43"/>
            <p:cNvGrpSpPr/>
            <p:nvPr/>
          </p:nvGrpSpPr>
          <p:grpSpPr>
            <a:xfrm>
              <a:off x="2690700" y="2829375"/>
              <a:ext cx="2617200" cy="1439650"/>
              <a:chOff x="2690700" y="2829375"/>
              <a:chExt cx="2617200" cy="1439650"/>
            </a:xfrm>
          </p:grpSpPr>
          <p:sp>
            <p:nvSpPr>
              <p:cNvPr id="738" name="Google Shape;738;p43"/>
              <p:cNvSpPr/>
              <p:nvPr/>
            </p:nvSpPr>
            <p:spPr>
              <a:xfrm>
                <a:off x="2690700" y="401522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43"/>
              <p:cNvSpPr/>
              <p:nvPr/>
            </p:nvSpPr>
            <p:spPr>
              <a:xfrm>
                <a:off x="3062175" y="382472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43"/>
              <p:cNvSpPr/>
              <p:nvPr/>
            </p:nvSpPr>
            <p:spPr>
              <a:xfrm>
                <a:off x="2852625" y="3943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43"/>
              <p:cNvSpPr/>
              <p:nvPr/>
            </p:nvSpPr>
            <p:spPr>
              <a:xfrm>
                <a:off x="4552525" y="3159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43"/>
              <p:cNvSpPr/>
              <p:nvPr/>
            </p:nvSpPr>
            <p:spPr>
              <a:xfrm>
                <a:off x="4952900" y="29389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43"/>
              <p:cNvSpPr/>
              <p:nvPr/>
            </p:nvSpPr>
            <p:spPr>
              <a:xfrm>
                <a:off x="5167200" y="28293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4" name="Google Shape;744;p43"/>
            <p:cNvSpPr txBox="1"/>
            <p:nvPr/>
          </p:nvSpPr>
          <p:spPr>
            <a:xfrm rot="-1717683">
              <a:off x="5656820" y="2613612"/>
              <a:ext cx="1091998" cy="369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PC1</a:t>
              </a:r>
              <a:endParaRPr/>
            </a:p>
          </p:txBody>
        </p:sp>
      </p:grpSp>
      <p:grpSp>
        <p:nvGrpSpPr>
          <p:cNvPr id="745" name="Google Shape;745;p43"/>
          <p:cNvGrpSpPr/>
          <p:nvPr/>
        </p:nvGrpSpPr>
        <p:grpSpPr>
          <a:xfrm rot="1540394">
            <a:off x="2344226" y="2300794"/>
            <a:ext cx="4459532" cy="2689449"/>
            <a:chOff x="2315275" y="2063064"/>
            <a:chExt cx="4459925" cy="2689686"/>
          </a:xfrm>
        </p:grpSpPr>
        <p:sp>
          <p:nvSpPr>
            <p:cNvPr id="746" name="Google Shape;746;p43"/>
            <p:cNvSpPr txBox="1"/>
            <p:nvPr/>
          </p:nvSpPr>
          <p:spPr>
            <a:xfrm rot="-1540738">
              <a:off x="2687907" y="2165084"/>
              <a:ext cx="555237" cy="369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PC2</a:t>
              </a:r>
              <a:endParaRPr/>
            </a:p>
          </p:txBody>
        </p:sp>
        <p:cxnSp>
          <p:nvCxnSpPr>
            <p:cNvPr id="747" name="Google Shape;747;p43"/>
            <p:cNvCxnSpPr/>
            <p:nvPr/>
          </p:nvCxnSpPr>
          <p:spPr>
            <a:xfrm>
              <a:off x="4501700" y="348408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43"/>
            <p:cNvCxnSpPr/>
            <p:nvPr/>
          </p:nvCxnSpPr>
          <p:spPr>
            <a:xfrm flipH="1" rot="10800000">
              <a:off x="2315275" y="2719225"/>
              <a:ext cx="3468300" cy="1642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43"/>
            <p:cNvCxnSpPr/>
            <p:nvPr/>
          </p:nvCxnSpPr>
          <p:spPr>
            <a:xfrm>
              <a:off x="3295825" y="2332350"/>
              <a:ext cx="1397400" cy="24204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750" name="Google Shape;750;p43"/>
            <p:cNvGrpSpPr/>
            <p:nvPr/>
          </p:nvGrpSpPr>
          <p:grpSpPr>
            <a:xfrm>
              <a:off x="3784850" y="3159775"/>
              <a:ext cx="427675" cy="752075"/>
              <a:chOff x="3784850" y="3159775"/>
              <a:chExt cx="427675" cy="752075"/>
            </a:xfrm>
          </p:grpSpPr>
          <p:sp>
            <p:nvSpPr>
              <p:cNvPr id="751" name="Google Shape;751;p43"/>
              <p:cNvSpPr/>
              <p:nvPr/>
            </p:nvSpPr>
            <p:spPr>
              <a:xfrm>
                <a:off x="4071825" y="36580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43"/>
              <p:cNvSpPr/>
              <p:nvPr/>
            </p:nvSpPr>
            <p:spPr>
              <a:xfrm>
                <a:off x="3884775" y="32887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43"/>
              <p:cNvSpPr/>
              <p:nvPr/>
            </p:nvSpPr>
            <p:spPr>
              <a:xfrm>
                <a:off x="3784850" y="3159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43"/>
              <p:cNvSpPr/>
              <p:nvPr/>
            </p:nvSpPr>
            <p:spPr>
              <a:xfrm>
                <a:off x="3924175" y="34156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43"/>
              <p:cNvSpPr/>
              <p:nvPr/>
            </p:nvSpPr>
            <p:spPr>
              <a:xfrm>
                <a:off x="4071825" y="36003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43"/>
              <p:cNvSpPr/>
              <p:nvPr/>
            </p:nvSpPr>
            <p:spPr>
              <a:xfrm>
                <a:off x="3917275" y="33572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7" name="Google Shape;757;p43"/>
            <p:cNvGrpSpPr/>
            <p:nvPr/>
          </p:nvGrpSpPr>
          <p:grpSpPr>
            <a:xfrm>
              <a:off x="2690700" y="2829375"/>
              <a:ext cx="2617200" cy="1439650"/>
              <a:chOff x="2690700" y="2829375"/>
              <a:chExt cx="2617200" cy="1439650"/>
            </a:xfrm>
          </p:grpSpPr>
          <p:sp>
            <p:nvSpPr>
              <p:cNvPr id="758" name="Google Shape;758;p43"/>
              <p:cNvSpPr/>
              <p:nvPr/>
            </p:nvSpPr>
            <p:spPr>
              <a:xfrm>
                <a:off x="2690700" y="401522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43"/>
              <p:cNvSpPr/>
              <p:nvPr/>
            </p:nvSpPr>
            <p:spPr>
              <a:xfrm>
                <a:off x="3062175" y="382472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43"/>
              <p:cNvSpPr/>
              <p:nvPr/>
            </p:nvSpPr>
            <p:spPr>
              <a:xfrm>
                <a:off x="2852625" y="3943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43"/>
              <p:cNvSpPr/>
              <p:nvPr/>
            </p:nvSpPr>
            <p:spPr>
              <a:xfrm>
                <a:off x="4552525" y="3159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43"/>
              <p:cNvSpPr/>
              <p:nvPr/>
            </p:nvSpPr>
            <p:spPr>
              <a:xfrm>
                <a:off x="4952900" y="29389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43"/>
              <p:cNvSpPr/>
              <p:nvPr/>
            </p:nvSpPr>
            <p:spPr>
              <a:xfrm>
                <a:off x="5167200" y="28293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4" name="Google Shape;764;p43"/>
            <p:cNvSpPr txBox="1"/>
            <p:nvPr/>
          </p:nvSpPr>
          <p:spPr>
            <a:xfrm rot="-1540265">
              <a:off x="5656903" y="2613604"/>
              <a:ext cx="1092094" cy="369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PC1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4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770" name="Google Shape;770;p44"/>
          <p:cNvSpPr txBox="1"/>
          <p:nvPr/>
        </p:nvSpPr>
        <p:spPr>
          <a:xfrm>
            <a:off x="150175" y="1580000"/>
            <a:ext cx="300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Usamos los puntos proyectados en los ejes para reubicar los ejemplos.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1" name="Google Shape;771;p44"/>
          <p:cNvCxnSpPr/>
          <p:nvPr/>
        </p:nvCxnSpPr>
        <p:spPr>
          <a:xfrm>
            <a:off x="4501754" y="369531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44"/>
          <p:cNvCxnSpPr/>
          <p:nvPr/>
        </p:nvCxnSpPr>
        <p:spPr>
          <a:xfrm>
            <a:off x="2151025" y="3539350"/>
            <a:ext cx="3779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44"/>
          <p:cNvCxnSpPr/>
          <p:nvPr/>
        </p:nvCxnSpPr>
        <p:spPr>
          <a:xfrm>
            <a:off x="4026038" y="1946375"/>
            <a:ext cx="0" cy="3038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774" name="Google Shape;774;p44"/>
          <p:cNvGrpSpPr/>
          <p:nvPr/>
        </p:nvGrpSpPr>
        <p:grpSpPr>
          <a:xfrm rot="1540394">
            <a:off x="3812213" y="3148017"/>
            <a:ext cx="427637" cy="752009"/>
            <a:chOff x="3784850" y="3159775"/>
            <a:chExt cx="427675" cy="752075"/>
          </a:xfrm>
        </p:grpSpPr>
        <p:sp>
          <p:nvSpPr>
            <p:cNvPr id="775" name="Google Shape;775;p44"/>
            <p:cNvSpPr/>
            <p:nvPr/>
          </p:nvSpPr>
          <p:spPr>
            <a:xfrm>
              <a:off x="4071825" y="36580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4"/>
            <p:cNvSpPr/>
            <p:nvPr/>
          </p:nvSpPr>
          <p:spPr>
            <a:xfrm>
              <a:off x="3884775" y="32887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4"/>
            <p:cNvSpPr/>
            <p:nvPr/>
          </p:nvSpPr>
          <p:spPr>
            <a:xfrm>
              <a:off x="3784850" y="3159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4"/>
            <p:cNvSpPr/>
            <p:nvPr/>
          </p:nvSpPr>
          <p:spPr>
            <a:xfrm>
              <a:off x="3924175" y="34156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4"/>
            <p:cNvSpPr/>
            <p:nvPr/>
          </p:nvSpPr>
          <p:spPr>
            <a:xfrm>
              <a:off x="4071825" y="36003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4"/>
            <p:cNvSpPr/>
            <p:nvPr/>
          </p:nvSpPr>
          <p:spPr>
            <a:xfrm>
              <a:off x="3917275" y="33572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44"/>
          <p:cNvGrpSpPr/>
          <p:nvPr/>
        </p:nvGrpSpPr>
        <p:grpSpPr>
          <a:xfrm rot="1540394">
            <a:off x="2712300" y="2816590"/>
            <a:ext cx="2616969" cy="1439523"/>
            <a:chOff x="2690700" y="2829375"/>
            <a:chExt cx="2617200" cy="1439650"/>
          </a:xfrm>
        </p:grpSpPr>
        <p:sp>
          <p:nvSpPr>
            <p:cNvPr id="782" name="Google Shape;782;p44"/>
            <p:cNvSpPr/>
            <p:nvPr/>
          </p:nvSpPr>
          <p:spPr>
            <a:xfrm>
              <a:off x="2690700" y="401522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4"/>
            <p:cNvSpPr/>
            <p:nvPr/>
          </p:nvSpPr>
          <p:spPr>
            <a:xfrm>
              <a:off x="3062175" y="382472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4"/>
            <p:cNvSpPr/>
            <p:nvPr/>
          </p:nvSpPr>
          <p:spPr>
            <a:xfrm>
              <a:off x="2852625" y="3943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4"/>
            <p:cNvSpPr/>
            <p:nvPr/>
          </p:nvSpPr>
          <p:spPr>
            <a:xfrm>
              <a:off x="4552525" y="3159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4"/>
            <p:cNvSpPr/>
            <p:nvPr/>
          </p:nvSpPr>
          <p:spPr>
            <a:xfrm>
              <a:off x="4952900" y="29389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4"/>
            <p:cNvSpPr/>
            <p:nvPr/>
          </p:nvSpPr>
          <p:spPr>
            <a:xfrm>
              <a:off x="5167200" y="28293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8" name="Google Shape;788;p44"/>
          <p:cNvSpPr txBox="1"/>
          <p:nvPr/>
        </p:nvSpPr>
        <p:spPr>
          <a:xfrm>
            <a:off x="5958575" y="3555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9" name="Google Shape;789;p44"/>
          <p:cNvSpPr txBox="1"/>
          <p:nvPr/>
        </p:nvSpPr>
        <p:spPr>
          <a:xfrm>
            <a:off x="3391775" y="1927025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0" name="Google Shape;790;p44"/>
          <p:cNvSpPr/>
          <p:nvPr/>
        </p:nvSpPr>
        <p:spPr>
          <a:xfrm>
            <a:off x="2808100" y="3541900"/>
            <a:ext cx="1218000" cy="27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1" name="Google Shape;791;p44"/>
          <p:cNvGrpSpPr/>
          <p:nvPr/>
        </p:nvGrpSpPr>
        <p:grpSpPr>
          <a:xfrm>
            <a:off x="1439325" y="2462400"/>
            <a:ext cx="2546550" cy="1392000"/>
            <a:chOff x="1439325" y="2462400"/>
            <a:chExt cx="2546550" cy="1392000"/>
          </a:xfrm>
        </p:grpSpPr>
        <p:sp>
          <p:nvSpPr>
            <p:cNvPr id="792" name="Google Shape;792;p44"/>
            <p:cNvSpPr txBox="1"/>
            <p:nvPr/>
          </p:nvSpPr>
          <p:spPr>
            <a:xfrm>
              <a:off x="1439325" y="2462400"/>
              <a:ext cx="100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Alumno 6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793" name="Google Shape;793;p44"/>
            <p:cNvCxnSpPr>
              <a:stCxn id="792" idx="2"/>
              <a:endCxn id="784" idx="0"/>
            </p:cNvCxnSpPr>
            <p:nvPr/>
          </p:nvCxnSpPr>
          <p:spPr>
            <a:xfrm>
              <a:off x="1943775" y="2862600"/>
              <a:ext cx="876600" cy="60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94" name="Google Shape;794;p44"/>
            <p:cNvCxnSpPr>
              <a:stCxn id="792" idx="2"/>
              <a:endCxn id="775" idx="3"/>
            </p:cNvCxnSpPr>
            <p:nvPr/>
          </p:nvCxnSpPr>
          <p:spPr>
            <a:xfrm>
              <a:off x="1943775" y="2862600"/>
              <a:ext cx="2042100" cy="99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95" name="Google Shape;795;p44"/>
          <p:cNvSpPr/>
          <p:nvPr/>
        </p:nvSpPr>
        <p:spPr>
          <a:xfrm>
            <a:off x="2734275" y="372977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6" name="Google Shape;796;p44"/>
          <p:cNvGrpSpPr/>
          <p:nvPr/>
        </p:nvGrpSpPr>
        <p:grpSpPr>
          <a:xfrm>
            <a:off x="4026025" y="1927025"/>
            <a:ext cx="3266550" cy="1752300"/>
            <a:chOff x="-818325" y="2462400"/>
            <a:chExt cx="3266550" cy="1752300"/>
          </a:xfrm>
        </p:grpSpPr>
        <p:sp>
          <p:nvSpPr>
            <p:cNvPr id="797" name="Google Shape;797;p44"/>
            <p:cNvSpPr txBox="1"/>
            <p:nvPr/>
          </p:nvSpPr>
          <p:spPr>
            <a:xfrm>
              <a:off x="1439325" y="2462400"/>
              <a:ext cx="100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Alumno 2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798" name="Google Shape;798;p44"/>
            <p:cNvCxnSpPr>
              <a:stCxn id="797" idx="2"/>
              <a:endCxn id="787" idx="0"/>
            </p:cNvCxnSpPr>
            <p:nvPr/>
          </p:nvCxnSpPr>
          <p:spPr>
            <a:xfrm flipH="1">
              <a:off x="544875" y="2862600"/>
              <a:ext cx="1398900" cy="113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99" name="Google Shape;799;p44"/>
            <p:cNvCxnSpPr>
              <a:stCxn id="797" idx="2"/>
              <a:endCxn id="790" idx="3"/>
            </p:cNvCxnSpPr>
            <p:nvPr/>
          </p:nvCxnSpPr>
          <p:spPr>
            <a:xfrm flipH="1">
              <a:off x="-818325" y="2862600"/>
              <a:ext cx="2762100" cy="135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00" name="Google Shape;800;p44"/>
          <p:cNvSpPr/>
          <p:nvPr/>
        </p:nvSpPr>
        <p:spPr>
          <a:xfrm>
            <a:off x="4026025" y="3541900"/>
            <a:ext cx="1357500" cy="21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4"/>
          <p:cNvSpPr/>
          <p:nvPr/>
        </p:nvSpPr>
        <p:spPr>
          <a:xfrm>
            <a:off x="5299675" y="3675050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5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pSp>
        <p:nvGrpSpPr>
          <p:cNvPr id="807" name="Google Shape;807;p45"/>
          <p:cNvGrpSpPr/>
          <p:nvPr/>
        </p:nvGrpSpPr>
        <p:grpSpPr>
          <a:xfrm>
            <a:off x="4572000" y="1547975"/>
            <a:ext cx="4025550" cy="3457950"/>
            <a:chOff x="2151025" y="1526825"/>
            <a:chExt cx="4025550" cy="3457950"/>
          </a:xfrm>
        </p:grpSpPr>
        <p:cxnSp>
          <p:nvCxnSpPr>
            <p:cNvPr id="808" name="Google Shape;808;p45"/>
            <p:cNvCxnSpPr/>
            <p:nvPr/>
          </p:nvCxnSpPr>
          <p:spPr>
            <a:xfrm>
              <a:off x="4501754" y="369531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45"/>
            <p:cNvCxnSpPr/>
            <p:nvPr/>
          </p:nvCxnSpPr>
          <p:spPr>
            <a:xfrm>
              <a:off x="2151025" y="3539350"/>
              <a:ext cx="377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45"/>
            <p:cNvCxnSpPr/>
            <p:nvPr/>
          </p:nvCxnSpPr>
          <p:spPr>
            <a:xfrm>
              <a:off x="4026038" y="1946375"/>
              <a:ext cx="0" cy="30384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811" name="Google Shape;811;p45"/>
            <p:cNvSpPr txBox="1"/>
            <p:nvPr/>
          </p:nvSpPr>
          <p:spPr>
            <a:xfrm>
              <a:off x="5621275" y="3684625"/>
              <a:ext cx="55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PC1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12" name="Google Shape;812;p45"/>
            <p:cNvSpPr txBox="1"/>
            <p:nvPr/>
          </p:nvSpPr>
          <p:spPr>
            <a:xfrm>
              <a:off x="3568175" y="1526825"/>
              <a:ext cx="55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PC2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13" name="Google Shape;813;p45"/>
            <p:cNvSpPr/>
            <p:nvPr/>
          </p:nvSpPr>
          <p:spPr>
            <a:xfrm>
              <a:off x="2734275" y="372977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5"/>
            <p:cNvSpPr/>
            <p:nvPr/>
          </p:nvSpPr>
          <p:spPr>
            <a:xfrm>
              <a:off x="5299675" y="3675050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5"/>
            <p:cNvSpPr/>
            <p:nvPr/>
          </p:nvSpPr>
          <p:spPr>
            <a:xfrm>
              <a:off x="2895075" y="3458950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5"/>
            <p:cNvSpPr/>
            <p:nvPr/>
          </p:nvSpPr>
          <p:spPr>
            <a:xfrm>
              <a:off x="2319400" y="33431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5"/>
            <p:cNvSpPr/>
            <p:nvPr/>
          </p:nvSpPr>
          <p:spPr>
            <a:xfrm>
              <a:off x="4905975" y="33431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5"/>
            <p:cNvSpPr/>
            <p:nvPr/>
          </p:nvSpPr>
          <p:spPr>
            <a:xfrm>
              <a:off x="5460475" y="31823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9" name="Google Shape;819;p45"/>
          <p:cNvSpPr txBox="1"/>
          <p:nvPr/>
        </p:nvSpPr>
        <p:spPr>
          <a:xfrm>
            <a:off x="98700" y="1304575"/>
            <a:ext cx="5482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Suma distancias cuadradas de PC1 = autovalor de PC1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Suma distancias cuadradas de PC2 = autovalor de PC2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Podemos calcular la variación centrada en el origen: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latin typeface="Lato"/>
                <a:ea typeface="Lato"/>
                <a:cs typeface="Lato"/>
                <a:sym typeface="Lato"/>
              </a:rPr>
              <a:t>Suma distancias cuadradas de PC1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= variación de PC1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r>
              <a:rPr lang="en" sz="1200">
                <a:latin typeface="Lato"/>
                <a:ea typeface="Lato"/>
                <a:cs typeface="Lato"/>
                <a:sym typeface="Lato"/>
              </a:rPr>
              <a:t>                                  n-1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latin typeface="Lato"/>
                <a:ea typeface="Lato"/>
                <a:cs typeface="Lato"/>
                <a:sym typeface="Lato"/>
              </a:rPr>
              <a:t>Suma distancias cuadradas de PC2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= variación de PC2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r>
              <a:rPr lang="en" sz="1200">
                <a:latin typeface="Lato"/>
                <a:ea typeface="Lato"/>
                <a:cs typeface="Lato"/>
                <a:sym typeface="Lato"/>
              </a:rPr>
              <a:t>                                   n-1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0" name="Google Shape;820;p45"/>
          <p:cNvSpPr txBox="1"/>
          <p:nvPr/>
        </p:nvSpPr>
        <p:spPr>
          <a:xfrm>
            <a:off x="98700" y="3336475"/>
            <a:ext cx="4282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Imaginemos que la variación de PC1 es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15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, y la de PC2 es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La variación total es 15+3 = 18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Eso quiere decir que PC1 acumula el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83 %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de la variación total. (15/18 = 0.83)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Y PC2, el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17%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(3/18 = 0.17)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1" name="Google Shape;821;p45"/>
          <p:cNvSpPr txBox="1"/>
          <p:nvPr/>
        </p:nvSpPr>
        <p:spPr>
          <a:xfrm>
            <a:off x="6475775" y="1547975"/>
            <a:ext cx="8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(17%)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2" name="Google Shape;822;p45"/>
          <p:cNvSpPr txBox="1"/>
          <p:nvPr/>
        </p:nvSpPr>
        <p:spPr>
          <a:xfrm>
            <a:off x="8487900" y="3705775"/>
            <a:ext cx="65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(83%)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6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pSp>
        <p:nvGrpSpPr>
          <p:cNvPr id="828" name="Google Shape;828;p46"/>
          <p:cNvGrpSpPr/>
          <p:nvPr/>
        </p:nvGrpSpPr>
        <p:grpSpPr>
          <a:xfrm>
            <a:off x="4572000" y="1547975"/>
            <a:ext cx="4515600" cy="3457950"/>
            <a:chOff x="2151025" y="1526825"/>
            <a:chExt cx="4515600" cy="3457950"/>
          </a:xfrm>
        </p:grpSpPr>
        <p:cxnSp>
          <p:nvCxnSpPr>
            <p:cNvPr id="829" name="Google Shape;829;p46"/>
            <p:cNvCxnSpPr/>
            <p:nvPr/>
          </p:nvCxnSpPr>
          <p:spPr>
            <a:xfrm>
              <a:off x="4501754" y="369531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46"/>
            <p:cNvCxnSpPr/>
            <p:nvPr/>
          </p:nvCxnSpPr>
          <p:spPr>
            <a:xfrm>
              <a:off x="2151025" y="3539350"/>
              <a:ext cx="377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46"/>
            <p:cNvCxnSpPr/>
            <p:nvPr/>
          </p:nvCxnSpPr>
          <p:spPr>
            <a:xfrm>
              <a:off x="4026038" y="1946375"/>
              <a:ext cx="0" cy="30384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832" name="Google Shape;832;p46"/>
            <p:cNvSpPr txBox="1"/>
            <p:nvPr/>
          </p:nvSpPr>
          <p:spPr>
            <a:xfrm>
              <a:off x="5565925" y="3610075"/>
              <a:ext cx="1100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PC1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(83%)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33" name="Google Shape;833;p46"/>
            <p:cNvSpPr txBox="1"/>
            <p:nvPr/>
          </p:nvSpPr>
          <p:spPr>
            <a:xfrm>
              <a:off x="3568175" y="1526825"/>
              <a:ext cx="112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PC2 (17%)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2734275" y="372977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5299675" y="3675050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2895075" y="3458950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2319400" y="33431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4905975" y="33431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5460475" y="31823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40" name="Google Shape;84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350" y="2351325"/>
            <a:ext cx="2014600" cy="2561244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6"/>
          <p:cNvSpPr txBox="1"/>
          <p:nvPr/>
        </p:nvSpPr>
        <p:spPr>
          <a:xfrm>
            <a:off x="289275" y="141110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Scree plot es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donde se representa el porcentaje de variación de cada PC (componente principal)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Variables  =  3 dimensiones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852" name="Google Shape;852;p48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53" name="Google Shape;853;p48"/>
          <p:cNvCxnSpPr/>
          <p:nvPr/>
        </p:nvCxnSpPr>
        <p:spPr>
          <a:xfrm>
            <a:off x="5138025" y="4421950"/>
            <a:ext cx="2646300" cy="374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854" name="Google Shape;854;p48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855" name="Google Shape;855;p48"/>
          <p:cNvSpPr/>
          <p:nvPr/>
        </p:nvSpPr>
        <p:spPr>
          <a:xfrm>
            <a:off x="5279275" y="383047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856" name="Google Shape;856;p48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857" name="Google Shape;857;p48"/>
          <p:cNvSpPr/>
          <p:nvPr/>
        </p:nvSpPr>
        <p:spPr>
          <a:xfrm>
            <a:off x="7189925" y="30858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3</a:t>
            </a:r>
            <a:r>
              <a:rPr lang="en" sz="1000"/>
              <a:t> </a:t>
            </a:r>
            <a:endParaRPr sz="1000"/>
          </a:p>
        </p:txBody>
      </p:sp>
      <p:sp>
        <p:nvSpPr>
          <p:cNvPr id="858" name="Google Shape;858;p48"/>
          <p:cNvSpPr/>
          <p:nvPr/>
        </p:nvSpPr>
        <p:spPr>
          <a:xfrm>
            <a:off x="7555271" y="27622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859" name="Google Shape;859;p48"/>
          <p:cNvSpPr/>
          <p:nvPr/>
        </p:nvSpPr>
        <p:spPr>
          <a:xfrm>
            <a:off x="7838875" y="3008600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860" name="Google Shape;860;p48"/>
          <p:cNvSpPr txBox="1"/>
          <p:nvPr/>
        </p:nvSpPr>
        <p:spPr>
          <a:xfrm rot="443163">
            <a:off x="7347187" y="4475370"/>
            <a:ext cx="833113" cy="3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861" name="Google Shape;861;p48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62" name="Google Shape;862;p48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863" name="Google Shape;863;p48"/>
          <p:cNvSpPr txBox="1"/>
          <p:nvPr/>
        </p:nvSpPr>
        <p:spPr>
          <a:xfrm>
            <a:off x="5192700" y="20706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864" name="Google Shape;864;p48"/>
          <p:cNvCxnSpPr/>
          <p:nvPr/>
        </p:nvCxnSpPr>
        <p:spPr>
          <a:xfrm flipH="1" rot="10800000">
            <a:off x="5154300" y="3461175"/>
            <a:ext cx="2092500" cy="9852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865" name="Google Shape;865;p48"/>
          <p:cNvSpPr txBox="1"/>
          <p:nvPr/>
        </p:nvSpPr>
        <p:spPr>
          <a:xfrm>
            <a:off x="7189925" y="346117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9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871" name="Google Shape;871;p49"/>
          <p:cNvSpPr txBox="1"/>
          <p:nvPr/>
        </p:nvSpPr>
        <p:spPr>
          <a:xfrm>
            <a:off x="138225" y="1263650"/>
            <a:ext cx="2331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Los pasos son los mismos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Centramos los datos en el eje de coordenadas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Buscamos la recta que mejor ajuste que pase por el eje de coordenadas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72" name="Google Shape;872;p49"/>
          <p:cNvCxnSpPr/>
          <p:nvPr/>
        </p:nvCxnSpPr>
        <p:spPr>
          <a:xfrm>
            <a:off x="3048000" y="3139725"/>
            <a:ext cx="5166600" cy="744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3" name="Google Shape;873;p49"/>
          <p:cNvSpPr/>
          <p:nvPr/>
        </p:nvSpPr>
        <p:spPr>
          <a:xfrm>
            <a:off x="4528700" y="39690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9"/>
          <p:cNvSpPr/>
          <p:nvPr/>
        </p:nvSpPr>
        <p:spPr>
          <a:xfrm>
            <a:off x="4243700" y="369462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5" name="Google Shape;875;p49"/>
          <p:cNvSpPr/>
          <p:nvPr/>
        </p:nvSpPr>
        <p:spPr>
          <a:xfrm>
            <a:off x="4615300" y="365197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9"/>
          <p:cNvSpPr/>
          <p:nvPr/>
        </p:nvSpPr>
        <p:spPr>
          <a:xfrm>
            <a:off x="6251550" y="28953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  <p:sp>
        <p:nvSpPr>
          <p:cNvPr id="877" name="Google Shape;877;p49"/>
          <p:cNvSpPr/>
          <p:nvPr/>
        </p:nvSpPr>
        <p:spPr>
          <a:xfrm>
            <a:off x="6616896" y="25717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8" name="Google Shape;878;p49"/>
          <p:cNvSpPr/>
          <p:nvPr/>
        </p:nvSpPr>
        <p:spPr>
          <a:xfrm>
            <a:off x="6817000" y="2964475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9"/>
          <p:cNvSpPr txBox="1"/>
          <p:nvPr/>
        </p:nvSpPr>
        <p:spPr>
          <a:xfrm rot="443163">
            <a:off x="7777587" y="3563420"/>
            <a:ext cx="833113" cy="3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cxnSp>
        <p:nvCxnSpPr>
          <p:cNvPr id="880" name="Google Shape;880;p49"/>
          <p:cNvCxnSpPr/>
          <p:nvPr/>
        </p:nvCxnSpPr>
        <p:spPr>
          <a:xfrm flipH="1" rot="10800000">
            <a:off x="5602100" y="1263650"/>
            <a:ext cx="21000" cy="3759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1" name="Google Shape;881;p49"/>
          <p:cNvSpPr txBox="1"/>
          <p:nvPr/>
        </p:nvSpPr>
        <p:spPr>
          <a:xfrm>
            <a:off x="5623100" y="11587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882" name="Google Shape;882;p49"/>
          <p:cNvCxnSpPr/>
          <p:nvPr/>
        </p:nvCxnSpPr>
        <p:spPr>
          <a:xfrm flipH="1" rot="10800000">
            <a:off x="2949225" y="2549125"/>
            <a:ext cx="4728000" cy="2255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3" name="Google Shape;883;p49"/>
          <p:cNvSpPr txBox="1"/>
          <p:nvPr/>
        </p:nvSpPr>
        <p:spPr>
          <a:xfrm>
            <a:off x="7677225" y="23871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  <p:cxnSp>
        <p:nvCxnSpPr>
          <p:cNvPr id="884" name="Google Shape;884;p49"/>
          <p:cNvCxnSpPr/>
          <p:nvPr/>
        </p:nvCxnSpPr>
        <p:spPr>
          <a:xfrm flipH="1">
            <a:off x="3647725" y="2229550"/>
            <a:ext cx="3810000" cy="2673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85" name="Google Shape;885;p49"/>
          <p:cNvSpPr txBox="1"/>
          <p:nvPr/>
        </p:nvSpPr>
        <p:spPr>
          <a:xfrm>
            <a:off x="7507100" y="1829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6" name="Google Shape;886;p49"/>
          <p:cNvSpPr txBox="1"/>
          <p:nvPr/>
        </p:nvSpPr>
        <p:spPr>
          <a:xfrm>
            <a:off x="471375" y="3076800"/>
            <a:ext cx="166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La recta será 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7" name="Google Shape;887;p49"/>
          <p:cNvSpPr txBox="1"/>
          <p:nvPr/>
        </p:nvSpPr>
        <p:spPr>
          <a:xfrm>
            <a:off x="138225" y="3477000"/>
            <a:ext cx="4064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Solo que en este caso, la recta tiene 3 coordenadas: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Árboles, RNA y PLN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0.62 árboles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0.15 RNA 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0.77 PLN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8" name="Google Shape;888;p49"/>
          <p:cNvSpPr/>
          <p:nvPr/>
        </p:nvSpPr>
        <p:spPr>
          <a:xfrm>
            <a:off x="303400" y="4621400"/>
            <a:ext cx="1206600" cy="258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9"/>
          <p:cNvSpPr txBox="1"/>
          <p:nvPr/>
        </p:nvSpPr>
        <p:spPr>
          <a:xfrm>
            <a:off x="3280825" y="1290700"/>
            <a:ext cx="1890900" cy="14775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vez PLN tiene más peso en la ecuación, es decir los datos están más dispersos en torno a este eje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90" name="Google Shape;890;p49"/>
          <p:cNvCxnSpPr>
            <a:stCxn id="889" idx="2"/>
            <a:endCxn id="888" idx="3"/>
          </p:cNvCxnSpPr>
          <p:nvPr/>
        </p:nvCxnSpPr>
        <p:spPr>
          <a:xfrm flipH="1">
            <a:off x="1510075" y="2768200"/>
            <a:ext cx="2716200" cy="1982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0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896" name="Google Shape;896;p50"/>
          <p:cNvCxnSpPr/>
          <p:nvPr/>
        </p:nvCxnSpPr>
        <p:spPr>
          <a:xfrm>
            <a:off x="3048000" y="3139725"/>
            <a:ext cx="5166600" cy="744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7" name="Google Shape;897;p50"/>
          <p:cNvSpPr/>
          <p:nvPr/>
        </p:nvSpPr>
        <p:spPr>
          <a:xfrm>
            <a:off x="4528700" y="39690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0"/>
          <p:cNvSpPr/>
          <p:nvPr/>
        </p:nvSpPr>
        <p:spPr>
          <a:xfrm>
            <a:off x="4243700" y="369462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99" name="Google Shape;899;p50"/>
          <p:cNvSpPr/>
          <p:nvPr/>
        </p:nvSpPr>
        <p:spPr>
          <a:xfrm>
            <a:off x="4615300" y="365197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0"/>
          <p:cNvSpPr/>
          <p:nvPr/>
        </p:nvSpPr>
        <p:spPr>
          <a:xfrm>
            <a:off x="6251550" y="28953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  <p:sp>
        <p:nvSpPr>
          <p:cNvPr id="901" name="Google Shape;901;p50"/>
          <p:cNvSpPr/>
          <p:nvPr/>
        </p:nvSpPr>
        <p:spPr>
          <a:xfrm>
            <a:off x="6616896" y="25717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02" name="Google Shape;902;p50"/>
          <p:cNvSpPr/>
          <p:nvPr/>
        </p:nvSpPr>
        <p:spPr>
          <a:xfrm>
            <a:off x="6817000" y="2964475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0"/>
          <p:cNvSpPr txBox="1"/>
          <p:nvPr/>
        </p:nvSpPr>
        <p:spPr>
          <a:xfrm rot="443163">
            <a:off x="7777587" y="3563420"/>
            <a:ext cx="833113" cy="3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cxnSp>
        <p:nvCxnSpPr>
          <p:cNvPr id="904" name="Google Shape;904;p50"/>
          <p:cNvCxnSpPr/>
          <p:nvPr/>
        </p:nvCxnSpPr>
        <p:spPr>
          <a:xfrm flipH="1" rot="10800000">
            <a:off x="5602100" y="1263650"/>
            <a:ext cx="21000" cy="3759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5" name="Google Shape;905;p50"/>
          <p:cNvSpPr txBox="1"/>
          <p:nvPr/>
        </p:nvSpPr>
        <p:spPr>
          <a:xfrm>
            <a:off x="5623100" y="11587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906" name="Google Shape;906;p50"/>
          <p:cNvCxnSpPr/>
          <p:nvPr/>
        </p:nvCxnSpPr>
        <p:spPr>
          <a:xfrm flipH="1" rot="10800000">
            <a:off x="2949225" y="2549125"/>
            <a:ext cx="4728000" cy="2255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7" name="Google Shape;907;p50"/>
          <p:cNvSpPr txBox="1"/>
          <p:nvPr/>
        </p:nvSpPr>
        <p:spPr>
          <a:xfrm>
            <a:off x="7677225" y="23871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  <p:cxnSp>
        <p:nvCxnSpPr>
          <p:cNvPr id="908" name="Google Shape;908;p50"/>
          <p:cNvCxnSpPr/>
          <p:nvPr/>
        </p:nvCxnSpPr>
        <p:spPr>
          <a:xfrm flipH="1">
            <a:off x="3647725" y="2229550"/>
            <a:ext cx="3810000" cy="2673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09" name="Google Shape;909;p50"/>
          <p:cNvSpPr txBox="1"/>
          <p:nvPr/>
        </p:nvSpPr>
        <p:spPr>
          <a:xfrm>
            <a:off x="7507100" y="1829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10" name="Google Shape;910;p50"/>
          <p:cNvCxnSpPr/>
          <p:nvPr/>
        </p:nvCxnSpPr>
        <p:spPr>
          <a:xfrm>
            <a:off x="5284600" y="3090325"/>
            <a:ext cx="670200" cy="875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11" name="Google Shape;911;p50"/>
          <p:cNvSpPr txBox="1"/>
          <p:nvPr/>
        </p:nvSpPr>
        <p:spPr>
          <a:xfrm>
            <a:off x="197550" y="1375825"/>
            <a:ext cx="4282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Luego buscamos PC2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vez hay varias posibilidades, buscamos aquella que: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Pase por el origen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Sea perpendicular a PC1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 tenga el mejor ajuste,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según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se vio, maximizando su autovector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2" name="Google Shape;912;p50"/>
          <p:cNvSpPr txBox="1"/>
          <p:nvPr/>
        </p:nvSpPr>
        <p:spPr>
          <a:xfrm>
            <a:off x="4971325" y="267660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3" name="Google Shape;913;p50"/>
          <p:cNvSpPr txBox="1"/>
          <p:nvPr/>
        </p:nvSpPr>
        <p:spPr>
          <a:xfrm>
            <a:off x="95625" y="3365625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Finalmente calculamos PC3: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Perpendicular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 las otras dos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Pase por el origen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14" name="Google Shape;914;p50"/>
          <p:cNvGrpSpPr/>
          <p:nvPr/>
        </p:nvGrpSpPr>
        <p:grpSpPr>
          <a:xfrm>
            <a:off x="5425700" y="3146775"/>
            <a:ext cx="555300" cy="1200975"/>
            <a:chOff x="5425700" y="3146775"/>
            <a:chExt cx="555300" cy="1200975"/>
          </a:xfrm>
        </p:grpSpPr>
        <p:cxnSp>
          <p:nvCxnSpPr>
            <p:cNvPr id="915" name="Google Shape;915;p50"/>
            <p:cNvCxnSpPr/>
            <p:nvPr/>
          </p:nvCxnSpPr>
          <p:spPr>
            <a:xfrm flipH="1">
              <a:off x="5425700" y="3146775"/>
              <a:ext cx="366900" cy="7620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916" name="Google Shape;916;p50"/>
            <p:cNvSpPr txBox="1"/>
            <p:nvPr/>
          </p:nvSpPr>
          <p:spPr>
            <a:xfrm>
              <a:off x="5425700" y="3947550"/>
              <a:ext cx="55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PC3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917" name="Google Shape;917;p50"/>
          <p:cNvSpPr txBox="1"/>
          <p:nvPr/>
        </p:nvSpPr>
        <p:spPr>
          <a:xfrm>
            <a:off x="4813700" y="4417725"/>
            <a:ext cx="4064100" cy="615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tuviésemos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más variables seguimos calculando componentes principales. Uno por variable.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1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923" name="Google Shape;923;p51"/>
          <p:cNvCxnSpPr/>
          <p:nvPr/>
        </p:nvCxnSpPr>
        <p:spPr>
          <a:xfrm>
            <a:off x="3048000" y="3139725"/>
            <a:ext cx="5166600" cy="744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4" name="Google Shape;924;p51"/>
          <p:cNvSpPr/>
          <p:nvPr/>
        </p:nvSpPr>
        <p:spPr>
          <a:xfrm>
            <a:off x="4528700" y="39690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1"/>
          <p:cNvSpPr/>
          <p:nvPr/>
        </p:nvSpPr>
        <p:spPr>
          <a:xfrm>
            <a:off x="4243700" y="369462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26" name="Google Shape;926;p51"/>
          <p:cNvSpPr/>
          <p:nvPr/>
        </p:nvSpPr>
        <p:spPr>
          <a:xfrm>
            <a:off x="4615300" y="365197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1"/>
          <p:cNvSpPr/>
          <p:nvPr/>
        </p:nvSpPr>
        <p:spPr>
          <a:xfrm>
            <a:off x="6251550" y="28953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  <p:sp>
        <p:nvSpPr>
          <p:cNvPr id="928" name="Google Shape;928;p51"/>
          <p:cNvSpPr/>
          <p:nvPr/>
        </p:nvSpPr>
        <p:spPr>
          <a:xfrm>
            <a:off x="6616896" y="25717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29" name="Google Shape;929;p51"/>
          <p:cNvSpPr/>
          <p:nvPr/>
        </p:nvSpPr>
        <p:spPr>
          <a:xfrm>
            <a:off x="6817000" y="2964475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1"/>
          <p:cNvSpPr txBox="1"/>
          <p:nvPr/>
        </p:nvSpPr>
        <p:spPr>
          <a:xfrm rot="443163">
            <a:off x="7777587" y="3563420"/>
            <a:ext cx="833113" cy="3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cxnSp>
        <p:nvCxnSpPr>
          <p:cNvPr id="931" name="Google Shape;931;p51"/>
          <p:cNvCxnSpPr/>
          <p:nvPr/>
        </p:nvCxnSpPr>
        <p:spPr>
          <a:xfrm flipH="1" rot="10800000">
            <a:off x="5602100" y="1263650"/>
            <a:ext cx="21000" cy="3759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2" name="Google Shape;932;p51"/>
          <p:cNvSpPr txBox="1"/>
          <p:nvPr/>
        </p:nvSpPr>
        <p:spPr>
          <a:xfrm>
            <a:off x="5623100" y="11587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933" name="Google Shape;933;p51"/>
          <p:cNvCxnSpPr/>
          <p:nvPr/>
        </p:nvCxnSpPr>
        <p:spPr>
          <a:xfrm flipH="1" rot="10800000">
            <a:off x="2949225" y="2549125"/>
            <a:ext cx="4728000" cy="2255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4" name="Google Shape;934;p51"/>
          <p:cNvSpPr txBox="1"/>
          <p:nvPr/>
        </p:nvSpPr>
        <p:spPr>
          <a:xfrm>
            <a:off x="7677225" y="23871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  <p:cxnSp>
        <p:nvCxnSpPr>
          <p:cNvPr id="935" name="Google Shape;935;p51"/>
          <p:cNvCxnSpPr/>
          <p:nvPr/>
        </p:nvCxnSpPr>
        <p:spPr>
          <a:xfrm flipH="1">
            <a:off x="3647725" y="2229550"/>
            <a:ext cx="3810000" cy="2673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36" name="Google Shape;936;p51"/>
          <p:cNvSpPr txBox="1"/>
          <p:nvPr/>
        </p:nvSpPr>
        <p:spPr>
          <a:xfrm>
            <a:off x="7507100" y="1829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37" name="Google Shape;937;p51"/>
          <p:cNvCxnSpPr/>
          <p:nvPr/>
        </p:nvCxnSpPr>
        <p:spPr>
          <a:xfrm>
            <a:off x="5284600" y="3090325"/>
            <a:ext cx="670200" cy="875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38" name="Google Shape;938;p51"/>
          <p:cNvSpPr txBox="1"/>
          <p:nvPr/>
        </p:nvSpPr>
        <p:spPr>
          <a:xfrm>
            <a:off x="197550" y="1375825"/>
            <a:ext cx="428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luego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proporción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variación de cada componente principal.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9" name="Google Shape;939;p51"/>
          <p:cNvSpPr txBox="1"/>
          <p:nvPr/>
        </p:nvSpPr>
        <p:spPr>
          <a:xfrm>
            <a:off x="4615300" y="267660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40" name="Google Shape;940;p51"/>
          <p:cNvGrpSpPr/>
          <p:nvPr/>
        </p:nvGrpSpPr>
        <p:grpSpPr>
          <a:xfrm>
            <a:off x="5425700" y="3146775"/>
            <a:ext cx="555300" cy="1200975"/>
            <a:chOff x="5425700" y="3146775"/>
            <a:chExt cx="555300" cy="1200975"/>
          </a:xfrm>
        </p:grpSpPr>
        <p:cxnSp>
          <p:nvCxnSpPr>
            <p:cNvPr id="941" name="Google Shape;941;p51"/>
            <p:cNvCxnSpPr/>
            <p:nvPr/>
          </p:nvCxnSpPr>
          <p:spPr>
            <a:xfrm flipH="1">
              <a:off x="5425700" y="3146775"/>
              <a:ext cx="366900" cy="7620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942" name="Google Shape;942;p51"/>
            <p:cNvSpPr txBox="1"/>
            <p:nvPr/>
          </p:nvSpPr>
          <p:spPr>
            <a:xfrm>
              <a:off x="5425700" y="3947550"/>
              <a:ext cx="55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PC3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943" name="Google Shape;943;p51"/>
          <p:cNvSpPr txBox="1"/>
          <p:nvPr/>
        </p:nvSpPr>
        <p:spPr>
          <a:xfrm>
            <a:off x="7916500" y="1829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79%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4" name="Google Shape;944;p51"/>
          <p:cNvSpPr txBox="1"/>
          <p:nvPr/>
        </p:nvSpPr>
        <p:spPr>
          <a:xfrm>
            <a:off x="5035575" y="267660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15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5" name="Google Shape;945;p51"/>
          <p:cNvSpPr txBox="1"/>
          <p:nvPr/>
        </p:nvSpPr>
        <p:spPr>
          <a:xfrm>
            <a:off x="5826950" y="39475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6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6" name="Google Shape;9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43825"/>
            <a:ext cx="1793504" cy="28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51"/>
          <p:cNvSpPr/>
          <p:nvPr/>
        </p:nvSpPr>
        <p:spPr>
          <a:xfrm>
            <a:off x="500950" y="2264825"/>
            <a:ext cx="994800" cy="275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51"/>
          <p:cNvSpPr txBox="1"/>
          <p:nvPr/>
        </p:nvSpPr>
        <p:spPr>
          <a:xfrm>
            <a:off x="2159000" y="2010825"/>
            <a:ext cx="1817400" cy="147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PC1 y PC2 contienen el 94% de la variación total.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 decir son una buena aproximación de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3D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2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954" name="Google Shape;954;p52"/>
          <p:cNvSpPr/>
          <p:nvPr/>
        </p:nvSpPr>
        <p:spPr>
          <a:xfrm>
            <a:off x="4528700" y="39690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2"/>
          <p:cNvSpPr/>
          <p:nvPr/>
        </p:nvSpPr>
        <p:spPr>
          <a:xfrm>
            <a:off x="4243700" y="369462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6" name="Google Shape;956;p52"/>
          <p:cNvSpPr/>
          <p:nvPr/>
        </p:nvSpPr>
        <p:spPr>
          <a:xfrm>
            <a:off x="4615300" y="365197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52"/>
          <p:cNvSpPr/>
          <p:nvPr/>
        </p:nvSpPr>
        <p:spPr>
          <a:xfrm>
            <a:off x="6251550" y="28953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  <p:sp>
        <p:nvSpPr>
          <p:cNvPr id="958" name="Google Shape;958;p52"/>
          <p:cNvSpPr/>
          <p:nvPr/>
        </p:nvSpPr>
        <p:spPr>
          <a:xfrm>
            <a:off x="6616896" y="25717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9" name="Google Shape;959;p52"/>
          <p:cNvSpPr/>
          <p:nvPr/>
        </p:nvSpPr>
        <p:spPr>
          <a:xfrm>
            <a:off x="6817000" y="2964475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0" name="Google Shape;960;p52"/>
          <p:cNvCxnSpPr/>
          <p:nvPr/>
        </p:nvCxnSpPr>
        <p:spPr>
          <a:xfrm flipH="1">
            <a:off x="3647725" y="2229550"/>
            <a:ext cx="3810000" cy="2673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1" name="Google Shape;961;p52"/>
          <p:cNvSpPr txBox="1"/>
          <p:nvPr/>
        </p:nvSpPr>
        <p:spPr>
          <a:xfrm>
            <a:off x="7507100" y="1829350"/>
            <a:ext cx="10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79%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2" name="Google Shape;962;p52"/>
          <p:cNvCxnSpPr/>
          <p:nvPr/>
        </p:nvCxnSpPr>
        <p:spPr>
          <a:xfrm>
            <a:off x="5284600" y="3090325"/>
            <a:ext cx="670200" cy="875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3" name="Google Shape;963;p52"/>
          <p:cNvSpPr txBox="1"/>
          <p:nvPr/>
        </p:nvSpPr>
        <p:spPr>
          <a:xfrm>
            <a:off x="197550" y="1375825"/>
            <a:ext cx="428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convertir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 actual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2D.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Eliminamos todo, dejamos solo PC1 y PC2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4418000" y="2655100"/>
            <a:ext cx="10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15%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5" name="Google Shape;965;p52"/>
          <p:cNvSpPr txBox="1"/>
          <p:nvPr/>
        </p:nvSpPr>
        <p:spPr>
          <a:xfrm>
            <a:off x="197550" y="2015463"/>
            <a:ext cx="42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Proyectamos los ejemplos sobre los ejes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66" name="Google Shape;966;p52"/>
          <p:cNvGrpSpPr/>
          <p:nvPr/>
        </p:nvGrpSpPr>
        <p:grpSpPr>
          <a:xfrm>
            <a:off x="4528700" y="2520000"/>
            <a:ext cx="2407600" cy="1814650"/>
            <a:chOff x="4528700" y="2520000"/>
            <a:chExt cx="2407600" cy="1814650"/>
          </a:xfrm>
        </p:grpSpPr>
        <p:sp>
          <p:nvSpPr>
            <p:cNvPr id="967" name="Google Shape;967;p52"/>
            <p:cNvSpPr/>
            <p:nvPr/>
          </p:nvSpPr>
          <p:spPr>
            <a:xfrm>
              <a:off x="6206850" y="28953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52"/>
            <p:cNvSpPr/>
            <p:nvPr/>
          </p:nvSpPr>
          <p:spPr>
            <a:xfrm>
              <a:off x="6491850" y="26551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52"/>
            <p:cNvSpPr/>
            <p:nvPr/>
          </p:nvSpPr>
          <p:spPr>
            <a:xfrm>
              <a:off x="6651300" y="25200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52"/>
            <p:cNvSpPr/>
            <p:nvPr/>
          </p:nvSpPr>
          <p:spPr>
            <a:xfrm>
              <a:off x="4572000" y="401532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52"/>
            <p:cNvSpPr/>
            <p:nvPr/>
          </p:nvSpPr>
          <p:spPr>
            <a:xfrm>
              <a:off x="4779350" y="38619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52"/>
            <p:cNvSpPr/>
            <p:nvPr/>
          </p:nvSpPr>
          <p:spPr>
            <a:xfrm>
              <a:off x="4528700" y="404965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52"/>
          <p:cNvGrpSpPr/>
          <p:nvPr/>
        </p:nvGrpSpPr>
        <p:grpSpPr>
          <a:xfrm>
            <a:off x="5225350" y="3076800"/>
            <a:ext cx="729450" cy="846975"/>
            <a:chOff x="5225350" y="3076800"/>
            <a:chExt cx="729450" cy="846975"/>
          </a:xfrm>
        </p:grpSpPr>
        <p:sp>
          <p:nvSpPr>
            <p:cNvPr id="974" name="Google Shape;974;p52"/>
            <p:cNvSpPr/>
            <p:nvPr/>
          </p:nvSpPr>
          <p:spPr>
            <a:xfrm>
              <a:off x="5425700" y="33669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52"/>
            <p:cNvSpPr/>
            <p:nvPr/>
          </p:nvSpPr>
          <p:spPr>
            <a:xfrm>
              <a:off x="5669800" y="36387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52"/>
            <p:cNvSpPr/>
            <p:nvPr/>
          </p:nvSpPr>
          <p:spPr>
            <a:xfrm>
              <a:off x="5284600" y="31906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52"/>
            <p:cNvSpPr/>
            <p:nvPr/>
          </p:nvSpPr>
          <p:spPr>
            <a:xfrm>
              <a:off x="5225350" y="30768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52"/>
            <p:cNvSpPr/>
            <p:nvPr/>
          </p:nvSpPr>
          <p:spPr>
            <a:xfrm>
              <a:off x="5477200" y="34240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3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984" name="Google Shape;984;p53"/>
          <p:cNvCxnSpPr/>
          <p:nvPr/>
        </p:nvCxnSpPr>
        <p:spPr>
          <a:xfrm rot="10800000">
            <a:off x="3450325" y="3372550"/>
            <a:ext cx="4007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5" name="Google Shape;985;p53"/>
          <p:cNvSpPr txBox="1"/>
          <p:nvPr/>
        </p:nvSpPr>
        <p:spPr>
          <a:xfrm>
            <a:off x="7528275" y="3209225"/>
            <a:ext cx="10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 79%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6" name="Google Shape;986;p53"/>
          <p:cNvCxnSpPr/>
          <p:nvPr/>
        </p:nvCxnSpPr>
        <p:spPr>
          <a:xfrm>
            <a:off x="5369275" y="2652850"/>
            <a:ext cx="0" cy="1439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7" name="Google Shape;987;p53"/>
          <p:cNvSpPr txBox="1"/>
          <p:nvPr/>
        </p:nvSpPr>
        <p:spPr>
          <a:xfrm>
            <a:off x="95625" y="1375825"/>
            <a:ext cx="42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Rotamos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hasta que PC1 quede horizontal.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8" name="Google Shape;988;p53"/>
          <p:cNvSpPr txBox="1"/>
          <p:nvPr/>
        </p:nvSpPr>
        <p:spPr>
          <a:xfrm>
            <a:off x="4865438" y="2171550"/>
            <a:ext cx="10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 15%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89" name="Google Shape;989;p53"/>
          <p:cNvGrpSpPr/>
          <p:nvPr/>
        </p:nvGrpSpPr>
        <p:grpSpPr>
          <a:xfrm>
            <a:off x="4172529" y="3172824"/>
            <a:ext cx="3010556" cy="399896"/>
            <a:chOff x="4172529" y="3172824"/>
            <a:chExt cx="3010556" cy="399896"/>
          </a:xfrm>
        </p:grpSpPr>
        <p:sp>
          <p:nvSpPr>
            <p:cNvPr id="990" name="Google Shape;990;p53"/>
            <p:cNvSpPr/>
            <p:nvPr/>
          </p:nvSpPr>
          <p:spPr>
            <a:xfrm rot="2238237">
              <a:off x="6259730" y="3230064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3"/>
            <p:cNvSpPr/>
            <p:nvPr/>
          </p:nvSpPr>
          <p:spPr>
            <a:xfrm rot="2238237">
              <a:off x="6619474" y="3230128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3"/>
            <p:cNvSpPr/>
            <p:nvPr/>
          </p:nvSpPr>
          <p:spPr>
            <a:xfrm rot="2238237">
              <a:off x="6840721" y="3230208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3"/>
            <p:cNvSpPr/>
            <p:nvPr/>
          </p:nvSpPr>
          <p:spPr>
            <a:xfrm rot="2238237">
              <a:off x="4323313" y="3230060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53"/>
            <p:cNvSpPr/>
            <p:nvPr/>
          </p:nvSpPr>
          <p:spPr>
            <a:xfrm rot="2238237">
              <a:off x="4537569" y="3230292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53"/>
            <p:cNvSpPr/>
            <p:nvPr/>
          </p:nvSpPr>
          <p:spPr>
            <a:xfrm rot="2238237">
              <a:off x="4229765" y="3230356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6" name="Google Shape;996;p53"/>
          <p:cNvSpPr/>
          <p:nvPr/>
        </p:nvSpPr>
        <p:spPr>
          <a:xfrm>
            <a:off x="4361575" y="3372550"/>
            <a:ext cx="1007700" cy="27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7" name="Google Shape;997;p53"/>
          <p:cNvGrpSpPr/>
          <p:nvPr/>
        </p:nvGrpSpPr>
        <p:grpSpPr>
          <a:xfrm rot="2416463">
            <a:off x="5004583" y="2985869"/>
            <a:ext cx="729395" cy="846911"/>
            <a:chOff x="5225350" y="3076800"/>
            <a:chExt cx="729450" cy="846975"/>
          </a:xfrm>
        </p:grpSpPr>
        <p:sp>
          <p:nvSpPr>
            <p:cNvPr id="998" name="Google Shape;998;p53"/>
            <p:cNvSpPr/>
            <p:nvPr/>
          </p:nvSpPr>
          <p:spPr>
            <a:xfrm>
              <a:off x="5425700" y="33669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53"/>
            <p:cNvSpPr/>
            <p:nvPr/>
          </p:nvSpPr>
          <p:spPr>
            <a:xfrm>
              <a:off x="5669800" y="36387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53"/>
            <p:cNvSpPr/>
            <p:nvPr/>
          </p:nvSpPr>
          <p:spPr>
            <a:xfrm>
              <a:off x="5284600" y="31906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53"/>
            <p:cNvSpPr/>
            <p:nvPr/>
          </p:nvSpPr>
          <p:spPr>
            <a:xfrm>
              <a:off x="5225350" y="30768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53"/>
            <p:cNvSpPr/>
            <p:nvPr/>
          </p:nvSpPr>
          <p:spPr>
            <a:xfrm>
              <a:off x="5477200" y="34240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53"/>
          <p:cNvGrpSpPr/>
          <p:nvPr/>
        </p:nvGrpSpPr>
        <p:grpSpPr>
          <a:xfrm>
            <a:off x="2808100" y="2130888"/>
            <a:ext cx="2546550" cy="1392000"/>
            <a:chOff x="1148375" y="2421738"/>
            <a:chExt cx="2546550" cy="1392000"/>
          </a:xfrm>
        </p:grpSpPr>
        <p:sp>
          <p:nvSpPr>
            <p:cNvPr id="1004" name="Google Shape;1004;p53"/>
            <p:cNvSpPr txBox="1"/>
            <p:nvPr/>
          </p:nvSpPr>
          <p:spPr>
            <a:xfrm>
              <a:off x="1148375" y="2421738"/>
              <a:ext cx="100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Alumno 4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005" name="Google Shape;1005;p53"/>
            <p:cNvCxnSpPr>
              <a:stCxn id="1004" idx="2"/>
              <a:endCxn id="995" idx="3"/>
            </p:cNvCxnSpPr>
            <p:nvPr/>
          </p:nvCxnSpPr>
          <p:spPr>
            <a:xfrm>
              <a:off x="1652825" y="2821938"/>
              <a:ext cx="956100" cy="85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06" name="Google Shape;1006;p53"/>
            <p:cNvCxnSpPr>
              <a:stCxn id="1004" idx="2"/>
            </p:cNvCxnSpPr>
            <p:nvPr/>
          </p:nvCxnSpPr>
          <p:spPr>
            <a:xfrm>
              <a:off x="1652825" y="2821938"/>
              <a:ext cx="2042100" cy="99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07" name="Google Shape;1007;p53"/>
          <p:cNvSpPr/>
          <p:nvPr/>
        </p:nvSpPr>
        <p:spPr>
          <a:xfrm>
            <a:off x="4291925" y="35724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3"/>
          <p:cNvSpPr txBox="1"/>
          <p:nvPr/>
        </p:nvSpPr>
        <p:spPr>
          <a:xfrm>
            <a:off x="95625" y="1776025"/>
            <a:ext cx="42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Graficamos los ejemplos usando las proyecciones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9" name="Google Shape;1009;p53"/>
          <p:cNvSpPr/>
          <p:nvPr/>
        </p:nvSpPr>
        <p:spPr>
          <a:xfrm>
            <a:off x="6441300" y="37332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53"/>
          <p:cNvSpPr/>
          <p:nvPr/>
        </p:nvSpPr>
        <p:spPr>
          <a:xfrm>
            <a:off x="4599725" y="2967050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53"/>
          <p:cNvSpPr/>
          <p:nvPr/>
        </p:nvSpPr>
        <p:spPr>
          <a:xfrm>
            <a:off x="4382150" y="30484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53"/>
          <p:cNvSpPr/>
          <p:nvPr/>
        </p:nvSpPr>
        <p:spPr>
          <a:xfrm>
            <a:off x="6321900" y="28876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3"/>
          <p:cNvSpPr/>
          <p:nvPr/>
        </p:nvSpPr>
        <p:spPr>
          <a:xfrm>
            <a:off x="6883325" y="30484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3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30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5"/>
          <p:cNvSpPr txBox="1"/>
          <p:nvPr>
            <p:ph type="title"/>
          </p:nvPr>
        </p:nvSpPr>
        <p:spPr>
          <a:xfrm>
            <a:off x="45075" y="549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024" name="Google Shape;1024;p55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25" name="Google Shape;1025;p55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6" name="Google Shape;102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975" y="1955038"/>
            <a:ext cx="2545118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55"/>
          <p:cNvSpPr/>
          <p:nvPr/>
        </p:nvSpPr>
        <p:spPr>
          <a:xfrm>
            <a:off x="6455825" y="1792100"/>
            <a:ext cx="1396800" cy="29562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55"/>
          <p:cNvSpPr txBox="1"/>
          <p:nvPr/>
        </p:nvSpPr>
        <p:spPr>
          <a:xfrm>
            <a:off x="536225" y="3563075"/>
            <a:ext cx="5806800" cy="83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PC1 y PC2 se llevan el 90% de la variación total, eso quiere decir que podemos tener una buena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representación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2D,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cuán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dispersos están los datos.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6"/>
          <p:cNvSpPr txBox="1"/>
          <p:nvPr>
            <p:ph type="title"/>
          </p:nvPr>
        </p:nvSpPr>
        <p:spPr>
          <a:xfrm>
            <a:off x="138225" y="568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034" name="Google Shape;1034;p56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{C63CA04E-5F5B-42E9-9BAD-16A18EB1C55B}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5" name="Google Shape;1035;p56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6" name="Google Shape;1036;p56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037" name="Google Shape;1037;p56"/>
          <p:cNvSpPr/>
          <p:nvPr/>
        </p:nvSpPr>
        <p:spPr>
          <a:xfrm>
            <a:off x="5557000" y="31617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038" name="Google Shape;1038;p56"/>
          <p:cNvSpPr/>
          <p:nvPr/>
        </p:nvSpPr>
        <p:spPr>
          <a:xfrm>
            <a:off x="5192700" y="28271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039" name="Google Shape;1039;p56"/>
          <p:cNvSpPr/>
          <p:nvPr/>
        </p:nvSpPr>
        <p:spPr>
          <a:xfrm>
            <a:off x="6004088" y="28921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040" name="Google Shape;1040;p56"/>
          <p:cNvSpPr/>
          <p:nvPr/>
        </p:nvSpPr>
        <p:spPr>
          <a:xfrm>
            <a:off x="7988025" y="28272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1041" name="Google Shape;1041;p56"/>
          <p:cNvSpPr/>
          <p:nvPr/>
        </p:nvSpPr>
        <p:spPr>
          <a:xfrm>
            <a:off x="7201600" y="26335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042" name="Google Shape;1042;p56"/>
          <p:cNvSpPr/>
          <p:nvPr/>
        </p:nvSpPr>
        <p:spPr>
          <a:xfrm>
            <a:off x="7597175" y="30858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043" name="Google Shape;1043;p56"/>
          <p:cNvSpPr txBox="1"/>
          <p:nvPr/>
        </p:nvSpPr>
        <p:spPr>
          <a:xfrm>
            <a:off x="6267375" y="446935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PC1 (70%)</a:t>
            </a:r>
            <a:endParaRPr/>
          </a:p>
        </p:txBody>
      </p:sp>
      <p:cxnSp>
        <p:nvCxnSpPr>
          <p:cNvPr id="1044" name="Google Shape;1044;p56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045" name="Google Shape;1045;p56"/>
          <p:cNvSpPr txBox="1"/>
          <p:nvPr/>
        </p:nvSpPr>
        <p:spPr>
          <a:xfrm>
            <a:off x="4862725" y="179080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PC2 (20%)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7"/>
          <p:cNvSpPr txBox="1"/>
          <p:nvPr>
            <p:ph type="title"/>
          </p:nvPr>
        </p:nvSpPr>
        <p:spPr>
          <a:xfrm>
            <a:off x="45075" y="549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1051" name="Google Shape;1051;p57"/>
          <p:cNvSpPr txBox="1"/>
          <p:nvPr/>
        </p:nvSpPr>
        <p:spPr>
          <a:xfrm>
            <a:off x="836713" y="1295575"/>
            <a:ext cx="469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¿Qué pasa si el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 de Scree es así?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2" name="Google Shape;105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275" y="1808525"/>
            <a:ext cx="370522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57"/>
          <p:cNvSpPr txBox="1"/>
          <p:nvPr/>
        </p:nvSpPr>
        <p:spPr>
          <a:xfrm>
            <a:off x="4804825" y="1778000"/>
            <a:ext cx="406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Usar la representación de PC1 y PC2 no será suficientemente buena para ver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dispersión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los datos.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 todas formas,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aún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factible detectar agrupamiento de ejemplos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4" name="Google Shape;105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400" y="3091425"/>
            <a:ext cx="3738962" cy="17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8"/>
          <p:cNvSpPr txBox="1"/>
          <p:nvPr>
            <p:ph type="title"/>
          </p:nvPr>
        </p:nvSpPr>
        <p:spPr>
          <a:xfrm>
            <a:off x="821175" y="620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8"/>
          <p:cNvSpPr txBox="1"/>
          <p:nvPr>
            <p:ph idx="1" type="body"/>
          </p:nvPr>
        </p:nvSpPr>
        <p:spPr>
          <a:xfrm>
            <a:off x="729450" y="2257775"/>
            <a:ext cx="8026500" cy="24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</a:t>
            </a:r>
            <a:r>
              <a:rPr lang="en" sz="1700"/>
              <a:t>l </a:t>
            </a:r>
            <a:r>
              <a:rPr lang="en" sz="1700"/>
              <a:t>análisis</a:t>
            </a:r>
            <a:r>
              <a:rPr lang="en" sz="1700"/>
              <a:t> de componentes principales, o PCA, nos sirve para identificar si hay agrupamiento de datos en el espacio de entrada.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Podemos identificar correlaciones, </a:t>
            </a:r>
            <a:r>
              <a:rPr i="1" lang="en" sz="1700"/>
              <a:t>clusters</a:t>
            </a:r>
            <a:r>
              <a:rPr lang="en" sz="1700"/>
              <a:t> o bien entender </a:t>
            </a:r>
            <a:r>
              <a:rPr lang="en" sz="1700"/>
              <a:t>cuán</a:t>
            </a:r>
            <a:r>
              <a:rPr lang="en" sz="1700"/>
              <a:t> dispersos están los datos y sobre todo, sobre </a:t>
            </a:r>
            <a:r>
              <a:rPr lang="en" sz="1700"/>
              <a:t>qué</a:t>
            </a:r>
            <a:r>
              <a:rPr lang="en" sz="1700"/>
              <a:t> ejes o variables.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Es útil especialmente cuando no podemos representar el espacio de entrada sobre un eje cartesiano.</a:t>
            </a:r>
            <a:endParaRPr sz="1700"/>
          </a:p>
        </p:txBody>
      </p:sp>
      <p:sp>
        <p:nvSpPr>
          <p:cNvPr id="1061" name="Google Shape;1061;p58"/>
          <p:cNvSpPr txBox="1"/>
          <p:nvPr/>
        </p:nvSpPr>
        <p:spPr>
          <a:xfrm>
            <a:off x="729450" y="1347600"/>
            <a:ext cx="40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Resumen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