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5e4d32e6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5e4d32e6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5eac007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5eac007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5e4d32e6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5e4d32e6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5e4d32e6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35e4d32e6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5e4d32e6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35e4d32e6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5e4d32e6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5e4d32e6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5e4d32e6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5e4d32e6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5e4d32e6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5e4d32e6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5e4d32e6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5e4d32e6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5e4d32e6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5e4d32e6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5e4d32e6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5e4d32e6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5e4d32e6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5e4d32e6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35e4d32e6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35e4d32e6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1368775"/>
            <a:ext cx="76887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¿Qué pasa cuando tenemos una </a:t>
            </a:r>
            <a:r>
              <a:rPr b="1" lang="en"/>
              <a:t>variedad,</a:t>
            </a:r>
            <a:r>
              <a:rPr lang="en"/>
              <a:t> usando la definición </a:t>
            </a:r>
            <a:r>
              <a:rPr lang="en"/>
              <a:t>matemática</a:t>
            </a:r>
            <a:r>
              <a:rPr lang="en"/>
              <a:t>, sobre la cual están distribuidos los datos?</a:t>
            </a:r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31325" y="2088450"/>
            <a:ext cx="76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Una variedad es una porción del espacio, de dimensión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que se parece a ℝ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/>
              <a:t>, en un espació de dimensión mayor. (hablando mal y pronto)</a:t>
            </a:r>
            <a:endParaRPr baseline="300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25" y="2863525"/>
            <a:ext cx="38100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092225" y="2850450"/>
            <a:ext cx="484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porción del espacio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ℝ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3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delimitada por alfa, beta y gama es aproximadamente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triángulo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ℝ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Hipótesis</a:t>
            </a:r>
            <a:r>
              <a:rPr lang="en"/>
              <a:t> de variedades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1853850"/>
            <a:ext cx="76887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</a:t>
            </a:r>
            <a:r>
              <a:rPr lang="en"/>
              <a:t>hipótesis</a:t>
            </a:r>
            <a:r>
              <a:rPr lang="en"/>
              <a:t> sostiene que la </a:t>
            </a:r>
            <a:r>
              <a:rPr lang="en"/>
              <a:t>mayoría</a:t>
            </a:r>
            <a:r>
              <a:rPr lang="en"/>
              <a:t> de los conjuntos de datos de alta dimensión del mundo real </a:t>
            </a:r>
            <a:r>
              <a:rPr lang="en"/>
              <a:t>quedan</a:t>
            </a:r>
            <a:r>
              <a:rPr lang="en"/>
              <a:t> cerca de una variedad con muchas menos dimensiones.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Este supuesto se observa a menudo de forma </a:t>
            </a:r>
            <a:r>
              <a:rPr lang="en"/>
              <a:t>empírica</a:t>
            </a:r>
            <a:r>
              <a:rPr lang="en"/>
              <a:t>. </a:t>
            </a:r>
            <a:endParaRPr/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1932325" y="3154950"/>
            <a:ext cx="7005600" cy="17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/>
              <a:t>Ejemplo</a:t>
            </a:r>
            <a:r>
              <a:rPr lang="en"/>
              <a:t>: </a:t>
            </a:r>
            <a:r>
              <a:rPr b="1" lang="en"/>
              <a:t>MNIST</a:t>
            </a:r>
            <a:r>
              <a:rPr lang="en"/>
              <a:t> tiene datos de entrada en un espacio de 784 dimensiones (28x28 </a:t>
            </a:r>
            <a:r>
              <a:rPr lang="en"/>
              <a:t>píxeles</a:t>
            </a:r>
            <a:r>
              <a:rPr lang="en"/>
              <a:t>). Si </a:t>
            </a:r>
            <a:r>
              <a:rPr lang="en"/>
              <a:t>generamos</a:t>
            </a:r>
            <a:r>
              <a:rPr lang="en"/>
              <a:t> </a:t>
            </a:r>
            <a:r>
              <a:rPr lang="en"/>
              <a:t>imágenes</a:t>
            </a:r>
            <a:r>
              <a:rPr lang="en"/>
              <a:t> aleatorias, permitiendo total libertad en cada dimensión (cada </a:t>
            </a:r>
            <a:r>
              <a:rPr lang="en"/>
              <a:t>dimensión</a:t>
            </a:r>
            <a:r>
              <a:rPr lang="en"/>
              <a:t> puede ir de 0 a 255), </a:t>
            </a:r>
            <a:r>
              <a:rPr lang="en"/>
              <a:t>sólo</a:t>
            </a:r>
            <a:r>
              <a:rPr lang="en"/>
              <a:t> una fracción </a:t>
            </a:r>
            <a:r>
              <a:rPr lang="en"/>
              <a:t>increíblemente</a:t>
            </a:r>
            <a:r>
              <a:rPr lang="en"/>
              <a:t> pequeña </a:t>
            </a:r>
            <a:r>
              <a:rPr lang="en"/>
              <a:t>podrían</a:t>
            </a:r>
            <a:r>
              <a:rPr lang="en"/>
              <a:t> ser catalogados de números manuscritos (cercana a cero). Al observarlas vemos que tienen similitudes: </a:t>
            </a:r>
            <a:r>
              <a:rPr lang="en"/>
              <a:t>líneas</a:t>
            </a:r>
            <a:r>
              <a:rPr lang="en"/>
              <a:t> conectadas, centradas, contraste, etc. A la fuerza deben ocupar un subespacio mucho menor que ℝ</a:t>
            </a:r>
            <a:r>
              <a:rPr baseline="30000" lang="en"/>
              <a:t>784</a:t>
            </a:r>
            <a:endParaRPr baseline="30000"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25" y="3407350"/>
            <a:ext cx="1791800" cy="108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272400" y="1912050"/>
            <a:ext cx="2871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aplico PCA para reducir la dimensionalidad y ver los datos obtengo esto.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bien puedo verificar que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euclidiana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los puntos azules y los rojos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quizá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 es tanta,  si sigo el camino siguiendo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topología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los datos (la “S”), la distancia entre estos 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máxima (mayor que entre cualquier otro par de puntos de colores)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50" y="2009588"/>
            <a:ext cx="30480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025" y="1918975"/>
            <a:ext cx="2947308" cy="30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727650" y="1134175"/>
            <a:ext cx="5468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Supongamos que en </a:t>
            </a:r>
            <a:r>
              <a:rPr lang="en" sz="1400">
                <a:solidFill>
                  <a:srgbClr val="000000"/>
                </a:solidFill>
              </a:rPr>
              <a:t>ℝ</a:t>
            </a:r>
            <a:r>
              <a:rPr baseline="30000" lang="en" sz="1400">
                <a:solidFill>
                  <a:srgbClr val="000000"/>
                </a:solidFill>
              </a:rPr>
              <a:t>3</a:t>
            </a:r>
            <a:r>
              <a:rPr lang="en"/>
              <a:t> los datos se distribuyen como en una S. El color me muestra la variable de salida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727650" y="1134175"/>
            <a:ext cx="5468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Supongamos que en </a:t>
            </a:r>
            <a:r>
              <a:rPr lang="en" sz="1400">
                <a:solidFill>
                  <a:srgbClr val="000000"/>
                </a:solidFill>
              </a:rPr>
              <a:t>ℝ</a:t>
            </a:r>
            <a:r>
              <a:rPr baseline="30000" lang="en" sz="1400">
                <a:solidFill>
                  <a:srgbClr val="000000"/>
                </a:solidFill>
              </a:rPr>
              <a:t>3</a:t>
            </a:r>
            <a:r>
              <a:rPr lang="en"/>
              <a:t> los datos se distribuyen como en una S. El color me muestra la variable de salida</a:t>
            </a:r>
            <a:endParaRPr/>
          </a:p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50" y="2009588"/>
            <a:ext cx="30480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025" y="1918975"/>
            <a:ext cx="2947308" cy="3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6325" y="2233888"/>
            <a:ext cx="2827725" cy="25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6364100" y="1220600"/>
            <a:ext cx="260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¡Este es el tipo de proyección que quisiera obtener!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729450" y="1460500"/>
            <a:ext cx="7688700" cy="14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puedo obtener una proyección así?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Utilizando la distancia </a:t>
            </a:r>
            <a:r>
              <a:rPr b="1" lang="en"/>
              <a:t>Geodésica</a:t>
            </a:r>
            <a:r>
              <a:rPr lang="en"/>
              <a:t> en lugar de la distancia </a:t>
            </a:r>
            <a:r>
              <a:rPr b="1" lang="en"/>
              <a:t>Euclidiana</a:t>
            </a:r>
            <a:r>
              <a:rPr lang="en"/>
              <a:t>!!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 geometría, </a:t>
            </a:r>
            <a:r>
              <a:rPr b="1" lang="en"/>
              <a:t>la línea geodésica</a:t>
            </a:r>
            <a:r>
              <a:rPr lang="en"/>
              <a:t> se define como la línea de mínima longitud que une dos puntos en una superficie dada, y está c</a:t>
            </a:r>
            <a:r>
              <a:rPr b="1" lang="en"/>
              <a:t>ontenida en esta superficie</a:t>
            </a:r>
            <a:r>
              <a:rPr lang="en"/>
              <a:t>. </a:t>
            </a:r>
            <a:endParaRPr/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175" y="2885800"/>
            <a:ext cx="35052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4755425" y="3446463"/>
            <a:ext cx="4064100" cy="831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 hay un problema. No sé a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priori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si los datos siguen una forma particular o no. Y muchos menos sé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forma podría ser esa.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729450" y="1397000"/>
            <a:ext cx="7688700" cy="7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Existe un algoritmo que me permite aproxima la forma de los datos y calcular la distancia </a:t>
            </a:r>
            <a:r>
              <a:rPr lang="en"/>
              <a:t>Geodésica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ISOMAP</a:t>
            </a:r>
            <a:endParaRPr b="1"/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grpSp>
        <p:nvGrpSpPr>
          <p:cNvPr id="139" name="Google Shape;139;p19"/>
          <p:cNvGrpSpPr/>
          <p:nvPr/>
        </p:nvGrpSpPr>
        <p:grpSpPr>
          <a:xfrm>
            <a:off x="364063" y="2151950"/>
            <a:ext cx="3255438" cy="2839150"/>
            <a:chOff x="364063" y="2151950"/>
            <a:chExt cx="3255438" cy="2839150"/>
          </a:xfrm>
        </p:grpSpPr>
        <p:pic>
          <p:nvPicPr>
            <p:cNvPr id="140" name="Google Shape;140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4075" y="2813475"/>
              <a:ext cx="3255425" cy="2177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9"/>
            <p:cNvSpPr txBox="1"/>
            <p:nvPr/>
          </p:nvSpPr>
          <p:spPr>
            <a:xfrm>
              <a:off x="364063" y="2151950"/>
              <a:ext cx="2638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Supongamos que tengo esta distribución de datos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2" name="Google Shape;142;p19"/>
          <p:cNvGrpSpPr/>
          <p:nvPr/>
        </p:nvGrpSpPr>
        <p:grpSpPr>
          <a:xfrm>
            <a:off x="4415250" y="1848550"/>
            <a:ext cx="4064100" cy="3142550"/>
            <a:chOff x="4415250" y="1848550"/>
            <a:chExt cx="4064100" cy="3142550"/>
          </a:xfrm>
        </p:grpSpPr>
        <p:pic>
          <p:nvPicPr>
            <p:cNvPr id="143" name="Google Shape;14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04534" y="2571750"/>
              <a:ext cx="3154416" cy="241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9"/>
            <p:cNvSpPr txBox="1"/>
            <p:nvPr/>
          </p:nvSpPr>
          <p:spPr>
            <a:xfrm>
              <a:off x="4415250" y="1848550"/>
              <a:ext cx="4064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Solo a modo de ejemplo, para dos observaciones dadas, vemos la distancia Euclidiana (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línea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punteada) y la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Geodésica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729450" y="1654900"/>
            <a:ext cx="7688700" cy="26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Construiremos un grafo pesado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Para cada punto en el espacio de entrada, tomamos los </a:t>
            </a:r>
            <a:r>
              <a:rPr b="1" lang="en"/>
              <a:t>K</a:t>
            </a:r>
            <a:r>
              <a:rPr lang="en"/>
              <a:t> vecinos más cercanos (usamos la distancia Euclidiana para esto) </a:t>
            </a:r>
            <a:r>
              <a:rPr b="1" lang="en">
                <a:solidFill>
                  <a:srgbClr val="38761D"/>
                </a:solidFill>
              </a:rPr>
              <a:t>Nota</a:t>
            </a:r>
            <a:r>
              <a:rPr lang="en">
                <a:solidFill>
                  <a:srgbClr val="38761D"/>
                </a:solidFill>
              </a:rPr>
              <a:t>: k es un parámetro del método</a:t>
            </a:r>
            <a:endParaRPr>
              <a:solidFill>
                <a:srgbClr val="38761D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Trazamos aristas que conectan cada punto con sus vecinos más cercanos y ponderamos esas aristas según la distancia Euclidiana calculada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637" y="2970400"/>
            <a:ext cx="2990325" cy="20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818450" y="1270000"/>
            <a:ext cx="481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intentar aproximar la distancia Geodésica: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729450" y="1654900"/>
            <a:ext cx="7688700" cy="26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Construiremos un grafo pesado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Para cada punto en el espacio de entrada, tomamos los </a:t>
            </a:r>
            <a:r>
              <a:rPr b="1" lang="en"/>
              <a:t>K</a:t>
            </a:r>
            <a:r>
              <a:rPr lang="en"/>
              <a:t> vecinos más cercanos (usamos la distancia Euclidiana para esto) </a:t>
            </a:r>
            <a:r>
              <a:rPr b="1" lang="en">
                <a:solidFill>
                  <a:srgbClr val="38761D"/>
                </a:solidFill>
              </a:rPr>
              <a:t>Nota</a:t>
            </a:r>
            <a:r>
              <a:rPr lang="en">
                <a:solidFill>
                  <a:srgbClr val="38761D"/>
                </a:solidFill>
              </a:rPr>
              <a:t>: k es un parámetro del método</a:t>
            </a:r>
            <a:endParaRPr>
              <a:solidFill>
                <a:srgbClr val="38761D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Trazamos aristas que conectan cada punto con sus vecinos más cercanos y ponderamos esas aristas según la distancia Euclidiana calculada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Construimos una matriz de distancias entre todos los puntos, para dicha matriz usamos un algoritmo para encontrar la distancia más corta entre dos nodos en un grafo: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Algoritmo de </a:t>
            </a:r>
            <a:r>
              <a:rPr b="1" lang="en"/>
              <a:t>Dijkstra</a:t>
            </a:r>
            <a:r>
              <a:rPr lang="en"/>
              <a:t> o de </a:t>
            </a:r>
            <a:r>
              <a:rPr b="1" lang="en"/>
              <a:t>Floyd-Warshall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322" y="3471937"/>
            <a:ext cx="2282699" cy="15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818450" y="1270000"/>
            <a:ext cx="481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intentar aproximar la distancia Geodésica:</a:t>
            </a:r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474" y="3436050"/>
            <a:ext cx="3120149" cy="16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729450" y="1654900"/>
            <a:ext cx="7688700" cy="26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Construiremos un grafo pesado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Para cada punto en el espacio de entrada, tomamos los </a:t>
            </a:r>
            <a:r>
              <a:rPr b="1" lang="en"/>
              <a:t>K</a:t>
            </a:r>
            <a:r>
              <a:rPr lang="en"/>
              <a:t> vecinos más cercanos (usamos la distancia Euclidiana para esto) </a:t>
            </a:r>
            <a:r>
              <a:rPr b="1" lang="en">
                <a:solidFill>
                  <a:srgbClr val="38761D"/>
                </a:solidFill>
              </a:rPr>
              <a:t>Nota</a:t>
            </a:r>
            <a:r>
              <a:rPr lang="en">
                <a:solidFill>
                  <a:srgbClr val="38761D"/>
                </a:solidFill>
              </a:rPr>
              <a:t>: k es un parámetro del método</a:t>
            </a:r>
            <a:endParaRPr>
              <a:solidFill>
                <a:srgbClr val="38761D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Trazamos aristas que conectan cada punto con sus vecinos más cercanos y ponderamos esas aristas según la distancia Euclidiana calculada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Construimos una matriz de distancias entre todos los puntos, para dicha matriz usamos un algoritmo para encontrar la distancia más corta entre dos nodos en un grafo: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Algoritmo de </a:t>
            </a:r>
            <a:r>
              <a:rPr b="1" lang="en"/>
              <a:t>Dijkstra</a:t>
            </a:r>
            <a:r>
              <a:rPr lang="en"/>
              <a:t> o de </a:t>
            </a:r>
            <a:r>
              <a:rPr b="1" lang="en"/>
              <a:t>Floyd-Warshall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Usamos MDS según se vio, pero con la matriz de distancia antes calculada.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818450" y="1270000"/>
            <a:ext cx="481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intentar aproximar la distancia Geodésica: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818450" y="1270000"/>
            <a:ext cx="143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Resultado final:</a:t>
            </a:r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275" y="726552"/>
            <a:ext cx="3468700" cy="432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729450" y="1855600"/>
            <a:ext cx="7688700" cy="24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un algoritmo lento,  a</a:t>
            </a:r>
            <a:r>
              <a:rPr lang="en"/>
              <a:t> partir de 1000 observaciones comienza a notarse la lentitud.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puede crear una proyección errónea s</a:t>
            </a:r>
            <a:r>
              <a:rPr lang="en"/>
              <a:t>i </a:t>
            </a:r>
            <a:r>
              <a:rPr b="1" lang="en"/>
              <a:t>k</a:t>
            </a:r>
            <a:r>
              <a:rPr lang="en"/>
              <a:t> es demasiado grande con respecto a la estructura de la variedad o si hay ruido en los datos, de tal forma que los puntos </a:t>
            </a:r>
            <a:r>
              <a:rPr lang="en"/>
              <a:t>aparecen</a:t>
            </a:r>
            <a:r>
              <a:rPr lang="en"/>
              <a:t> </a:t>
            </a:r>
            <a:r>
              <a:rPr lang="en"/>
              <a:t>ligeramente </a:t>
            </a:r>
            <a:r>
              <a:rPr lang="en"/>
              <a:t>movidos, fuera de la variedad</a:t>
            </a:r>
            <a:r>
              <a:rPr lang="en"/>
              <a:t>.</a:t>
            </a:r>
            <a:r>
              <a:rPr lang="en"/>
              <a:t> </a:t>
            </a:r>
            <a:r>
              <a:rPr lang="en"/>
              <a:t>Incluso</a:t>
            </a:r>
            <a:r>
              <a:rPr lang="en"/>
              <a:t> un solo dato mal medido puede</a:t>
            </a:r>
            <a:r>
              <a:rPr lang="en"/>
              <a:t> </a:t>
            </a:r>
            <a:r>
              <a:rPr lang="en"/>
              <a:t>alterar muchas entradas en la matriz de distancia geodésica.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 k es demasiado pequeño, el gráfico de vecindad puede volverse demasiado escaso para aproximar las trayectorias geodésicas con precisión. 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729450" y="1615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Debilidades: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2"/>
                </a:solidFill>
              </a:rPr>
              <a:t>Landmark ISOMAP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Landmark ISOMAP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Tengo N datos especiales, siendo que N es menor que el </a:t>
            </a:r>
            <a:r>
              <a:rPr lang="en"/>
              <a:t>número</a:t>
            </a:r>
            <a:r>
              <a:rPr lang="en"/>
              <a:t> total de datos. Y solo tomo las </a:t>
            </a:r>
            <a:r>
              <a:rPr lang="en"/>
              <a:t>distancias</a:t>
            </a:r>
            <a:r>
              <a:rPr lang="en"/>
              <a:t> que </a:t>
            </a:r>
            <a:r>
              <a:rPr lang="en"/>
              <a:t>involucran</a:t>
            </a:r>
            <a:r>
              <a:rPr lang="en"/>
              <a:t> a estos N datos especiales.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puedo elegir de forma uniformemente distribuida.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Luego se aplica Landmark-MDS (LMDS) en la matriz de distancias calculadas para encontrar una proyección euclidiana de todos los puntos en el conjunto </a:t>
            </a:r>
            <a:r>
              <a:rPr lang="en"/>
              <a:t>original</a:t>
            </a:r>
            <a:r>
              <a:rPr lang="en"/>
              <a:t> de datos.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