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y="5143500" cx="9144000"/>
  <p:notesSz cx="6858000" cy="9144000"/>
  <p:embeddedFontLst>
    <p:embeddedFont>
      <p:font typeface="Nunito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C52A84-1B2C-4157-B61F-0C8E92808CC7}">
  <a:tblStyle styleId="{75C52A84-1B2C-4157-B61F-0C8E92808C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FDAC55A-BDDF-41FE-BF87-5565860FFAE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Nunito-boldItalic.fntdata"/><Relationship Id="rId72" Type="http://schemas.openxmlformats.org/officeDocument/2006/relationships/font" Target="fonts/Nunito-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Nunito-bold.fntdata"/><Relationship Id="rId70" Type="http://schemas.openxmlformats.org/officeDocument/2006/relationships/font" Target="fonts/Nunito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96eea1c8c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96eea1c8c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96eea1c8c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96eea1c8c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96eea1c8c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96eea1c8c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96eea1c8c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96eea1c8c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96eea1c8c_0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96eea1c8c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96eea1c8c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96eea1c8c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96eea1c8c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96eea1c8c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96eea1c8c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96eea1c8c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96eea1c8c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96eea1c8c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96eea1c8c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96eea1c8c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96eea1c8c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96eea1c8c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96eea1c8c_0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96eea1c8c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96eea1c8c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96eea1c8c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96eea1c8c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96eea1c8c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96eea1c8c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96eea1c8c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96eea1c8c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96eea1c8c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96eea1c8c_0_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96eea1c8c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96eea1c8c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96eea1c8c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96eea1c8c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96eea1c8c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971d75a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971d75a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971d75a5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971d75a5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971d75a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971d75a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971d75a5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971d75a5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971d75a5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971d75a5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971d75a5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971d75a5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971d75a5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971d75a5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971d75a5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971d75a5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971d75a5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971d75a5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971d75a5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971d75a5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971d75a5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971d75a5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971d75a5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971d75a5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971d75a5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971d75a5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971d75a5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971d75a5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971d75a5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971d75a5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971d75a5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971d75a5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971d75a5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971d75a5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971d75a5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971d75a5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971d75a56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971d75a56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971d75a56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971d75a56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971d75a56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971d75a56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971d75a56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971d75a56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879543b7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879543b7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879543b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879543b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879543b7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879543b7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879543b7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879543b7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879543b7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879543b7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879543b7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879543b7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879543b7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879543b7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879543b7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879543b7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879543b7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879543b7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879543b7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879543b7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879543b7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879543b7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879543b7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879543b7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879543b7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879543b7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879543b7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879543b7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20982d85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20982d85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20982d85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20982d85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20982d85b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20982d85b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20982d85b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20982d85b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20982d85b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120982d85b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20982d85b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20982d85b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20982d85b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20982d85b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2159d860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2159d860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://demo.ark.cs.cmu.edu/parse" TargetMode="External"/><Relationship Id="rId4" Type="http://schemas.openxmlformats.org/officeDocument/2006/relationships/hyperlink" Target="http://nlp.stanford.edu:8080/parser/index.jsp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://www.cs.waikato.ac.nz/ml/weka/" TargetMode="External"/><Relationship Id="rId4" Type="http://schemas.openxmlformats.org/officeDocument/2006/relationships/hyperlink" Target="http://www.cs.waikato.ac.nz/ml/weka/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hyperlink" Target="https://blog.google/products/search/introducing-knowledge-graph-things-not/" TargetMode="Externa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824000" y="476975"/>
            <a:ext cx="7845600" cy="105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Extracción de Información</a:t>
            </a: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442" y="1770058"/>
            <a:ext cx="4727120" cy="30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2066150" y="12474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Extracción de Información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El objetivo de la extracción de información es capturar ciertas </a:t>
            </a:r>
            <a:r>
              <a:rPr b="1" lang="en" sz="1800">
                <a:solidFill>
                  <a:srgbClr val="000000"/>
                </a:solidFill>
              </a:rPr>
              <a:t>partes relevantes </a:t>
            </a:r>
            <a:r>
              <a:rPr lang="en" sz="1800">
                <a:solidFill>
                  <a:srgbClr val="000000"/>
                </a:solidFill>
              </a:rPr>
              <a:t>de un </a:t>
            </a:r>
            <a:r>
              <a:rPr b="1" lang="en" sz="1800">
                <a:solidFill>
                  <a:srgbClr val="000000"/>
                </a:solidFill>
              </a:rPr>
              <a:t>texto</a:t>
            </a:r>
            <a:r>
              <a:rPr lang="en" sz="1800">
                <a:solidFill>
                  <a:srgbClr val="000000"/>
                </a:solidFill>
              </a:rPr>
              <a:t>. Muchas veces en el contexto de varios documentos distintos, y generar luego, con dicha información, una representación estructurada, limpia y legible, como podría ser una tupla en una base de datos relacional.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Información </a:t>
            </a:r>
            <a:r>
              <a:rPr lang="en"/>
              <a:t>fáctica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559800"/>
            <a:ext cx="7505700" cy="28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¿Quién hizo qué a quién y cuándo?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Ejemplo: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Las oficinas de Google </a:t>
            </a: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 Argentina</a:t>
            </a: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ya tienen su historia. La empresa abrió su filial local en 2008 en Puerto Madero. Allí trabajan 215 empleados en los 6000 m2 que ocupan las instalaciones.</a:t>
            </a:r>
            <a:endParaRPr b="1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Información factica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559800"/>
            <a:ext cx="7505700" cy="28788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Ejemplo: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Las oficinas de </a:t>
            </a:r>
            <a:r>
              <a:rPr lang="en" sz="1800" u="sng">
                <a:solidFill>
                  <a:srgbClr val="000000"/>
                </a:solidFill>
                <a:highlight>
                  <a:srgbClr val="F1C232"/>
                </a:highlight>
                <a:latin typeface="Courier New"/>
                <a:ea typeface="Courier New"/>
                <a:cs typeface="Courier New"/>
                <a:sym typeface="Courier New"/>
              </a:rPr>
              <a:t>Google</a:t>
            </a:r>
            <a:r>
              <a:rPr lang="en" sz="1800">
                <a:solidFill>
                  <a:srgbClr val="000000"/>
                </a:solidFill>
                <a:highlight>
                  <a:srgbClr val="F1C23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 Argentina</a:t>
            </a: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ya tienen su historia. La empresa </a:t>
            </a:r>
            <a:r>
              <a:rPr lang="en" sz="18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abrió </a:t>
            </a: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su </a:t>
            </a:r>
            <a:r>
              <a:rPr lang="en" sz="18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filial local</a:t>
            </a: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en </a:t>
            </a:r>
            <a:r>
              <a:rPr lang="en" sz="1800" u="sng">
                <a:solidFill>
                  <a:srgbClr val="000000"/>
                </a:solidFill>
                <a:highlight>
                  <a:srgbClr val="F1C232"/>
                </a:highlight>
                <a:latin typeface="Courier New"/>
                <a:ea typeface="Courier New"/>
                <a:cs typeface="Courier New"/>
                <a:sym typeface="Courier New"/>
              </a:rPr>
              <a:t>2008 </a:t>
            </a: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 </a:t>
            </a:r>
            <a:r>
              <a:rPr lang="en" sz="1800" u="sng">
                <a:solidFill>
                  <a:srgbClr val="000000"/>
                </a:solidFill>
                <a:highlight>
                  <a:srgbClr val="F1C232"/>
                </a:highlight>
                <a:latin typeface="Courier New"/>
                <a:ea typeface="Courier New"/>
                <a:cs typeface="Courier New"/>
                <a:sym typeface="Courier New"/>
              </a:rPr>
              <a:t>Puerto Madero</a:t>
            </a: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 Allí trabajan 215 empleados en los 6000 m2 que ocupan las instalaciones.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SEDE("Google_Argentina", "Puerto Madero")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APERTURA_SEDE("Google_Argentina", "2008")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Historia</a:t>
            </a:r>
            <a:endParaRPr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1469600"/>
            <a:ext cx="7505700" cy="29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1991: DARPA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"Construir sistemas robustos capaces de llenar plantillas con piezas de conocimiento sobre el terrorismo en América Latina"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</a:t>
            </a:r>
            <a:r>
              <a:rPr lang="en" sz="1800"/>
              <a:t>echas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Ubicaciones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Perpetradores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armas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víctimas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objetivos físicos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819150" y="747675"/>
            <a:ext cx="7505700" cy="36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Para fines de los 90’ los dominios habían cambiado:</a:t>
            </a:r>
            <a:br>
              <a:rPr b="1" lang="en" sz="2000"/>
            </a:b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joint ventures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microelectrónica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sucesión de gestiones empresariales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000"/>
              <a:t>Este tipo de sistemas estaban basados en reglas de coincidencia de patrones creados a mano</a:t>
            </a:r>
            <a:endParaRPr b="1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819150" y="845600"/>
            <a:ext cx="7505700" cy="5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Métodos</a:t>
            </a:r>
            <a:r>
              <a:rPr lang="en" sz="2600"/>
              <a:t> supervisados y auto-supervisados</a:t>
            </a:r>
            <a:endParaRPr sz="2600"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819150" y="1546925"/>
            <a:ext cx="7505700" cy="28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Supervisados: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Requieren un conjunto de datos previamente etiquetados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Requieren tiempo, esfuerzo y una intervención humana importante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Auto-Supervisados: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Aprenden a etiquetar y generar su propio conjunto de entrenamiento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Son escalables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Information Extraction</a:t>
            </a:r>
            <a:endParaRPr/>
          </a:p>
        </p:txBody>
      </p:sp>
      <p:sp>
        <p:nvSpPr>
          <p:cNvPr id="176" name="Google Shape;176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2007</a:t>
            </a:r>
            <a:r>
              <a:rPr lang="en" sz="1800"/>
              <a:t>: </a:t>
            </a:r>
            <a:r>
              <a:rPr lang="en" sz="1800"/>
              <a:t>Métodos</a:t>
            </a:r>
            <a:r>
              <a:rPr lang="en" sz="1800"/>
              <a:t> de extracción para la Web (Open Information Extraction)</a:t>
            </a:r>
            <a:br>
              <a:rPr lang="en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 supervisados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Independientes del dominio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Trabajan con grandes cantidades de datos (corpuses)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 de extracción de información</a:t>
            </a:r>
            <a:endParaRPr/>
          </a:p>
        </p:txBody>
      </p:sp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819150" y="1990725"/>
            <a:ext cx="7505700" cy="25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Detección automática de eventos en un e-mail de Apple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183" name="Google Shape;18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325" y="1990725"/>
            <a:ext cx="7334525" cy="1576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588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819150" y="845600"/>
            <a:ext cx="7405200" cy="28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Reconocimiento de nombres de entidades (NER)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type="title"/>
          </p:nvPr>
        </p:nvSpPr>
        <p:spPr>
          <a:xfrm>
            <a:off x="819150" y="845600"/>
            <a:ext cx="75057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Reconocimiento de nombres de entidades (NER)</a:t>
            </a:r>
            <a:endParaRPr sz="2600"/>
          </a:p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819150" y="1469575"/>
            <a:ext cx="7505700" cy="29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Ready Player One es un libro de ciencia ficción. Es la primera novela de Ernest Cline. El libro fue publicado en España en noviembre de 2011 por Ediciones B.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Es el año 2044 y el mundo es un desastre. Las fuentes de energía fósiles están prácticamente agotadas y el precio del combustible está por las nubes. En medio de una enorme depresión a nivel mundial la mayoría de la gente subsiste como puede. Sin embargo un videojuego de realidad virtual llamado OASIS proporciona ...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type="title"/>
          </p:nvPr>
        </p:nvSpPr>
        <p:spPr>
          <a:xfrm>
            <a:off x="819150" y="845600"/>
            <a:ext cx="75057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Reconocimiento de nombres de entidades (NER)</a:t>
            </a:r>
            <a:endParaRPr sz="2600"/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819150" y="1469575"/>
            <a:ext cx="7505700" cy="2969100"/>
          </a:xfrm>
          <a:prstGeom prst="rect">
            <a:avLst/>
          </a:prstGeom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000000"/>
                </a:solidFill>
                <a:highlight>
                  <a:srgbClr val="F1C232"/>
                </a:highlight>
                <a:latin typeface="Courier New"/>
                <a:ea typeface="Courier New"/>
                <a:cs typeface="Courier New"/>
                <a:sym typeface="Courier New"/>
              </a:rPr>
              <a:t>Ready Player One</a:t>
            </a: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es un libro de ciencia ficción. Es la primera novela de </a:t>
            </a:r>
            <a:r>
              <a:rPr lang="en" sz="1600">
                <a:solidFill>
                  <a:srgbClr val="000000"/>
                </a:solidFill>
                <a:highlight>
                  <a:srgbClr val="F1C232"/>
                </a:highlight>
                <a:latin typeface="Courier New"/>
                <a:ea typeface="Courier New"/>
                <a:cs typeface="Courier New"/>
                <a:sym typeface="Courier New"/>
              </a:rPr>
              <a:t>Ernest Cline</a:t>
            </a: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 El libro fue publicado en </a:t>
            </a:r>
            <a:r>
              <a:rPr lang="en" sz="1600">
                <a:solidFill>
                  <a:srgbClr val="000000"/>
                </a:solidFill>
                <a:highlight>
                  <a:srgbClr val="F1C232"/>
                </a:highlight>
                <a:latin typeface="Courier New"/>
                <a:ea typeface="Courier New"/>
                <a:cs typeface="Courier New"/>
                <a:sym typeface="Courier New"/>
              </a:rPr>
              <a:t>España </a:t>
            </a: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 noviembre de </a:t>
            </a:r>
            <a:r>
              <a:rPr lang="en" sz="1600">
                <a:solidFill>
                  <a:srgbClr val="000000"/>
                </a:solidFill>
                <a:highlight>
                  <a:srgbClr val="F1C232"/>
                </a:highlight>
                <a:latin typeface="Courier New"/>
                <a:ea typeface="Courier New"/>
                <a:cs typeface="Courier New"/>
                <a:sym typeface="Courier New"/>
              </a:rPr>
              <a:t>2011 </a:t>
            </a: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por </a:t>
            </a:r>
            <a:r>
              <a:rPr lang="en" sz="1600">
                <a:solidFill>
                  <a:srgbClr val="000000"/>
                </a:solidFill>
                <a:highlight>
                  <a:srgbClr val="F1C232"/>
                </a:highlight>
                <a:latin typeface="Courier New"/>
                <a:ea typeface="Courier New"/>
                <a:cs typeface="Courier New"/>
                <a:sym typeface="Courier New"/>
              </a:rPr>
              <a:t>Ediciones B</a:t>
            </a: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Es el año </a:t>
            </a:r>
            <a:r>
              <a:rPr lang="en" sz="1600">
                <a:solidFill>
                  <a:srgbClr val="000000"/>
                </a:solidFill>
                <a:highlight>
                  <a:srgbClr val="F1C232"/>
                </a:highlight>
                <a:latin typeface="Courier New"/>
                <a:ea typeface="Courier New"/>
                <a:cs typeface="Courier New"/>
                <a:sym typeface="Courier New"/>
              </a:rPr>
              <a:t>2044</a:t>
            </a: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y el mundo es un desastre. Las fuentes de energía fósiles están prácticamente agotadas y el precio del combustible está por las nubes. En medio de una enorme depresión a nivel mundial la mayoría de la gente subsiste como puede. Sin embargo un videojuego de realidad virtual llamado </a:t>
            </a:r>
            <a:r>
              <a:rPr lang="en" sz="1600">
                <a:solidFill>
                  <a:srgbClr val="000000"/>
                </a:solidFill>
                <a:highlight>
                  <a:srgbClr val="F1C232"/>
                </a:highlight>
                <a:latin typeface="Courier New"/>
                <a:ea typeface="Courier New"/>
                <a:cs typeface="Courier New"/>
                <a:sym typeface="Courier New"/>
              </a:rPr>
              <a:t>OASIS</a:t>
            </a: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proporciona ...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819150" y="845600"/>
            <a:ext cx="75057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Reconocimiento de nombres de entidades (NER)</a:t>
            </a:r>
            <a:endParaRPr sz="2600"/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819150" y="1469575"/>
            <a:ext cx="7505700" cy="2969100"/>
          </a:xfrm>
          <a:prstGeom prst="rect">
            <a:avLst/>
          </a:prstGeom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Ready Player One  =&gt; Libro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Ernest Cline.           =&gt; Persona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España                    =&gt; Lugar, país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2011                        =&gt; Fecha, año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Ediciones B.           =&gt; Empresa, editorial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2044                        =&gt; Fecha, año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OASIS                      =&gt; OTRO (Vídeo Juego de ficción)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title"/>
          </p:nvPr>
        </p:nvSpPr>
        <p:spPr>
          <a:xfrm>
            <a:off x="819150" y="845600"/>
            <a:ext cx="75057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Reconocimiento de nombres de entidades (NER)</a:t>
            </a:r>
            <a:endParaRPr sz="2600"/>
          </a:p>
        </p:txBody>
      </p:sp>
      <p:sp>
        <p:nvSpPr>
          <p:cNvPr id="217" name="Google Shape;217;p28"/>
          <p:cNvSpPr txBox="1"/>
          <p:nvPr>
            <p:ph idx="1" type="body"/>
          </p:nvPr>
        </p:nvSpPr>
        <p:spPr>
          <a:xfrm>
            <a:off x="819150" y="1469575"/>
            <a:ext cx="7505700" cy="2969100"/>
          </a:xfrm>
          <a:prstGeom prst="rect">
            <a:avLst/>
          </a:prstGeom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</a:rPr>
              <a:t>Índices o enlaces a contenidos relacionados.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</a:rPr>
              <a:t>Destinatario de los sentimientos en </a:t>
            </a:r>
            <a:r>
              <a:rPr i="1" lang="en" sz="2300">
                <a:solidFill>
                  <a:srgbClr val="000000"/>
                </a:solidFill>
              </a:rPr>
              <a:t>Sentiment Analysis</a:t>
            </a:r>
            <a:endParaRPr i="1" sz="23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</a:rPr>
              <a:t>Extracción de información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</a:rPr>
              <a:t>Preguntas y respuestas (</a:t>
            </a:r>
            <a:r>
              <a:rPr i="1" lang="en" sz="2300">
                <a:solidFill>
                  <a:srgbClr val="000000"/>
                </a:solidFill>
              </a:rPr>
              <a:t>question answering</a:t>
            </a:r>
            <a:r>
              <a:rPr lang="en" sz="2300">
                <a:solidFill>
                  <a:srgbClr val="000000"/>
                </a:solidFill>
              </a:rPr>
              <a:t>)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>
            <p:ph type="title"/>
          </p:nvPr>
        </p:nvSpPr>
        <p:spPr>
          <a:xfrm>
            <a:off x="819150" y="845600"/>
            <a:ext cx="75057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Reconocimiento de nombres de entidades (NER)</a:t>
            </a:r>
            <a:endParaRPr sz="2600"/>
          </a:p>
        </p:txBody>
      </p:sp>
      <p:sp>
        <p:nvSpPr>
          <p:cNvPr id="223" name="Google Shape;223;p29"/>
          <p:cNvSpPr txBox="1"/>
          <p:nvPr>
            <p:ph idx="1" type="body"/>
          </p:nvPr>
        </p:nvSpPr>
        <p:spPr>
          <a:xfrm>
            <a:off x="819150" y="1469575"/>
            <a:ext cx="7505700" cy="2969100"/>
          </a:xfrm>
          <a:prstGeom prst="rect">
            <a:avLst/>
          </a:prstGeom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1er paso: Tokenización</a:t>
            </a:r>
            <a:endParaRPr sz="23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Ready  =&gt;libro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Player  =&gt;libro 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One     =&gt; Libro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Ernest  =&gt;Persona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Cline.   =&gt; Persona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España   =&gt; Lugar, país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2011       =&gt; Fecha, año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title"/>
          </p:nvPr>
        </p:nvSpPr>
        <p:spPr>
          <a:xfrm>
            <a:off x="819150" y="845600"/>
            <a:ext cx="75057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Reconocimiento de nombres de entidades (NER)</a:t>
            </a:r>
            <a:endParaRPr sz="2600"/>
          </a:p>
        </p:txBody>
      </p:sp>
      <p:sp>
        <p:nvSpPr>
          <p:cNvPr id="229" name="Google Shape;229;p30"/>
          <p:cNvSpPr txBox="1"/>
          <p:nvPr>
            <p:ph idx="1" type="body"/>
          </p:nvPr>
        </p:nvSpPr>
        <p:spPr>
          <a:xfrm>
            <a:off x="819150" y="1469575"/>
            <a:ext cx="7505700" cy="2969100"/>
          </a:xfrm>
          <a:prstGeom prst="rect">
            <a:avLst/>
          </a:prstGeom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1er paso: Tokenización</a:t>
            </a:r>
            <a:endParaRPr sz="23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93C47D"/>
                </a:highlight>
              </a:rPr>
              <a:t>Ready  =&gt;libro</a:t>
            </a:r>
            <a:endParaRPr sz="1800">
              <a:solidFill>
                <a:srgbClr val="000000"/>
              </a:solidFill>
              <a:highlight>
                <a:srgbClr val="93C47D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93C47D"/>
                </a:highlight>
              </a:rPr>
              <a:t>Player  =&gt;libro </a:t>
            </a:r>
            <a:endParaRPr sz="1800">
              <a:solidFill>
                <a:srgbClr val="000000"/>
              </a:solidFill>
              <a:highlight>
                <a:srgbClr val="93C47D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93C47D"/>
                </a:highlight>
              </a:rPr>
              <a:t>One     =&gt; Libro</a:t>
            </a:r>
            <a:endParaRPr sz="1800">
              <a:solidFill>
                <a:srgbClr val="000000"/>
              </a:solidFill>
              <a:highlight>
                <a:srgbClr val="93C47D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9FC5E8"/>
                </a:highlight>
              </a:rPr>
              <a:t>Ernest  =&gt;Persona</a:t>
            </a:r>
            <a:endParaRPr sz="1800">
              <a:solidFill>
                <a:srgbClr val="000000"/>
              </a:solidFill>
              <a:highlight>
                <a:srgbClr val="9FC5E8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9FC5E8"/>
                </a:highlight>
              </a:rPr>
              <a:t>Cline.   =&gt; Persona</a:t>
            </a:r>
            <a:endParaRPr sz="1800">
              <a:solidFill>
                <a:srgbClr val="000000"/>
              </a:solidFill>
              <a:highlight>
                <a:srgbClr val="9FC5E8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E06666"/>
                </a:highlight>
              </a:rPr>
              <a:t>España   =&gt; Lugar, país</a:t>
            </a:r>
            <a:endParaRPr sz="1800">
              <a:solidFill>
                <a:srgbClr val="000000"/>
              </a:solidFill>
              <a:highlight>
                <a:srgbClr val="E06666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D5A6BD"/>
                </a:highlight>
              </a:rPr>
              <a:t>2011       =&gt; Fecha, año</a:t>
            </a:r>
            <a:endParaRPr sz="1800">
              <a:solidFill>
                <a:srgbClr val="000000"/>
              </a:solidFill>
              <a:highlight>
                <a:srgbClr val="D5A6BD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819150" y="845600"/>
            <a:ext cx="75057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Reconocimiento de nombres de entidades (NER)</a:t>
            </a:r>
            <a:endParaRPr sz="2600"/>
          </a:p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819150" y="1469575"/>
            <a:ext cx="7505700" cy="2969100"/>
          </a:xfrm>
          <a:prstGeom prst="rect">
            <a:avLst/>
          </a:prstGeom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"</a:t>
            </a:r>
            <a:r>
              <a:rPr i="1" lang="en" sz="2400">
                <a:solidFill>
                  <a:srgbClr val="000000"/>
                </a:solidFill>
              </a:rPr>
              <a:t>First Bank of Chicago announced earnings...</a:t>
            </a:r>
            <a:r>
              <a:rPr lang="en" sz="2400">
                <a:solidFill>
                  <a:srgbClr val="000000"/>
                </a:solidFill>
              </a:rPr>
              <a:t>"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(Primer Banco de Chicago anunció ganancias...)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000000"/>
                </a:solidFill>
              </a:rPr>
              <a:t>First Bank of Chicago =&gt; ?</a:t>
            </a:r>
            <a:endParaRPr i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000000"/>
                </a:solidFill>
              </a:rPr>
              <a:t>Bank of Chicago =&gt; ?</a:t>
            </a:r>
            <a:endParaRPr i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D5A6BD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Error es </a:t>
            </a:r>
            <a:r>
              <a:rPr b="1" lang="en" sz="2000">
                <a:solidFill>
                  <a:srgbClr val="FF0000"/>
                </a:solidFill>
              </a:rPr>
              <a:t>doble</a:t>
            </a:r>
            <a:r>
              <a:rPr lang="en" sz="2000">
                <a:solidFill>
                  <a:srgbClr val="FF0000"/>
                </a:solidFill>
              </a:rPr>
              <a:t>: falta una entidad y se añade una inexistente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819150" y="845600"/>
            <a:ext cx="7505700" cy="344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de etiquetamiento secuencial para el reconocimiento de nombres de entidades (NER)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/>
          <p:nvPr>
            <p:ph idx="1" type="body"/>
          </p:nvPr>
        </p:nvSpPr>
        <p:spPr>
          <a:xfrm>
            <a:off x="819150" y="670325"/>
            <a:ext cx="7505700" cy="3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NER: Pasos</a:t>
            </a:r>
            <a:r>
              <a:rPr b="1" lang="en" sz="1800">
                <a:solidFill>
                  <a:srgbClr val="222222"/>
                </a:solidFill>
              </a:rPr>
              <a:t> </a:t>
            </a:r>
            <a:r>
              <a:rPr lang="en" sz="2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del</a:t>
            </a:r>
            <a:r>
              <a:rPr b="1" lang="en" sz="1800">
                <a:solidFill>
                  <a:srgbClr val="222222"/>
                </a:solidFill>
              </a:rPr>
              <a:t> </a:t>
            </a:r>
            <a:r>
              <a:rPr lang="en" sz="2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entrenamiento</a:t>
            </a:r>
            <a:endParaRPr b="1" sz="18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222"/>
                </a:solidFill>
              </a:rPr>
              <a:t>1. Conseguir un conjunto de documentos representativos de nuestro dominio.</a:t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222"/>
                </a:solidFill>
              </a:rPr>
              <a:t>2. Etiquetar cada palabra (token)  con la clase que le corresponde (persona, organización, etc.) o bien marcarla con la etiqueta: "otra". </a:t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222"/>
                </a:solidFill>
              </a:rPr>
              <a:t>3. Especificar características de extracción que se adecuen a las clases y el texto que tenemos.</a:t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222"/>
                </a:solidFill>
              </a:rPr>
              <a:t>4. Entrenar un clasificador secuencial para predecir las etiquetas del conjunto de prueba.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>
            <p:ph type="title"/>
          </p:nvPr>
        </p:nvSpPr>
        <p:spPr>
          <a:xfrm>
            <a:off x="432425" y="445975"/>
            <a:ext cx="43629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Etiquetamiento secuencial:</a:t>
            </a:r>
            <a:br>
              <a:rPr lang="en" sz="2500"/>
            </a:br>
            <a:r>
              <a:rPr lang="en" sz="2500"/>
              <a:t>		IO - encoding</a:t>
            </a:r>
            <a:endParaRPr sz="2500"/>
          </a:p>
        </p:txBody>
      </p:sp>
      <p:sp>
        <p:nvSpPr>
          <p:cNvPr id="251" name="Google Shape;251;p34"/>
          <p:cNvSpPr txBox="1"/>
          <p:nvPr>
            <p:ph idx="1" type="body"/>
          </p:nvPr>
        </p:nvSpPr>
        <p:spPr>
          <a:xfrm>
            <a:off x="574225" y="2276450"/>
            <a:ext cx="3589500" cy="14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/>
              <a:t>Fred showed Sue Mengqiu Huang’s new painting</a:t>
            </a:r>
            <a:endParaRPr i="1" sz="24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graphicFrame>
        <p:nvGraphicFramePr>
          <p:cNvPr id="252" name="Google Shape;252;p34"/>
          <p:cNvGraphicFramePr/>
          <p:nvPr/>
        </p:nvGraphicFramePr>
        <p:xfrm>
          <a:off x="4795325" y="70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{75C52A84-1B2C-4157-B61F-0C8E92808CC7}</a:tableStyleId>
              </a:tblPr>
              <a:tblGrid>
                <a:gridCol w="1698100"/>
                <a:gridCol w="1698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Tokens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IO - encoding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PER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Showed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PER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Mengqiu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PER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Huang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PER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‘s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painting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type="title"/>
          </p:nvPr>
        </p:nvSpPr>
        <p:spPr>
          <a:xfrm>
            <a:off x="432425" y="445975"/>
            <a:ext cx="82173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Etiquetamiento secuencial:	IOB - encoding</a:t>
            </a:r>
            <a:endParaRPr sz="2500"/>
          </a:p>
        </p:txBody>
      </p:sp>
      <p:graphicFrame>
        <p:nvGraphicFramePr>
          <p:cNvPr id="258" name="Google Shape;258;p35"/>
          <p:cNvGraphicFramePr/>
          <p:nvPr/>
        </p:nvGraphicFramePr>
        <p:xfrm>
          <a:off x="915775" y="99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{75C52A84-1B2C-4157-B61F-0C8E92808CC7}</a:tableStyleId>
              </a:tblPr>
              <a:tblGrid>
                <a:gridCol w="2376050"/>
                <a:gridCol w="1886200"/>
                <a:gridCol w="2865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Tokens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IO - encoding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IOB - encoding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PER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B-PER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Showed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PER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B-PER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Mengqiu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PER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B-PER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Huang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PER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I-PER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‘s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painting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type="title"/>
          </p:nvPr>
        </p:nvSpPr>
        <p:spPr>
          <a:xfrm>
            <a:off x="819150" y="845600"/>
            <a:ext cx="75057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NER: Identificación de características</a:t>
            </a:r>
            <a:endParaRPr sz="2500"/>
          </a:p>
        </p:txBody>
      </p:sp>
      <p:sp>
        <p:nvSpPr>
          <p:cNvPr id="264" name="Google Shape;264;p36"/>
          <p:cNvSpPr txBox="1"/>
          <p:nvPr>
            <p:ph idx="1" type="body"/>
          </p:nvPr>
        </p:nvSpPr>
        <p:spPr>
          <a:xfrm>
            <a:off x="819150" y="1340600"/>
            <a:ext cx="7505700" cy="3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Basadas en las palabras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palabra actual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palabra previa o siguiente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substring de una palabra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forma de una palabra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Basadas en otro tipo de inferencia lingüística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etiquetado gramatical</a:t>
            </a:r>
            <a:br>
              <a:rPr lang="en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Contexto de etiquetado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etiqueta anterior y siguiente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>
            <p:ph type="title"/>
          </p:nvPr>
        </p:nvSpPr>
        <p:spPr>
          <a:xfrm>
            <a:off x="819150" y="845600"/>
            <a:ext cx="75057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Identificación basada en palabras</a:t>
            </a:r>
            <a:endParaRPr sz="2500"/>
          </a:p>
        </p:txBody>
      </p:sp>
      <p:graphicFrame>
        <p:nvGraphicFramePr>
          <p:cNvPr id="270" name="Google Shape;270;p37"/>
          <p:cNvGraphicFramePr/>
          <p:nvPr/>
        </p:nvGraphicFramePr>
        <p:xfrm>
          <a:off x="952500" y="164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{75C52A84-1B2C-4157-B61F-0C8E92808CC7}</a:tableStyleId>
              </a:tblPr>
              <a:tblGrid>
                <a:gridCol w="3619500"/>
                <a:gridCol w="3619500"/>
              </a:tblGrid>
              <a:tr h="279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Palabra actual</a:t>
                      </a:r>
                      <a:br>
                        <a:rPr b="1" lang="en" sz="1800"/>
                      </a:br>
                      <a:r>
                        <a:rPr lang="en" sz="1800"/>
                        <a:t> ¿Está en mi diccionario?</a:t>
                      </a:r>
                      <a:endParaRPr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Palabra previa o </a:t>
                      </a:r>
                      <a:r>
                        <a:rPr b="1" lang="en" sz="1800"/>
                        <a:t>siguiente</a:t>
                      </a:r>
                      <a:endParaRPr b="1"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" sz="1800"/>
                        <a:t>“a las …..” =&gt; hora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" sz="1800"/>
                        <a:t>“en …….” =&gt; lugar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" sz="1800"/>
                        <a:t>“</a:t>
                      </a:r>
                      <a:r>
                        <a:rPr i="1" lang="en" sz="1800"/>
                        <a:t>at...</a:t>
                      </a:r>
                      <a:r>
                        <a:rPr lang="en" sz="1800"/>
                        <a:t>” =&gt; lugar (inglés)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71" name="Google Shape;27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900" y="2345377"/>
            <a:ext cx="2798799" cy="209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>
            <p:ph type="title"/>
          </p:nvPr>
        </p:nvSpPr>
        <p:spPr>
          <a:xfrm>
            <a:off x="819150" y="845600"/>
            <a:ext cx="75057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Identificación basada en palabras</a:t>
            </a:r>
            <a:endParaRPr sz="2500"/>
          </a:p>
        </p:txBody>
      </p:sp>
      <p:sp>
        <p:nvSpPr>
          <p:cNvPr id="277" name="Google Shape;277;p38"/>
          <p:cNvSpPr txBox="1"/>
          <p:nvPr/>
        </p:nvSpPr>
        <p:spPr>
          <a:xfrm>
            <a:off x="819150" y="1379300"/>
            <a:ext cx="30609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Substring de una palabra</a:t>
            </a:r>
            <a:br>
              <a:rPr b="1" lang="en" sz="1800"/>
            </a:br>
            <a:endParaRPr/>
          </a:p>
        </p:txBody>
      </p:sp>
      <p:graphicFrame>
        <p:nvGraphicFramePr>
          <p:cNvPr id="278" name="Google Shape;278;p38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{75C52A84-1B2C-4157-B61F-0C8E92808CC7}</a:tableStyleId>
              </a:tblPr>
              <a:tblGrid>
                <a:gridCol w="1497725"/>
                <a:gridCol w="1987625"/>
                <a:gridCol w="4204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Substring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Categoría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Ejemplo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oxa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Drogas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Cotrimoxazole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field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Lugares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Wethersfield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Banfield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Películas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 señor de los anillos: El retorno del rey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2001: Odisea del espacio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South Park: Bigger Longer &amp; Uncut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>
            <p:ph type="title"/>
          </p:nvPr>
        </p:nvSpPr>
        <p:spPr>
          <a:xfrm>
            <a:off x="819150" y="845600"/>
            <a:ext cx="75057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Identificación basada en palabras</a:t>
            </a:r>
            <a:endParaRPr sz="2500"/>
          </a:p>
        </p:txBody>
      </p:sp>
      <p:sp>
        <p:nvSpPr>
          <p:cNvPr id="284" name="Google Shape;284;p39"/>
          <p:cNvSpPr txBox="1"/>
          <p:nvPr/>
        </p:nvSpPr>
        <p:spPr>
          <a:xfrm>
            <a:off x="819150" y="1379300"/>
            <a:ext cx="77532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Forma </a:t>
            </a:r>
            <a:r>
              <a:rPr b="1" lang="en" sz="1800"/>
              <a:t>de una palabra</a:t>
            </a:r>
            <a:br>
              <a:rPr b="1" lang="en" sz="1800"/>
            </a:br>
            <a:endParaRPr/>
          </a:p>
        </p:txBody>
      </p:sp>
      <p:graphicFrame>
        <p:nvGraphicFramePr>
          <p:cNvPr id="285" name="Google Shape;285;p39"/>
          <p:cNvGraphicFramePr/>
          <p:nvPr/>
        </p:nvGraphicFramePr>
        <p:xfrm>
          <a:off x="2953075" y="198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{75C52A84-1B2C-4157-B61F-0C8E92808CC7}</a:tableStyleId>
              </a:tblPr>
              <a:tblGrid>
                <a:gridCol w="1497725"/>
                <a:gridCol w="1987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Forma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Nombre de entidad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Xx-xxx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Varicela-zóster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xXXX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mRNA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XXXd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CPA1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0"/>
          <p:cNvSpPr txBox="1"/>
          <p:nvPr>
            <p:ph type="title"/>
          </p:nvPr>
        </p:nvSpPr>
        <p:spPr>
          <a:xfrm>
            <a:off x="819150" y="845600"/>
            <a:ext cx="75057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Identificación basada otro tipo de inferencia lingüística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291" name="Google Shape;291;p40"/>
          <p:cNvSpPr txBox="1"/>
          <p:nvPr/>
        </p:nvSpPr>
        <p:spPr>
          <a:xfrm>
            <a:off x="819150" y="1379300"/>
            <a:ext cx="77532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Adjetivo + Sustantivo + </a:t>
            </a:r>
            <a:r>
              <a:rPr b="1" lang="en" sz="1800" u="sng"/>
              <a:t>Sustantivo</a:t>
            </a:r>
            <a:r>
              <a:rPr b="1" lang="en" sz="1800"/>
              <a:t> =&gt; Nombre de entidad</a:t>
            </a:r>
            <a:endParaRPr/>
          </a:p>
        </p:txBody>
      </p:sp>
      <p:sp>
        <p:nvSpPr>
          <p:cNvPr id="292" name="Google Shape;292;p40"/>
          <p:cNvSpPr txBox="1"/>
          <p:nvPr/>
        </p:nvSpPr>
        <p:spPr>
          <a:xfrm>
            <a:off x="819150" y="2333275"/>
            <a:ext cx="80625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Identificación basada en contexto de etiquetado</a:t>
            </a:r>
            <a:endParaRPr/>
          </a:p>
        </p:txBody>
      </p:sp>
      <p:sp>
        <p:nvSpPr>
          <p:cNvPr id="293" name="Google Shape;293;p40"/>
          <p:cNvSpPr txBox="1"/>
          <p:nvPr/>
        </p:nvSpPr>
        <p:spPr>
          <a:xfrm>
            <a:off x="828450" y="2823125"/>
            <a:ext cx="7734600" cy="15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PERSONA + PERSONA + </a:t>
            </a:r>
            <a:r>
              <a:rPr b="1" lang="en" sz="1800" u="sng"/>
              <a:t>?????</a:t>
            </a:r>
            <a:r>
              <a:rPr b="1" lang="en" sz="1800"/>
              <a:t> =&gt; Posiblemente sea PERSONA</a:t>
            </a:r>
            <a:endParaRPr b="1" sz="18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Juan</a:t>
            </a:r>
            <a:r>
              <a:rPr b="1" lang="en" sz="1800"/>
              <a:t> </a:t>
            </a:r>
            <a:r>
              <a:rPr b="1" lang="en" sz="1800" u="sng"/>
              <a:t>Carlos </a:t>
            </a:r>
            <a:r>
              <a:rPr b="1" lang="en" sz="1800">
                <a:solidFill>
                  <a:srgbClr val="FF0000"/>
                </a:solidFill>
              </a:rPr>
              <a:t>Perez  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P		P     </a:t>
            </a:r>
            <a:r>
              <a:rPr b="1" lang="en" sz="1800">
                <a:solidFill>
                  <a:srgbClr val="FF0000"/>
                </a:solidFill>
              </a:rPr>
              <a:t>?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Algoritmos de inferencia</a:t>
            </a:r>
            <a:endParaRPr sz="2400"/>
          </a:p>
        </p:txBody>
      </p:sp>
      <p:sp>
        <p:nvSpPr>
          <p:cNvPr id="299" name="Google Shape;299;p4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Greedy Inference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Beam Inference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Viterbi Inference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CRFs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/>
          <p:cNvSpPr txBox="1"/>
          <p:nvPr>
            <p:ph type="title"/>
          </p:nvPr>
        </p:nvSpPr>
        <p:spPr>
          <a:xfrm>
            <a:off x="819150" y="845600"/>
            <a:ext cx="7505700" cy="356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Extracción de relaciones </a:t>
            </a:r>
            <a:r>
              <a:rPr lang="en" sz="3600"/>
              <a:t>semánticas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Ontología</a:t>
            </a:r>
            <a:endParaRPr/>
          </a:p>
        </p:txBody>
      </p:sp>
      <p:sp>
        <p:nvSpPr>
          <p:cNvPr id="310" name="Google Shape;310;p43"/>
          <p:cNvSpPr txBox="1"/>
          <p:nvPr>
            <p:ph idx="1" type="body"/>
          </p:nvPr>
        </p:nvSpPr>
        <p:spPr>
          <a:xfrm>
            <a:off x="4627850" y="845600"/>
            <a:ext cx="3696900" cy="35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Is-a (hipónimo )</a:t>
            </a:r>
            <a:r>
              <a:rPr lang="en" sz="1800"/>
              <a:t>:  Jirafa es un rumiante es un mamífero es un vertebrado es un animal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Instance-of</a:t>
            </a:r>
            <a:r>
              <a:rPr lang="en" sz="1800"/>
              <a:t>: Buenos Aires es una instancia de ciudad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150" y="2219388"/>
            <a:ext cx="333375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¿Cómo construir una ontología?</a:t>
            </a:r>
            <a:endParaRPr/>
          </a:p>
        </p:txBody>
      </p:sp>
      <p:sp>
        <p:nvSpPr>
          <p:cNvPr id="317" name="Google Shape;317;p4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Reglas escritas a mano, de tipo</a:t>
            </a:r>
            <a:r>
              <a:rPr i="1" lang="en" sz="2400"/>
              <a:t> pattern-matching</a:t>
            </a:r>
            <a:endParaRPr i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Aprendizaje automático supervisado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Auto-supervisado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No supervisado para la web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1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Reglas escritas a mano, de tipo </a:t>
            </a:r>
            <a:r>
              <a:rPr i="1" lang="en" sz="2500"/>
              <a:t>pattern-matching</a:t>
            </a:r>
            <a:endParaRPr i="1" sz="2500"/>
          </a:p>
        </p:txBody>
      </p:sp>
      <p:sp>
        <p:nvSpPr>
          <p:cNvPr id="323" name="Google Shape;323;p45"/>
          <p:cNvSpPr txBox="1"/>
          <p:nvPr>
            <p:ph idx="1" type="body"/>
          </p:nvPr>
        </p:nvSpPr>
        <p:spPr>
          <a:xfrm>
            <a:off x="2822400" y="1598475"/>
            <a:ext cx="3499200" cy="27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Reglas ontológica: IS-A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 como X ((, X*) (,and|or) X)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Tanto Y como X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X o otra 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X y otra 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 incluyendo X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Y, especialmente 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Reglas escritas a mano, de tipo </a:t>
            </a:r>
            <a:r>
              <a:rPr i="1" lang="en" sz="2500"/>
              <a:t>pattern-matching</a:t>
            </a:r>
            <a:endParaRPr i="1" sz="2500"/>
          </a:p>
        </p:txBody>
      </p:sp>
      <p:graphicFrame>
        <p:nvGraphicFramePr>
          <p:cNvPr id="329" name="Google Shape;329;p46"/>
          <p:cNvGraphicFramePr/>
          <p:nvPr/>
        </p:nvGraphicFramePr>
        <p:xfrm>
          <a:off x="819150" y="153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{7FDAC55A-BDDF-41FE-BF87-5565860FFAE5}</a:tableStyleId>
              </a:tblPr>
              <a:tblGrid>
                <a:gridCol w="1540175"/>
                <a:gridCol w="5891750"/>
              </a:tblGrid>
              <a:tr h="43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Patron</a:t>
                      </a:r>
                      <a:endParaRPr b="1"/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Ejemplos</a:t>
                      </a:r>
                      <a:endParaRPr b="1"/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r>
                        <a:rPr lang="en"/>
                        <a:t> y otro </a:t>
                      </a: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... </a:t>
                      </a:r>
                      <a:r>
                        <a:rPr b="1" lang="en"/>
                        <a:t>templos</a:t>
                      </a:r>
                      <a:r>
                        <a:rPr lang="en"/>
                        <a:t>, </a:t>
                      </a:r>
                      <a:r>
                        <a:rPr b="1" lang="en"/>
                        <a:t>haciendas</a:t>
                      </a:r>
                      <a:r>
                        <a:rPr lang="en"/>
                        <a:t> 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y otros</a:t>
                      </a:r>
                      <a:r>
                        <a:rPr lang="en"/>
                        <a:t> </a:t>
                      </a:r>
                      <a:r>
                        <a:rPr b="1" lang="en"/>
                        <a:t>edificios públicos</a:t>
                      </a:r>
                      <a:r>
                        <a:rPr lang="en"/>
                        <a:t> importantes</a:t>
                      </a:r>
                      <a:endParaRPr/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r>
                        <a:rPr lang="en"/>
                        <a:t> (o|u) </a:t>
                      </a: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 </a:t>
                      </a:r>
                      <a:r>
                        <a:rPr b="1" lang="en"/>
                        <a:t>contusiones</a:t>
                      </a:r>
                      <a:r>
                        <a:rPr lang="en"/>
                        <a:t>, </a:t>
                      </a:r>
                      <a:r>
                        <a:rPr b="1" lang="en"/>
                        <a:t>heridas</a:t>
                      </a:r>
                      <a:r>
                        <a:rPr lang="en"/>
                        <a:t>, </a:t>
                      </a:r>
                      <a:r>
                        <a:rPr b="1" lang="en"/>
                        <a:t>fracturas</a:t>
                      </a:r>
                      <a:r>
                        <a:rPr lang="en"/>
                        <a:t> 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u</a:t>
                      </a:r>
                      <a:r>
                        <a:rPr lang="en"/>
                        <a:t> otras </a:t>
                      </a:r>
                      <a:r>
                        <a:rPr b="1" lang="en"/>
                        <a:t>lesiones</a:t>
                      </a:r>
                      <a:r>
                        <a:rPr lang="en"/>
                        <a:t> ...</a:t>
                      </a:r>
                      <a:endParaRPr/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r>
                        <a:rPr lang="en"/>
                        <a:t> como</a:t>
                      </a:r>
                      <a:r>
                        <a:rPr b="1" lang="en"/>
                        <a:t> X</a:t>
                      </a:r>
                      <a:endParaRPr b="1"/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 </a:t>
                      </a:r>
                      <a:r>
                        <a:rPr b="1" lang="en"/>
                        <a:t>laúd arco</a:t>
                      </a:r>
                      <a:r>
                        <a:rPr lang="en"/>
                        <a:t>, 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como</a:t>
                      </a:r>
                      <a:r>
                        <a:rPr lang="en"/>
                        <a:t> los </a:t>
                      </a:r>
                      <a:r>
                        <a:rPr b="1" lang="en"/>
                        <a:t>bambara ndang</a:t>
                      </a:r>
                      <a:r>
                        <a:rPr lang="en"/>
                        <a:t> ...</a:t>
                      </a:r>
                      <a:endParaRPr/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r>
                        <a:rPr lang="en"/>
                        <a:t> incluyendo </a:t>
                      </a: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... varios </a:t>
                      </a:r>
                      <a:r>
                        <a:rPr b="1" lang="en"/>
                        <a:t>países</a:t>
                      </a:r>
                      <a:r>
                        <a:rPr lang="en"/>
                        <a:t>, 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incluyendo</a:t>
                      </a:r>
                      <a:r>
                        <a:rPr lang="en"/>
                        <a:t> </a:t>
                      </a:r>
                      <a:r>
                        <a:rPr b="1" lang="en"/>
                        <a:t>Inglaterra, Canada</a:t>
                      </a:r>
                      <a:r>
                        <a:rPr lang="en"/>
                        <a:t> ...</a:t>
                      </a:r>
                      <a:endParaRPr/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r>
                        <a:rPr lang="en"/>
                        <a:t>, sobre todo </a:t>
                      </a: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Países europeos</a:t>
                      </a:r>
                      <a:r>
                        <a:rPr lang="en"/>
                        <a:t>, 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sobre todo</a:t>
                      </a:r>
                      <a:r>
                        <a:rPr lang="en"/>
                        <a:t> </a:t>
                      </a:r>
                      <a:r>
                        <a:rPr b="1" lang="en"/>
                        <a:t>Francia</a:t>
                      </a:r>
                      <a:r>
                        <a:rPr lang="en"/>
                        <a:t>, </a:t>
                      </a:r>
                      <a:r>
                        <a:rPr b="1" lang="en"/>
                        <a:t>Inglaterra</a:t>
                      </a:r>
                      <a:r>
                        <a:rPr lang="en"/>
                        <a:t> y </a:t>
                      </a:r>
                      <a:r>
                        <a:rPr b="1" lang="en"/>
                        <a:t>España</a:t>
                      </a:r>
                      <a:r>
                        <a:rPr lang="en"/>
                        <a:t> ..</a:t>
                      </a:r>
                      <a:endParaRPr/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Reglas escritas a mano, de tipo </a:t>
            </a:r>
            <a:r>
              <a:rPr i="1" lang="en" sz="2500"/>
              <a:t>pattern-matching</a:t>
            </a:r>
            <a:endParaRPr i="1" sz="2500"/>
          </a:p>
        </p:txBody>
      </p:sp>
      <p:sp>
        <p:nvSpPr>
          <p:cNvPr id="335" name="Google Shape;335;p47"/>
          <p:cNvSpPr txBox="1"/>
          <p:nvPr>
            <p:ph idx="1" type="body"/>
          </p:nvPr>
        </p:nvSpPr>
        <p:spPr>
          <a:xfrm>
            <a:off x="819150" y="1353550"/>
            <a:ext cx="7505700" cy="33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Pros de este método: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Tienden a tener una alta precisión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Puede ser adaptado a dominios específicos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Contras: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Suelen tener muy bajo </a:t>
            </a:r>
            <a:r>
              <a:rPr i="1" lang="en" sz="1800"/>
              <a:t>recall </a:t>
            </a:r>
            <a:r>
              <a:rPr lang="en" sz="1800"/>
              <a:t>(exhaustividad)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Implica una gran cantidad de trabajo pensar en todos los patrones posibles…Más aún para todas las relaciones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 puede mejorar la precisión con otros métodos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8"/>
          <p:cNvSpPr txBox="1"/>
          <p:nvPr>
            <p:ph type="title"/>
          </p:nvPr>
        </p:nvSpPr>
        <p:spPr>
          <a:xfrm>
            <a:off x="819150" y="845600"/>
            <a:ext cx="75057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automático supervisado</a:t>
            </a:r>
            <a:endParaRPr sz="2500"/>
          </a:p>
        </p:txBody>
      </p:sp>
      <p:sp>
        <p:nvSpPr>
          <p:cNvPr id="341" name="Google Shape;341;p48"/>
          <p:cNvSpPr txBox="1"/>
          <p:nvPr>
            <p:ph idx="1" type="body"/>
          </p:nvPr>
        </p:nvSpPr>
        <p:spPr>
          <a:xfrm>
            <a:off x="819150" y="1791900"/>
            <a:ext cx="7505700" cy="29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Decidir qué relaciones nos interesa extraer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Decidir qué nombres de entidades son pertinentes a dichas relaciones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Encontrar un conjunto de datos propicio (corpus)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Etiquetar las entidades detectadas en el corpus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Etiquetar a mano las relaciones entre esas dos entidades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Partir este conjunto de datos en entrenamiento y prueba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Entrenar un clasificador sobre el conjunto de entrenamiento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8"/>
          <p:cNvSpPr txBox="1"/>
          <p:nvPr/>
        </p:nvSpPr>
        <p:spPr>
          <a:xfrm>
            <a:off x="819150" y="1314875"/>
            <a:ext cx="16371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Pasos: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>
            <p:ph type="title"/>
          </p:nvPr>
        </p:nvSpPr>
        <p:spPr>
          <a:xfrm>
            <a:off x="819150" y="768225"/>
            <a:ext cx="75057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Etiquetamiento manual (aprendizaje supervisado )</a:t>
            </a:r>
            <a:endParaRPr sz="2500"/>
          </a:p>
        </p:txBody>
      </p:sp>
      <p:sp>
        <p:nvSpPr>
          <p:cNvPr id="348" name="Google Shape;348;p49"/>
          <p:cNvSpPr txBox="1"/>
          <p:nvPr/>
        </p:nvSpPr>
        <p:spPr>
          <a:xfrm>
            <a:off x="819150" y="1418025"/>
            <a:ext cx="7505700" cy="1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Buscar dos nombres de entidades, generalmente en la misma oración.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Decidir si están o no relacionadas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Si lo están, clasificar la relación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9" name="Google Shape;34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3645875"/>
            <a:ext cx="80010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638" y="515625"/>
            <a:ext cx="8400724" cy="40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819150" y="768225"/>
            <a:ext cx="75057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Etiquetamiento manual (aprendizaje supervisado )</a:t>
            </a:r>
            <a:endParaRPr sz="2500"/>
          </a:p>
        </p:txBody>
      </p:sp>
      <p:pic>
        <p:nvPicPr>
          <p:cNvPr id="360" name="Google Shape;36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75" y="1418025"/>
            <a:ext cx="8175151" cy="2955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/>
          <p:nvPr>
            <p:ph type="title"/>
          </p:nvPr>
        </p:nvSpPr>
        <p:spPr>
          <a:xfrm>
            <a:off x="819150" y="845600"/>
            <a:ext cx="75057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Etiquetamiento manual (aprendizaje supervisado )</a:t>
            </a:r>
            <a:endParaRPr/>
          </a:p>
        </p:txBody>
      </p:sp>
      <p:sp>
        <p:nvSpPr>
          <p:cNvPr id="366" name="Google Shape;366;p52"/>
          <p:cNvSpPr txBox="1"/>
          <p:nvPr>
            <p:ph idx="1" type="body"/>
          </p:nvPr>
        </p:nvSpPr>
        <p:spPr>
          <a:xfrm>
            <a:off x="819150" y="1480150"/>
            <a:ext cx="36153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Bag of Word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Bayes Naive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Quitar stop words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 u="sng"/>
              <a:t>Características</a:t>
            </a:r>
            <a:r>
              <a:rPr lang="en" sz="1800" u="sng"/>
              <a:t>: Palabras y qué más ?</a:t>
            </a:r>
            <a:endParaRPr sz="1800" u="sng"/>
          </a:p>
        </p:txBody>
      </p:sp>
      <p:sp>
        <p:nvSpPr>
          <p:cNvPr id="367" name="Google Shape;367;p52"/>
          <p:cNvSpPr txBox="1"/>
          <p:nvPr>
            <p:ph idx="1" type="body"/>
          </p:nvPr>
        </p:nvSpPr>
        <p:spPr>
          <a:xfrm>
            <a:off x="5272400" y="1480150"/>
            <a:ext cx="30525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Palabras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800"/>
              <a:t>Entidades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800"/>
              <a:t>Análisis Sintáctico</a:t>
            </a:r>
            <a:endParaRPr b="1" sz="1800"/>
          </a:p>
        </p:txBody>
      </p:sp>
      <p:cxnSp>
        <p:nvCxnSpPr>
          <p:cNvPr id="368" name="Google Shape;368;p52"/>
          <p:cNvCxnSpPr/>
          <p:nvPr/>
        </p:nvCxnSpPr>
        <p:spPr>
          <a:xfrm flipH="1" rot="10800000">
            <a:off x="4473175" y="1779075"/>
            <a:ext cx="837900" cy="15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52"/>
          <p:cNvCxnSpPr>
            <a:endCxn id="367" idx="1"/>
          </p:cNvCxnSpPr>
          <p:nvPr/>
        </p:nvCxnSpPr>
        <p:spPr>
          <a:xfrm flipH="1" rot="10800000">
            <a:off x="4460300" y="3003400"/>
            <a:ext cx="812100" cy="39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52"/>
          <p:cNvCxnSpPr/>
          <p:nvPr/>
        </p:nvCxnSpPr>
        <p:spPr>
          <a:xfrm>
            <a:off x="4498950" y="3441900"/>
            <a:ext cx="825000" cy="46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3"/>
          <p:cNvSpPr txBox="1"/>
          <p:nvPr>
            <p:ph type="title"/>
          </p:nvPr>
        </p:nvSpPr>
        <p:spPr>
          <a:xfrm>
            <a:off x="819150" y="845600"/>
            <a:ext cx="75057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Etiquetamiento manual (aprendizaje supervisado )</a:t>
            </a:r>
            <a:endParaRPr/>
          </a:p>
        </p:txBody>
      </p:sp>
      <p:sp>
        <p:nvSpPr>
          <p:cNvPr id="376" name="Google Shape;376;p53"/>
          <p:cNvSpPr txBox="1"/>
          <p:nvPr>
            <p:ph idx="1" type="body"/>
          </p:nvPr>
        </p:nvSpPr>
        <p:spPr>
          <a:xfrm>
            <a:off x="819150" y="1480150"/>
            <a:ext cx="75057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Mención1</a:t>
            </a:r>
            <a:r>
              <a:rPr lang="en" sz="1800"/>
              <a:t>: American Airlines y </a:t>
            </a:r>
            <a:r>
              <a:rPr b="1" lang="en" sz="1800"/>
              <a:t>Mención2</a:t>
            </a:r>
            <a:r>
              <a:rPr lang="en" sz="1800"/>
              <a:t>: Tim Wagner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bigramas solo de las menciones: { American; Airlines; Tim; Wagner; “American Airlines” ; “Tim Wagner” }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/>
              <a:t>Agregar</a:t>
            </a:r>
            <a:r>
              <a:rPr lang="en" sz="1800"/>
              <a:t>:</a:t>
            </a:r>
            <a:br>
              <a:rPr lang="en" sz="1800"/>
            </a:br>
            <a:r>
              <a:rPr lang="en" sz="1800"/>
              <a:t>Mención2  -1 : “Spokeman”</a:t>
            </a:r>
            <a:br>
              <a:rPr lang="en" sz="1800"/>
            </a:br>
            <a:r>
              <a:rPr lang="en" sz="1800"/>
              <a:t>Mención2 +1:  “Said”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Bolsa de palabras entre las entidades:</a:t>
            </a:r>
            <a:br>
              <a:rPr lang="en" sz="1800"/>
            </a:br>
            <a:r>
              <a:rPr lang="en" sz="1800"/>
              <a:t>{</a:t>
            </a:r>
            <a:r>
              <a:rPr i="1" lang="en" sz="1800"/>
              <a:t>unit, AMR, inmediately, matched, move, spokeman, said</a:t>
            </a: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 txBox="1"/>
          <p:nvPr>
            <p:ph type="title"/>
          </p:nvPr>
        </p:nvSpPr>
        <p:spPr>
          <a:xfrm>
            <a:off x="819150" y="845600"/>
            <a:ext cx="75057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Etiquetamiento manual (aprendizaje supervisado )</a:t>
            </a:r>
            <a:endParaRPr/>
          </a:p>
        </p:txBody>
      </p:sp>
      <p:sp>
        <p:nvSpPr>
          <p:cNvPr id="382" name="Google Shape;382;p54"/>
          <p:cNvSpPr txBox="1"/>
          <p:nvPr>
            <p:ph idx="1" type="body"/>
          </p:nvPr>
        </p:nvSpPr>
        <p:spPr>
          <a:xfrm>
            <a:off x="819150" y="1480150"/>
            <a:ext cx="75057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Características relacionadas con las entidades detectadas: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Tipos de la entidades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Mención1: Organización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Mención2: Persona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Concatenación entre ambas: </a:t>
            </a:r>
            <a:r>
              <a:rPr b="1" lang="en" sz="1800"/>
              <a:t>Organización-Persona</a:t>
            </a:r>
            <a:r>
              <a:rPr lang="en" sz="1800"/>
              <a:t>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5"/>
          <p:cNvSpPr txBox="1"/>
          <p:nvPr>
            <p:ph type="title"/>
          </p:nvPr>
        </p:nvSpPr>
        <p:spPr>
          <a:xfrm>
            <a:off x="819150" y="845600"/>
            <a:ext cx="75057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Etiquetamiento manual (aprendizaje supervisado )</a:t>
            </a:r>
            <a:endParaRPr/>
          </a:p>
        </p:txBody>
      </p:sp>
      <p:sp>
        <p:nvSpPr>
          <p:cNvPr id="388" name="Google Shape;388;p55"/>
          <p:cNvSpPr txBox="1"/>
          <p:nvPr>
            <p:ph idx="1" type="body"/>
          </p:nvPr>
        </p:nvSpPr>
        <p:spPr>
          <a:xfrm>
            <a:off x="819150" y="1480150"/>
            <a:ext cx="75057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Características relacionadas con análisis sintáctico: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1. Utilización de la </a:t>
            </a:r>
            <a:r>
              <a:rPr b="1" lang="en" sz="1800"/>
              <a:t>categoría gramatical </a:t>
            </a:r>
            <a:r>
              <a:rPr lang="en" sz="1800"/>
              <a:t>de cada palabra o las secuencias de palabras, por ejemplo: NP, NP, PP, VP, NP, NP</a:t>
            </a:r>
            <a:br>
              <a:rPr lang="en" sz="1800"/>
            </a:br>
            <a:br>
              <a:rPr lang="en" sz="1800"/>
            </a:br>
            <a:r>
              <a:rPr lang="en" sz="1800"/>
              <a:t>2. Utilización del path de cada constituyente del árbol sintáctico</a:t>
            </a:r>
            <a:br>
              <a:rPr lang="en" sz="1800"/>
            </a:br>
            <a:r>
              <a:rPr lang="en" sz="1800"/>
              <a:t>por ejemplo: NP ↑ NP ↑ S ↓ S ↓ NP</a:t>
            </a:r>
            <a:br>
              <a:rPr lang="en" sz="1800"/>
            </a:br>
            <a:br>
              <a:rPr lang="en" sz="1800"/>
            </a:br>
            <a:r>
              <a:rPr lang="en" sz="1800"/>
              <a:t>3. Utilización del árbol de dependencias. Indica como una parte de la oración depende de otra, por ejemplo: Airlines matched Wagner said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 txBox="1"/>
          <p:nvPr>
            <p:ph type="title"/>
          </p:nvPr>
        </p:nvSpPr>
        <p:spPr>
          <a:xfrm>
            <a:off x="819150" y="845600"/>
            <a:ext cx="75057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Etiquetamiento manual (aprendizaje supervisado )</a:t>
            </a:r>
            <a:endParaRPr/>
          </a:p>
        </p:txBody>
      </p:sp>
      <p:sp>
        <p:nvSpPr>
          <p:cNvPr id="394" name="Google Shape;394;p56"/>
          <p:cNvSpPr txBox="1"/>
          <p:nvPr>
            <p:ph idx="1" type="body"/>
          </p:nvPr>
        </p:nvSpPr>
        <p:spPr>
          <a:xfrm>
            <a:off x="819150" y="1480150"/>
            <a:ext cx="75057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Parsers on-line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Probar: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“American Airlines, a unit of AMR, immediately matched the move, spokeman Tim Wagner said.”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800"/>
            </a:br>
            <a:r>
              <a:rPr b="1" lang="en" sz="1800" u="sng">
                <a:solidFill>
                  <a:schemeClr val="hlink"/>
                </a:solidFill>
                <a:hlinkClick r:id="rId3"/>
              </a:rPr>
              <a:t>http://demo.ark.cs.cmu.edu/parse</a:t>
            </a:r>
            <a:br>
              <a:rPr b="1" lang="en" sz="1800"/>
            </a:br>
            <a:r>
              <a:rPr b="1" lang="en" sz="1800" u="sng">
                <a:solidFill>
                  <a:schemeClr val="hlink"/>
                </a:solidFill>
                <a:hlinkClick r:id="rId4"/>
              </a:rPr>
              <a:t>http://nlp.stanford.edu:8080/parser/index.jsp</a:t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7"/>
          <p:cNvSpPr txBox="1"/>
          <p:nvPr>
            <p:ph type="title"/>
          </p:nvPr>
        </p:nvSpPr>
        <p:spPr>
          <a:xfrm>
            <a:off x="819150" y="845600"/>
            <a:ext cx="75057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Etiquetamiento manual (aprendizaje supervisado )</a:t>
            </a:r>
            <a:endParaRPr/>
          </a:p>
        </p:txBody>
      </p:sp>
      <p:sp>
        <p:nvSpPr>
          <p:cNvPr id="400" name="Google Shape;400;p57"/>
          <p:cNvSpPr txBox="1"/>
          <p:nvPr>
            <p:ph idx="1" type="body"/>
          </p:nvPr>
        </p:nvSpPr>
        <p:spPr>
          <a:xfrm>
            <a:off x="819150" y="1480150"/>
            <a:ext cx="75057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Clasificadores que se pueden utilizar: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/>
            </a:br>
            <a:r>
              <a:rPr lang="en" sz="1800"/>
              <a:t>• MaxEnt</a:t>
            </a:r>
            <a:br>
              <a:rPr lang="en" sz="1800"/>
            </a:br>
            <a:r>
              <a:rPr lang="en" sz="1800"/>
              <a:t>• Bayes Naïve</a:t>
            </a:r>
            <a:br>
              <a:rPr lang="en" sz="1800"/>
            </a:br>
            <a:r>
              <a:rPr lang="en" sz="1800"/>
              <a:t>• SVM </a:t>
            </a:r>
            <a:br>
              <a:rPr lang="en" sz="1800"/>
            </a:br>
            <a:br>
              <a:rPr lang="en" sz="1800"/>
            </a:br>
            <a:r>
              <a:rPr lang="en" sz="1800"/>
              <a:t>Todos estos clasificadores los pueden usar en la herramienta WEKA: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http://www.cs.waikato.ac.nz/ml/weka</a:t>
            </a:r>
            <a:r>
              <a:rPr b="1" lang="en" sz="1800" u="sng">
                <a:solidFill>
                  <a:schemeClr val="hlink"/>
                </a:solidFill>
                <a:hlinkClick r:id="rId4"/>
              </a:rPr>
              <a:t>/</a:t>
            </a:r>
            <a:endParaRPr sz="1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8"/>
          <p:cNvSpPr txBox="1"/>
          <p:nvPr>
            <p:ph type="title"/>
          </p:nvPr>
        </p:nvSpPr>
        <p:spPr>
          <a:xfrm>
            <a:off x="819150" y="845600"/>
            <a:ext cx="75057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Etiquetamiento manual (aprendizaje supervisado )</a:t>
            </a:r>
            <a:endParaRPr/>
          </a:p>
        </p:txBody>
      </p:sp>
      <p:sp>
        <p:nvSpPr>
          <p:cNvPr id="406" name="Google Shape;406;p58"/>
          <p:cNvSpPr txBox="1"/>
          <p:nvPr>
            <p:ph idx="1" type="body"/>
          </p:nvPr>
        </p:nvSpPr>
        <p:spPr>
          <a:xfrm>
            <a:off x="819150" y="1480150"/>
            <a:ext cx="75057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Cómo evaluar el desempeño de estos algoritmos</a:t>
            </a:r>
            <a:br>
              <a:rPr lang="en" sz="1800"/>
            </a:b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Precisión</a:t>
            </a:r>
            <a:r>
              <a:rPr lang="en" sz="1800"/>
              <a:t>:   total de extracciones correctas / total de extracciones</a:t>
            </a:r>
            <a:br>
              <a:rPr lang="en" sz="1800"/>
            </a:br>
            <a:br>
              <a:rPr lang="en" sz="1800"/>
            </a:br>
            <a:r>
              <a:rPr b="1" lang="en" sz="1800"/>
              <a:t>Recall</a:t>
            </a:r>
            <a:r>
              <a:rPr lang="en" sz="1800"/>
              <a:t> (exhaustividad o exactitud):  </a:t>
            </a:r>
            <a:br>
              <a:rPr lang="en" sz="1800"/>
            </a:br>
            <a:r>
              <a:rPr lang="en" sz="1800"/>
              <a:t> 	total de extracciones correctas / total de relaciones existentes</a:t>
            </a:r>
            <a:br>
              <a:rPr lang="en" sz="1800"/>
            </a:br>
            <a:br>
              <a:rPr lang="en" sz="1800"/>
            </a:br>
            <a:r>
              <a:rPr b="1" lang="en" sz="1800"/>
              <a:t>F1</a:t>
            </a:r>
            <a:r>
              <a:rPr lang="en" sz="1800"/>
              <a:t> (combina ambas medidas):</a:t>
            </a:r>
            <a:br>
              <a:rPr lang="en" sz="1800"/>
            </a:br>
            <a:r>
              <a:rPr lang="en" sz="1800"/>
              <a:t>	2*Precision*Recall / (Precision+Recall)</a:t>
            </a:r>
            <a:br>
              <a:rPr lang="en" sz="1800"/>
            </a:br>
            <a:endParaRPr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9"/>
          <p:cNvSpPr txBox="1"/>
          <p:nvPr>
            <p:ph type="title"/>
          </p:nvPr>
        </p:nvSpPr>
        <p:spPr>
          <a:xfrm>
            <a:off x="819150" y="845600"/>
            <a:ext cx="75057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Auto-supervisado</a:t>
            </a:r>
            <a:endParaRPr/>
          </a:p>
        </p:txBody>
      </p:sp>
      <p:sp>
        <p:nvSpPr>
          <p:cNvPr id="412" name="Google Shape;412;p59"/>
          <p:cNvSpPr txBox="1"/>
          <p:nvPr>
            <p:ph idx="1" type="body"/>
          </p:nvPr>
        </p:nvSpPr>
        <p:spPr>
          <a:xfrm>
            <a:off x="819150" y="1425825"/>
            <a:ext cx="7505700" cy="30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Bootstrap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1. Para un par de “entidades” semilla cuya relación es conocida buscar coincidencias.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2. Extraer el contexto de la oración, en partículas las “entidades” y reemplazarlas por </a:t>
            </a:r>
            <a:r>
              <a:rPr i="1" lang="en" sz="1800"/>
              <a:t>comodines</a:t>
            </a:r>
            <a:endParaRPr i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3. Realizar búsquedas con esos patrones para encontrar nuevas entidades y repetir.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0"/>
          <p:cNvSpPr txBox="1"/>
          <p:nvPr>
            <p:ph type="title"/>
          </p:nvPr>
        </p:nvSpPr>
        <p:spPr>
          <a:xfrm>
            <a:off x="819150" y="845600"/>
            <a:ext cx="75057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Auto-supervisado</a:t>
            </a:r>
            <a:endParaRPr/>
          </a:p>
        </p:txBody>
      </p:sp>
      <p:sp>
        <p:nvSpPr>
          <p:cNvPr id="418" name="Google Shape;418;p60"/>
          <p:cNvSpPr txBox="1"/>
          <p:nvPr>
            <p:ph idx="1" type="body"/>
          </p:nvPr>
        </p:nvSpPr>
        <p:spPr>
          <a:xfrm>
            <a:off x="819150" y="1425825"/>
            <a:ext cx="7505700" cy="30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Bootstrap, ejemplo: PERSONA - LUGAR</a:t>
            </a:r>
            <a:endParaRPr b="1"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Jorge Luis Borges</a:t>
            </a:r>
            <a:r>
              <a:rPr lang="en" sz="1800"/>
              <a:t> está enterrado en </a:t>
            </a:r>
            <a:r>
              <a:rPr b="1" lang="en" sz="1800"/>
              <a:t>Ginebra</a:t>
            </a:r>
            <a:r>
              <a:rPr lang="en" sz="1800"/>
              <a:t>, Suiza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Patrón</a:t>
            </a:r>
            <a:r>
              <a:rPr lang="en" sz="1800"/>
              <a:t>: </a:t>
            </a:r>
            <a:r>
              <a:rPr lang="en" sz="1800">
                <a:solidFill>
                  <a:srgbClr val="FF0000"/>
                </a:solidFill>
              </a:rPr>
              <a:t>X</a:t>
            </a:r>
            <a:r>
              <a:rPr lang="en" sz="1800"/>
              <a:t> está enterrado en </a:t>
            </a: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La tumba de </a:t>
            </a:r>
            <a:r>
              <a:rPr b="1" lang="en" sz="1800"/>
              <a:t>Borges</a:t>
            </a:r>
            <a:r>
              <a:rPr lang="en" sz="1800"/>
              <a:t> está en </a:t>
            </a:r>
            <a:r>
              <a:rPr b="1" lang="en" sz="1800"/>
              <a:t>Ginebra</a:t>
            </a:r>
            <a:r>
              <a:rPr lang="en" sz="1800"/>
              <a:t>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Patrón</a:t>
            </a:r>
            <a:r>
              <a:rPr lang="en" sz="1800"/>
              <a:t>: la tumba de </a:t>
            </a:r>
            <a:r>
              <a:rPr lang="en" sz="1800">
                <a:solidFill>
                  <a:srgbClr val="FF0000"/>
                </a:solidFill>
              </a:rPr>
              <a:t>X </a:t>
            </a:r>
            <a:r>
              <a:rPr lang="en" sz="1800"/>
              <a:t>está en </a:t>
            </a: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Ginebra</a:t>
            </a:r>
            <a:r>
              <a:rPr lang="en" sz="1800"/>
              <a:t> es el lugar de descanso final de </a:t>
            </a:r>
            <a:r>
              <a:rPr b="1" lang="en" sz="1800"/>
              <a:t>Borges</a:t>
            </a:r>
            <a:r>
              <a:rPr lang="en" sz="1800"/>
              <a:t>.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Patrón</a:t>
            </a:r>
            <a:r>
              <a:rPr lang="en" sz="1800"/>
              <a:t>: </a:t>
            </a:r>
            <a:r>
              <a:rPr lang="en" sz="1800">
                <a:solidFill>
                  <a:srgbClr val="FF0000"/>
                </a:solidFill>
              </a:rPr>
              <a:t>X</a:t>
            </a:r>
            <a:r>
              <a:rPr lang="en" sz="1800"/>
              <a:t> es el lugar de descanso final de </a:t>
            </a:r>
            <a:r>
              <a:rPr lang="en" sz="1800">
                <a:solidFill>
                  <a:srgbClr val="FF0000"/>
                </a:solidFill>
              </a:rPr>
              <a:t>Y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1"/>
          <p:cNvSpPr txBox="1"/>
          <p:nvPr>
            <p:ph type="title"/>
          </p:nvPr>
        </p:nvSpPr>
        <p:spPr>
          <a:xfrm>
            <a:off x="819150" y="845600"/>
            <a:ext cx="75057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Auto-supervisado</a:t>
            </a:r>
            <a:endParaRPr/>
          </a:p>
        </p:txBody>
      </p:sp>
      <p:sp>
        <p:nvSpPr>
          <p:cNvPr id="424" name="Google Shape;424;p61"/>
          <p:cNvSpPr txBox="1"/>
          <p:nvPr>
            <p:ph idx="1" type="body"/>
          </p:nvPr>
        </p:nvSpPr>
        <p:spPr>
          <a:xfrm>
            <a:off x="819150" y="2414300"/>
            <a:ext cx="75057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/>
              <a:t>Ejercicio: </a:t>
            </a:r>
            <a:r>
              <a:rPr lang="en" sz="1800"/>
              <a:t>Buscar patrones para encontrar relaciones entre autores y libros.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2"/>
          <p:cNvSpPr txBox="1"/>
          <p:nvPr>
            <p:ph type="title"/>
          </p:nvPr>
        </p:nvSpPr>
        <p:spPr>
          <a:xfrm>
            <a:off x="819150" y="845600"/>
            <a:ext cx="75057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Auto-supervisado</a:t>
            </a:r>
            <a:endParaRPr/>
          </a:p>
        </p:txBody>
      </p:sp>
      <p:sp>
        <p:nvSpPr>
          <p:cNvPr id="430" name="Google Shape;430;p62"/>
          <p:cNvSpPr txBox="1"/>
          <p:nvPr>
            <p:ph idx="1" type="body"/>
          </p:nvPr>
        </p:nvSpPr>
        <p:spPr>
          <a:xfrm>
            <a:off x="819150" y="1425825"/>
            <a:ext cx="7505700" cy="30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Algoritmo de Dripe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Partió de 5 semillas: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Isaac Asimov =&gt; The Robots of Dawn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David Brin =&gt;  Startide Rising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James Gleick =&gt; Chaos: making a new science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Charles Dickens =&gt; Great Expectations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William Shakespeare =&gt; The Comedy of Errors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3"/>
          <p:cNvSpPr txBox="1"/>
          <p:nvPr>
            <p:ph type="title"/>
          </p:nvPr>
        </p:nvSpPr>
        <p:spPr>
          <a:xfrm>
            <a:off x="819150" y="845600"/>
            <a:ext cx="75057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Auto-supervisado</a:t>
            </a:r>
            <a:endParaRPr/>
          </a:p>
        </p:txBody>
      </p:sp>
      <p:sp>
        <p:nvSpPr>
          <p:cNvPr id="436" name="Google Shape;436;p63"/>
          <p:cNvSpPr txBox="1"/>
          <p:nvPr>
            <p:ph idx="1" type="body"/>
          </p:nvPr>
        </p:nvSpPr>
        <p:spPr>
          <a:xfrm>
            <a:off x="819150" y="1425825"/>
            <a:ext cx="7505700" cy="32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Algoritmo de Dripe, ejemplo:</a:t>
            </a:r>
            <a:br>
              <a:rPr lang="en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Comedy of Errors</a:t>
            </a:r>
            <a:r>
              <a:rPr b="1" lang="en" sz="1500"/>
              <a:t>, by</a:t>
            </a:r>
            <a:r>
              <a:rPr lang="en" sz="1500"/>
              <a:t>  William Shakespeare</a:t>
            </a:r>
            <a:r>
              <a:rPr b="1" lang="en" sz="1500"/>
              <a:t>,</a:t>
            </a:r>
            <a:r>
              <a:rPr lang="en" sz="1500"/>
              <a:t> was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Comedy of Errors</a:t>
            </a:r>
            <a:r>
              <a:rPr b="1" lang="en" sz="1500"/>
              <a:t>, by </a:t>
            </a:r>
            <a:r>
              <a:rPr lang="en" sz="1500"/>
              <a:t> William Shakespeare</a:t>
            </a:r>
            <a:r>
              <a:rPr b="1" lang="en" sz="1500"/>
              <a:t>,</a:t>
            </a:r>
            <a:r>
              <a:rPr lang="en" sz="1500"/>
              <a:t> is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Comedy of Errors</a:t>
            </a:r>
            <a:r>
              <a:rPr b="1" lang="en" sz="1500"/>
              <a:t>, one of</a:t>
            </a:r>
            <a:r>
              <a:rPr lang="en" sz="1500"/>
              <a:t> William Shakespeare</a:t>
            </a:r>
            <a:r>
              <a:rPr b="1" lang="en" sz="1500"/>
              <a:t>'s </a:t>
            </a:r>
            <a:r>
              <a:rPr lang="en" sz="1500"/>
              <a:t>earliest attempts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Comedy of Errors</a:t>
            </a:r>
            <a:r>
              <a:rPr b="1" lang="en" sz="1500"/>
              <a:t>, one of</a:t>
            </a:r>
            <a:r>
              <a:rPr lang="en" sz="1500"/>
              <a:t> William Shakespeare</a:t>
            </a:r>
            <a:r>
              <a:rPr b="1" lang="en" sz="1500"/>
              <a:t>'s</a:t>
            </a:r>
            <a:r>
              <a:rPr lang="en" sz="1500"/>
              <a:t> most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Si utilizamos solo la parte común los patrones quedarían: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X,</a:t>
            </a:r>
            <a:r>
              <a:rPr lang="en" sz="1500"/>
              <a:t> by </a:t>
            </a:r>
            <a:r>
              <a:rPr b="1" lang="en" sz="1500"/>
              <a:t>Y</a:t>
            </a:r>
            <a:r>
              <a:rPr lang="en" sz="1500"/>
              <a:t>,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X</a:t>
            </a:r>
            <a:r>
              <a:rPr lang="en" sz="1500"/>
              <a:t>, one of </a:t>
            </a:r>
            <a:r>
              <a:rPr b="1" lang="en" sz="1500"/>
              <a:t>Y</a:t>
            </a:r>
            <a:r>
              <a:rPr lang="en" sz="1500"/>
              <a:t>’s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4"/>
          <p:cNvSpPr txBox="1"/>
          <p:nvPr>
            <p:ph type="title"/>
          </p:nvPr>
        </p:nvSpPr>
        <p:spPr>
          <a:xfrm>
            <a:off x="819150" y="845600"/>
            <a:ext cx="75057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Auto-supervisado</a:t>
            </a:r>
            <a:endParaRPr/>
          </a:p>
        </p:txBody>
      </p:sp>
      <p:sp>
        <p:nvSpPr>
          <p:cNvPr id="442" name="Google Shape;442;p64"/>
          <p:cNvSpPr txBox="1"/>
          <p:nvPr>
            <p:ph idx="1" type="body"/>
          </p:nvPr>
        </p:nvSpPr>
        <p:spPr>
          <a:xfrm>
            <a:off x="819150" y="1425825"/>
            <a:ext cx="7505700" cy="32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Distant Supervision </a:t>
            </a:r>
            <a:r>
              <a:rPr lang="en" sz="1400"/>
              <a:t>: Combina </a:t>
            </a:r>
            <a:r>
              <a:rPr b="1" lang="en" sz="1400"/>
              <a:t>Boostrapping</a:t>
            </a:r>
            <a:r>
              <a:rPr lang="en" sz="1400"/>
              <a:t> con </a:t>
            </a:r>
            <a:r>
              <a:rPr b="1" lang="en" sz="1400"/>
              <a:t>aprendizaje supervisado</a:t>
            </a:r>
            <a:r>
              <a:rPr lang="en" sz="1400"/>
              <a:t>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En vez de usar solo 5 semillas utiliza una gran base de datos para obtener una enorme cantidad de entidades-semillas.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 los patrones que obtiene, extrae las características como se vio en el punto anterior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Entrena un clasificador.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En común con los supervisados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Usa un clasificador con varias características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No requiere iterar N veces para extraer los patrones</a:t>
            </a:r>
            <a:endParaRPr sz="1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En común con los no-supervisados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Usa grandes cantidades de datos sin etiquetar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No es sensible a cómo se generó el corpus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5"/>
          <p:cNvSpPr txBox="1"/>
          <p:nvPr>
            <p:ph type="title"/>
          </p:nvPr>
        </p:nvSpPr>
        <p:spPr>
          <a:xfrm>
            <a:off x="819150" y="845600"/>
            <a:ext cx="75057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Auto-supervisado</a:t>
            </a:r>
            <a:endParaRPr/>
          </a:p>
        </p:txBody>
      </p:sp>
      <p:sp>
        <p:nvSpPr>
          <p:cNvPr id="448" name="Google Shape;448;p65"/>
          <p:cNvSpPr txBox="1"/>
          <p:nvPr>
            <p:ph idx="1" type="body"/>
          </p:nvPr>
        </p:nvSpPr>
        <p:spPr>
          <a:xfrm>
            <a:off x="819150" y="1425825"/>
            <a:ext cx="7505700" cy="32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Detalle del algoritmo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1. Para cada relación, por ejemplo: “nació-en”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2. Para cada tupla en una gran base de datos: &lt;Borges, Buenos Aires&gt;, &lt; Albert Einstein, Ulm&gt;, &lt; Gabriel García Márquez, Aracataca&gt;….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3. Encuentra sentencias en un gran corpus, en donde aparecen estas entidades semillas: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</a:t>
            </a:r>
            <a:r>
              <a:rPr i="1" lang="en" sz="1400"/>
              <a:t>orges nació en Buenos Aires;  Einstein, quien nació en 1879 en  Ulm; Gabriel García Márquez: lugar de nacimiento Aracataca, Colombia…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4. Extraer las características frecuentes.  PERSONA nació en LUGAR, …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5. Entrenar un clasificador, utilizando cientos de patrones. P(“nació-en”|p1, p2… p4000)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6"/>
          <p:cNvSpPr txBox="1"/>
          <p:nvPr>
            <p:ph type="title"/>
          </p:nvPr>
        </p:nvSpPr>
        <p:spPr>
          <a:xfrm>
            <a:off x="819150" y="845600"/>
            <a:ext cx="7505700" cy="10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supervisado para la web 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Information Extraction</a:t>
            </a:r>
            <a:endParaRPr/>
          </a:p>
        </p:txBody>
      </p:sp>
      <p:sp>
        <p:nvSpPr>
          <p:cNvPr id="454" name="Google Shape;454;p66"/>
          <p:cNvSpPr txBox="1"/>
          <p:nvPr>
            <p:ph idx="1" type="body"/>
          </p:nvPr>
        </p:nvSpPr>
        <p:spPr>
          <a:xfrm>
            <a:off x="819150" y="1976925"/>
            <a:ext cx="7505700" cy="24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2005</a:t>
            </a:r>
            <a:r>
              <a:rPr lang="en" sz="1800"/>
              <a:t> </a:t>
            </a:r>
            <a:r>
              <a:rPr b="1" lang="en" sz="1800"/>
              <a:t>KnowItAll</a:t>
            </a:r>
            <a:endParaRPr b="1"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 supervisado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independiente del dominio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escalable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7"/>
          <p:cNvSpPr txBox="1"/>
          <p:nvPr>
            <p:ph type="title"/>
          </p:nvPr>
        </p:nvSpPr>
        <p:spPr>
          <a:xfrm>
            <a:off x="819150" y="845600"/>
            <a:ext cx="7505700" cy="10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supervisado para la web 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Information Extraction</a:t>
            </a:r>
            <a:endParaRPr/>
          </a:p>
        </p:txBody>
      </p:sp>
      <p:sp>
        <p:nvSpPr>
          <p:cNvPr id="460" name="Google Shape;460;p67"/>
          <p:cNvSpPr txBox="1"/>
          <p:nvPr>
            <p:ph idx="1" type="body"/>
          </p:nvPr>
        </p:nvSpPr>
        <p:spPr>
          <a:xfrm>
            <a:off x="819150" y="1976925"/>
            <a:ext cx="7505700" cy="24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2007 </a:t>
            </a:r>
            <a:r>
              <a:rPr b="1" lang="en" sz="1800"/>
              <a:t>TEXTRUNNER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1. Realiza una sola pasada sobre el conjunto de datos como ya se mencionó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2. Extrae relaciones semánticas no definidas a priori. Puede extraer “cualquier cosa” que considere que es una relación entre dos entidades.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350" y="204900"/>
            <a:ext cx="6571430" cy="471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9"/>
          <p:cNvSpPr txBox="1"/>
          <p:nvPr>
            <p:ph type="title"/>
          </p:nvPr>
        </p:nvSpPr>
        <p:spPr>
          <a:xfrm>
            <a:off x="819150" y="845600"/>
            <a:ext cx="75057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Año 2020</a:t>
            </a:r>
            <a:endParaRPr/>
          </a:p>
        </p:txBody>
      </p:sp>
      <p:pic>
        <p:nvPicPr>
          <p:cNvPr id="471" name="Google Shape;47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488" y="1438275"/>
            <a:ext cx="7335037" cy="33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69"/>
          <p:cNvSpPr/>
          <p:nvPr/>
        </p:nvSpPr>
        <p:spPr>
          <a:xfrm>
            <a:off x="1306950" y="4398675"/>
            <a:ext cx="6689400" cy="358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0"/>
          <p:cNvSpPr txBox="1"/>
          <p:nvPr>
            <p:ph type="title"/>
          </p:nvPr>
        </p:nvSpPr>
        <p:spPr>
          <a:xfrm>
            <a:off x="819150" y="845600"/>
            <a:ext cx="75057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Idioma Español</a:t>
            </a:r>
            <a:endParaRPr/>
          </a:p>
        </p:txBody>
      </p:sp>
      <p:pic>
        <p:nvPicPr>
          <p:cNvPr id="478" name="Google Shape;47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963" y="1944425"/>
            <a:ext cx="7464076" cy="149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ECMes (Extractor de Conocimiento Mejorado en Español) (2021)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4" name="Google Shape;48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588" y="1938500"/>
            <a:ext cx="4828824" cy="25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ECMes</a:t>
            </a:r>
            <a:endParaRPr/>
          </a:p>
        </p:txBody>
      </p:sp>
      <p:sp>
        <p:nvSpPr>
          <p:cNvPr id="490" name="Google Shape;490;p72"/>
          <p:cNvSpPr txBox="1"/>
          <p:nvPr>
            <p:ph idx="1" type="body"/>
          </p:nvPr>
        </p:nvSpPr>
        <p:spPr>
          <a:xfrm>
            <a:off x="819150" y="1566325"/>
            <a:ext cx="7505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Funciona con el parser de </a:t>
            </a:r>
            <a:r>
              <a:rPr b="1" lang="en" sz="1600"/>
              <a:t>Stanford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491" name="Google Shape;491;p72"/>
          <p:cNvSpPr txBox="1"/>
          <p:nvPr/>
        </p:nvSpPr>
        <p:spPr>
          <a:xfrm>
            <a:off x="1432250" y="2017875"/>
            <a:ext cx="61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Albert Einstein, quien nació en Ulm, ganó el Premio Nobel</a:t>
            </a:r>
            <a:endParaRPr/>
          </a:p>
        </p:txBody>
      </p:sp>
      <p:pic>
        <p:nvPicPr>
          <p:cNvPr id="492" name="Google Shape;49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950" y="2824475"/>
            <a:ext cx="6963825" cy="6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72"/>
          <p:cNvSpPr txBox="1"/>
          <p:nvPr/>
        </p:nvSpPr>
        <p:spPr>
          <a:xfrm>
            <a:off x="1389950" y="2455325"/>
            <a:ext cx="179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Analisis superficial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4" name="Google Shape;49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9950" y="3950825"/>
            <a:ext cx="4995325" cy="61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72"/>
          <p:cNvSpPr txBox="1"/>
          <p:nvPr/>
        </p:nvSpPr>
        <p:spPr>
          <a:xfrm>
            <a:off x="1389950" y="3588425"/>
            <a:ext cx="402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Reconocimiento de nombres de entidades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ECMes</a:t>
            </a:r>
            <a:endParaRPr/>
          </a:p>
        </p:txBody>
      </p:sp>
      <p:sp>
        <p:nvSpPr>
          <p:cNvPr id="501" name="Google Shape;501;p73"/>
          <p:cNvSpPr txBox="1"/>
          <p:nvPr>
            <p:ph idx="1" type="body"/>
          </p:nvPr>
        </p:nvSpPr>
        <p:spPr>
          <a:xfrm>
            <a:off x="819150" y="1566325"/>
            <a:ext cx="7505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Funciona con el parser de Stanford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502" name="Google Shape;502;p73"/>
          <p:cNvSpPr txBox="1"/>
          <p:nvPr/>
        </p:nvSpPr>
        <p:spPr>
          <a:xfrm>
            <a:off x="1432250" y="2017875"/>
            <a:ext cx="61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Albert Einstein, quien nació en Ulm, ganó el Premio Nobel</a:t>
            </a:r>
            <a:endParaRPr/>
          </a:p>
        </p:txBody>
      </p:sp>
      <p:pic>
        <p:nvPicPr>
          <p:cNvPr id="503" name="Google Shape;50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25" y="3101749"/>
            <a:ext cx="8328362" cy="95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73"/>
          <p:cNvSpPr txBox="1"/>
          <p:nvPr/>
        </p:nvSpPr>
        <p:spPr>
          <a:xfrm>
            <a:off x="407825" y="2815150"/>
            <a:ext cx="37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Árbol de dependencias 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sintácticas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ECMes</a:t>
            </a:r>
            <a:endParaRPr/>
          </a:p>
        </p:txBody>
      </p:sp>
      <p:sp>
        <p:nvSpPr>
          <p:cNvPr id="510" name="Google Shape;510;p74"/>
          <p:cNvSpPr txBox="1"/>
          <p:nvPr>
            <p:ph idx="1" type="body"/>
          </p:nvPr>
        </p:nvSpPr>
        <p:spPr>
          <a:xfrm>
            <a:off x="819150" y="1566325"/>
            <a:ext cx="7505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Utiliza un conjunto de datos etiquetados de la siguiente manera: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511" name="Google Shape;511;p74"/>
          <p:cNvSpPr txBox="1"/>
          <p:nvPr/>
        </p:nvSpPr>
        <p:spPr>
          <a:xfrm>
            <a:off x="881925" y="2017875"/>
            <a:ext cx="485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Albert Einstein, quien nació en Ulm, ganó el Premio Nobel</a:t>
            </a:r>
            <a:endParaRPr/>
          </a:p>
        </p:txBody>
      </p:sp>
      <p:sp>
        <p:nvSpPr>
          <p:cNvPr id="512" name="Google Shape;512;p74"/>
          <p:cNvSpPr txBox="1"/>
          <p:nvPr/>
        </p:nvSpPr>
        <p:spPr>
          <a:xfrm>
            <a:off x="1157100" y="25470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(</a:t>
            </a:r>
            <a:r>
              <a:rPr lang="en"/>
              <a:t>Albert Einstein; nació en; Ulm)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(Albert Einstein, ganó el; Premio Nobel)</a:t>
            </a:r>
            <a:endParaRPr/>
          </a:p>
        </p:txBody>
      </p:sp>
      <p:pic>
        <p:nvPicPr>
          <p:cNvPr id="513" name="Google Shape;51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25" y="3369874"/>
            <a:ext cx="8328362" cy="95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74"/>
          <p:cNvSpPr/>
          <p:nvPr/>
        </p:nvSpPr>
        <p:spPr>
          <a:xfrm>
            <a:off x="338675" y="3711225"/>
            <a:ext cx="1622700" cy="69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C78D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74"/>
          <p:cNvSpPr/>
          <p:nvPr/>
        </p:nvSpPr>
        <p:spPr>
          <a:xfrm>
            <a:off x="3369725" y="3804675"/>
            <a:ext cx="983400" cy="55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6" name="Google Shape;516;p74"/>
          <p:cNvCxnSpPr>
            <a:stCxn id="517" idx="2"/>
          </p:cNvCxnSpPr>
          <p:nvPr/>
        </p:nvCxnSpPr>
        <p:spPr>
          <a:xfrm flipH="1">
            <a:off x="1904925" y="2728700"/>
            <a:ext cx="5391900" cy="9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74"/>
          <p:cNvCxnSpPr/>
          <p:nvPr/>
        </p:nvCxnSpPr>
        <p:spPr>
          <a:xfrm flipH="1">
            <a:off x="5060325" y="2728700"/>
            <a:ext cx="2236500" cy="107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7" name="Google Shape;517;p74"/>
          <p:cNvSpPr txBox="1"/>
          <p:nvPr/>
        </p:nvSpPr>
        <p:spPr>
          <a:xfrm>
            <a:off x="5808075" y="2328500"/>
            <a:ext cx="297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Crea patrones, para buscar en el árbol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ECMes</a:t>
            </a:r>
            <a:endParaRPr/>
          </a:p>
        </p:txBody>
      </p:sp>
      <p:sp>
        <p:nvSpPr>
          <p:cNvPr id="524" name="Google Shape;524;p75"/>
          <p:cNvSpPr txBox="1"/>
          <p:nvPr>
            <p:ph idx="1" type="body"/>
          </p:nvPr>
        </p:nvSpPr>
        <p:spPr>
          <a:xfrm>
            <a:off x="819150" y="1566325"/>
            <a:ext cx="7505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Utiliza un conjunto de datos etiquetados de la siguiente manera: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525" name="Google Shape;525;p75"/>
          <p:cNvSpPr txBox="1"/>
          <p:nvPr/>
        </p:nvSpPr>
        <p:spPr>
          <a:xfrm>
            <a:off x="881925" y="2017875"/>
            <a:ext cx="485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Albert Einstein, quien nació en Ulm, ganó el Premio Nobel</a:t>
            </a:r>
            <a:endParaRPr/>
          </a:p>
        </p:txBody>
      </p:sp>
      <p:sp>
        <p:nvSpPr>
          <p:cNvPr id="526" name="Google Shape;526;p75"/>
          <p:cNvSpPr txBox="1"/>
          <p:nvPr/>
        </p:nvSpPr>
        <p:spPr>
          <a:xfrm>
            <a:off x="1157100" y="25470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(Albert Einstein; nació en; Ulm)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(Albert Einstein, ganó el; Premio Nobel)</a:t>
            </a:r>
            <a:endParaRPr/>
          </a:p>
        </p:txBody>
      </p:sp>
      <p:pic>
        <p:nvPicPr>
          <p:cNvPr id="527" name="Google Shape;52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925" y="3720525"/>
            <a:ext cx="6963825" cy="6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75"/>
          <p:cNvSpPr/>
          <p:nvPr/>
        </p:nvSpPr>
        <p:spPr>
          <a:xfrm>
            <a:off x="6378225" y="3795675"/>
            <a:ext cx="1354800" cy="64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5"/>
          <p:cNvSpPr txBox="1"/>
          <p:nvPr/>
        </p:nvSpPr>
        <p:spPr>
          <a:xfrm>
            <a:off x="5870225" y="3005675"/>
            <a:ext cx="30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Busca frase nominal para la 3 parte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0" name="Google Shape;530;p75"/>
          <p:cNvCxnSpPr>
            <a:stCxn id="529" idx="2"/>
            <a:endCxn id="528" idx="0"/>
          </p:cNvCxnSpPr>
          <p:nvPr/>
        </p:nvCxnSpPr>
        <p:spPr>
          <a:xfrm flipH="1">
            <a:off x="7055675" y="3405875"/>
            <a:ext cx="3210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Knowledge Graph</a:t>
            </a:r>
            <a:endParaRPr/>
          </a:p>
        </p:txBody>
      </p:sp>
      <p:sp>
        <p:nvSpPr>
          <p:cNvPr id="536" name="Google Shape;536;p76"/>
          <p:cNvSpPr txBox="1"/>
          <p:nvPr>
            <p:ph idx="1" type="body"/>
          </p:nvPr>
        </p:nvSpPr>
        <p:spPr>
          <a:xfrm>
            <a:off x="819150" y="1623150"/>
            <a:ext cx="7505700" cy="28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https://blog.google/products/search/introducing-knowledge-graph-things-not/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537" name="Google Shape;53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7850" y="2754425"/>
            <a:ext cx="3771974" cy="187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