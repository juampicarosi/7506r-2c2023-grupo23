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Lst>
  <p:sldSz cy="5143500" cx="9144000"/>
  <p:notesSz cx="6858000" cy="9144000"/>
  <p:embeddedFontLst>
    <p:embeddedFont>
      <p:font typeface="Raleway"/>
      <p:regular r:id="rId70"/>
      <p:bold r:id="rId71"/>
      <p:italic r:id="rId72"/>
      <p:boldItalic r:id="rId73"/>
    </p:embeddedFont>
    <p:embeddedFont>
      <p:font typeface="Lato"/>
      <p:regular r:id="rId74"/>
      <p:bold r:id="rId75"/>
      <p:italic r:id="rId76"/>
      <p:boldItalic r:id="rId77"/>
    </p:embeddedFont>
    <p:embeddedFont>
      <p:font typeface="Montserrat"/>
      <p:regular r:id="rId78"/>
      <p:bold r:id="rId79"/>
      <p:italic r:id="rId80"/>
      <p:boldItalic r:id="rId81"/>
    </p:embeddedFont>
    <p:embeddedFont>
      <p:font typeface="Open Sans"/>
      <p:regular r:id="rId82"/>
      <p:bold r:id="rId83"/>
      <p:italic r:id="rId84"/>
      <p:boldItalic r:id="rId8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84" Type="http://schemas.openxmlformats.org/officeDocument/2006/relationships/font" Target="fonts/OpenSans-italic.fntdata"/><Relationship Id="rId83" Type="http://schemas.openxmlformats.org/officeDocument/2006/relationships/font" Target="fonts/OpenSans-bold.fntdata"/><Relationship Id="rId42" Type="http://schemas.openxmlformats.org/officeDocument/2006/relationships/slide" Target="slides/slide38.xml"/><Relationship Id="rId41" Type="http://schemas.openxmlformats.org/officeDocument/2006/relationships/slide" Target="slides/slide37.xml"/><Relationship Id="rId85" Type="http://schemas.openxmlformats.org/officeDocument/2006/relationships/font" Target="fonts/OpenSans-boldItalic.fntdata"/><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80" Type="http://schemas.openxmlformats.org/officeDocument/2006/relationships/font" Target="fonts/Montserrat-italic.fntdata"/><Relationship Id="rId82" Type="http://schemas.openxmlformats.org/officeDocument/2006/relationships/font" Target="fonts/OpenSans-regular.fntdata"/><Relationship Id="rId81" Type="http://schemas.openxmlformats.org/officeDocument/2006/relationships/font" Target="fonts/Montserrat-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font" Target="fonts/Raleway-boldItalic.fntdata"/><Relationship Id="rId72" Type="http://schemas.openxmlformats.org/officeDocument/2006/relationships/font" Target="fonts/Raleway-italic.fntdata"/><Relationship Id="rId31" Type="http://schemas.openxmlformats.org/officeDocument/2006/relationships/slide" Target="slides/slide27.xml"/><Relationship Id="rId75" Type="http://schemas.openxmlformats.org/officeDocument/2006/relationships/font" Target="fonts/Lato-bold.fntdata"/><Relationship Id="rId30" Type="http://schemas.openxmlformats.org/officeDocument/2006/relationships/slide" Target="slides/slide26.xml"/><Relationship Id="rId74" Type="http://schemas.openxmlformats.org/officeDocument/2006/relationships/font" Target="fonts/Lato-regular.fntdata"/><Relationship Id="rId33" Type="http://schemas.openxmlformats.org/officeDocument/2006/relationships/slide" Target="slides/slide29.xml"/><Relationship Id="rId77" Type="http://schemas.openxmlformats.org/officeDocument/2006/relationships/font" Target="fonts/Lato-boldItalic.fntdata"/><Relationship Id="rId32" Type="http://schemas.openxmlformats.org/officeDocument/2006/relationships/slide" Target="slides/slide28.xml"/><Relationship Id="rId76" Type="http://schemas.openxmlformats.org/officeDocument/2006/relationships/font" Target="fonts/Lato-italic.fntdata"/><Relationship Id="rId35" Type="http://schemas.openxmlformats.org/officeDocument/2006/relationships/slide" Target="slides/slide31.xml"/><Relationship Id="rId79" Type="http://schemas.openxmlformats.org/officeDocument/2006/relationships/font" Target="fonts/Montserrat-bold.fntdata"/><Relationship Id="rId34" Type="http://schemas.openxmlformats.org/officeDocument/2006/relationships/slide" Target="slides/slide30.xml"/><Relationship Id="rId78" Type="http://schemas.openxmlformats.org/officeDocument/2006/relationships/font" Target="fonts/Montserrat-regular.fntdata"/><Relationship Id="rId71" Type="http://schemas.openxmlformats.org/officeDocument/2006/relationships/font" Target="fonts/Raleway-bold.fntdata"/><Relationship Id="rId70" Type="http://schemas.openxmlformats.org/officeDocument/2006/relationships/font" Target="fonts/Raleway-regular.fntdata"/><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slide" Target="slides/slide62.xml"/><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68" Type="http://schemas.openxmlformats.org/officeDocument/2006/relationships/slide" Target="slides/slide64.xml"/><Relationship Id="rId23" Type="http://schemas.openxmlformats.org/officeDocument/2006/relationships/slide" Target="slides/slide19.xml"/><Relationship Id="rId67" Type="http://schemas.openxmlformats.org/officeDocument/2006/relationships/slide" Target="slides/slide63.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slide" Target="slides/slide65.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77240" y="4777560"/>
            <a:ext cx="6217560" cy="452592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 name="Google Shape;5;n"/>
          <p:cNvSpPr txBox="1"/>
          <p:nvPr>
            <p:ph idx="3" type="hdr"/>
          </p:nvPr>
        </p:nvSpPr>
        <p:spPr>
          <a:xfrm>
            <a:off x="0" y="0"/>
            <a:ext cx="3372840" cy="50256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 name="Google Shape;6;n"/>
          <p:cNvSpPr txBox="1"/>
          <p:nvPr>
            <p:ph idx="10" type="dt"/>
          </p:nvPr>
        </p:nvSpPr>
        <p:spPr>
          <a:xfrm>
            <a:off x="4399200" y="0"/>
            <a:ext cx="3372840" cy="50256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9555480"/>
            <a:ext cx="3372840" cy="50256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4399200" y="9555480"/>
            <a:ext cx="3372840" cy="50256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fld id="{00000000-1234-1234-1234-123412341234}" type="slidenum">
              <a:rPr b="0" i="0" lang="es-419" sz="1400" u="none" cap="none" strike="noStrike">
                <a:latin typeface="Times New Roman"/>
                <a:ea typeface="Times New Roman"/>
                <a:cs typeface="Times New Roman"/>
                <a:sym typeface="Times New Roman"/>
              </a:rPr>
              <a:t>‹#›</a:t>
            </a:fld>
            <a:endParaRPr b="0" i="0" sz="1400" u="none" cap="none" strike="noStrike">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4" name="Google Shape;94;p1: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1" name="Google Shape;101;p2: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8" name="Google Shape;108;p3: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15" name="Google Shape;115;p4: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5: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22" name="Google Shape;122;p5: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6: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2" name="Google Shape;132;p6: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7: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9" name="Google Shape;139;p7: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8: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6" name="Google Shape;146;p8: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0: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3" name="Google Shape;153;p10: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1: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0" name="Google Shape;160;p11: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2: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0" name="Google Shape;170;p12: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3: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83" name="Google Shape;183;p13: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4: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0" name="Google Shape;190;p14: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5:notes"/>
          <p:cNvSpPr/>
          <p:nvPr>
            <p:ph idx="2" type="sldImg"/>
          </p:nvPr>
        </p:nvSpPr>
        <p:spPr>
          <a:xfrm>
            <a:off x="381240" y="685800"/>
            <a:ext cx="6095520" cy="34286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2" name="Google Shape;202;p15:notes"/>
          <p:cNvSpPr txBox="1"/>
          <p:nvPr>
            <p:ph idx="1" type="body"/>
          </p:nvPr>
        </p:nvSpPr>
        <p:spPr>
          <a:xfrm>
            <a:off x="685800" y="4343400"/>
            <a:ext cx="5486040" cy="411444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b="0" lang="es-419" sz="1100" strike="noStrike">
                <a:latin typeface="Arial"/>
                <a:ea typeface="Arial"/>
                <a:cs typeface="Arial"/>
                <a:sym typeface="Arial"/>
              </a:rPr>
              <a:t>Lo vemos medio “pixelado”</a:t>
            </a:r>
            <a:endParaRPr b="0" sz="1100" strike="noStrike">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6: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09" name="Google Shape;209;p16: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11eea1055d2_0_0:notes"/>
          <p:cNvSpPr txBox="1"/>
          <p:nvPr>
            <p:ph idx="1" type="body"/>
          </p:nvPr>
        </p:nvSpPr>
        <p:spPr>
          <a:xfrm>
            <a:off x="777240" y="4777560"/>
            <a:ext cx="6217500" cy="452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21" name="Google Shape;221;g11eea1055d2_0_0: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1eea1055d2_0_12:notes"/>
          <p:cNvSpPr txBox="1"/>
          <p:nvPr>
            <p:ph idx="1" type="body"/>
          </p:nvPr>
        </p:nvSpPr>
        <p:spPr>
          <a:xfrm>
            <a:off x="777240" y="4777560"/>
            <a:ext cx="6217500" cy="452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28" name="Google Shape;228;g11eea1055d2_0_12: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1eea1055d2_0_24:notes"/>
          <p:cNvSpPr txBox="1"/>
          <p:nvPr>
            <p:ph idx="1" type="body"/>
          </p:nvPr>
        </p:nvSpPr>
        <p:spPr>
          <a:xfrm>
            <a:off x="777240" y="4777560"/>
            <a:ext cx="6217500" cy="452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36" name="Google Shape;236;g11eea1055d2_0_24: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11eea1055d2_0_33:notes"/>
          <p:cNvSpPr txBox="1"/>
          <p:nvPr>
            <p:ph idx="1" type="body"/>
          </p:nvPr>
        </p:nvSpPr>
        <p:spPr>
          <a:xfrm>
            <a:off x="777240" y="4777560"/>
            <a:ext cx="6217500" cy="452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44" name="Google Shape;244;g11eea1055d2_0_33: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1eea1055d2_0_41:notes"/>
          <p:cNvSpPr txBox="1"/>
          <p:nvPr>
            <p:ph idx="1" type="body"/>
          </p:nvPr>
        </p:nvSpPr>
        <p:spPr>
          <a:xfrm>
            <a:off x="777240" y="4777560"/>
            <a:ext cx="6217500" cy="452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52" name="Google Shape;252;g11eea1055d2_0_41: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7:notes"/>
          <p:cNvSpPr/>
          <p:nvPr>
            <p:ph idx="2" type="sldImg"/>
          </p:nvPr>
        </p:nvSpPr>
        <p:spPr>
          <a:xfrm>
            <a:off x="381240" y="685800"/>
            <a:ext cx="6095520" cy="34286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0" name="Google Shape;260;p17:notes"/>
          <p:cNvSpPr txBox="1"/>
          <p:nvPr>
            <p:ph idx="1" type="body"/>
          </p:nvPr>
        </p:nvSpPr>
        <p:spPr>
          <a:xfrm>
            <a:off x="685800" y="4343400"/>
            <a:ext cx="5486040" cy="411444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b="0" lang="es-419" sz="1100" strike="noStrike">
                <a:latin typeface="Arial"/>
                <a:ea typeface="Arial"/>
                <a:cs typeface="Arial"/>
                <a:sym typeface="Arial"/>
              </a:rPr>
              <a:t>Un gráfico de densidad visualiza la distribución de datos en un intervalo o período de tiempo continuo. Este gráfico es una variación de un Histograma que usa el suavizado de cerner para trazar valores, permitiendo distribuciones más suaves al suavizar el ruido. Los picos de un gráfico de densidad ayudan a mostrar dónde los valores se concentran en el intervalo.</a:t>
            </a:r>
            <a:endParaRPr b="0" sz="1100" strike="noStrike">
              <a:latin typeface="Arial"/>
              <a:ea typeface="Arial"/>
              <a:cs typeface="Arial"/>
              <a:sym typeface="Arial"/>
            </a:endParaRPr>
          </a:p>
          <a:p>
            <a:pPr indent="0" lvl="0" marL="0" rtl="0" algn="l">
              <a:lnSpc>
                <a:spcPct val="100000"/>
              </a:lnSpc>
              <a:spcBef>
                <a:spcPts val="0"/>
              </a:spcBef>
              <a:spcAft>
                <a:spcPts val="0"/>
              </a:spcAft>
              <a:buNone/>
            </a:pPr>
            <a:r>
              <a:t/>
            </a:r>
            <a:endParaRPr b="0" sz="1100" strike="noStrike">
              <a:latin typeface="Arial"/>
              <a:ea typeface="Arial"/>
              <a:cs typeface="Arial"/>
              <a:sym typeface="Arial"/>
            </a:endParaRPr>
          </a:p>
          <a:p>
            <a:pPr indent="0" lvl="0" marL="0" rtl="0" algn="l">
              <a:lnSpc>
                <a:spcPct val="100000"/>
              </a:lnSpc>
              <a:spcBef>
                <a:spcPts val="0"/>
              </a:spcBef>
              <a:spcAft>
                <a:spcPts val="0"/>
              </a:spcAft>
              <a:buNone/>
            </a:pPr>
            <a:r>
              <a:rPr b="0" lang="es-419" sz="1100" strike="noStrike">
                <a:latin typeface="Arial"/>
                <a:ea typeface="Arial"/>
                <a:cs typeface="Arial"/>
                <a:sym typeface="Arial"/>
              </a:rPr>
              <a:t>Una ventaja de los gráficos de densidad sobre los histogramas es que son mejores para determinar la forma de distribución porque no se ven afectados por el número de contenedores utilizados (cada barra utilizada en un histograma típico). Un histograma que consta de solo 4 compartimientos no producirá una forma de distribución lo suficientemente distinguible como lo haría un histograma de 20 compartimientos. Sin embargo, con los gráficos de densidad esto no es un problema.</a:t>
            </a:r>
            <a:endParaRPr b="0" sz="1100" strike="noStrike">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8:notes"/>
          <p:cNvSpPr/>
          <p:nvPr>
            <p:ph idx="2" type="sldImg"/>
          </p:nvPr>
        </p:nvSpPr>
        <p:spPr>
          <a:xfrm>
            <a:off x="381240" y="685800"/>
            <a:ext cx="6095520" cy="34286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7" name="Google Shape;267;p18:notes"/>
          <p:cNvSpPr txBox="1"/>
          <p:nvPr>
            <p:ph idx="1" type="body"/>
          </p:nvPr>
        </p:nvSpPr>
        <p:spPr>
          <a:xfrm>
            <a:off x="685800" y="4343400"/>
            <a:ext cx="5486040" cy="411444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b="0" lang="es-419" sz="1100" strike="noStrike">
                <a:latin typeface="Arial"/>
                <a:ea typeface="Arial"/>
                <a:cs typeface="Arial"/>
                <a:sym typeface="Arial"/>
              </a:rPr>
              <a:t>Un gráfico de densidad visualiza la distribución de datos en un intervalo o período de tiempo continuo. Este gráfico es una variación de un Histograma que usa el suavizado de cerner para trazar valores, permitiendo distribuciones más suaves al suavizar el ruido. Los picos de un gráfico de densidad ayudan a mostrar dónde los valores se concentran en el intervalo.</a:t>
            </a:r>
            <a:endParaRPr b="0" sz="1100" strike="noStrike">
              <a:latin typeface="Arial"/>
              <a:ea typeface="Arial"/>
              <a:cs typeface="Arial"/>
              <a:sym typeface="Arial"/>
            </a:endParaRPr>
          </a:p>
          <a:p>
            <a:pPr indent="0" lvl="0" marL="0" rtl="0" algn="l">
              <a:lnSpc>
                <a:spcPct val="100000"/>
              </a:lnSpc>
              <a:spcBef>
                <a:spcPts val="0"/>
              </a:spcBef>
              <a:spcAft>
                <a:spcPts val="0"/>
              </a:spcAft>
              <a:buNone/>
            </a:pPr>
            <a:r>
              <a:t/>
            </a:r>
            <a:endParaRPr b="0" sz="1100" strike="noStrike">
              <a:latin typeface="Arial"/>
              <a:ea typeface="Arial"/>
              <a:cs typeface="Arial"/>
              <a:sym typeface="Arial"/>
            </a:endParaRPr>
          </a:p>
          <a:p>
            <a:pPr indent="0" lvl="0" marL="0" rtl="0" algn="l">
              <a:lnSpc>
                <a:spcPct val="100000"/>
              </a:lnSpc>
              <a:spcBef>
                <a:spcPts val="0"/>
              </a:spcBef>
              <a:spcAft>
                <a:spcPts val="0"/>
              </a:spcAft>
              <a:buNone/>
            </a:pPr>
            <a:r>
              <a:rPr b="0" lang="es-419" sz="1100" strike="noStrike">
                <a:latin typeface="Arial"/>
                <a:ea typeface="Arial"/>
                <a:cs typeface="Arial"/>
                <a:sym typeface="Arial"/>
              </a:rPr>
              <a:t>Una ventaja de los gráficos de densidad sobre los histogramas es que son mejores para determinar la forma de distribución porque no se ven afectados por el número de contenedores utilizados (cada barra utilizada en un histograma típico). Un histograma que consta de solo 4 compartimientos no producirá una forma de distribución lo suficientemente distinguible como lo haría un histograma de 20 compartimientos. Sin embargo, con los gráficos de densidad esto no es un problema.</a:t>
            </a:r>
            <a:endParaRPr b="0" sz="1100" strike="noStrike">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9: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77" name="Google Shape;277;p19: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0: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89" name="Google Shape;289;p20: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1: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96" name="Google Shape;296;p21: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2: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05" name="Google Shape;305;p22: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3: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15" name="Google Shape;315;p23: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4: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22" name="Google Shape;322;p24: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5: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29" name="Google Shape;329;p25: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6: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59" name="Google Shape;359;p26: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27: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90" name="Google Shape;390;p27: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28: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22" name="Google Shape;422;p28: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29: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55" name="Google Shape;455;p29: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30: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88" name="Google Shape;488;p30: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31: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21" name="Google Shape;521;p31: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32: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57" name="Google Shape;557;p32: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33: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95" name="Google Shape;595;p33: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34: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03" name="Google Shape;603;p34: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35: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10" name="Google Shape;610;p35: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36: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19" name="Google Shape;619;p36: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37: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30" name="Google Shape;630;p37: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38: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40" name="Google Shape;640;p38: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39: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51" name="Google Shape;651;p39: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40:notes"/>
          <p:cNvSpPr/>
          <p:nvPr>
            <p:ph idx="2" type="sldImg"/>
          </p:nvPr>
        </p:nvSpPr>
        <p:spPr>
          <a:xfrm>
            <a:off x="381240" y="685800"/>
            <a:ext cx="6095520" cy="34286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1" name="Google Shape;661;p40:notes"/>
          <p:cNvSpPr txBox="1"/>
          <p:nvPr>
            <p:ph idx="1" type="body"/>
          </p:nvPr>
        </p:nvSpPr>
        <p:spPr>
          <a:xfrm>
            <a:off x="685800" y="4343400"/>
            <a:ext cx="5486040" cy="411444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b="0" lang="es-419" sz="1100" strike="noStrike">
                <a:latin typeface="Arial"/>
                <a:ea typeface="Arial"/>
                <a:cs typeface="Arial"/>
                <a:sym typeface="Arial"/>
              </a:rPr>
              <a:t>Picantearla con el piechart</a:t>
            </a:r>
            <a:endParaRPr b="0" sz="1100" strike="noStrike">
              <a:latin typeface="Arial"/>
              <a:ea typeface="Arial"/>
              <a:cs typeface="Arial"/>
              <a:sym typeface="Aria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41: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69" name="Google Shape;669;p41: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42: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76" name="Google Shape;676;p42: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43:notes"/>
          <p:cNvSpPr/>
          <p:nvPr>
            <p:ph idx="2" type="sldImg"/>
          </p:nvPr>
        </p:nvSpPr>
        <p:spPr>
          <a:xfrm>
            <a:off x="381240" y="685800"/>
            <a:ext cx="6095520" cy="34286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3" name="Google Shape;683;p43:notes"/>
          <p:cNvSpPr txBox="1"/>
          <p:nvPr>
            <p:ph idx="1" type="body"/>
          </p:nvPr>
        </p:nvSpPr>
        <p:spPr>
          <a:xfrm>
            <a:off x="685800" y="4343400"/>
            <a:ext cx="5486040" cy="411444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b="0" lang="es-419" sz="1100" strike="noStrike">
                <a:latin typeface="Arial"/>
                <a:ea typeface="Arial"/>
                <a:cs typeface="Arial"/>
                <a:sym typeface="Arial"/>
              </a:rPr>
              <a:t>Dato de color: por que estas profesiones? busque las dos que más divergencia de KL tenían para que la comparación fuera interesante</a:t>
            </a:r>
            <a:endParaRPr b="0" sz="1100" strike="noStrike">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44:notes"/>
          <p:cNvSpPr/>
          <p:nvPr>
            <p:ph idx="2" type="sldImg"/>
          </p:nvPr>
        </p:nvSpPr>
        <p:spPr>
          <a:xfrm>
            <a:off x="381240" y="685800"/>
            <a:ext cx="6095520" cy="34286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0" name="Google Shape;690;p44:notes"/>
          <p:cNvSpPr txBox="1"/>
          <p:nvPr>
            <p:ph idx="1" type="body"/>
          </p:nvPr>
        </p:nvSpPr>
        <p:spPr>
          <a:xfrm>
            <a:off x="685800" y="4343400"/>
            <a:ext cx="5486040" cy="411444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b="0" lang="es-419" sz="1100" strike="noStrike">
                <a:latin typeface="Arial"/>
                <a:ea typeface="Arial"/>
                <a:cs typeface="Arial"/>
                <a:sym typeface="Arial"/>
              </a:rPr>
              <a:t>Dato de color: por que estas profesiones? busque las dos que más divergencia de KL tenían para que la comparación fuera interesante</a:t>
            </a:r>
            <a:endParaRPr b="0" sz="1100" strike="noStrike">
              <a:latin typeface="Arial"/>
              <a:ea typeface="Arial"/>
              <a:cs typeface="Arial"/>
              <a:sym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45: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97" name="Google Shape;697;p45: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46: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05" name="Google Shape;705;p46: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47: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13" name="Google Shape;713;p47: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11a0e6ac979_0_0:notes"/>
          <p:cNvSpPr txBox="1"/>
          <p:nvPr>
            <p:ph idx="1" type="body"/>
          </p:nvPr>
        </p:nvSpPr>
        <p:spPr>
          <a:xfrm>
            <a:off x="777240" y="4777560"/>
            <a:ext cx="6217500" cy="452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21" name="Google Shape;721;g11a0e6ac979_0_0: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48: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30" name="Google Shape;730;p48: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49: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40" name="Google Shape;740;p49: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p50: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48" name="Google Shape;748;p50: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51:notes"/>
          <p:cNvSpPr/>
          <p:nvPr>
            <p:ph idx="2" type="sldImg"/>
          </p:nvPr>
        </p:nvSpPr>
        <p:spPr>
          <a:xfrm>
            <a:off x="381240" y="685800"/>
            <a:ext cx="6095520" cy="34286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5" name="Google Shape;755;p51:notes"/>
          <p:cNvSpPr txBox="1"/>
          <p:nvPr>
            <p:ph idx="1" type="body"/>
          </p:nvPr>
        </p:nvSpPr>
        <p:spPr>
          <a:xfrm>
            <a:off x="685800" y="4343400"/>
            <a:ext cx="5486040" cy="411444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b="0" lang="es-419" sz="1100" strike="noStrike">
                <a:latin typeface="Arial"/>
                <a:ea typeface="Arial"/>
                <a:cs typeface="Arial"/>
                <a:sym typeface="Arial"/>
              </a:rPr>
              <a:t>Hablar de la fuente de los datos</a:t>
            </a:r>
            <a:endParaRPr b="0" sz="1100" strike="noStrike">
              <a:latin typeface="Arial"/>
              <a:ea typeface="Arial"/>
              <a:cs typeface="Arial"/>
              <a:sym typeface="Aria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52: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65" name="Google Shape;765;p52: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p53: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72" name="Google Shape;772;p53: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54: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80" name="Google Shape;780;p54: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p55: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87" name="Google Shape;787;p55: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56: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97" name="Google Shape;797;p56: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p57: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04" name="Google Shape;804;p57: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g119a051e615_0_0:notes"/>
          <p:cNvSpPr txBox="1"/>
          <p:nvPr>
            <p:ph idx="1" type="body"/>
          </p:nvPr>
        </p:nvSpPr>
        <p:spPr>
          <a:xfrm>
            <a:off x="777240" y="4777560"/>
            <a:ext cx="6217500" cy="452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12" name="Google Shape;812;g119a051e615_0_0: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58: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20" name="Google Shape;820;p58: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p59: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49" name="Google Shape;849;p59: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13" name="Shape 13"/>
        <p:cNvGrpSpPr/>
        <p:nvPr/>
      </p:nvGrpSpPr>
      <p:grpSpPr>
        <a:xfrm>
          <a:off x="0" y="0"/>
          <a:ext cx="0" cy="0"/>
          <a:chOff x="0" y="0"/>
          <a:chExt cx="0" cy="0"/>
        </a:xfrm>
      </p:grpSpPr>
      <p:sp>
        <p:nvSpPr>
          <p:cNvPr id="14" name="Google Shape;14;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 name="Google Shape;15;p2"/>
          <p:cNvGrpSpPr/>
          <p:nvPr/>
        </p:nvGrpSpPr>
        <p:grpSpPr>
          <a:xfrm>
            <a:off x="830392" y="1191256"/>
            <a:ext cx="745763" cy="45826"/>
            <a:chOff x="4580561" y="2589004"/>
            <a:chExt cx="1064464" cy="25200"/>
          </a:xfrm>
        </p:grpSpPr>
        <p:sp>
          <p:nvSpPr>
            <p:cNvPr id="16" name="Google Shape;16;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 name="Google Shape;18;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9" name="Google Shape;19;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20" name="Google Shape;20;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1" name="Shape 21"/>
        <p:cNvGrpSpPr/>
        <p:nvPr/>
      </p:nvGrpSpPr>
      <p:grpSpPr>
        <a:xfrm>
          <a:off x="0" y="0"/>
          <a:ext cx="0" cy="0"/>
          <a:chOff x="0" y="0"/>
          <a:chExt cx="0" cy="0"/>
        </a:xfrm>
      </p:grpSpPr>
      <p:grpSp>
        <p:nvGrpSpPr>
          <p:cNvPr id="22" name="Google Shape;22;p3"/>
          <p:cNvGrpSpPr/>
          <p:nvPr/>
        </p:nvGrpSpPr>
        <p:grpSpPr>
          <a:xfrm>
            <a:off x="830392" y="1191256"/>
            <a:ext cx="745763" cy="45826"/>
            <a:chOff x="4580561" y="2589004"/>
            <a:chExt cx="1064464" cy="25200"/>
          </a:xfrm>
        </p:grpSpPr>
        <p:sp>
          <p:nvSpPr>
            <p:cNvPr id="23" name="Google Shape;23;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 name="Google Shape;25;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6" name="Google Shape;26;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7" name="Shape 27"/>
        <p:cNvGrpSpPr/>
        <p:nvPr/>
      </p:nvGrpSpPr>
      <p:grpSpPr>
        <a:xfrm>
          <a:off x="0" y="0"/>
          <a:ext cx="0" cy="0"/>
          <a:chOff x="0" y="0"/>
          <a:chExt cx="0" cy="0"/>
        </a:xfrm>
      </p:grpSpPr>
      <p:sp>
        <p:nvSpPr>
          <p:cNvPr id="28" name="Google Shape;28;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 name="Google Shape;29;p4"/>
          <p:cNvGrpSpPr/>
          <p:nvPr/>
        </p:nvGrpSpPr>
        <p:grpSpPr>
          <a:xfrm>
            <a:off x="830392" y="1191256"/>
            <a:ext cx="745763" cy="45826"/>
            <a:chOff x="4580561" y="2589004"/>
            <a:chExt cx="1064464" cy="25200"/>
          </a:xfrm>
        </p:grpSpPr>
        <p:sp>
          <p:nvSpPr>
            <p:cNvPr id="30" name="Google Shape;30;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 name="Google Shape;32;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3" name="Google Shape;33;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4" name="Google Shape;34;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5" name="Shape 35"/>
        <p:cNvGrpSpPr/>
        <p:nvPr/>
      </p:nvGrpSpPr>
      <p:grpSpPr>
        <a:xfrm>
          <a:off x="0" y="0"/>
          <a:ext cx="0" cy="0"/>
          <a:chOff x="0" y="0"/>
          <a:chExt cx="0" cy="0"/>
        </a:xfrm>
      </p:grpSpPr>
      <p:sp>
        <p:nvSpPr>
          <p:cNvPr id="36" name="Google Shape;36;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5"/>
          <p:cNvGrpSpPr/>
          <p:nvPr/>
        </p:nvGrpSpPr>
        <p:grpSpPr>
          <a:xfrm>
            <a:off x="830392" y="1191256"/>
            <a:ext cx="745763" cy="45826"/>
            <a:chOff x="4580561" y="2589004"/>
            <a:chExt cx="1064464" cy="25200"/>
          </a:xfrm>
        </p:grpSpPr>
        <p:sp>
          <p:nvSpPr>
            <p:cNvPr id="38" name="Google Shape;38;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1" name="Google Shape;41;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2" name="Google Shape;42;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3" name="Google Shape;43;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4" name="Shape 44"/>
        <p:cNvGrpSpPr/>
        <p:nvPr/>
      </p:nvGrpSpPr>
      <p:grpSpPr>
        <a:xfrm>
          <a:off x="0" y="0"/>
          <a:ext cx="0" cy="0"/>
          <a:chOff x="0" y="0"/>
          <a:chExt cx="0" cy="0"/>
        </a:xfrm>
      </p:grpSpPr>
      <p:sp>
        <p:nvSpPr>
          <p:cNvPr id="45" name="Google Shape;45;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 name="Google Shape;46;p6"/>
          <p:cNvGrpSpPr/>
          <p:nvPr/>
        </p:nvGrpSpPr>
        <p:grpSpPr>
          <a:xfrm>
            <a:off x="830392" y="1191256"/>
            <a:ext cx="745763" cy="45826"/>
            <a:chOff x="4580561" y="2589004"/>
            <a:chExt cx="1064464" cy="25200"/>
          </a:xfrm>
        </p:grpSpPr>
        <p:sp>
          <p:nvSpPr>
            <p:cNvPr id="47" name="Google Shape;47;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 name="Google Shape;49;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0" name="Google Shape;50;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1" name="Shape 51"/>
        <p:cNvGrpSpPr/>
        <p:nvPr/>
      </p:nvGrpSpPr>
      <p:grpSpPr>
        <a:xfrm>
          <a:off x="0" y="0"/>
          <a:ext cx="0" cy="0"/>
          <a:chOff x="0" y="0"/>
          <a:chExt cx="0" cy="0"/>
        </a:xfrm>
      </p:grpSpPr>
      <p:sp>
        <p:nvSpPr>
          <p:cNvPr id="52" name="Google Shape;52;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 name="Google Shape;53;p7"/>
          <p:cNvGrpSpPr/>
          <p:nvPr/>
        </p:nvGrpSpPr>
        <p:grpSpPr>
          <a:xfrm>
            <a:off x="830392" y="1191256"/>
            <a:ext cx="745763" cy="45826"/>
            <a:chOff x="4580561" y="2589004"/>
            <a:chExt cx="1064464" cy="25200"/>
          </a:xfrm>
        </p:grpSpPr>
        <p:sp>
          <p:nvSpPr>
            <p:cNvPr id="54" name="Google Shape;54;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 name="Google Shape;56;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7" name="Google Shape;57;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8" name="Google Shape;58;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9" name="Shape 59"/>
        <p:cNvGrpSpPr/>
        <p:nvPr/>
      </p:nvGrpSpPr>
      <p:grpSpPr>
        <a:xfrm>
          <a:off x="0" y="0"/>
          <a:ext cx="0" cy="0"/>
          <a:chOff x="0" y="0"/>
          <a:chExt cx="0" cy="0"/>
        </a:xfrm>
      </p:grpSpPr>
      <p:grpSp>
        <p:nvGrpSpPr>
          <p:cNvPr id="60" name="Google Shape;60;p8"/>
          <p:cNvGrpSpPr/>
          <p:nvPr/>
        </p:nvGrpSpPr>
        <p:grpSpPr>
          <a:xfrm>
            <a:off x="830392" y="4169130"/>
            <a:ext cx="745763" cy="45826"/>
            <a:chOff x="4580561" y="2589004"/>
            <a:chExt cx="1064464" cy="25200"/>
          </a:xfrm>
        </p:grpSpPr>
        <p:sp>
          <p:nvSpPr>
            <p:cNvPr id="61" name="Google Shape;61;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 name="Google Shape;63;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4" name="Google Shape;64;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5" name="Shape 65"/>
        <p:cNvGrpSpPr/>
        <p:nvPr/>
      </p:nvGrpSpPr>
      <p:grpSpPr>
        <a:xfrm>
          <a:off x="0" y="0"/>
          <a:ext cx="0" cy="0"/>
          <a:chOff x="0" y="0"/>
          <a:chExt cx="0" cy="0"/>
        </a:xfrm>
      </p:grpSpPr>
      <p:sp>
        <p:nvSpPr>
          <p:cNvPr id="66" name="Google Shape;66;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 name="Google Shape;67;p9"/>
          <p:cNvGrpSpPr/>
          <p:nvPr/>
        </p:nvGrpSpPr>
        <p:grpSpPr>
          <a:xfrm>
            <a:off x="830392" y="1191256"/>
            <a:ext cx="745763" cy="45826"/>
            <a:chOff x="4580561" y="2589004"/>
            <a:chExt cx="1064464" cy="25200"/>
          </a:xfrm>
        </p:grpSpPr>
        <p:sp>
          <p:nvSpPr>
            <p:cNvPr id="68" name="Google Shape;68;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 name="Google Shape;70;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71" name="Google Shape;71;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72" name="Google Shape;72;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3" name="Google Shape;73;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4" name="Shape 74"/>
        <p:cNvGrpSpPr/>
        <p:nvPr/>
      </p:nvGrpSpPr>
      <p:grpSpPr>
        <a:xfrm>
          <a:off x="0" y="0"/>
          <a:ext cx="0" cy="0"/>
          <a:chOff x="0" y="0"/>
          <a:chExt cx="0" cy="0"/>
        </a:xfrm>
      </p:grpSpPr>
      <p:sp>
        <p:nvSpPr>
          <p:cNvPr id="75" name="Google Shape;75;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6" name="Google Shape;76;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7" name="Shape 77"/>
        <p:cNvGrpSpPr/>
        <p:nvPr/>
      </p:nvGrpSpPr>
      <p:grpSpPr>
        <a:xfrm>
          <a:off x="0" y="0"/>
          <a:ext cx="0" cy="0"/>
          <a:chOff x="0" y="0"/>
          <a:chExt cx="0" cy="0"/>
        </a:xfrm>
      </p:grpSpPr>
      <p:grpSp>
        <p:nvGrpSpPr>
          <p:cNvPr id="78" name="Google Shape;78;p11"/>
          <p:cNvGrpSpPr/>
          <p:nvPr/>
        </p:nvGrpSpPr>
        <p:grpSpPr>
          <a:xfrm>
            <a:off x="830392" y="4169130"/>
            <a:ext cx="745763" cy="45826"/>
            <a:chOff x="4580561" y="2589004"/>
            <a:chExt cx="1064464" cy="25200"/>
          </a:xfrm>
        </p:grpSpPr>
        <p:sp>
          <p:nvSpPr>
            <p:cNvPr id="79" name="Google Shape;79;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 name="Google Shape;81;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82" name="Google Shape;82;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83" name="Google Shape;83;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4" name="Shape 84"/>
        <p:cNvGrpSpPr/>
        <p:nvPr/>
      </p:nvGrpSpPr>
      <p:grpSpPr>
        <a:xfrm>
          <a:off x="0" y="0"/>
          <a:ext cx="0" cy="0"/>
          <a:chOff x="0" y="0"/>
          <a:chExt cx="0" cy="0"/>
        </a:xfrm>
      </p:grpSpPr>
      <p:sp>
        <p:nvSpPr>
          <p:cNvPr id="85" name="Google Shape;85;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AND_BODY_1">
    <p:spTree>
      <p:nvGrpSpPr>
        <p:cNvPr id="86" name="Shape 86"/>
        <p:cNvGrpSpPr/>
        <p:nvPr/>
      </p:nvGrpSpPr>
      <p:grpSpPr>
        <a:xfrm>
          <a:off x="0" y="0"/>
          <a:ext cx="0" cy="0"/>
          <a:chOff x="0" y="0"/>
          <a:chExt cx="0" cy="0"/>
        </a:xfrm>
      </p:grpSpPr>
      <p:sp>
        <p:nvSpPr>
          <p:cNvPr id="87" name="Google Shape;87;p13"/>
          <p:cNvSpPr txBox="1"/>
          <p:nvPr>
            <p:ph type="title"/>
          </p:nvPr>
        </p:nvSpPr>
        <p:spPr>
          <a:xfrm>
            <a:off x="311760" y="444960"/>
            <a:ext cx="8520000" cy="572400"/>
          </a:xfrm>
          <a:prstGeom prst="rect">
            <a:avLst/>
          </a:prstGeom>
          <a:noFill/>
          <a:ln>
            <a:noFill/>
          </a:ln>
        </p:spPr>
        <p:txBody>
          <a:bodyPr anchorCtr="0" anchor="ctr" bIns="0" lIns="0" spcFirstLastPara="1" rIns="0" wrap="square" tIns="0">
            <a:normAutofit/>
          </a:bodyPr>
          <a:lstStyle>
            <a:lvl1pPr lvl="0" rtl="0" algn="l">
              <a:spcBef>
                <a:spcPts val="0"/>
              </a:spcBef>
              <a:spcAft>
                <a:spcPts val="0"/>
              </a:spcAft>
              <a:buSzPts val="2800"/>
              <a:buNone/>
              <a:defRPr/>
            </a:lvl1pPr>
            <a:lvl2pPr lvl="1" rtl="0" algn="l">
              <a:spcBef>
                <a:spcPts val="0"/>
              </a:spcBef>
              <a:spcAft>
                <a:spcPts val="0"/>
              </a:spcAft>
              <a:buSzPts val="2800"/>
              <a:buNone/>
              <a:defRPr/>
            </a:lvl2pPr>
            <a:lvl3pPr lvl="2" rtl="0" algn="l">
              <a:spcBef>
                <a:spcPts val="0"/>
              </a:spcBef>
              <a:spcAft>
                <a:spcPts val="0"/>
              </a:spcAft>
              <a:buSzPts val="2800"/>
              <a:buNone/>
              <a:defRPr/>
            </a:lvl3pPr>
            <a:lvl4pPr lvl="3" rtl="0" algn="l">
              <a:spcBef>
                <a:spcPts val="0"/>
              </a:spcBef>
              <a:spcAft>
                <a:spcPts val="0"/>
              </a:spcAft>
              <a:buSzPts val="2800"/>
              <a:buNone/>
              <a:defRPr/>
            </a:lvl4pPr>
            <a:lvl5pPr lvl="4" rtl="0" algn="l">
              <a:spcBef>
                <a:spcPts val="0"/>
              </a:spcBef>
              <a:spcAft>
                <a:spcPts val="0"/>
              </a:spcAft>
              <a:buSzPts val="2800"/>
              <a:buNone/>
              <a:defRPr/>
            </a:lvl5pPr>
            <a:lvl6pPr lvl="5" rtl="0" algn="l">
              <a:spcBef>
                <a:spcPts val="0"/>
              </a:spcBef>
              <a:spcAft>
                <a:spcPts val="0"/>
              </a:spcAft>
              <a:buSzPts val="2800"/>
              <a:buNone/>
              <a:defRPr/>
            </a:lvl6pPr>
            <a:lvl7pPr lvl="6" rtl="0" algn="l">
              <a:spcBef>
                <a:spcPts val="0"/>
              </a:spcBef>
              <a:spcAft>
                <a:spcPts val="0"/>
              </a:spcAft>
              <a:buSzPts val="2800"/>
              <a:buNone/>
              <a:defRPr/>
            </a:lvl7pPr>
            <a:lvl8pPr lvl="7" rtl="0" algn="l">
              <a:spcBef>
                <a:spcPts val="0"/>
              </a:spcBef>
              <a:spcAft>
                <a:spcPts val="0"/>
              </a:spcAft>
              <a:buSzPts val="2800"/>
              <a:buNone/>
              <a:defRPr/>
            </a:lvl8pPr>
            <a:lvl9pPr lvl="8" rtl="0" algn="l">
              <a:spcBef>
                <a:spcPts val="0"/>
              </a:spcBef>
              <a:spcAft>
                <a:spcPts val="0"/>
              </a:spcAft>
              <a:buSzPts val="2800"/>
              <a:buNone/>
              <a:defRPr/>
            </a:lvl9pPr>
          </a:lstStyle>
          <a:p/>
        </p:txBody>
      </p:sp>
      <p:sp>
        <p:nvSpPr>
          <p:cNvPr id="88" name="Google Shape;88;p13"/>
          <p:cNvSpPr txBox="1"/>
          <p:nvPr>
            <p:ph idx="1" type="subTitle"/>
          </p:nvPr>
        </p:nvSpPr>
        <p:spPr>
          <a:xfrm>
            <a:off x="311760" y="1152360"/>
            <a:ext cx="8520000" cy="3416100"/>
          </a:xfrm>
          <a:prstGeom prst="rect">
            <a:avLst/>
          </a:prstGeom>
          <a:noFill/>
          <a:ln>
            <a:noFill/>
          </a:ln>
        </p:spPr>
        <p:txBody>
          <a:bodyPr anchorCtr="0" anchor="ctr" bIns="0" lIns="0" spcFirstLastPara="1" rIns="0" wrap="square" tIns="0">
            <a:normAutofit/>
          </a:bodyPr>
          <a:lstStyle>
            <a:lvl1pPr lvl="0" rtl="0" algn="l">
              <a:spcBef>
                <a:spcPts val="0"/>
              </a:spcBef>
              <a:spcAft>
                <a:spcPts val="0"/>
              </a:spcAft>
              <a:buSzPts val="1300"/>
              <a:buNone/>
              <a:defRPr/>
            </a:lvl1pPr>
            <a:lvl2pPr lvl="1" rtl="0" algn="l">
              <a:spcBef>
                <a:spcPts val="1200"/>
              </a:spcBef>
              <a:spcAft>
                <a:spcPts val="0"/>
              </a:spcAft>
              <a:buSzPts val="1100"/>
              <a:buNone/>
              <a:defRPr/>
            </a:lvl2pPr>
            <a:lvl3pPr lvl="2" rtl="0" algn="l">
              <a:spcBef>
                <a:spcPts val="1200"/>
              </a:spcBef>
              <a:spcAft>
                <a:spcPts val="0"/>
              </a:spcAft>
              <a:buSzPts val="1100"/>
              <a:buNone/>
              <a:defRPr/>
            </a:lvl3pPr>
            <a:lvl4pPr lvl="3" rtl="0" algn="l">
              <a:spcBef>
                <a:spcPts val="1200"/>
              </a:spcBef>
              <a:spcAft>
                <a:spcPts val="0"/>
              </a:spcAft>
              <a:buSzPts val="1100"/>
              <a:buNone/>
              <a:defRPr/>
            </a:lvl4pPr>
            <a:lvl5pPr lvl="4" rtl="0" algn="l">
              <a:spcBef>
                <a:spcPts val="1200"/>
              </a:spcBef>
              <a:spcAft>
                <a:spcPts val="0"/>
              </a:spcAft>
              <a:buSzPts val="1100"/>
              <a:buNone/>
              <a:defRPr/>
            </a:lvl5pPr>
            <a:lvl6pPr lvl="5" rtl="0" algn="l">
              <a:spcBef>
                <a:spcPts val="1200"/>
              </a:spcBef>
              <a:spcAft>
                <a:spcPts val="0"/>
              </a:spcAft>
              <a:buSzPts val="1100"/>
              <a:buNone/>
              <a:defRPr/>
            </a:lvl6pPr>
            <a:lvl7pPr lvl="6" rtl="0" algn="l">
              <a:spcBef>
                <a:spcPts val="1200"/>
              </a:spcBef>
              <a:spcAft>
                <a:spcPts val="0"/>
              </a:spcAft>
              <a:buSzPts val="1100"/>
              <a:buNone/>
              <a:defRPr/>
            </a:lvl7pPr>
            <a:lvl8pPr lvl="7" rtl="0" algn="l">
              <a:spcBef>
                <a:spcPts val="1200"/>
              </a:spcBef>
              <a:spcAft>
                <a:spcPts val="0"/>
              </a:spcAft>
              <a:buSzPts val="1100"/>
              <a:buNone/>
              <a:defRPr/>
            </a:lvl8pPr>
            <a:lvl9pPr lvl="8" rtl="0" algn="l">
              <a:spcBef>
                <a:spcPts val="1200"/>
              </a:spcBef>
              <a:spcAft>
                <a:spcPts val="1200"/>
              </a:spcAft>
              <a:buSzPts val="11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89" name="Shape 89"/>
        <p:cNvGrpSpPr/>
        <p:nvPr/>
      </p:nvGrpSpPr>
      <p:grpSpPr>
        <a:xfrm>
          <a:off x="0" y="0"/>
          <a:ext cx="0" cy="0"/>
          <a:chOff x="0" y="0"/>
          <a:chExt cx="0" cy="0"/>
        </a:xfrm>
      </p:grpSpPr>
      <p:sp>
        <p:nvSpPr>
          <p:cNvPr id="90" name="Google Shape;90;p14"/>
          <p:cNvSpPr txBox="1"/>
          <p:nvPr>
            <p:ph type="title"/>
          </p:nvPr>
        </p:nvSpPr>
        <p:spPr>
          <a:xfrm>
            <a:off x="311760" y="444960"/>
            <a:ext cx="8520000" cy="572400"/>
          </a:xfrm>
          <a:prstGeom prst="rect">
            <a:avLst/>
          </a:prstGeom>
          <a:noFill/>
          <a:ln>
            <a:noFill/>
          </a:ln>
        </p:spPr>
        <p:txBody>
          <a:bodyPr anchorCtr="0" anchor="ctr" bIns="0" lIns="0" spcFirstLastPara="1" rIns="0" wrap="square" tIns="0">
            <a:normAutofit/>
          </a:bodyPr>
          <a:lstStyle>
            <a:lvl1pPr lvl="0" rtl="0" algn="l">
              <a:spcBef>
                <a:spcPts val="0"/>
              </a:spcBef>
              <a:spcAft>
                <a:spcPts val="0"/>
              </a:spcAft>
              <a:buSzPts val="2800"/>
              <a:buNone/>
              <a:defRPr/>
            </a:lvl1pPr>
            <a:lvl2pPr lvl="1" rtl="0" algn="l">
              <a:spcBef>
                <a:spcPts val="0"/>
              </a:spcBef>
              <a:spcAft>
                <a:spcPts val="0"/>
              </a:spcAft>
              <a:buSzPts val="2800"/>
              <a:buNone/>
              <a:defRPr/>
            </a:lvl2pPr>
            <a:lvl3pPr lvl="2" rtl="0" algn="l">
              <a:spcBef>
                <a:spcPts val="0"/>
              </a:spcBef>
              <a:spcAft>
                <a:spcPts val="0"/>
              </a:spcAft>
              <a:buSzPts val="2800"/>
              <a:buNone/>
              <a:defRPr/>
            </a:lvl3pPr>
            <a:lvl4pPr lvl="3" rtl="0" algn="l">
              <a:spcBef>
                <a:spcPts val="0"/>
              </a:spcBef>
              <a:spcAft>
                <a:spcPts val="0"/>
              </a:spcAft>
              <a:buSzPts val="2800"/>
              <a:buNone/>
              <a:defRPr/>
            </a:lvl4pPr>
            <a:lvl5pPr lvl="4" rtl="0" algn="l">
              <a:spcBef>
                <a:spcPts val="0"/>
              </a:spcBef>
              <a:spcAft>
                <a:spcPts val="0"/>
              </a:spcAft>
              <a:buSzPts val="2800"/>
              <a:buNone/>
              <a:defRPr/>
            </a:lvl5pPr>
            <a:lvl6pPr lvl="5" rtl="0" algn="l">
              <a:spcBef>
                <a:spcPts val="0"/>
              </a:spcBef>
              <a:spcAft>
                <a:spcPts val="0"/>
              </a:spcAft>
              <a:buSzPts val="2800"/>
              <a:buNone/>
              <a:defRPr/>
            </a:lvl6pPr>
            <a:lvl7pPr lvl="6" rtl="0" algn="l">
              <a:spcBef>
                <a:spcPts val="0"/>
              </a:spcBef>
              <a:spcAft>
                <a:spcPts val="0"/>
              </a:spcAft>
              <a:buSzPts val="2800"/>
              <a:buNone/>
              <a:defRPr/>
            </a:lvl7pPr>
            <a:lvl8pPr lvl="7" rtl="0" algn="l">
              <a:spcBef>
                <a:spcPts val="0"/>
              </a:spcBef>
              <a:spcAft>
                <a:spcPts val="0"/>
              </a:spcAft>
              <a:buSzPts val="2800"/>
              <a:buNone/>
              <a:defRPr/>
            </a:lvl8pPr>
            <a:lvl9pPr lvl="8" rtl="0" algn="l">
              <a:spcBef>
                <a:spcPts val="0"/>
              </a:spcBef>
              <a:spcAft>
                <a:spcPts val="0"/>
              </a:spcAft>
              <a:buSzPts val="2800"/>
              <a:buNone/>
              <a:defRPr/>
            </a:lvl9pPr>
          </a:lstStyle>
          <a:p/>
        </p:txBody>
      </p:sp>
      <p:sp>
        <p:nvSpPr>
          <p:cNvPr id="91" name="Google Shape;91;p14"/>
          <p:cNvSpPr txBox="1"/>
          <p:nvPr>
            <p:ph idx="1" type="body"/>
          </p:nvPr>
        </p:nvSpPr>
        <p:spPr>
          <a:xfrm>
            <a:off x="311760" y="1152360"/>
            <a:ext cx="8520000" cy="3416100"/>
          </a:xfrm>
          <a:prstGeom prst="rect">
            <a:avLst/>
          </a:prstGeom>
          <a:noFill/>
          <a:ln>
            <a:noFill/>
          </a:ln>
        </p:spPr>
        <p:txBody>
          <a:bodyPr anchorCtr="0" anchor="t" bIns="0" lIns="0" spcFirstLastPara="1" rIns="0" wrap="square" tIns="0">
            <a:normAutofit/>
          </a:bodyPr>
          <a:lstStyle>
            <a:lvl1pPr indent="-228600" lvl="0" marL="457200" rtl="0" algn="l">
              <a:spcBef>
                <a:spcPts val="0"/>
              </a:spcBef>
              <a:spcAft>
                <a:spcPts val="0"/>
              </a:spcAft>
              <a:buSzPts val="1300"/>
              <a:buNone/>
              <a:defRPr/>
            </a:lvl1pPr>
            <a:lvl2pPr indent="-228600" lvl="1" marL="914400" rtl="0" algn="l">
              <a:spcBef>
                <a:spcPts val="1200"/>
              </a:spcBef>
              <a:spcAft>
                <a:spcPts val="0"/>
              </a:spcAft>
              <a:buSzPts val="1100"/>
              <a:buNone/>
              <a:defRPr/>
            </a:lvl2pPr>
            <a:lvl3pPr indent="-228600" lvl="2" marL="1371600" rtl="0" algn="l">
              <a:spcBef>
                <a:spcPts val="1200"/>
              </a:spcBef>
              <a:spcAft>
                <a:spcPts val="0"/>
              </a:spcAft>
              <a:buSzPts val="1100"/>
              <a:buNone/>
              <a:defRPr/>
            </a:lvl3pPr>
            <a:lvl4pPr indent="-228600" lvl="3" marL="1828800" rtl="0" algn="l">
              <a:spcBef>
                <a:spcPts val="1200"/>
              </a:spcBef>
              <a:spcAft>
                <a:spcPts val="0"/>
              </a:spcAft>
              <a:buSzPts val="1100"/>
              <a:buNone/>
              <a:defRPr/>
            </a:lvl4pPr>
            <a:lvl5pPr indent="-228600" lvl="4" marL="2286000" rtl="0" algn="l">
              <a:spcBef>
                <a:spcPts val="1200"/>
              </a:spcBef>
              <a:spcAft>
                <a:spcPts val="0"/>
              </a:spcAft>
              <a:buSzPts val="1100"/>
              <a:buNone/>
              <a:defRPr/>
            </a:lvl5pPr>
            <a:lvl6pPr indent="-228600" lvl="5" marL="2743200" rtl="0" algn="l">
              <a:spcBef>
                <a:spcPts val="1200"/>
              </a:spcBef>
              <a:spcAft>
                <a:spcPts val="0"/>
              </a:spcAft>
              <a:buSzPts val="1100"/>
              <a:buNone/>
              <a:defRPr/>
            </a:lvl6pPr>
            <a:lvl7pPr indent="-228600" lvl="6" marL="3200400" rtl="0" algn="l">
              <a:spcBef>
                <a:spcPts val="1200"/>
              </a:spcBef>
              <a:spcAft>
                <a:spcPts val="0"/>
              </a:spcAft>
              <a:buSzPts val="1100"/>
              <a:buNone/>
              <a:defRPr/>
            </a:lvl7pPr>
            <a:lvl8pPr indent="-228600" lvl="7" marL="3657600" rtl="0" algn="l">
              <a:spcBef>
                <a:spcPts val="1200"/>
              </a:spcBef>
              <a:spcAft>
                <a:spcPts val="0"/>
              </a:spcAft>
              <a:buSzPts val="1100"/>
              <a:buNone/>
              <a:defRPr/>
            </a:lvl8pPr>
            <a:lvl9pPr indent="-228600" lvl="8" marL="4114800" rtl="0" algn="l">
              <a:spcBef>
                <a:spcPts val="1200"/>
              </a:spcBef>
              <a:spcAft>
                <a:spcPts val="1200"/>
              </a:spcAft>
              <a:buSzPts val="11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11" name="Google Shape;11;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12" name="Google Shape;12;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33.png"/><Relationship Id="rId5" Type="http://schemas.openxmlformats.org/officeDocument/2006/relationships/image" Target="../media/image3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hyperlink" Target="http://www.thefunctionalart.com/2016/08/download-datasaurus-never-trust-summary.html" TargetMode="External"/><Relationship Id="rId4" Type="http://schemas.openxmlformats.org/officeDocument/2006/relationships/hyperlink" Target="https://www.autodeskresearch.com/publications/samestats" TargetMode="External"/><Relationship Id="rId5"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1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8.jp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8.jp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2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image2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1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image" Target="../media/image29.jpg"/><Relationship Id="rId5" Type="http://schemas.openxmlformats.org/officeDocument/2006/relationships/image" Target="../media/image28.jpg"/><Relationship Id="rId6" Type="http://schemas.openxmlformats.org/officeDocument/2006/relationships/image" Target="../media/image1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14.png"/><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14.png"/><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14.png"/><Relationship Id="rId4" Type="http://schemas.openxmlformats.org/officeDocument/2006/relationships/image" Target="../media/image4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14.png"/><Relationship Id="rId4" Type="http://schemas.openxmlformats.org/officeDocument/2006/relationships/image" Target="../media/image4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14.png"/><Relationship Id="rId4" Type="http://schemas.openxmlformats.org/officeDocument/2006/relationships/image" Target="../media/image4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14.png"/><Relationship Id="rId4" Type="http://schemas.openxmlformats.org/officeDocument/2006/relationships/image" Target="../media/image4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image" Target="../media/image45.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14.png"/><Relationship Id="rId4" Type="http://schemas.openxmlformats.org/officeDocument/2006/relationships/image" Target="../media/image45.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14.png"/><Relationship Id="rId4" Type="http://schemas.openxmlformats.org/officeDocument/2006/relationships/image" Target="../media/image69.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14.png"/><Relationship Id="rId4" Type="http://schemas.openxmlformats.org/officeDocument/2006/relationships/image" Target="../media/image69.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14.png"/><Relationship Id="rId4" Type="http://schemas.openxmlformats.org/officeDocument/2006/relationships/image" Target="../media/image69.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image" Target="../media/image14.png"/><Relationship Id="rId4" Type="http://schemas.openxmlformats.org/officeDocument/2006/relationships/image" Target="../media/image46.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image" Target="../media/image14.png"/><Relationship Id="rId4" Type="http://schemas.openxmlformats.org/officeDocument/2006/relationships/image" Target="../media/image4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 Id="rId3" Type="http://schemas.openxmlformats.org/officeDocument/2006/relationships/image" Target="../media/image14.png"/><Relationship Id="rId4" Type="http://schemas.openxmlformats.org/officeDocument/2006/relationships/image" Target="../media/image4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 Id="rId3" Type="http://schemas.openxmlformats.org/officeDocument/2006/relationships/image" Target="../media/image14.png"/><Relationship Id="rId4" Type="http://schemas.openxmlformats.org/officeDocument/2006/relationships/image" Target="../media/image4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 Id="rId3" Type="http://schemas.openxmlformats.org/officeDocument/2006/relationships/image" Target="../media/image14.png"/><Relationship Id="rId4" Type="http://schemas.openxmlformats.org/officeDocument/2006/relationships/image" Target="../media/image4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 Id="rId3" Type="http://schemas.openxmlformats.org/officeDocument/2006/relationships/image" Target="../media/image14.png"/><Relationship Id="rId4" Type="http://schemas.openxmlformats.org/officeDocument/2006/relationships/image" Target="../media/image4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 Id="rId3" Type="http://schemas.openxmlformats.org/officeDocument/2006/relationships/image" Target="../media/image14.png"/><Relationship Id="rId4" Type="http://schemas.openxmlformats.org/officeDocument/2006/relationships/image" Target="../media/image4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 Id="rId3" Type="http://schemas.openxmlformats.org/officeDocument/2006/relationships/image" Target="../media/image14.png"/><Relationship Id="rId4" Type="http://schemas.openxmlformats.org/officeDocument/2006/relationships/image" Target="../media/image4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 Id="rId3" Type="http://schemas.openxmlformats.org/officeDocument/2006/relationships/image" Target="../media/image14.png"/><Relationship Id="rId4" Type="http://schemas.openxmlformats.org/officeDocument/2006/relationships/image" Target="../media/image4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 Id="rId3" Type="http://schemas.openxmlformats.org/officeDocument/2006/relationships/image" Target="../media/image14.png"/><Relationship Id="rId4" Type="http://schemas.openxmlformats.org/officeDocument/2006/relationships/image" Target="../media/image13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 Id="rId3" Type="http://schemas.openxmlformats.org/officeDocument/2006/relationships/image" Target="../media/image14.png"/><Relationship Id="rId4" Type="http://schemas.openxmlformats.org/officeDocument/2006/relationships/image" Target="../media/image146.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 Id="rId3" Type="http://schemas.openxmlformats.org/officeDocument/2006/relationships/image" Target="../media/image14.png"/><Relationship Id="rId4" Type="http://schemas.openxmlformats.org/officeDocument/2006/relationships/image" Target="../media/image146.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 Id="rId3" Type="http://schemas.openxmlformats.org/officeDocument/2006/relationships/image" Target="../media/image14.png"/><Relationship Id="rId4" Type="http://schemas.openxmlformats.org/officeDocument/2006/relationships/image" Target="../media/image146.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 Id="rId3" Type="http://schemas.openxmlformats.org/officeDocument/2006/relationships/image" Target="../media/image14.png"/><Relationship Id="rId4" Type="http://schemas.openxmlformats.org/officeDocument/2006/relationships/image" Target="../media/image146.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 Id="rId3" Type="http://schemas.openxmlformats.org/officeDocument/2006/relationships/image" Target="../media/image14.png"/><Relationship Id="rId4" Type="http://schemas.openxmlformats.org/officeDocument/2006/relationships/image" Target="../media/image146.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 Id="rId3" Type="http://schemas.openxmlformats.org/officeDocument/2006/relationships/image" Target="../media/image14.png"/><Relationship Id="rId4" Type="http://schemas.openxmlformats.org/officeDocument/2006/relationships/image" Target="../media/image146.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 Id="rId3" Type="http://schemas.openxmlformats.org/officeDocument/2006/relationships/image" Target="../media/image14.png"/><Relationship Id="rId4" Type="http://schemas.openxmlformats.org/officeDocument/2006/relationships/image" Target="../media/image168.jpg"/><Relationship Id="rId5" Type="http://schemas.openxmlformats.org/officeDocument/2006/relationships/image" Target="../media/image13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 Id="rId3" Type="http://schemas.openxmlformats.org/officeDocument/2006/relationships/image" Target="../media/image14.png"/><Relationship Id="rId4" Type="http://schemas.openxmlformats.org/officeDocument/2006/relationships/image" Target="../media/image15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 Id="rId3" Type="http://schemas.openxmlformats.org/officeDocument/2006/relationships/image" Target="../media/image14.png"/><Relationship Id="rId4" Type="http://schemas.openxmlformats.org/officeDocument/2006/relationships/image" Target="../media/image13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 Id="rId3" Type="http://schemas.openxmlformats.org/officeDocument/2006/relationships/image" Target="../media/image14.png"/><Relationship Id="rId4" Type="http://schemas.openxmlformats.org/officeDocument/2006/relationships/image" Target="../media/image13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 Id="rId3" Type="http://schemas.openxmlformats.org/officeDocument/2006/relationships/image" Target="../media/image14.png"/><Relationship Id="rId4" Type="http://schemas.openxmlformats.org/officeDocument/2006/relationships/image" Target="../media/image161.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 Id="rId3" Type="http://schemas.openxmlformats.org/officeDocument/2006/relationships/image" Target="../media/image14.png"/><Relationship Id="rId4" Type="http://schemas.openxmlformats.org/officeDocument/2006/relationships/hyperlink" Target="https://www.presupuestoabierto.gob.ar/sici/destacado-quien-gasta" TargetMode="External"/><Relationship Id="rId5" Type="http://schemas.openxmlformats.org/officeDocument/2006/relationships/image" Target="../media/image14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 Id="rId3" Type="http://schemas.openxmlformats.org/officeDocument/2006/relationships/image" Target="../media/image14.png"/><Relationship Id="rId4" Type="http://schemas.openxmlformats.org/officeDocument/2006/relationships/image" Target="../media/image162.png"/><Relationship Id="rId5" Type="http://schemas.openxmlformats.org/officeDocument/2006/relationships/hyperlink" Target="https://www.tylervigen.com/spurious-correlations"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 Id="rId3" Type="http://schemas.openxmlformats.org/officeDocument/2006/relationships/image" Target="../media/image14.png"/><Relationship Id="rId4" Type="http://schemas.openxmlformats.org/officeDocument/2006/relationships/image" Target="../media/image15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 Id="rId3" Type="http://schemas.openxmlformats.org/officeDocument/2006/relationships/image" Target="../media/image1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Relationship Id="rId3" Type="http://schemas.openxmlformats.org/officeDocument/2006/relationships/image" Target="../media/image14.png"/><Relationship Id="rId4" Type="http://schemas.openxmlformats.org/officeDocument/2006/relationships/image" Target="../media/image16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4.xml"/><Relationship Id="rId3" Type="http://schemas.openxmlformats.org/officeDocument/2006/relationships/image" Target="../media/image14.png"/><Relationship Id="rId4" Type="http://schemas.openxmlformats.org/officeDocument/2006/relationships/image" Target="../media/image15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5.xml"/><Relationship Id="rId3" Type="http://schemas.openxmlformats.org/officeDocument/2006/relationships/image" Target="../media/image14.png"/><Relationship Id="rId4" Type="http://schemas.openxmlformats.org/officeDocument/2006/relationships/image" Target="../media/image15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6.xml"/><Relationship Id="rId3" Type="http://schemas.openxmlformats.org/officeDocument/2006/relationships/image" Target="../media/image14.png"/><Relationship Id="rId4" Type="http://schemas.openxmlformats.org/officeDocument/2006/relationships/image" Target="../media/image15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 Id="rId3" Type="http://schemas.openxmlformats.org/officeDocument/2006/relationships/image" Target="../media/image14.png"/><Relationship Id="rId4" Type="http://schemas.openxmlformats.org/officeDocument/2006/relationships/image" Target="../media/image16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8.xml"/><Relationship Id="rId3" Type="http://schemas.openxmlformats.org/officeDocument/2006/relationships/image" Target="../media/image14.png"/><Relationship Id="rId4" Type="http://schemas.openxmlformats.org/officeDocument/2006/relationships/image" Target="../media/image16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9.xml"/><Relationship Id="rId3" Type="http://schemas.openxmlformats.org/officeDocument/2006/relationships/image" Target="../media/image14.png"/><Relationship Id="rId4" Type="http://schemas.openxmlformats.org/officeDocument/2006/relationships/image" Target="../media/image16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0.xml"/><Relationship Id="rId3" Type="http://schemas.openxmlformats.org/officeDocument/2006/relationships/image" Target="../media/image14.png"/><Relationship Id="rId4" Type="http://schemas.openxmlformats.org/officeDocument/2006/relationships/image" Target="../media/image16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1.xml"/><Relationship Id="rId3" Type="http://schemas.openxmlformats.org/officeDocument/2006/relationships/image" Target="../media/image14.png"/><Relationship Id="rId4" Type="http://schemas.openxmlformats.org/officeDocument/2006/relationships/image" Target="../media/image17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2.xml"/><Relationship Id="rId3" Type="http://schemas.openxmlformats.org/officeDocument/2006/relationships/image" Target="../media/image14.png"/><Relationship Id="rId4" Type="http://schemas.openxmlformats.org/officeDocument/2006/relationships/image" Target="../media/image170.png"/><Relationship Id="rId5" Type="http://schemas.openxmlformats.org/officeDocument/2006/relationships/hyperlink" Target="https://trends.google.com.ar/trends/explore?date=2020-03-01%202020-08-26&amp;geo=AR&amp;q=cuarentena"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3.xml"/><Relationship Id="rId3" Type="http://schemas.openxmlformats.org/officeDocument/2006/relationships/image" Target="../media/image14.png"/><Relationship Id="rId4" Type="http://schemas.openxmlformats.org/officeDocument/2006/relationships/image" Target="../media/image178.png"/></Relationships>
</file>

<file path=ppt/slides/_rels/slide64.xml.rels><?xml version="1.0" encoding="UTF-8" standalone="yes"?><Relationships xmlns="http://schemas.openxmlformats.org/package/2006/relationships"><Relationship Id="rId20" Type="http://schemas.openxmlformats.org/officeDocument/2006/relationships/image" Target="../media/image179.png"/><Relationship Id="rId22" Type="http://schemas.openxmlformats.org/officeDocument/2006/relationships/image" Target="../media/image192.png"/><Relationship Id="rId21" Type="http://schemas.openxmlformats.org/officeDocument/2006/relationships/image" Target="../media/image181.png"/><Relationship Id="rId24" Type="http://schemas.openxmlformats.org/officeDocument/2006/relationships/image" Target="../media/image187.png"/><Relationship Id="rId23" Type="http://schemas.openxmlformats.org/officeDocument/2006/relationships/image" Target="../media/image194.png"/><Relationship Id="rId1" Type="http://schemas.openxmlformats.org/officeDocument/2006/relationships/slideLayout" Target="../slideLayouts/slideLayout13.xml"/><Relationship Id="rId2" Type="http://schemas.openxmlformats.org/officeDocument/2006/relationships/notesSlide" Target="../notesSlides/notesSlide64.xml"/><Relationship Id="rId3" Type="http://schemas.openxmlformats.org/officeDocument/2006/relationships/image" Target="../media/image14.png"/><Relationship Id="rId4" Type="http://schemas.openxmlformats.org/officeDocument/2006/relationships/image" Target="../media/image184.png"/><Relationship Id="rId9" Type="http://schemas.openxmlformats.org/officeDocument/2006/relationships/image" Target="../media/image180.png"/><Relationship Id="rId26" Type="http://schemas.openxmlformats.org/officeDocument/2006/relationships/hyperlink" Target="https://datavizproject.com/" TargetMode="External"/><Relationship Id="rId25" Type="http://schemas.openxmlformats.org/officeDocument/2006/relationships/hyperlink" Target="https://python-graph-gallery.com/" TargetMode="External"/><Relationship Id="rId5" Type="http://schemas.openxmlformats.org/officeDocument/2006/relationships/image" Target="../media/image160.png"/><Relationship Id="rId6" Type="http://schemas.openxmlformats.org/officeDocument/2006/relationships/image" Target="../media/image163.png"/><Relationship Id="rId7" Type="http://schemas.openxmlformats.org/officeDocument/2006/relationships/image" Target="../media/image182.png"/><Relationship Id="rId8" Type="http://schemas.openxmlformats.org/officeDocument/2006/relationships/image" Target="../media/image177.png"/><Relationship Id="rId11" Type="http://schemas.openxmlformats.org/officeDocument/2006/relationships/image" Target="../media/image189.png"/><Relationship Id="rId10" Type="http://schemas.openxmlformats.org/officeDocument/2006/relationships/image" Target="../media/image193.png"/><Relationship Id="rId13" Type="http://schemas.openxmlformats.org/officeDocument/2006/relationships/image" Target="../media/image190.png"/><Relationship Id="rId12" Type="http://schemas.openxmlformats.org/officeDocument/2006/relationships/image" Target="../media/image185.png"/><Relationship Id="rId15" Type="http://schemas.openxmlformats.org/officeDocument/2006/relationships/image" Target="../media/image183.png"/><Relationship Id="rId14" Type="http://schemas.openxmlformats.org/officeDocument/2006/relationships/image" Target="../media/image188.png"/><Relationship Id="rId17" Type="http://schemas.openxmlformats.org/officeDocument/2006/relationships/image" Target="../media/image176.png"/><Relationship Id="rId16" Type="http://schemas.openxmlformats.org/officeDocument/2006/relationships/image" Target="../media/image173.png"/><Relationship Id="rId19" Type="http://schemas.openxmlformats.org/officeDocument/2006/relationships/image" Target="../media/image175.png"/><Relationship Id="rId18" Type="http://schemas.openxmlformats.org/officeDocument/2006/relationships/image" Target="../media/image19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5.xml"/><Relationship Id="rId3" Type="http://schemas.openxmlformats.org/officeDocument/2006/relationships/image" Target="../media/image14.png"/><Relationship Id="rId4" Type="http://schemas.openxmlformats.org/officeDocument/2006/relationships/hyperlink" Target="https://www.youtube.com/watch?v=s0J6EDvlN30"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5"/>
          <p:cNvSpPr txBox="1"/>
          <p:nvPr/>
        </p:nvSpPr>
        <p:spPr>
          <a:xfrm>
            <a:off x="311760" y="1049400"/>
            <a:ext cx="8520120" cy="2052360"/>
          </a:xfrm>
          <a:prstGeom prst="rect">
            <a:avLst/>
          </a:prstGeom>
          <a:noFill/>
          <a:ln cap="flat" cmpd="sng" w="284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s-419" sz="5200" u="none" cap="none" strike="noStrike">
                <a:solidFill>
                  <a:srgbClr val="CC0000"/>
                </a:solidFill>
                <a:latin typeface="Open Sans"/>
                <a:ea typeface="Open Sans"/>
                <a:cs typeface="Open Sans"/>
                <a:sym typeface="Open Sans"/>
              </a:rPr>
              <a:t>Visualización de datos</a:t>
            </a:r>
            <a:endParaRPr b="0" i="0" sz="5200" u="none" cap="none" strike="noStrike">
              <a:solidFill>
                <a:srgbClr val="000000"/>
              </a:solidFill>
              <a:latin typeface="Arial"/>
              <a:ea typeface="Arial"/>
              <a:cs typeface="Arial"/>
              <a:sym typeface="Arial"/>
            </a:endParaRPr>
          </a:p>
        </p:txBody>
      </p:sp>
      <p:sp>
        <p:nvSpPr>
          <p:cNvPr id="97" name="Google Shape;97;p15"/>
          <p:cNvSpPr txBox="1"/>
          <p:nvPr/>
        </p:nvSpPr>
        <p:spPr>
          <a:xfrm>
            <a:off x="311760" y="3215160"/>
            <a:ext cx="8520120" cy="792360"/>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b="0" i="0" sz="3200" u="none" cap="none" strike="noStrike">
              <a:latin typeface="Arial"/>
              <a:ea typeface="Arial"/>
              <a:cs typeface="Arial"/>
              <a:sym typeface="Arial"/>
            </a:endParaRPr>
          </a:p>
        </p:txBody>
      </p:sp>
      <p:pic>
        <p:nvPicPr>
          <p:cNvPr id="98" name="Google Shape;98;p15"/>
          <p:cNvPicPr preferRelativeResize="0"/>
          <p:nvPr/>
        </p:nvPicPr>
        <p:blipFill rotWithShape="1">
          <a:blip r:embed="rId3">
            <a:alphaModFix/>
          </a:blip>
          <a:srcRect b="0" l="0" r="0" t="0"/>
          <a:stretch/>
        </p:blipFill>
        <p:spPr>
          <a:xfrm>
            <a:off x="8308080" y="0"/>
            <a:ext cx="835560" cy="83556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6"/>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¿Por qué es necesario graficar?</a:t>
            </a:r>
            <a:endParaRPr b="0" i="0" sz="3600" u="none" cap="none" strike="noStrike">
              <a:latin typeface="Arial"/>
              <a:ea typeface="Arial"/>
              <a:cs typeface="Arial"/>
              <a:sym typeface="Arial"/>
            </a:endParaRPr>
          </a:p>
        </p:txBody>
      </p:sp>
      <p:sp>
        <p:nvSpPr>
          <p:cNvPr id="104" name="Google Shape;104;p16"/>
          <p:cNvSpPr/>
          <p:nvPr/>
        </p:nvSpPr>
        <p:spPr>
          <a:xfrm>
            <a:off x="76320" y="911880"/>
            <a:ext cx="8981640" cy="4126320"/>
          </a:xfrm>
          <a:prstGeom prst="rect">
            <a:avLst/>
          </a:prstGeom>
          <a:noFill/>
          <a:ln>
            <a:noFill/>
          </a:ln>
        </p:spPr>
        <p:txBody>
          <a:bodyPr anchorCtr="0" anchor="t" bIns="91425" lIns="91425" spcFirstLastPara="1" rIns="91425" wrap="square" tIns="91425">
            <a:noAutofit/>
          </a:bodyPr>
          <a:lstStyle/>
          <a:p>
            <a:pPr indent="-374400" lvl="0" marL="457200" marR="0" rtl="0" algn="l">
              <a:lnSpc>
                <a:spcPct val="115000"/>
              </a:lnSpc>
              <a:spcBef>
                <a:spcPts val="0"/>
              </a:spcBef>
              <a:spcAft>
                <a:spcPts val="0"/>
              </a:spcAft>
              <a:buClr>
                <a:srgbClr val="424242"/>
              </a:buClr>
              <a:buSzPts val="2300"/>
              <a:buFont typeface="Open Sans"/>
              <a:buChar char="●"/>
            </a:pPr>
            <a:r>
              <a:rPr b="0" i="0" lang="es-419" sz="2300" u="none" cap="none" strike="noStrike">
                <a:solidFill>
                  <a:srgbClr val="424242"/>
                </a:solidFill>
                <a:latin typeface="Open Sans"/>
                <a:ea typeface="Open Sans"/>
                <a:cs typeface="Open Sans"/>
                <a:sym typeface="Open Sans"/>
              </a:rPr>
              <a:t>Las técnicas de visualización de datos son muy importantes tanto para nuestro trabajo como para comunicarlo</a:t>
            </a:r>
            <a:endParaRPr b="0" i="0" sz="2300" u="none" cap="none" strike="noStrike">
              <a:latin typeface="Arial"/>
              <a:ea typeface="Arial"/>
              <a:cs typeface="Arial"/>
              <a:sym typeface="Arial"/>
            </a:endParaRPr>
          </a:p>
          <a:p>
            <a:pPr indent="-374400" lvl="0" marL="457200" marR="0" rtl="0" algn="l">
              <a:lnSpc>
                <a:spcPct val="115000"/>
              </a:lnSpc>
              <a:spcBef>
                <a:spcPts val="1599"/>
              </a:spcBef>
              <a:spcAft>
                <a:spcPts val="0"/>
              </a:spcAft>
              <a:buClr>
                <a:srgbClr val="424242"/>
              </a:buClr>
              <a:buSzPts val="2300"/>
              <a:buFont typeface="Open Sans"/>
              <a:buChar char="●"/>
            </a:pPr>
            <a:r>
              <a:rPr b="0" i="0" lang="es-419" sz="2300" u="none" cap="none" strike="noStrike">
                <a:solidFill>
                  <a:srgbClr val="424242"/>
                </a:solidFill>
                <a:latin typeface="Open Sans"/>
                <a:ea typeface="Open Sans"/>
                <a:cs typeface="Open Sans"/>
                <a:sym typeface="Open Sans"/>
              </a:rPr>
              <a:t>La cantidad de tipos de gráficos disponibles es enorme y es importante entenderlos y saber para qué es útil cada uno</a:t>
            </a:r>
            <a:endParaRPr b="0" i="0" sz="2300" u="none" cap="none" strike="noStrike">
              <a:latin typeface="Arial"/>
              <a:ea typeface="Arial"/>
              <a:cs typeface="Arial"/>
              <a:sym typeface="Arial"/>
            </a:endParaRPr>
          </a:p>
          <a:p>
            <a:pPr indent="-374400" lvl="0" marL="457200" marR="0" rtl="0" algn="l">
              <a:lnSpc>
                <a:spcPct val="115000"/>
              </a:lnSpc>
              <a:spcBef>
                <a:spcPts val="1001"/>
              </a:spcBef>
              <a:spcAft>
                <a:spcPts val="0"/>
              </a:spcAft>
              <a:buClr>
                <a:srgbClr val="424242"/>
              </a:buClr>
              <a:buSzPts val="2300"/>
              <a:buFont typeface="Open Sans"/>
              <a:buChar char="●"/>
            </a:pPr>
            <a:r>
              <a:rPr b="0" i="0" lang="es-419" sz="2300" u="none" cap="none" strike="noStrike">
                <a:solidFill>
                  <a:srgbClr val="424242"/>
                </a:solidFill>
                <a:latin typeface="Open Sans"/>
                <a:ea typeface="Open Sans"/>
                <a:cs typeface="Open Sans"/>
                <a:sym typeface="Open Sans"/>
              </a:rPr>
              <a:t>Entender de forma eficiente los datos</a:t>
            </a:r>
            <a:endParaRPr b="0" i="0" sz="2300" u="none" cap="none" strike="noStrike">
              <a:latin typeface="Arial"/>
              <a:ea typeface="Arial"/>
              <a:cs typeface="Arial"/>
              <a:sym typeface="Arial"/>
            </a:endParaRPr>
          </a:p>
          <a:p>
            <a:pPr indent="-374400" lvl="0" marL="457200" marR="0" rtl="0" algn="l">
              <a:lnSpc>
                <a:spcPct val="115000"/>
              </a:lnSpc>
              <a:spcBef>
                <a:spcPts val="1001"/>
              </a:spcBef>
              <a:spcAft>
                <a:spcPts val="0"/>
              </a:spcAft>
              <a:buClr>
                <a:srgbClr val="424242"/>
              </a:buClr>
              <a:buSzPts val="2300"/>
              <a:buFont typeface="Open Sans"/>
              <a:buChar char="●"/>
            </a:pPr>
            <a:r>
              <a:rPr b="0" i="0" lang="es-419" sz="2300" u="none" cap="none" strike="noStrike">
                <a:solidFill>
                  <a:srgbClr val="424242"/>
                </a:solidFill>
                <a:latin typeface="Open Sans"/>
                <a:ea typeface="Open Sans"/>
                <a:cs typeface="Open Sans"/>
                <a:sym typeface="Open Sans"/>
              </a:rPr>
              <a:t>Comunicar de forma concisa y clara</a:t>
            </a:r>
            <a:endParaRPr b="0" i="0" sz="2300" u="none" cap="none" strike="noStrike">
              <a:latin typeface="Arial"/>
              <a:ea typeface="Arial"/>
              <a:cs typeface="Arial"/>
              <a:sym typeface="Arial"/>
            </a:endParaRPr>
          </a:p>
          <a:p>
            <a:pPr indent="-374400" lvl="0" marL="457200" marR="0" rtl="0" algn="l">
              <a:lnSpc>
                <a:spcPct val="115000"/>
              </a:lnSpc>
              <a:spcBef>
                <a:spcPts val="1001"/>
              </a:spcBef>
              <a:spcAft>
                <a:spcPts val="0"/>
              </a:spcAft>
              <a:buClr>
                <a:srgbClr val="424242"/>
              </a:buClr>
              <a:buSzPts val="2300"/>
              <a:buFont typeface="Open Sans"/>
              <a:buChar char="●"/>
            </a:pPr>
            <a:r>
              <a:rPr b="0" i="0" lang="es-419" sz="2300" u="none" cap="none" strike="noStrike">
                <a:solidFill>
                  <a:srgbClr val="424242"/>
                </a:solidFill>
                <a:latin typeface="Open Sans"/>
                <a:ea typeface="Open Sans"/>
                <a:cs typeface="Open Sans"/>
                <a:sym typeface="Open Sans"/>
              </a:rPr>
              <a:t>Encontrar patrones/relaciones</a:t>
            </a:r>
            <a:endParaRPr b="0" i="0" sz="2300" u="none" cap="none" strike="noStrike">
              <a:latin typeface="Arial"/>
              <a:ea typeface="Arial"/>
              <a:cs typeface="Arial"/>
              <a:sym typeface="Arial"/>
            </a:endParaRPr>
          </a:p>
        </p:txBody>
      </p:sp>
      <p:pic>
        <p:nvPicPr>
          <p:cNvPr id="105" name="Google Shape;105;p16"/>
          <p:cNvPicPr preferRelativeResize="0"/>
          <p:nvPr/>
        </p:nvPicPr>
        <p:blipFill rotWithShape="1">
          <a:blip r:embed="rId3">
            <a:alphaModFix/>
          </a:blip>
          <a:srcRect b="0" l="0" r="0" t="0"/>
          <a:stretch/>
        </p:blipFill>
        <p:spPr>
          <a:xfrm>
            <a:off x="8308080" y="0"/>
            <a:ext cx="835560" cy="83556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xEl>
                                              <p:pRg end="0" st="0"/>
                                            </p:txEl>
                                          </p:spTgt>
                                        </p:tgtEl>
                                        <p:attrNameLst>
                                          <p:attrName>style.visibility</p:attrName>
                                        </p:attrNameLst>
                                      </p:cBhvr>
                                      <p:to>
                                        <p:strVal val="visible"/>
                                      </p:to>
                                    </p:set>
                                    <p:animEffect filter="fade" transition="in">
                                      <p:cBhvr>
                                        <p:cTn dur="1000"/>
                                        <p:tgtEl>
                                          <p:spTgt spid="10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xEl>
                                              <p:pRg end="1" st="1"/>
                                            </p:txEl>
                                          </p:spTgt>
                                        </p:tgtEl>
                                        <p:attrNameLst>
                                          <p:attrName>style.visibility</p:attrName>
                                        </p:attrNameLst>
                                      </p:cBhvr>
                                      <p:to>
                                        <p:strVal val="visible"/>
                                      </p:to>
                                    </p:set>
                                    <p:animEffect filter="fade" transition="in">
                                      <p:cBhvr>
                                        <p:cTn dur="1000"/>
                                        <p:tgtEl>
                                          <p:spTgt spid="10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xEl>
                                              <p:pRg end="2" st="2"/>
                                            </p:txEl>
                                          </p:spTgt>
                                        </p:tgtEl>
                                        <p:attrNameLst>
                                          <p:attrName>style.visibility</p:attrName>
                                        </p:attrNameLst>
                                      </p:cBhvr>
                                      <p:to>
                                        <p:strVal val="visible"/>
                                      </p:to>
                                    </p:set>
                                    <p:animEffect filter="fade" transition="in">
                                      <p:cBhvr>
                                        <p:cTn dur="1000"/>
                                        <p:tgtEl>
                                          <p:spTgt spid="10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xEl>
                                              <p:pRg end="3" st="3"/>
                                            </p:txEl>
                                          </p:spTgt>
                                        </p:tgtEl>
                                        <p:attrNameLst>
                                          <p:attrName>style.visibility</p:attrName>
                                        </p:attrNameLst>
                                      </p:cBhvr>
                                      <p:to>
                                        <p:strVal val="visible"/>
                                      </p:to>
                                    </p:set>
                                    <p:animEffect filter="fade" transition="in">
                                      <p:cBhvr>
                                        <p:cTn dur="1000"/>
                                        <p:tgtEl>
                                          <p:spTgt spid="10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xEl>
                                              <p:pRg end="4" st="4"/>
                                            </p:txEl>
                                          </p:spTgt>
                                        </p:tgtEl>
                                        <p:attrNameLst>
                                          <p:attrName>style.visibility</p:attrName>
                                        </p:attrNameLst>
                                      </p:cBhvr>
                                      <p:to>
                                        <p:strVal val="visible"/>
                                      </p:to>
                                    </p:set>
                                    <p:animEffect filter="fade" transition="in">
                                      <p:cBhvr>
                                        <p:cTn dur="1000"/>
                                        <p:tgtEl>
                                          <p:spTgt spid="104">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¿Por qué es necesario graficar?</a:t>
            </a:r>
            <a:endParaRPr b="0" i="0" sz="3600" u="none" cap="none" strike="noStrike">
              <a:latin typeface="Arial"/>
              <a:ea typeface="Arial"/>
              <a:cs typeface="Arial"/>
              <a:sym typeface="Arial"/>
            </a:endParaRPr>
          </a:p>
        </p:txBody>
      </p:sp>
      <p:sp>
        <p:nvSpPr>
          <p:cNvPr id="111" name="Google Shape;111;p17"/>
          <p:cNvSpPr/>
          <p:nvPr/>
        </p:nvSpPr>
        <p:spPr>
          <a:xfrm>
            <a:off x="76320" y="911880"/>
            <a:ext cx="8981640" cy="4126320"/>
          </a:xfrm>
          <a:prstGeom prst="rect">
            <a:avLst/>
          </a:prstGeom>
          <a:noFill/>
          <a:ln>
            <a:noFill/>
          </a:ln>
        </p:spPr>
        <p:txBody>
          <a:bodyPr anchorCtr="0" anchor="t" bIns="91425" lIns="91425" spcFirstLastPara="1" rIns="91425" wrap="square" tIns="91425">
            <a:noAutofit/>
          </a:bodyPr>
          <a:lstStyle/>
          <a:p>
            <a:pPr indent="-361440" lvl="0" marL="457200" marR="0" rtl="0" algn="l">
              <a:lnSpc>
                <a:spcPct val="115000"/>
              </a:lnSpc>
              <a:spcBef>
                <a:spcPts val="0"/>
              </a:spcBef>
              <a:spcAft>
                <a:spcPts val="0"/>
              </a:spcAft>
              <a:buClr>
                <a:srgbClr val="424242"/>
              </a:buClr>
              <a:buSzPts val="2100"/>
              <a:buFont typeface="Open Sans"/>
              <a:buChar char="●"/>
            </a:pPr>
            <a:r>
              <a:rPr b="0" i="0" lang="es-419" sz="2100" u="none" cap="none" strike="noStrike">
                <a:solidFill>
                  <a:srgbClr val="424242"/>
                </a:solidFill>
                <a:latin typeface="Open Sans"/>
                <a:ea typeface="Open Sans"/>
                <a:cs typeface="Open Sans"/>
                <a:sym typeface="Open Sans"/>
              </a:rPr>
              <a:t>El </a:t>
            </a:r>
            <a:r>
              <a:rPr b="1" i="0" lang="es-419" sz="2100" u="none" cap="none" strike="noStrike">
                <a:solidFill>
                  <a:srgbClr val="424242"/>
                </a:solidFill>
                <a:latin typeface="Open Sans"/>
                <a:ea typeface="Open Sans"/>
                <a:cs typeface="Open Sans"/>
                <a:sym typeface="Open Sans"/>
              </a:rPr>
              <a:t>análisis descriptivo</a:t>
            </a:r>
            <a:r>
              <a:rPr b="0" i="0" lang="es-419" sz="2100" u="none" cap="none" strike="noStrike">
                <a:solidFill>
                  <a:srgbClr val="424242"/>
                </a:solidFill>
                <a:latin typeface="Open Sans"/>
                <a:ea typeface="Open Sans"/>
                <a:cs typeface="Open Sans"/>
                <a:sym typeface="Open Sans"/>
              </a:rPr>
              <a:t> es uno de las partes principales de cualquier análisis relacionado con un proyecto de ciencia de datos o de una investigación especı́fica</a:t>
            </a:r>
            <a:endParaRPr b="0" i="0" sz="2100" u="none" cap="none" strike="noStrike">
              <a:latin typeface="Arial"/>
              <a:ea typeface="Arial"/>
              <a:cs typeface="Arial"/>
              <a:sym typeface="Arial"/>
            </a:endParaRPr>
          </a:p>
          <a:p>
            <a:pPr indent="-361440" lvl="0" marL="457200" marR="0" rtl="0" algn="l">
              <a:lnSpc>
                <a:spcPct val="115000"/>
              </a:lnSpc>
              <a:spcBef>
                <a:spcPts val="1599"/>
              </a:spcBef>
              <a:spcAft>
                <a:spcPts val="0"/>
              </a:spcAft>
              <a:buClr>
                <a:srgbClr val="424242"/>
              </a:buClr>
              <a:buSzPts val="2100"/>
              <a:buFont typeface="Open Sans"/>
              <a:buChar char="●"/>
            </a:pPr>
            <a:r>
              <a:rPr b="0" i="0" lang="es-419" sz="2100" u="none" cap="none" strike="noStrike">
                <a:solidFill>
                  <a:srgbClr val="424242"/>
                </a:solidFill>
                <a:latin typeface="Open Sans"/>
                <a:ea typeface="Open Sans"/>
                <a:cs typeface="Open Sans"/>
                <a:sym typeface="Open Sans"/>
              </a:rPr>
              <a:t>La </a:t>
            </a:r>
            <a:r>
              <a:rPr b="1" i="0" lang="es-419" sz="2100" u="none" cap="none" strike="noStrike">
                <a:solidFill>
                  <a:srgbClr val="424242"/>
                </a:solidFill>
                <a:latin typeface="Open Sans"/>
                <a:ea typeface="Open Sans"/>
                <a:cs typeface="Open Sans"/>
                <a:sym typeface="Open Sans"/>
              </a:rPr>
              <a:t>agregación de datos</a:t>
            </a:r>
            <a:r>
              <a:rPr b="0" i="0" lang="es-419" sz="2100" u="none" cap="none" strike="noStrike">
                <a:solidFill>
                  <a:srgbClr val="424242"/>
                </a:solidFill>
                <a:latin typeface="Open Sans"/>
                <a:ea typeface="Open Sans"/>
                <a:cs typeface="Open Sans"/>
                <a:sym typeface="Open Sans"/>
              </a:rPr>
              <a:t>, el </a:t>
            </a:r>
            <a:r>
              <a:rPr b="1" i="0" lang="es-419" sz="2100" u="none" cap="none" strike="noStrike">
                <a:solidFill>
                  <a:srgbClr val="424242"/>
                </a:solidFill>
                <a:latin typeface="Open Sans"/>
                <a:ea typeface="Open Sans"/>
                <a:cs typeface="Open Sans"/>
                <a:sym typeface="Open Sans"/>
              </a:rPr>
              <a:t>resumen</a:t>
            </a:r>
            <a:r>
              <a:rPr b="0" i="0" lang="es-419" sz="2100" u="none" cap="none" strike="noStrike">
                <a:solidFill>
                  <a:srgbClr val="424242"/>
                </a:solidFill>
                <a:latin typeface="Open Sans"/>
                <a:ea typeface="Open Sans"/>
                <a:cs typeface="Open Sans"/>
                <a:sym typeface="Open Sans"/>
              </a:rPr>
              <a:t> y la </a:t>
            </a:r>
            <a:r>
              <a:rPr b="1" i="0" lang="es-419" sz="2100" u="none" cap="none" strike="noStrike">
                <a:solidFill>
                  <a:srgbClr val="424242"/>
                </a:solidFill>
                <a:latin typeface="Open Sans"/>
                <a:ea typeface="Open Sans"/>
                <a:cs typeface="Open Sans"/>
                <a:sym typeface="Open Sans"/>
              </a:rPr>
              <a:t>visualización</a:t>
            </a:r>
            <a:r>
              <a:rPr b="0" i="0" lang="es-419" sz="2100" u="none" cap="none" strike="noStrike">
                <a:solidFill>
                  <a:srgbClr val="424242"/>
                </a:solidFill>
                <a:latin typeface="Open Sans"/>
                <a:ea typeface="Open Sans"/>
                <a:cs typeface="Open Sans"/>
                <a:sym typeface="Open Sans"/>
              </a:rPr>
              <a:t> son algunos de los pilares principales que respaldan este área</a:t>
            </a:r>
            <a:endParaRPr b="0" i="0" sz="2100" u="none" cap="none" strike="noStrike">
              <a:latin typeface="Arial"/>
              <a:ea typeface="Arial"/>
              <a:cs typeface="Arial"/>
              <a:sym typeface="Arial"/>
            </a:endParaRPr>
          </a:p>
          <a:p>
            <a:pPr indent="-361440" lvl="0" marL="457200" marR="0" rtl="0" algn="l">
              <a:lnSpc>
                <a:spcPct val="115000"/>
              </a:lnSpc>
              <a:spcBef>
                <a:spcPts val="1599"/>
              </a:spcBef>
              <a:spcAft>
                <a:spcPts val="0"/>
              </a:spcAft>
              <a:buClr>
                <a:srgbClr val="424242"/>
              </a:buClr>
              <a:buSzPts val="2100"/>
              <a:buFont typeface="Open Sans"/>
              <a:buChar char="●"/>
            </a:pPr>
            <a:r>
              <a:rPr b="0" i="0" lang="es-419" sz="2100" u="none" cap="none" strike="noStrike">
                <a:solidFill>
                  <a:srgbClr val="424242"/>
                </a:solidFill>
                <a:latin typeface="Open Sans"/>
                <a:ea typeface="Open Sans"/>
                <a:cs typeface="Open Sans"/>
                <a:sym typeface="Open Sans"/>
              </a:rPr>
              <a:t>La visualización de datos es una herramienta poderosa y ampliamente adoptada debido a su efectividad para extraer la información correcta, comprender e interpretar los resultados de manera clara y fácil</a:t>
            </a:r>
            <a:endParaRPr b="0" i="0" sz="2100" u="none" cap="none" strike="noStrike">
              <a:latin typeface="Arial"/>
              <a:ea typeface="Arial"/>
              <a:cs typeface="Arial"/>
              <a:sym typeface="Arial"/>
            </a:endParaRPr>
          </a:p>
        </p:txBody>
      </p:sp>
      <p:pic>
        <p:nvPicPr>
          <p:cNvPr id="112" name="Google Shape;112;p17"/>
          <p:cNvPicPr preferRelativeResize="0"/>
          <p:nvPr/>
        </p:nvPicPr>
        <p:blipFill rotWithShape="1">
          <a:blip r:embed="rId3">
            <a:alphaModFix/>
          </a:blip>
          <a:srcRect b="0" l="0" r="0" t="0"/>
          <a:stretch/>
        </p:blipFill>
        <p:spPr>
          <a:xfrm>
            <a:off x="8308080" y="0"/>
            <a:ext cx="835560" cy="83556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xEl>
                                              <p:pRg end="0" st="0"/>
                                            </p:txEl>
                                          </p:spTgt>
                                        </p:tgtEl>
                                        <p:attrNameLst>
                                          <p:attrName>style.visibility</p:attrName>
                                        </p:attrNameLst>
                                      </p:cBhvr>
                                      <p:to>
                                        <p:strVal val="visible"/>
                                      </p:to>
                                    </p:set>
                                    <p:animEffect filter="fade" transition="in">
                                      <p:cBhvr>
                                        <p:cTn dur="1000"/>
                                        <p:tgtEl>
                                          <p:spTgt spid="11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xEl>
                                              <p:pRg end="1" st="1"/>
                                            </p:txEl>
                                          </p:spTgt>
                                        </p:tgtEl>
                                        <p:attrNameLst>
                                          <p:attrName>style.visibility</p:attrName>
                                        </p:attrNameLst>
                                      </p:cBhvr>
                                      <p:to>
                                        <p:strVal val="visible"/>
                                      </p:to>
                                    </p:set>
                                    <p:animEffect filter="fade" transition="in">
                                      <p:cBhvr>
                                        <p:cTn dur="1000"/>
                                        <p:tgtEl>
                                          <p:spTgt spid="11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xEl>
                                              <p:pRg end="2" st="2"/>
                                            </p:txEl>
                                          </p:spTgt>
                                        </p:tgtEl>
                                        <p:attrNameLst>
                                          <p:attrName>style.visibility</p:attrName>
                                        </p:attrNameLst>
                                      </p:cBhvr>
                                      <p:to>
                                        <p:strVal val="visible"/>
                                      </p:to>
                                    </p:set>
                                    <p:animEffect filter="fade" transition="in">
                                      <p:cBhvr>
                                        <p:cTn dur="1000"/>
                                        <p:tgtEl>
                                          <p:spTgt spid="111">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8"/>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¿Por qué es necesario graficar?</a:t>
            </a:r>
            <a:endParaRPr b="0" i="0" sz="3600" u="none" cap="none" strike="noStrike">
              <a:latin typeface="Arial"/>
              <a:ea typeface="Arial"/>
              <a:cs typeface="Arial"/>
              <a:sym typeface="Arial"/>
            </a:endParaRPr>
          </a:p>
        </p:txBody>
      </p:sp>
      <p:sp>
        <p:nvSpPr>
          <p:cNvPr id="118" name="Google Shape;118;p18"/>
          <p:cNvSpPr/>
          <p:nvPr/>
        </p:nvSpPr>
        <p:spPr>
          <a:xfrm>
            <a:off x="76320" y="911880"/>
            <a:ext cx="8981640" cy="4126320"/>
          </a:xfrm>
          <a:prstGeom prst="rect">
            <a:avLst/>
          </a:prstGeom>
          <a:noFill/>
          <a:ln>
            <a:noFill/>
          </a:ln>
        </p:spPr>
        <p:txBody>
          <a:bodyPr anchorCtr="0" anchor="t" bIns="91425" lIns="91425" spcFirstLastPara="1" rIns="91425" wrap="square" tIns="91425">
            <a:noAutofit/>
          </a:bodyPr>
          <a:lstStyle/>
          <a:p>
            <a:pPr indent="-380520" lvl="0" marL="457200" marR="0" rtl="0" algn="l">
              <a:lnSpc>
                <a:spcPct val="115000"/>
              </a:lnSpc>
              <a:spcBef>
                <a:spcPts val="0"/>
              </a:spcBef>
              <a:spcAft>
                <a:spcPts val="0"/>
              </a:spcAft>
              <a:buClr>
                <a:srgbClr val="424242"/>
              </a:buClr>
              <a:buSzPts val="2400"/>
              <a:buFont typeface="Open Sans"/>
              <a:buChar char="●"/>
            </a:pPr>
            <a:r>
              <a:rPr b="0" i="0" lang="es-419" sz="2400" u="none" cap="none" strike="noStrike">
                <a:solidFill>
                  <a:srgbClr val="424242"/>
                </a:solidFill>
                <a:latin typeface="Open Sans"/>
                <a:ea typeface="Open Sans"/>
                <a:cs typeface="Open Sans"/>
                <a:sym typeface="Open Sans"/>
              </a:rPr>
              <a:t>Tratar con conjuntos de datos </a:t>
            </a:r>
            <a:r>
              <a:rPr b="1" i="0" lang="es-419" sz="2400" u="none" cap="none" strike="noStrike">
                <a:solidFill>
                  <a:srgbClr val="424242"/>
                </a:solidFill>
                <a:latin typeface="Open Sans"/>
                <a:ea typeface="Open Sans"/>
                <a:cs typeface="Open Sans"/>
                <a:sym typeface="Open Sans"/>
              </a:rPr>
              <a:t>multidimensionales</a:t>
            </a:r>
            <a:r>
              <a:rPr b="0" i="0" lang="es-419" sz="2400" u="none" cap="none" strike="noStrike">
                <a:solidFill>
                  <a:srgbClr val="424242"/>
                </a:solidFill>
                <a:latin typeface="Open Sans"/>
                <a:ea typeface="Open Sans"/>
                <a:cs typeface="Open Sans"/>
                <a:sym typeface="Open Sans"/>
              </a:rPr>
              <a:t> con más de una variable o atributo comienza a causar problemas, ya que estamos restringidos a </a:t>
            </a:r>
            <a:r>
              <a:rPr b="0" i="0" lang="es-419" sz="2400" u="sng" cap="none" strike="noStrike">
                <a:solidFill>
                  <a:srgbClr val="424242"/>
                </a:solidFill>
                <a:latin typeface="Open Sans"/>
                <a:ea typeface="Open Sans"/>
                <a:cs typeface="Open Sans"/>
                <a:sym typeface="Open Sans"/>
              </a:rPr>
              <a:t>comunicar en dos dimensiones</a:t>
            </a:r>
            <a:r>
              <a:rPr b="0" i="0" lang="es-419" sz="2400" cap="none" strike="noStrike">
                <a:solidFill>
                  <a:srgbClr val="424242"/>
                </a:solidFill>
                <a:latin typeface="Open Sans"/>
                <a:ea typeface="Open Sans"/>
                <a:cs typeface="Open Sans"/>
                <a:sym typeface="Open Sans"/>
              </a:rPr>
              <a:t> (a lo sumo 3).</a:t>
            </a:r>
            <a:endParaRPr b="0" i="0" sz="2400" cap="none" strike="noStrike">
              <a:latin typeface="Arial"/>
              <a:ea typeface="Arial"/>
              <a:cs typeface="Arial"/>
              <a:sym typeface="Arial"/>
            </a:endParaRPr>
          </a:p>
          <a:p>
            <a:pPr indent="-380520" lvl="0" marL="457200" marR="0" rtl="0" algn="l">
              <a:lnSpc>
                <a:spcPct val="115000"/>
              </a:lnSpc>
              <a:spcBef>
                <a:spcPts val="1599"/>
              </a:spcBef>
              <a:spcAft>
                <a:spcPts val="0"/>
              </a:spcAft>
              <a:buClr>
                <a:srgbClr val="424242"/>
              </a:buClr>
              <a:buSzPts val="2400"/>
              <a:buFont typeface="Open Sans"/>
              <a:buChar char="●"/>
            </a:pPr>
            <a:r>
              <a:rPr b="0" i="0" lang="es-419" sz="2400" u="none" cap="none" strike="noStrike">
                <a:solidFill>
                  <a:srgbClr val="424242"/>
                </a:solidFill>
                <a:latin typeface="Open Sans"/>
                <a:ea typeface="Open Sans"/>
                <a:cs typeface="Open Sans"/>
                <a:sym typeface="Open Sans"/>
              </a:rPr>
              <a:t>Los gráficos no son simplemente: </a:t>
            </a:r>
            <a:r>
              <a:rPr lang="es-419" sz="2400">
                <a:solidFill>
                  <a:srgbClr val="424242"/>
                </a:solidFill>
                <a:latin typeface="Open Sans"/>
                <a:ea typeface="Open Sans"/>
                <a:cs typeface="Open Sans"/>
                <a:sym typeface="Open Sans"/>
              </a:rPr>
              <a:t>“</a:t>
            </a:r>
            <a:r>
              <a:rPr b="0" i="0" lang="es-419" sz="2400" u="none" cap="none" strike="noStrike">
                <a:solidFill>
                  <a:srgbClr val="424242"/>
                </a:solidFill>
                <a:latin typeface="Open Sans"/>
                <a:ea typeface="Open Sans"/>
                <a:cs typeface="Open Sans"/>
                <a:sym typeface="Open Sans"/>
              </a:rPr>
              <a:t>imágenes bonitas”</a:t>
            </a:r>
            <a:br>
              <a:rPr b="0" i="0" lang="es-419" sz="1800" u="none" cap="none" strike="noStrike">
                <a:latin typeface="Arial"/>
                <a:ea typeface="Arial"/>
                <a:cs typeface="Arial"/>
                <a:sym typeface="Arial"/>
              </a:rPr>
            </a:br>
            <a:r>
              <a:rPr b="0" i="0" lang="es-419" sz="2400" u="none" cap="none" strike="noStrike">
                <a:solidFill>
                  <a:srgbClr val="424242"/>
                </a:solidFill>
                <a:latin typeface="Open Sans"/>
                <a:ea typeface="Open Sans"/>
                <a:cs typeface="Open Sans"/>
                <a:sym typeface="Open Sans"/>
              </a:rPr>
              <a:t> </a:t>
            </a:r>
            <a:endParaRPr b="0" i="0" sz="2400" u="none" cap="none" strike="noStrike">
              <a:latin typeface="Arial"/>
              <a:ea typeface="Arial"/>
              <a:cs typeface="Arial"/>
              <a:sym typeface="Arial"/>
            </a:endParaRPr>
          </a:p>
          <a:p>
            <a:pPr indent="-380520" lvl="0" marL="457200" marR="0" rtl="0" algn="l">
              <a:lnSpc>
                <a:spcPct val="115000"/>
              </a:lnSpc>
              <a:spcBef>
                <a:spcPts val="1599"/>
              </a:spcBef>
              <a:spcAft>
                <a:spcPts val="0"/>
              </a:spcAft>
              <a:buClr>
                <a:srgbClr val="424242"/>
              </a:buClr>
              <a:buSzPts val="2400"/>
              <a:buFont typeface="Open Sans"/>
              <a:buChar char="●"/>
            </a:pPr>
            <a:r>
              <a:rPr b="0" i="0" lang="es-419" sz="2400" u="none" cap="none" strike="noStrike">
                <a:solidFill>
                  <a:srgbClr val="424242"/>
                </a:solidFill>
                <a:latin typeface="Open Sans"/>
                <a:ea typeface="Open Sans"/>
                <a:cs typeface="Open Sans"/>
                <a:sym typeface="Open Sans"/>
              </a:rPr>
              <a:t>No toda la información importante se puede adivinar a través del análisis estadístico...</a:t>
            </a:r>
            <a:endParaRPr b="0" i="0" sz="2400" u="none" cap="none" strike="noStrike">
              <a:latin typeface="Arial"/>
              <a:ea typeface="Arial"/>
              <a:cs typeface="Arial"/>
              <a:sym typeface="Arial"/>
            </a:endParaRPr>
          </a:p>
        </p:txBody>
      </p:sp>
      <p:pic>
        <p:nvPicPr>
          <p:cNvPr id="119" name="Google Shape;119;p18"/>
          <p:cNvPicPr preferRelativeResize="0"/>
          <p:nvPr/>
        </p:nvPicPr>
        <p:blipFill rotWithShape="1">
          <a:blip r:embed="rId3">
            <a:alphaModFix/>
          </a:blip>
          <a:srcRect b="0" l="0" r="0" t="0"/>
          <a:stretch/>
        </p:blipFill>
        <p:spPr>
          <a:xfrm>
            <a:off x="8308080" y="0"/>
            <a:ext cx="835560" cy="83556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xEl>
                                              <p:pRg end="0" st="0"/>
                                            </p:txEl>
                                          </p:spTgt>
                                        </p:tgtEl>
                                        <p:attrNameLst>
                                          <p:attrName>style.visibility</p:attrName>
                                        </p:attrNameLst>
                                      </p:cBhvr>
                                      <p:to>
                                        <p:strVal val="visible"/>
                                      </p:to>
                                    </p:set>
                                    <p:animEffect filter="fade" transition="in">
                                      <p:cBhvr>
                                        <p:cTn dur="1000"/>
                                        <p:tgtEl>
                                          <p:spTgt spid="11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xEl>
                                              <p:pRg end="1" st="1"/>
                                            </p:txEl>
                                          </p:spTgt>
                                        </p:tgtEl>
                                        <p:attrNameLst>
                                          <p:attrName>style.visibility</p:attrName>
                                        </p:attrNameLst>
                                      </p:cBhvr>
                                      <p:to>
                                        <p:strVal val="visible"/>
                                      </p:to>
                                    </p:set>
                                    <p:animEffect filter="fade" transition="in">
                                      <p:cBhvr>
                                        <p:cTn dur="1000"/>
                                        <p:tgtEl>
                                          <p:spTgt spid="11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xEl>
                                              <p:pRg end="2" st="2"/>
                                            </p:txEl>
                                          </p:spTgt>
                                        </p:tgtEl>
                                        <p:attrNameLst>
                                          <p:attrName>style.visibility</p:attrName>
                                        </p:attrNameLst>
                                      </p:cBhvr>
                                      <p:to>
                                        <p:strVal val="visible"/>
                                      </p:to>
                                    </p:set>
                                    <p:animEffect filter="fade" transition="in">
                                      <p:cBhvr>
                                        <p:cTn dur="1000"/>
                                        <p:tgtEl>
                                          <p:spTgt spid="118">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9"/>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Datasaurus</a:t>
            </a:r>
            <a:endParaRPr b="0" i="0" sz="3600" u="none" cap="none" strike="noStrike">
              <a:latin typeface="Arial"/>
              <a:ea typeface="Arial"/>
              <a:cs typeface="Arial"/>
              <a:sym typeface="Arial"/>
            </a:endParaRPr>
          </a:p>
        </p:txBody>
      </p:sp>
      <p:pic>
        <p:nvPicPr>
          <p:cNvPr id="125" name="Google Shape;125;p19"/>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126" name="Google Shape;126;p19"/>
          <p:cNvPicPr preferRelativeResize="0"/>
          <p:nvPr/>
        </p:nvPicPr>
        <p:blipFill rotWithShape="1">
          <a:blip r:embed="rId4">
            <a:alphaModFix/>
          </a:blip>
          <a:srcRect b="18704" l="39652" r="25482" t="23976"/>
          <a:stretch/>
        </p:blipFill>
        <p:spPr>
          <a:xfrm>
            <a:off x="4484880" y="835920"/>
            <a:ext cx="4658760" cy="4307400"/>
          </a:xfrm>
          <a:prstGeom prst="rect">
            <a:avLst/>
          </a:prstGeom>
          <a:noFill/>
          <a:ln>
            <a:noFill/>
          </a:ln>
        </p:spPr>
      </p:pic>
      <p:sp>
        <p:nvSpPr>
          <p:cNvPr id="127" name="Google Shape;127;p19"/>
          <p:cNvSpPr/>
          <p:nvPr/>
        </p:nvSpPr>
        <p:spPr>
          <a:xfrm>
            <a:off x="81000" y="835920"/>
            <a:ext cx="4658760" cy="1198080"/>
          </a:xfrm>
          <a:prstGeom prst="rect">
            <a:avLst/>
          </a:prstGeom>
          <a:noFill/>
          <a:ln>
            <a:noFill/>
          </a:ln>
        </p:spPr>
        <p:txBody>
          <a:bodyPr anchorCtr="0" anchor="t" bIns="91425" lIns="91425" spcFirstLastPara="1" rIns="91425" wrap="square" tIns="91425">
            <a:noAutofit/>
          </a:bodyPr>
          <a:lstStyle/>
          <a:p>
            <a:pPr indent="-387000" lvl="0" marL="457200" marR="0" rtl="0" algn="l">
              <a:lnSpc>
                <a:spcPct val="115000"/>
              </a:lnSpc>
              <a:spcBef>
                <a:spcPts val="0"/>
              </a:spcBef>
              <a:spcAft>
                <a:spcPts val="0"/>
              </a:spcAft>
              <a:buClr>
                <a:srgbClr val="424242"/>
              </a:buClr>
              <a:buSzPts val="2500"/>
              <a:buFont typeface="Open Sans"/>
              <a:buChar char="●"/>
            </a:pPr>
            <a:r>
              <a:rPr b="0" i="0" lang="es-419" sz="2500" u="none" cap="none" strike="noStrike">
                <a:solidFill>
                  <a:srgbClr val="424242"/>
                </a:solidFill>
                <a:latin typeface="Open Sans"/>
                <a:ea typeface="Open Sans"/>
                <a:cs typeface="Open Sans"/>
                <a:sym typeface="Open Sans"/>
              </a:rPr>
              <a:t>Todo estos gráficos tienen la misma media y desvío estándar</a:t>
            </a:r>
            <a:endParaRPr b="0" i="0" sz="2500" u="none" cap="none" strike="noStrike">
              <a:latin typeface="Arial"/>
              <a:ea typeface="Arial"/>
              <a:cs typeface="Arial"/>
              <a:sym typeface="Arial"/>
            </a:endParaRPr>
          </a:p>
          <a:p>
            <a:pPr indent="0" lvl="0" marL="457200" marR="0" rtl="0" algn="l">
              <a:lnSpc>
                <a:spcPct val="115000"/>
              </a:lnSpc>
              <a:spcBef>
                <a:spcPts val="1599"/>
              </a:spcBef>
              <a:spcAft>
                <a:spcPts val="0"/>
              </a:spcAft>
              <a:buNone/>
            </a:pPr>
            <a:r>
              <a:t/>
            </a:r>
            <a:endParaRPr b="0" i="0" sz="2500" u="none" cap="none" strike="noStrike">
              <a:latin typeface="Arial"/>
              <a:ea typeface="Arial"/>
              <a:cs typeface="Arial"/>
              <a:sym typeface="Arial"/>
            </a:endParaRPr>
          </a:p>
          <a:p>
            <a:pPr indent="0" lvl="0" marL="457200" marR="0" rtl="0" algn="l">
              <a:lnSpc>
                <a:spcPct val="100000"/>
              </a:lnSpc>
              <a:spcBef>
                <a:spcPts val="1599"/>
              </a:spcBef>
              <a:spcAft>
                <a:spcPts val="0"/>
              </a:spcAft>
              <a:buNone/>
            </a:pPr>
            <a:r>
              <a:t/>
            </a:r>
            <a:endParaRPr b="0" i="0" sz="2500" u="none" cap="none" strike="noStrike">
              <a:latin typeface="Arial"/>
              <a:ea typeface="Arial"/>
              <a:cs typeface="Arial"/>
              <a:sym typeface="Arial"/>
            </a:endParaRPr>
          </a:p>
        </p:txBody>
      </p:sp>
      <p:pic>
        <p:nvPicPr>
          <p:cNvPr id="128" name="Google Shape;128;p19"/>
          <p:cNvPicPr preferRelativeResize="0"/>
          <p:nvPr/>
        </p:nvPicPr>
        <p:blipFill rotWithShape="1">
          <a:blip r:embed="rId5">
            <a:alphaModFix/>
          </a:blip>
          <a:srcRect b="48118" l="35713" r="47469" t="46100"/>
          <a:stretch/>
        </p:blipFill>
        <p:spPr>
          <a:xfrm>
            <a:off x="852480" y="2568960"/>
            <a:ext cx="2756520" cy="533880"/>
          </a:xfrm>
          <a:prstGeom prst="rect">
            <a:avLst/>
          </a:prstGeom>
          <a:noFill/>
          <a:ln>
            <a:noFill/>
          </a:ln>
        </p:spPr>
      </p:pic>
      <p:pic>
        <p:nvPicPr>
          <p:cNvPr id="129" name="Google Shape;129;p19"/>
          <p:cNvPicPr preferRelativeResize="0"/>
          <p:nvPr/>
        </p:nvPicPr>
        <p:blipFill rotWithShape="1">
          <a:blip r:embed="rId5">
            <a:alphaModFix/>
          </a:blip>
          <a:srcRect b="48518" l="52390" r="24723" t="45701"/>
          <a:stretch/>
        </p:blipFill>
        <p:spPr>
          <a:xfrm>
            <a:off x="375480" y="3255480"/>
            <a:ext cx="3751200" cy="53388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0"/>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Datasaurus</a:t>
            </a:r>
            <a:endParaRPr b="0" i="0" sz="3600" u="none" cap="none" strike="noStrike">
              <a:latin typeface="Arial"/>
              <a:ea typeface="Arial"/>
              <a:cs typeface="Arial"/>
              <a:sym typeface="Arial"/>
            </a:endParaRPr>
          </a:p>
        </p:txBody>
      </p:sp>
      <p:sp>
        <p:nvSpPr>
          <p:cNvPr id="135" name="Google Shape;135;p20"/>
          <p:cNvSpPr/>
          <p:nvPr/>
        </p:nvSpPr>
        <p:spPr>
          <a:xfrm>
            <a:off x="76320" y="911880"/>
            <a:ext cx="8981640" cy="4126320"/>
          </a:xfrm>
          <a:prstGeom prst="rect">
            <a:avLst/>
          </a:prstGeom>
          <a:noFill/>
          <a:ln>
            <a:noFill/>
          </a:ln>
        </p:spPr>
        <p:txBody>
          <a:bodyPr anchorCtr="0" anchor="t" bIns="91425" lIns="91425" spcFirstLastPara="1" rIns="91425" wrap="square" tIns="91425">
            <a:noAutofit/>
          </a:bodyPr>
          <a:lstStyle/>
          <a:p>
            <a:pPr indent="0" lvl="0" marL="457200" marR="0" rtl="0" algn="l">
              <a:lnSpc>
                <a:spcPct val="115000"/>
              </a:lnSpc>
              <a:spcBef>
                <a:spcPts val="0"/>
              </a:spcBef>
              <a:spcAft>
                <a:spcPts val="0"/>
              </a:spcAft>
              <a:buNone/>
            </a:pPr>
            <a:r>
              <a:t/>
            </a:r>
            <a:endParaRPr b="0" i="0" sz="1400" u="none" cap="none" strike="noStrike">
              <a:latin typeface="Arial"/>
              <a:ea typeface="Arial"/>
              <a:cs typeface="Arial"/>
              <a:sym typeface="Arial"/>
            </a:endParaRPr>
          </a:p>
          <a:p>
            <a:pPr indent="-406080" lvl="0" marL="457200" marR="0" rtl="0" algn="l">
              <a:lnSpc>
                <a:spcPct val="115000"/>
              </a:lnSpc>
              <a:spcBef>
                <a:spcPts val="1599"/>
              </a:spcBef>
              <a:spcAft>
                <a:spcPts val="0"/>
              </a:spcAft>
              <a:buClr>
                <a:srgbClr val="424242"/>
              </a:buClr>
              <a:buSzPts val="2800"/>
              <a:buFont typeface="Open Sans"/>
              <a:buChar char="●"/>
            </a:pPr>
            <a:r>
              <a:rPr b="0" i="0" lang="es-419" sz="2800" u="sng" cap="none" strike="noStrike">
                <a:solidFill>
                  <a:schemeClr val="hlink"/>
                </a:solidFill>
                <a:latin typeface="Open Sans"/>
                <a:ea typeface="Open Sans"/>
                <a:cs typeface="Open Sans"/>
                <a:sym typeface="Open Sans"/>
                <a:hlinkClick r:id="rId3"/>
              </a:rPr>
              <a:t>Acá el artı́culo de Cairo</a:t>
            </a:r>
            <a:br>
              <a:rPr b="0" i="0" lang="es-419" sz="1800" u="none" cap="none" strike="noStrike">
                <a:latin typeface="Arial"/>
                <a:ea typeface="Arial"/>
                <a:cs typeface="Arial"/>
                <a:sym typeface="Arial"/>
              </a:rPr>
            </a:br>
            <a:br>
              <a:rPr b="0" i="0" lang="es-419" sz="1800" u="none" cap="none" strike="noStrike">
                <a:latin typeface="Arial"/>
                <a:ea typeface="Arial"/>
                <a:cs typeface="Arial"/>
                <a:sym typeface="Arial"/>
              </a:rPr>
            </a:br>
            <a:r>
              <a:rPr b="0" i="0" lang="es-419" sz="2800" u="none" cap="none" strike="noStrike">
                <a:solidFill>
                  <a:srgbClr val="424242"/>
                </a:solidFill>
                <a:latin typeface="Open Sans"/>
                <a:ea typeface="Open Sans"/>
                <a:cs typeface="Open Sans"/>
                <a:sym typeface="Open Sans"/>
              </a:rPr>
              <a:t> </a:t>
            </a:r>
            <a:endParaRPr b="0" i="0" sz="2800" u="none" cap="none" strike="noStrike">
              <a:latin typeface="Arial"/>
              <a:ea typeface="Arial"/>
              <a:cs typeface="Arial"/>
              <a:sym typeface="Arial"/>
            </a:endParaRPr>
          </a:p>
          <a:p>
            <a:pPr indent="-406080" lvl="0" marL="457200" marR="0" rtl="0" algn="l">
              <a:lnSpc>
                <a:spcPct val="115000"/>
              </a:lnSpc>
              <a:spcBef>
                <a:spcPts val="1599"/>
              </a:spcBef>
              <a:spcAft>
                <a:spcPts val="0"/>
              </a:spcAft>
              <a:buClr>
                <a:srgbClr val="424242"/>
              </a:buClr>
              <a:buSzPts val="2800"/>
              <a:buFont typeface="Open Sans"/>
              <a:buChar char="●"/>
            </a:pPr>
            <a:r>
              <a:rPr b="0" i="0" lang="es-419" sz="2800" u="sng" cap="none" strike="noStrike">
                <a:solidFill>
                  <a:schemeClr val="hlink"/>
                </a:solidFill>
                <a:latin typeface="Open Sans"/>
                <a:ea typeface="Open Sans"/>
                <a:cs typeface="Open Sans"/>
                <a:sym typeface="Open Sans"/>
                <a:hlinkClick r:id="rId4"/>
              </a:rPr>
              <a:t>Acá hay más para jugar</a:t>
            </a:r>
            <a:br>
              <a:rPr b="0" i="0" lang="es-419" sz="1800" u="none" cap="none" strike="noStrike">
                <a:latin typeface="Arial"/>
                <a:ea typeface="Arial"/>
                <a:cs typeface="Arial"/>
                <a:sym typeface="Arial"/>
              </a:rPr>
            </a:br>
            <a:r>
              <a:rPr b="0" i="0" lang="es-419" sz="2800" u="none" cap="none" strike="noStrike">
                <a:solidFill>
                  <a:srgbClr val="424242"/>
                </a:solidFill>
                <a:latin typeface="Open Sans"/>
                <a:ea typeface="Open Sans"/>
                <a:cs typeface="Open Sans"/>
                <a:sym typeface="Open Sans"/>
              </a:rPr>
              <a:t> </a:t>
            </a:r>
            <a:endParaRPr b="0" i="0" sz="2800" u="none" cap="none" strike="noStrike">
              <a:latin typeface="Arial"/>
              <a:ea typeface="Arial"/>
              <a:cs typeface="Arial"/>
              <a:sym typeface="Arial"/>
            </a:endParaRPr>
          </a:p>
          <a:p>
            <a:pPr indent="0" lvl="0" marL="457200" marR="0" rtl="0" algn="l">
              <a:lnSpc>
                <a:spcPct val="115000"/>
              </a:lnSpc>
              <a:spcBef>
                <a:spcPts val="1599"/>
              </a:spcBef>
              <a:spcAft>
                <a:spcPts val="0"/>
              </a:spcAft>
              <a:buNone/>
            </a:pPr>
            <a:r>
              <a:t/>
            </a:r>
            <a:endParaRPr b="0" i="0" sz="2800" u="none" cap="none" strike="noStrike">
              <a:latin typeface="Arial"/>
              <a:ea typeface="Arial"/>
              <a:cs typeface="Arial"/>
              <a:sym typeface="Arial"/>
            </a:endParaRPr>
          </a:p>
          <a:p>
            <a:pPr indent="0" lvl="0" marL="457200" marR="0" rtl="0" algn="l">
              <a:lnSpc>
                <a:spcPct val="115000"/>
              </a:lnSpc>
              <a:spcBef>
                <a:spcPts val="1599"/>
              </a:spcBef>
              <a:spcAft>
                <a:spcPts val="0"/>
              </a:spcAft>
              <a:buNone/>
            </a:pPr>
            <a:r>
              <a:t/>
            </a:r>
            <a:endParaRPr b="0" i="0" sz="2800" u="none" cap="none" strike="noStrike">
              <a:latin typeface="Arial"/>
              <a:ea typeface="Arial"/>
              <a:cs typeface="Arial"/>
              <a:sym typeface="Arial"/>
            </a:endParaRPr>
          </a:p>
          <a:p>
            <a:pPr indent="0" lvl="0" marL="457200" marR="0" rtl="0" algn="l">
              <a:lnSpc>
                <a:spcPct val="100000"/>
              </a:lnSpc>
              <a:spcBef>
                <a:spcPts val="1599"/>
              </a:spcBef>
              <a:spcAft>
                <a:spcPts val="0"/>
              </a:spcAft>
              <a:buNone/>
            </a:pPr>
            <a:r>
              <a:t/>
            </a:r>
            <a:endParaRPr b="0" i="0" sz="2800" u="none" cap="none" strike="noStrike">
              <a:latin typeface="Arial"/>
              <a:ea typeface="Arial"/>
              <a:cs typeface="Arial"/>
              <a:sym typeface="Arial"/>
            </a:endParaRPr>
          </a:p>
        </p:txBody>
      </p:sp>
      <p:pic>
        <p:nvPicPr>
          <p:cNvPr id="136" name="Google Shape;136;p20"/>
          <p:cNvPicPr preferRelativeResize="0"/>
          <p:nvPr/>
        </p:nvPicPr>
        <p:blipFill rotWithShape="1">
          <a:blip r:embed="rId5">
            <a:alphaModFix/>
          </a:blip>
          <a:srcRect b="0" l="0" r="0" t="0"/>
          <a:stretch/>
        </p:blipFill>
        <p:spPr>
          <a:xfrm>
            <a:off x="8308080" y="0"/>
            <a:ext cx="835560" cy="83556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0" st="0"/>
                                            </p:txEl>
                                          </p:spTgt>
                                        </p:tgtEl>
                                        <p:attrNameLst>
                                          <p:attrName>style.visibility</p:attrName>
                                        </p:attrNameLst>
                                      </p:cBhvr>
                                      <p:to>
                                        <p:strVal val="visible"/>
                                      </p:to>
                                    </p:set>
                                    <p:animEffect filter="fade" transition="in">
                                      <p:cBhvr>
                                        <p:cTn dur="1000"/>
                                        <p:tgtEl>
                                          <p:spTgt spid="13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1" st="1"/>
                                            </p:txEl>
                                          </p:spTgt>
                                        </p:tgtEl>
                                        <p:attrNameLst>
                                          <p:attrName>style.visibility</p:attrName>
                                        </p:attrNameLst>
                                      </p:cBhvr>
                                      <p:to>
                                        <p:strVal val="visible"/>
                                      </p:to>
                                    </p:set>
                                    <p:animEffect filter="fade" transition="in">
                                      <p:cBhvr>
                                        <p:cTn dur="1000"/>
                                        <p:tgtEl>
                                          <p:spTgt spid="13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2" st="2"/>
                                            </p:txEl>
                                          </p:spTgt>
                                        </p:tgtEl>
                                        <p:attrNameLst>
                                          <p:attrName>style.visibility</p:attrName>
                                        </p:attrNameLst>
                                      </p:cBhvr>
                                      <p:to>
                                        <p:strVal val="visible"/>
                                      </p:to>
                                    </p:set>
                                    <p:animEffect filter="fade" transition="in">
                                      <p:cBhvr>
                                        <p:cTn dur="1000"/>
                                        <p:tgtEl>
                                          <p:spTgt spid="13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3" st="3"/>
                                            </p:txEl>
                                          </p:spTgt>
                                        </p:tgtEl>
                                        <p:attrNameLst>
                                          <p:attrName>style.visibility</p:attrName>
                                        </p:attrNameLst>
                                      </p:cBhvr>
                                      <p:to>
                                        <p:strVal val="visible"/>
                                      </p:to>
                                    </p:set>
                                    <p:animEffect filter="fade" transition="in">
                                      <p:cBhvr>
                                        <p:cTn dur="1000"/>
                                        <p:tgtEl>
                                          <p:spTgt spid="13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4" st="4"/>
                                            </p:txEl>
                                          </p:spTgt>
                                        </p:tgtEl>
                                        <p:attrNameLst>
                                          <p:attrName>style.visibility</p:attrName>
                                        </p:attrNameLst>
                                      </p:cBhvr>
                                      <p:to>
                                        <p:strVal val="visible"/>
                                      </p:to>
                                    </p:set>
                                    <p:animEffect filter="fade" transition="in">
                                      <p:cBhvr>
                                        <p:cTn dur="1000"/>
                                        <p:tgtEl>
                                          <p:spTgt spid="13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5" st="5"/>
                                            </p:txEl>
                                          </p:spTgt>
                                        </p:tgtEl>
                                        <p:attrNameLst>
                                          <p:attrName>style.visibility</p:attrName>
                                        </p:attrNameLst>
                                      </p:cBhvr>
                                      <p:to>
                                        <p:strVal val="visible"/>
                                      </p:to>
                                    </p:set>
                                    <p:animEffect filter="fade" transition="in">
                                      <p:cBhvr>
                                        <p:cTn dur="1000"/>
                                        <p:tgtEl>
                                          <p:spTgt spid="135">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1"/>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Visualización para ML</a:t>
            </a:r>
            <a:endParaRPr b="0" i="0" sz="3600" u="none" cap="none" strike="noStrike">
              <a:latin typeface="Arial"/>
              <a:ea typeface="Arial"/>
              <a:cs typeface="Arial"/>
              <a:sym typeface="Arial"/>
            </a:endParaRPr>
          </a:p>
        </p:txBody>
      </p:sp>
      <p:sp>
        <p:nvSpPr>
          <p:cNvPr id="142" name="Google Shape;142;p21"/>
          <p:cNvSpPr/>
          <p:nvPr/>
        </p:nvSpPr>
        <p:spPr>
          <a:xfrm>
            <a:off x="81000" y="711000"/>
            <a:ext cx="8981640" cy="4126320"/>
          </a:xfrm>
          <a:prstGeom prst="rect">
            <a:avLst/>
          </a:prstGeom>
          <a:noFill/>
          <a:ln>
            <a:noFill/>
          </a:ln>
        </p:spPr>
        <p:txBody>
          <a:bodyPr anchorCtr="0" anchor="t" bIns="91425" lIns="91425" spcFirstLastPara="1" rIns="91425" wrap="square" tIns="91425">
            <a:noAutofit/>
          </a:bodyPr>
          <a:lstStyle/>
          <a:p>
            <a:pPr indent="-380520" lvl="0" marL="457200" marR="0" rtl="0" algn="l">
              <a:lnSpc>
                <a:spcPct val="115000"/>
              </a:lnSpc>
              <a:spcBef>
                <a:spcPts val="0"/>
              </a:spcBef>
              <a:spcAft>
                <a:spcPts val="0"/>
              </a:spcAft>
              <a:buClr>
                <a:srgbClr val="424242"/>
              </a:buClr>
              <a:buSzPts val="2400"/>
              <a:buFont typeface="Open Sans"/>
              <a:buChar char="●"/>
            </a:pPr>
            <a:r>
              <a:rPr b="0" i="0" lang="es-419" sz="2400" u="none" cap="none" strike="noStrike">
                <a:solidFill>
                  <a:srgbClr val="424242"/>
                </a:solidFill>
                <a:latin typeface="Open Sans"/>
                <a:ea typeface="Open Sans"/>
                <a:cs typeface="Open Sans"/>
                <a:sym typeface="Open Sans"/>
              </a:rPr>
              <a:t>En aprendizaje automático, la visualización se utiliza para:</a:t>
            </a:r>
            <a:endParaRPr b="0" i="0" sz="2400" u="none" cap="none" strike="noStrike">
              <a:latin typeface="Arial"/>
              <a:ea typeface="Arial"/>
              <a:cs typeface="Arial"/>
              <a:sym typeface="Arial"/>
            </a:endParaRPr>
          </a:p>
          <a:p>
            <a:pPr indent="-380520" lvl="1" marL="914400" marR="0" rtl="0" algn="l">
              <a:lnSpc>
                <a:spcPct val="115000"/>
              </a:lnSpc>
              <a:spcBef>
                <a:spcPts val="0"/>
              </a:spcBef>
              <a:spcAft>
                <a:spcPts val="0"/>
              </a:spcAft>
              <a:buClr>
                <a:srgbClr val="424242"/>
              </a:buClr>
              <a:buSzPts val="2400"/>
              <a:buFont typeface="Open Sans"/>
              <a:buChar char="○"/>
            </a:pPr>
            <a:r>
              <a:rPr b="0" i="0" lang="es-419" sz="2400" u="none" cap="none" strike="noStrike">
                <a:solidFill>
                  <a:srgbClr val="424242"/>
                </a:solidFill>
                <a:latin typeface="Open Sans"/>
                <a:ea typeface="Open Sans"/>
                <a:cs typeface="Open Sans"/>
                <a:sym typeface="Open Sans"/>
              </a:rPr>
              <a:t>Análisis inicial de los datos:</a:t>
            </a:r>
            <a:endParaRPr b="0" i="0" sz="2400" u="none" cap="none" strike="noStrike">
              <a:latin typeface="Arial"/>
              <a:ea typeface="Arial"/>
              <a:cs typeface="Arial"/>
              <a:sym typeface="Arial"/>
            </a:endParaRPr>
          </a:p>
          <a:p>
            <a:pPr indent="-380520" lvl="2" marL="1371600" marR="0" rtl="0" algn="l">
              <a:lnSpc>
                <a:spcPct val="115000"/>
              </a:lnSpc>
              <a:spcBef>
                <a:spcPts val="0"/>
              </a:spcBef>
              <a:spcAft>
                <a:spcPts val="0"/>
              </a:spcAft>
              <a:buClr>
                <a:srgbClr val="424242"/>
              </a:buClr>
              <a:buSzPts val="2400"/>
              <a:buFont typeface="Open Sans"/>
              <a:buChar char="■"/>
            </a:pPr>
            <a:r>
              <a:rPr b="0" i="0" lang="es-419" sz="2400" u="none" cap="none" strike="noStrike">
                <a:solidFill>
                  <a:srgbClr val="424242"/>
                </a:solidFill>
                <a:latin typeface="Open Sans"/>
                <a:ea typeface="Open Sans"/>
                <a:cs typeface="Open Sans"/>
                <a:sym typeface="Open Sans"/>
              </a:rPr>
              <a:t>para examinar si los datos satisfacen los supuestos requeridos para el método</a:t>
            </a:r>
            <a:endParaRPr b="0" i="0" sz="2400" u="none" cap="none" strike="noStrike">
              <a:latin typeface="Arial"/>
              <a:ea typeface="Arial"/>
              <a:cs typeface="Arial"/>
              <a:sym typeface="Arial"/>
            </a:endParaRPr>
          </a:p>
          <a:p>
            <a:pPr indent="-380520" lvl="2" marL="1371600" marR="0" rtl="0" algn="l">
              <a:lnSpc>
                <a:spcPct val="115000"/>
              </a:lnSpc>
              <a:spcBef>
                <a:spcPts val="0"/>
              </a:spcBef>
              <a:spcAft>
                <a:spcPts val="0"/>
              </a:spcAft>
              <a:buClr>
                <a:srgbClr val="424242"/>
              </a:buClr>
              <a:buSzPts val="2400"/>
              <a:buFont typeface="Open Sans"/>
              <a:buChar char="■"/>
            </a:pPr>
            <a:r>
              <a:rPr b="0" i="0" lang="es-419" sz="2400" u="none" cap="none" strike="noStrike">
                <a:solidFill>
                  <a:srgbClr val="424242"/>
                </a:solidFill>
                <a:latin typeface="Open Sans"/>
                <a:ea typeface="Open Sans"/>
                <a:cs typeface="Open Sans"/>
                <a:sym typeface="Open Sans"/>
              </a:rPr>
              <a:t>tienen complicaciones inesperadas como valores atı́picos o no linealidad</a:t>
            </a:r>
            <a:endParaRPr b="0" i="0" sz="2400" u="none" cap="none" strike="noStrike">
              <a:latin typeface="Arial"/>
              <a:ea typeface="Arial"/>
              <a:cs typeface="Arial"/>
              <a:sym typeface="Arial"/>
            </a:endParaRPr>
          </a:p>
          <a:p>
            <a:pPr indent="-380520" lvl="0" marL="457200" marR="0" rtl="0" algn="l">
              <a:lnSpc>
                <a:spcPct val="115000"/>
              </a:lnSpc>
              <a:spcBef>
                <a:spcPts val="0"/>
              </a:spcBef>
              <a:spcAft>
                <a:spcPts val="0"/>
              </a:spcAft>
              <a:buClr>
                <a:srgbClr val="424242"/>
              </a:buClr>
              <a:buSzPts val="2400"/>
              <a:buFont typeface="Open Sans"/>
              <a:buChar char="●"/>
            </a:pPr>
            <a:r>
              <a:rPr b="0" i="0" lang="es-419" sz="2400" u="none" cap="none" strike="noStrike">
                <a:solidFill>
                  <a:srgbClr val="424242"/>
                </a:solidFill>
                <a:latin typeface="Open Sans"/>
                <a:ea typeface="Open Sans"/>
                <a:cs typeface="Open Sans"/>
                <a:sym typeface="Open Sans"/>
              </a:rPr>
              <a:t>Evaluar el ajuste del modelo:</a:t>
            </a:r>
            <a:endParaRPr b="0" i="0" sz="2400" u="none" cap="none" strike="noStrike">
              <a:latin typeface="Arial"/>
              <a:ea typeface="Arial"/>
              <a:cs typeface="Arial"/>
              <a:sym typeface="Arial"/>
            </a:endParaRPr>
          </a:p>
          <a:p>
            <a:pPr indent="-380520" lvl="1" marL="914400" marR="0" rtl="0" algn="l">
              <a:lnSpc>
                <a:spcPct val="115000"/>
              </a:lnSpc>
              <a:spcBef>
                <a:spcPts val="0"/>
              </a:spcBef>
              <a:spcAft>
                <a:spcPts val="0"/>
              </a:spcAft>
              <a:buClr>
                <a:srgbClr val="424242"/>
              </a:buClr>
              <a:buSzPts val="2400"/>
              <a:buFont typeface="Open Sans"/>
              <a:buChar char="○"/>
            </a:pPr>
            <a:r>
              <a:rPr b="0" i="0" lang="es-419" sz="2400" u="none" cap="none" strike="noStrike">
                <a:solidFill>
                  <a:srgbClr val="424242"/>
                </a:solidFill>
                <a:latin typeface="Open Sans"/>
                <a:ea typeface="Open Sans"/>
                <a:cs typeface="Open Sans"/>
                <a:sym typeface="Open Sans"/>
              </a:rPr>
              <a:t>predicho vs observado</a:t>
            </a:r>
            <a:endParaRPr b="0" i="0" sz="2400" u="none" cap="none" strike="noStrike">
              <a:latin typeface="Arial"/>
              <a:ea typeface="Arial"/>
              <a:cs typeface="Arial"/>
              <a:sym typeface="Arial"/>
            </a:endParaRPr>
          </a:p>
          <a:p>
            <a:pPr indent="-380520" lvl="1" marL="914400" marR="0" rtl="0" algn="l">
              <a:lnSpc>
                <a:spcPct val="115000"/>
              </a:lnSpc>
              <a:spcBef>
                <a:spcPts val="0"/>
              </a:spcBef>
              <a:spcAft>
                <a:spcPts val="0"/>
              </a:spcAft>
              <a:buClr>
                <a:srgbClr val="424242"/>
              </a:buClr>
              <a:buSzPts val="2400"/>
              <a:buFont typeface="Open Sans"/>
              <a:buChar char="○"/>
            </a:pPr>
            <a:r>
              <a:rPr b="0" i="0" lang="es-419" sz="2400" u="none" cap="none" strike="noStrike">
                <a:solidFill>
                  <a:srgbClr val="424242"/>
                </a:solidFill>
                <a:latin typeface="Open Sans"/>
                <a:ea typeface="Open Sans"/>
                <a:cs typeface="Open Sans"/>
                <a:sym typeface="Open Sans"/>
              </a:rPr>
              <a:t>análisis de residuos</a:t>
            </a:r>
            <a:endParaRPr b="0" i="0" sz="2400" u="none" cap="none" strike="noStrike">
              <a:latin typeface="Arial"/>
              <a:ea typeface="Arial"/>
              <a:cs typeface="Arial"/>
              <a:sym typeface="Arial"/>
            </a:endParaRPr>
          </a:p>
        </p:txBody>
      </p:sp>
      <p:pic>
        <p:nvPicPr>
          <p:cNvPr id="143" name="Google Shape;143;p21"/>
          <p:cNvPicPr preferRelativeResize="0"/>
          <p:nvPr/>
        </p:nvPicPr>
        <p:blipFill rotWithShape="1">
          <a:blip r:embed="rId3">
            <a:alphaModFix/>
          </a:blip>
          <a:srcRect b="0" l="0" r="0" t="0"/>
          <a:stretch/>
        </p:blipFill>
        <p:spPr>
          <a:xfrm>
            <a:off x="8308080" y="0"/>
            <a:ext cx="835560" cy="83556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0" st="0"/>
                                            </p:txEl>
                                          </p:spTgt>
                                        </p:tgtEl>
                                        <p:attrNameLst>
                                          <p:attrName>style.visibility</p:attrName>
                                        </p:attrNameLst>
                                      </p:cBhvr>
                                      <p:to>
                                        <p:strVal val="visible"/>
                                      </p:to>
                                    </p:set>
                                    <p:animEffect filter="fade" transition="in">
                                      <p:cBhvr>
                                        <p:cTn dur="1000"/>
                                        <p:tgtEl>
                                          <p:spTgt spid="14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1" st="1"/>
                                            </p:txEl>
                                          </p:spTgt>
                                        </p:tgtEl>
                                        <p:attrNameLst>
                                          <p:attrName>style.visibility</p:attrName>
                                        </p:attrNameLst>
                                      </p:cBhvr>
                                      <p:to>
                                        <p:strVal val="visible"/>
                                      </p:to>
                                    </p:set>
                                    <p:animEffect filter="fade" transition="in">
                                      <p:cBhvr>
                                        <p:cTn dur="1000"/>
                                        <p:tgtEl>
                                          <p:spTgt spid="14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2" st="2"/>
                                            </p:txEl>
                                          </p:spTgt>
                                        </p:tgtEl>
                                        <p:attrNameLst>
                                          <p:attrName>style.visibility</p:attrName>
                                        </p:attrNameLst>
                                      </p:cBhvr>
                                      <p:to>
                                        <p:strVal val="visible"/>
                                      </p:to>
                                    </p:set>
                                    <p:animEffect filter="fade" transition="in">
                                      <p:cBhvr>
                                        <p:cTn dur="1000"/>
                                        <p:tgtEl>
                                          <p:spTgt spid="14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3" st="3"/>
                                            </p:txEl>
                                          </p:spTgt>
                                        </p:tgtEl>
                                        <p:attrNameLst>
                                          <p:attrName>style.visibility</p:attrName>
                                        </p:attrNameLst>
                                      </p:cBhvr>
                                      <p:to>
                                        <p:strVal val="visible"/>
                                      </p:to>
                                    </p:set>
                                    <p:animEffect filter="fade" transition="in">
                                      <p:cBhvr>
                                        <p:cTn dur="1000"/>
                                        <p:tgtEl>
                                          <p:spTgt spid="14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4" st="4"/>
                                            </p:txEl>
                                          </p:spTgt>
                                        </p:tgtEl>
                                        <p:attrNameLst>
                                          <p:attrName>style.visibility</p:attrName>
                                        </p:attrNameLst>
                                      </p:cBhvr>
                                      <p:to>
                                        <p:strVal val="visible"/>
                                      </p:to>
                                    </p:set>
                                    <p:animEffect filter="fade" transition="in">
                                      <p:cBhvr>
                                        <p:cTn dur="1000"/>
                                        <p:tgtEl>
                                          <p:spTgt spid="14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5" st="5"/>
                                            </p:txEl>
                                          </p:spTgt>
                                        </p:tgtEl>
                                        <p:attrNameLst>
                                          <p:attrName>style.visibility</p:attrName>
                                        </p:attrNameLst>
                                      </p:cBhvr>
                                      <p:to>
                                        <p:strVal val="visible"/>
                                      </p:to>
                                    </p:set>
                                    <p:animEffect filter="fade" transition="in">
                                      <p:cBhvr>
                                        <p:cTn dur="1000"/>
                                        <p:tgtEl>
                                          <p:spTgt spid="14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6" st="6"/>
                                            </p:txEl>
                                          </p:spTgt>
                                        </p:tgtEl>
                                        <p:attrNameLst>
                                          <p:attrName>style.visibility</p:attrName>
                                        </p:attrNameLst>
                                      </p:cBhvr>
                                      <p:to>
                                        <p:strVal val="visible"/>
                                      </p:to>
                                    </p:set>
                                    <p:animEffect filter="fade" transition="in">
                                      <p:cBhvr>
                                        <p:cTn dur="1000"/>
                                        <p:tgtEl>
                                          <p:spTgt spid="142">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2"/>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Plots</a:t>
            </a:r>
            <a:endParaRPr b="0" i="0" sz="3600" u="none" cap="none" strike="noStrike">
              <a:latin typeface="Arial"/>
              <a:ea typeface="Arial"/>
              <a:cs typeface="Arial"/>
              <a:sym typeface="Arial"/>
            </a:endParaRPr>
          </a:p>
        </p:txBody>
      </p:sp>
      <p:pic>
        <p:nvPicPr>
          <p:cNvPr id="149" name="Google Shape;149;p22"/>
          <p:cNvPicPr preferRelativeResize="0"/>
          <p:nvPr/>
        </p:nvPicPr>
        <p:blipFill rotWithShape="1">
          <a:blip r:embed="rId3">
            <a:alphaModFix/>
          </a:blip>
          <a:srcRect b="0" l="0" r="0" t="0"/>
          <a:stretch/>
        </p:blipFill>
        <p:spPr>
          <a:xfrm>
            <a:off x="8308080" y="0"/>
            <a:ext cx="835560" cy="835560"/>
          </a:xfrm>
          <a:prstGeom prst="rect">
            <a:avLst/>
          </a:prstGeom>
          <a:noFill/>
          <a:ln>
            <a:noFill/>
          </a:ln>
        </p:spPr>
      </p:pic>
      <p:sp>
        <p:nvSpPr>
          <p:cNvPr id="150" name="Google Shape;150;p22"/>
          <p:cNvSpPr/>
          <p:nvPr/>
        </p:nvSpPr>
        <p:spPr>
          <a:xfrm>
            <a:off x="76320" y="911880"/>
            <a:ext cx="8981640" cy="4126320"/>
          </a:xfrm>
          <a:prstGeom prst="rect">
            <a:avLst/>
          </a:prstGeom>
          <a:noFill/>
          <a:ln>
            <a:noFill/>
          </a:ln>
        </p:spPr>
        <p:txBody>
          <a:bodyPr anchorCtr="0" anchor="t" bIns="91425" lIns="91425" spcFirstLastPara="1" rIns="91425" wrap="square" tIns="91425">
            <a:noAutofit/>
          </a:bodyPr>
          <a:lstStyle/>
          <a:p>
            <a:pPr indent="-406080" lvl="0" marL="457200" marR="0" rtl="0" algn="l">
              <a:lnSpc>
                <a:spcPct val="115000"/>
              </a:lnSpc>
              <a:spcBef>
                <a:spcPts val="0"/>
              </a:spcBef>
              <a:spcAft>
                <a:spcPts val="0"/>
              </a:spcAft>
              <a:buClr>
                <a:srgbClr val="424242"/>
              </a:buClr>
              <a:buSzPts val="2800"/>
              <a:buFont typeface="Open Sans"/>
              <a:buChar char="●"/>
            </a:pPr>
            <a:r>
              <a:rPr b="0" i="0" lang="es-419" sz="2800" u="none" cap="none" strike="noStrike">
                <a:solidFill>
                  <a:srgbClr val="424242"/>
                </a:solidFill>
                <a:latin typeface="Open Sans"/>
                <a:ea typeface="Open Sans"/>
                <a:cs typeface="Open Sans"/>
                <a:sym typeface="Open Sans"/>
              </a:rPr>
              <a:t>De distribución continua</a:t>
            </a:r>
            <a:endParaRPr b="0" i="0" sz="2800" u="none" cap="none" strike="noStrike">
              <a:latin typeface="Arial"/>
              <a:ea typeface="Arial"/>
              <a:cs typeface="Arial"/>
              <a:sym typeface="Arial"/>
            </a:endParaRPr>
          </a:p>
          <a:p>
            <a:pPr indent="-406080" lvl="0" marL="457200" marR="0" rtl="0" algn="l">
              <a:lnSpc>
                <a:spcPct val="115000"/>
              </a:lnSpc>
              <a:spcBef>
                <a:spcPts val="1599"/>
              </a:spcBef>
              <a:spcAft>
                <a:spcPts val="0"/>
              </a:spcAft>
              <a:buClr>
                <a:srgbClr val="424242"/>
              </a:buClr>
              <a:buSzPts val="2800"/>
              <a:buFont typeface="Open Sans"/>
              <a:buChar char="●"/>
            </a:pPr>
            <a:r>
              <a:rPr b="0" i="0" lang="es-419" sz="2800" u="none" cap="none" strike="noStrike">
                <a:solidFill>
                  <a:srgbClr val="424242"/>
                </a:solidFill>
                <a:latin typeface="Open Sans"/>
                <a:ea typeface="Open Sans"/>
                <a:cs typeface="Open Sans"/>
                <a:sym typeface="Open Sans"/>
              </a:rPr>
              <a:t>De distribución discreta</a:t>
            </a:r>
            <a:endParaRPr b="0" i="0" sz="2800" u="none" cap="none" strike="noStrike">
              <a:latin typeface="Arial"/>
              <a:ea typeface="Arial"/>
              <a:cs typeface="Arial"/>
              <a:sym typeface="Arial"/>
            </a:endParaRPr>
          </a:p>
          <a:p>
            <a:pPr indent="-406080" lvl="0" marL="457200" marR="0" rtl="0" algn="l">
              <a:lnSpc>
                <a:spcPct val="115000"/>
              </a:lnSpc>
              <a:spcBef>
                <a:spcPts val="1599"/>
              </a:spcBef>
              <a:spcAft>
                <a:spcPts val="0"/>
              </a:spcAft>
              <a:buClr>
                <a:srgbClr val="424242"/>
              </a:buClr>
              <a:buSzPts val="2800"/>
              <a:buFont typeface="Open Sans"/>
              <a:buChar char="●"/>
            </a:pPr>
            <a:r>
              <a:rPr b="0" i="0" lang="es-419" sz="2800" u="none" cap="none" strike="noStrike">
                <a:solidFill>
                  <a:srgbClr val="424242"/>
                </a:solidFill>
                <a:latin typeface="Open Sans"/>
                <a:ea typeface="Open Sans"/>
                <a:cs typeface="Open Sans"/>
                <a:sym typeface="Open Sans"/>
              </a:rPr>
              <a:t>De relación</a:t>
            </a:r>
            <a:endParaRPr b="0" i="0" sz="2800" u="none" cap="none" strike="noStrike">
              <a:latin typeface="Arial"/>
              <a:ea typeface="Arial"/>
              <a:cs typeface="Arial"/>
              <a:sym typeface="Arial"/>
            </a:endParaRPr>
          </a:p>
          <a:p>
            <a:pPr indent="-406080" lvl="0" marL="457200" marR="0" rtl="0" algn="l">
              <a:lnSpc>
                <a:spcPct val="115000"/>
              </a:lnSpc>
              <a:spcBef>
                <a:spcPts val="1599"/>
              </a:spcBef>
              <a:spcAft>
                <a:spcPts val="0"/>
              </a:spcAft>
              <a:buClr>
                <a:srgbClr val="424242"/>
              </a:buClr>
              <a:buSzPts val="2800"/>
              <a:buFont typeface="Open Sans"/>
              <a:buChar char="●"/>
            </a:pPr>
            <a:r>
              <a:rPr b="0" i="0" lang="es-419" sz="2800" u="none" cap="none" strike="noStrike">
                <a:solidFill>
                  <a:srgbClr val="424242"/>
                </a:solidFill>
                <a:latin typeface="Open Sans"/>
                <a:ea typeface="Open Sans"/>
                <a:cs typeface="Open Sans"/>
                <a:sym typeface="Open Sans"/>
              </a:rPr>
              <a:t>Series de tiempo</a:t>
            </a:r>
            <a:endParaRPr b="0" i="0" sz="2800" u="none" cap="none" strike="noStrike">
              <a:latin typeface="Arial"/>
              <a:ea typeface="Arial"/>
              <a:cs typeface="Arial"/>
              <a:sym typeface="Arial"/>
            </a:endParaRPr>
          </a:p>
          <a:p>
            <a:pPr indent="-406080" lvl="0" marL="457200" marR="0" rtl="0" algn="l">
              <a:lnSpc>
                <a:spcPct val="115000"/>
              </a:lnSpc>
              <a:spcBef>
                <a:spcPts val="1599"/>
              </a:spcBef>
              <a:spcAft>
                <a:spcPts val="0"/>
              </a:spcAft>
              <a:buClr>
                <a:srgbClr val="424242"/>
              </a:buClr>
              <a:buSzPts val="2800"/>
              <a:buFont typeface="Open Sans"/>
              <a:buChar char="●"/>
            </a:pPr>
            <a:r>
              <a:rPr b="0" i="0" lang="es-419" sz="2800" u="none" cap="none" strike="noStrike">
                <a:solidFill>
                  <a:srgbClr val="424242"/>
                </a:solidFill>
                <a:latin typeface="Open Sans"/>
                <a:ea typeface="Open Sans"/>
                <a:cs typeface="Open Sans"/>
                <a:sym typeface="Open Sans"/>
              </a:rPr>
              <a:t>Otros</a:t>
            </a:r>
            <a:endParaRPr b="0" i="0" sz="2800" u="none" cap="none" strike="noStrike">
              <a:latin typeface="Arial"/>
              <a:ea typeface="Arial"/>
              <a:cs typeface="Arial"/>
              <a:sym typeface="Arial"/>
            </a:endParaRPr>
          </a:p>
          <a:p>
            <a:pPr indent="0" lvl="0" marL="457200" marR="0" rtl="0" algn="l">
              <a:lnSpc>
                <a:spcPct val="115000"/>
              </a:lnSpc>
              <a:spcBef>
                <a:spcPts val="1599"/>
              </a:spcBef>
              <a:spcAft>
                <a:spcPts val="0"/>
              </a:spcAft>
              <a:buNone/>
            </a:pPr>
            <a:r>
              <a:t/>
            </a:r>
            <a:endParaRPr b="0" i="0" sz="2800" u="none" cap="none" strike="noStrike">
              <a:latin typeface="Arial"/>
              <a:ea typeface="Arial"/>
              <a:cs typeface="Arial"/>
              <a:sym typeface="Arial"/>
            </a:endParaRPr>
          </a:p>
          <a:p>
            <a:pPr indent="0" lvl="0" marL="457200" marR="0" rtl="0" algn="l">
              <a:lnSpc>
                <a:spcPct val="100000"/>
              </a:lnSpc>
              <a:spcBef>
                <a:spcPts val="1599"/>
              </a:spcBef>
              <a:spcAft>
                <a:spcPts val="0"/>
              </a:spcAft>
              <a:buNone/>
            </a:pPr>
            <a:r>
              <a:t/>
            </a:r>
            <a:endParaRPr b="0" i="0" sz="2800" u="none" cap="none" strike="noStrike">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3"/>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De distribución continua</a:t>
            </a:r>
            <a:endParaRPr b="0" i="0" sz="3600" u="none" cap="none" strike="noStrike">
              <a:latin typeface="Arial"/>
              <a:ea typeface="Arial"/>
              <a:cs typeface="Arial"/>
              <a:sym typeface="Arial"/>
            </a:endParaRPr>
          </a:p>
        </p:txBody>
      </p:sp>
      <p:pic>
        <p:nvPicPr>
          <p:cNvPr id="156" name="Google Shape;156;p23"/>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157" name="Google Shape;157;p23"/>
          <p:cNvPicPr preferRelativeResize="0"/>
          <p:nvPr/>
        </p:nvPicPr>
        <p:blipFill rotWithShape="1">
          <a:blip r:embed="rId4">
            <a:alphaModFix/>
          </a:blip>
          <a:srcRect b="0" l="0" r="0" t="0"/>
          <a:stretch/>
        </p:blipFill>
        <p:spPr>
          <a:xfrm>
            <a:off x="2122920" y="996120"/>
            <a:ext cx="4897800" cy="3960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id="162" name="Google Shape;162;p24"/>
          <p:cNvPicPr preferRelativeResize="0"/>
          <p:nvPr/>
        </p:nvPicPr>
        <p:blipFill rotWithShape="1">
          <a:blip r:embed="rId3">
            <a:alphaModFix/>
          </a:blip>
          <a:srcRect b="0" l="0" r="0" t="0"/>
          <a:stretch/>
        </p:blipFill>
        <p:spPr>
          <a:xfrm>
            <a:off x="2122920" y="996120"/>
            <a:ext cx="4897800" cy="3960000"/>
          </a:xfrm>
          <a:prstGeom prst="rect">
            <a:avLst/>
          </a:prstGeom>
          <a:noFill/>
          <a:ln>
            <a:noFill/>
          </a:ln>
        </p:spPr>
      </p:pic>
      <p:sp>
        <p:nvSpPr>
          <p:cNvPr id="163" name="Google Shape;163;p24"/>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De distribución continua</a:t>
            </a:r>
            <a:endParaRPr b="0" i="0" sz="3600" u="none" cap="none" strike="noStrike">
              <a:latin typeface="Arial"/>
              <a:ea typeface="Arial"/>
              <a:cs typeface="Arial"/>
              <a:sym typeface="Arial"/>
            </a:endParaRPr>
          </a:p>
        </p:txBody>
      </p:sp>
      <p:pic>
        <p:nvPicPr>
          <p:cNvPr id="164" name="Google Shape;164;p24"/>
          <p:cNvPicPr preferRelativeResize="0"/>
          <p:nvPr/>
        </p:nvPicPr>
        <p:blipFill rotWithShape="1">
          <a:blip r:embed="rId4">
            <a:alphaModFix/>
          </a:blip>
          <a:srcRect b="0" l="0" r="0" t="0"/>
          <a:stretch/>
        </p:blipFill>
        <p:spPr>
          <a:xfrm>
            <a:off x="8308080" y="0"/>
            <a:ext cx="835560" cy="835560"/>
          </a:xfrm>
          <a:prstGeom prst="rect">
            <a:avLst/>
          </a:prstGeom>
          <a:noFill/>
          <a:ln>
            <a:noFill/>
          </a:ln>
        </p:spPr>
      </p:pic>
      <p:sp>
        <p:nvSpPr>
          <p:cNvPr id="165" name="Google Shape;165;p24"/>
          <p:cNvSpPr/>
          <p:nvPr/>
        </p:nvSpPr>
        <p:spPr>
          <a:xfrm>
            <a:off x="2401560" y="3902760"/>
            <a:ext cx="4963320" cy="1120320"/>
          </a:xfrm>
          <a:prstGeom prst="ellipse">
            <a:avLst/>
          </a:prstGeom>
          <a:noFill/>
          <a:ln cap="flat" cmpd="sng" w="1907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4"/>
          <p:cNvSpPr/>
          <p:nvPr/>
        </p:nvSpPr>
        <p:spPr>
          <a:xfrm flipH="1">
            <a:off x="7364882" y="3462124"/>
            <a:ext cx="638496" cy="866268"/>
          </a:xfrm>
          <a:custGeom>
            <a:rect b="b" l="l" r="r" t="t"/>
            <a:pathLst>
              <a:path extrusionOk="0" h="21600" w="21600">
                <a:moveTo>
                  <a:pt x="0" y="0"/>
                </a:moveTo>
                <a:lnTo>
                  <a:pt x="21600" y="21600"/>
                </a:lnTo>
              </a:path>
            </a:pathLst>
          </a:custGeom>
          <a:noFill/>
          <a:ln cap="flat" cmpd="sng" w="19075">
            <a:solidFill>
              <a:srgbClr val="595959"/>
            </a:solidFill>
            <a:prstDash val="solid"/>
            <a:round/>
            <a:headEnd len="sm" w="sm" type="none"/>
            <a:tailEnd len="med" w="med" type="triangle"/>
          </a:ln>
        </p:spPr>
      </p:sp>
      <p:sp>
        <p:nvSpPr>
          <p:cNvPr id="167" name="Google Shape;167;p24"/>
          <p:cNvSpPr/>
          <p:nvPr/>
        </p:nvSpPr>
        <p:spPr>
          <a:xfrm>
            <a:off x="7154640" y="2851920"/>
            <a:ext cx="1580760" cy="610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Open Sans"/>
                <a:ea typeface="Open Sans"/>
                <a:cs typeface="Open Sans"/>
                <a:sym typeface="Open Sans"/>
              </a:rPr>
              <a:t>Soporte continuo</a:t>
            </a:r>
            <a:endParaRPr b="0" i="0" sz="1400" u="none" cap="none" strike="noStrike">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id="172" name="Google Shape;172;p25"/>
          <p:cNvPicPr preferRelativeResize="0"/>
          <p:nvPr/>
        </p:nvPicPr>
        <p:blipFill rotWithShape="1">
          <a:blip r:embed="rId3">
            <a:alphaModFix/>
          </a:blip>
          <a:srcRect b="0" l="0" r="0" t="0"/>
          <a:stretch/>
        </p:blipFill>
        <p:spPr>
          <a:xfrm>
            <a:off x="2122920" y="996120"/>
            <a:ext cx="4897800" cy="3960000"/>
          </a:xfrm>
          <a:prstGeom prst="rect">
            <a:avLst/>
          </a:prstGeom>
          <a:noFill/>
          <a:ln>
            <a:noFill/>
          </a:ln>
        </p:spPr>
      </p:pic>
      <p:sp>
        <p:nvSpPr>
          <p:cNvPr id="173" name="Google Shape;173;p25"/>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De distribución continua</a:t>
            </a:r>
            <a:endParaRPr b="0" i="0" sz="3600" u="none" cap="none" strike="noStrike">
              <a:latin typeface="Arial"/>
              <a:ea typeface="Arial"/>
              <a:cs typeface="Arial"/>
              <a:sym typeface="Arial"/>
            </a:endParaRPr>
          </a:p>
        </p:txBody>
      </p:sp>
      <p:pic>
        <p:nvPicPr>
          <p:cNvPr id="174" name="Google Shape;174;p25"/>
          <p:cNvPicPr preferRelativeResize="0"/>
          <p:nvPr/>
        </p:nvPicPr>
        <p:blipFill rotWithShape="1">
          <a:blip r:embed="rId4">
            <a:alphaModFix/>
          </a:blip>
          <a:srcRect b="0" l="0" r="0" t="0"/>
          <a:stretch/>
        </p:blipFill>
        <p:spPr>
          <a:xfrm>
            <a:off x="8308080" y="0"/>
            <a:ext cx="835560" cy="835560"/>
          </a:xfrm>
          <a:prstGeom prst="rect">
            <a:avLst/>
          </a:prstGeom>
          <a:noFill/>
          <a:ln>
            <a:noFill/>
          </a:ln>
        </p:spPr>
      </p:pic>
      <p:sp>
        <p:nvSpPr>
          <p:cNvPr id="175" name="Google Shape;175;p25"/>
          <p:cNvSpPr/>
          <p:nvPr/>
        </p:nvSpPr>
        <p:spPr>
          <a:xfrm>
            <a:off x="2401560" y="3902760"/>
            <a:ext cx="4963320" cy="1120320"/>
          </a:xfrm>
          <a:prstGeom prst="ellipse">
            <a:avLst/>
          </a:prstGeom>
          <a:noFill/>
          <a:ln cap="flat" cmpd="sng" w="1907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5"/>
          <p:cNvSpPr/>
          <p:nvPr/>
        </p:nvSpPr>
        <p:spPr>
          <a:xfrm flipH="1">
            <a:off x="7353365" y="3457110"/>
            <a:ext cx="635958" cy="865782"/>
          </a:xfrm>
          <a:custGeom>
            <a:rect b="b" l="l" r="r" t="t"/>
            <a:pathLst>
              <a:path extrusionOk="0" h="21600" w="21600">
                <a:moveTo>
                  <a:pt x="0" y="0"/>
                </a:moveTo>
                <a:lnTo>
                  <a:pt x="21600" y="21600"/>
                </a:lnTo>
              </a:path>
            </a:pathLst>
          </a:custGeom>
          <a:noFill/>
          <a:ln cap="flat" cmpd="sng" w="19075">
            <a:solidFill>
              <a:srgbClr val="595959"/>
            </a:solidFill>
            <a:prstDash val="solid"/>
            <a:round/>
            <a:headEnd len="sm" w="sm" type="none"/>
            <a:tailEnd len="med" w="med" type="triangle"/>
          </a:ln>
        </p:spPr>
      </p:sp>
      <p:sp>
        <p:nvSpPr>
          <p:cNvPr id="177" name="Google Shape;177;p25"/>
          <p:cNvSpPr/>
          <p:nvPr/>
        </p:nvSpPr>
        <p:spPr>
          <a:xfrm>
            <a:off x="7154640" y="2851920"/>
            <a:ext cx="1580760" cy="610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Open Sans"/>
                <a:ea typeface="Open Sans"/>
                <a:cs typeface="Open Sans"/>
                <a:sym typeface="Open Sans"/>
              </a:rPr>
              <a:t>Soporte continuo</a:t>
            </a:r>
            <a:endParaRPr b="0" i="0" sz="1400" u="none" cap="none" strike="noStrike">
              <a:latin typeface="Arial"/>
              <a:ea typeface="Arial"/>
              <a:cs typeface="Arial"/>
              <a:sym typeface="Arial"/>
            </a:endParaRPr>
          </a:p>
        </p:txBody>
      </p:sp>
      <p:sp>
        <p:nvSpPr>
          <p:cNvPr id="178" name="Google Shape;178;p25"/>
          <p:cNvSpPr/>
          <p:nvPr/>
        </p:nvSpPr>
        <p:spPr>
          <a:xfrm>
            <a:off x="2071440" y="1090800"/>
            <a:ext cx="1010520" cy="3521880"/>
          </a:xfrm>
          <a:prstGeom prst="ellipse">
            <a:avLst/>
          </a:prstGeom>
          <a:noFill/>
          <a:ln cap="flat" cmpd="sng" w="1907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5"/>
          <p:cNvSpPr/>
          <p:nvPr/>
        </p:nvSpPr>
        <p:spPr>
          <a:xfrm flipH="1">
            <a:off x="1499400" y="1420920"/>
            <a:ext cx="980280" cy="199800"/>
          </a:xfrm>
          <a:custGeom>
            <a:rect b="b" l="l" r="r" t="t"/>
            <a:pathLst>
              <a:path extrusionOk="0" h="21600" w="21600">
                <a:moveTo>
                  <a:pt x="0" y="0"/>
                </a:moveTo>
                <a:lnTo>
                  <a:pt x="21600" y="21600"/>
                </a:lnTo>
              </a:path>
            </a:pathLst>
          </a:custGeom>
          <a:noFill/>
          <a:ln cap="flat" cmpd="sng" w="19075">
            <a:solidFill>
              <a:srgbClr val="595959"/>
            </a:solidFill>
            <a:prstDash val="solid"/>
            <a:round/>
            <a:headEnd len="sm" w="sm" type="none"/>
            <a:tailEnd len="med" w="med" type="triangle"/>
          </a:ln>
        </p:spPr>
      </p:sp>
      <p:sp>
        <p:nvSpPr>
          <p:cNvPr id="180" name="Google Shape;180;p25"/>
          <p:cNvSpPr/>
          <p:nvPr/>
        </p:nvSpPr>
        <p:spPr>
          <a:xfrm>
            <a:off x="212400" y="1621080"/>
            <a:ext cx="1580760" cy="610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Open Sans"/>
                <a:ea typeface="Open Sans"/>
                <a:cs typeface="Open Sans"/>
                <a:sym typeface="Open Sans"/>
              </a:rPr>
              <a:t>Cantidad </a:t>
            </a:r>
            <a:endParaRPr b="0" i="0" sz="14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s-419" sz="1400" u="none" cap="none" strike="noStrike">
                <a:solidFill>
                  <a:srgbClr val="000000"/>
                </a:solidFill>
                <a:latin typeface="Open Sans"/>
                <a:ea typeface="Open Sans"/>
                <a:cs typeface="Open Sans"/>
                <a:sym typeface="Open Sans"/>
              </a:rPr>
              <a:t>(o similar)</a:t>
            </a:r>
            <a:endParaRPr b="0" i="0" sz="1400" u="none" cap="none" strike="noStrike">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6"/>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De distribución continua</a:t>
            </a:r>
            <a:endParaRPr b="0" i="0" sz="3600" u="none" cap="none" strike="noStrike">
              <a:latin typeface="Arial"/>
              <a:ea typeface="Arial"/>
              <a:cs typeface="Arial"/>
              <a:sym typeface="Arial"/>
            </a:endParaRPr>
          </a:p>
        </p:txBody>
      </p:sp>
      <p:pic>
        <p:nvPicPr>
          <p:cNvPr id="186" name="Google Shape;186;p26"/>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187" name="Google Shape;187;p26"/>
          <p:cNvPicPr preferRelativeResize="0"/>
          <p:nvPr/>
        </p:nvPicPr>
        <p:blipFill rotWithShape="1">
          <a:blip r:embed="rId4">
            <a:alphaModFix/>
          </a:blip>
          <a:srcRect b="0" l="0" r="0" t="0"/>
          <a:stretch/>
        </p:blipFill>
        <p:spPr>
          <a:xfrm>
            <a:off x="152280" y="988200"/>
            <a:ext cx="5517720" cy="400248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7"/>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De distribución continua</a:t>
            </a:r>
            <a:endParaRPr b="0" i="0" sz="3600" u="none" cap="none" strike="noStrike">
              <a:latin typeface="Arial"/>
              <a:ea typeface="Arial"/>
              <a:cs typeface="Arial"/>
              <a:sym typeface="Arial"/>
            </a:endParaRPr>
          </a:p>
        </p:txBody>
      </p:sp>
      <p:pic>
        <p:nvPicPr>
          <p:cNvPr id="193" name="Google Shape;193;p27"/>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194" name="Google Shape;194;p27"/>
          <p:cNvPicPr preferRelativeResize="0"/>
          <p:nvPr/>
        </p:nvPicPr>
        <p:blipFill rotWithShape="1">
          <a:blip r:embed="rId4">
            <a:alphaModFix/>
          </a:blip>
          <a:srcRect b="0" l="0" r="0" t="0"/>
          <a:stretch/>
        </p:blipFill>
        <p:spPr>
          <a:xfrm>
            <a:off x="152280" y="988200"/>
            <a:ext cx="5517720" cy="4002480"/>
          </a:xfrm>
          <a:prstGeom prst="rect">
            <a:avLst/>
          </a:prstGeom>
          <a:noFill/>
          <a:ln>
            <a:noFill/>
          </a:ln>
        </p:spPr>
      </p:pic>
      <p:sp>
        <p:nvSpPr>
          <p:cNvPr id="195" name="Google Shape;195;p27"/>
          <p:cNvSpPr/>
          <p:nvPr/>
        </p:nvSpPr>
        <p:spPr>
          <a:xfrm>
            <a:off x="360360" y="4152960"/>
            <a:ext cx="5463360" cy="835560"/>
          </a:xfrm>
          <a:prstGeom prst="ellipse">
            <a:avLst/>
          </a:prstGeom>
          <a:noFill/>
          <a:ln cap="flat" cmpd="sng" w="1907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7"/>
          <p:cNvSpPr/>
          <p:nvPr/>
        </p:nvSpPr>
        <p:spPr>
          <a:xfrm flipH="1" rot="10800000">
            <a:off x="5769922" y="4110582"/>
            <a:ext cx="364338" cy="366768"/>
          </a:xfrm>
          <a:custGeom>
            <a:rect b="b" l="l" r="r" t="t"/>
            <a:pathLst>
              <a:path extrusionOk="0" h="21600" w="21600">
                <a:moveTo>
                  <a:pt x="0" y="0"/>
                </a:moveTo>
                <a:lnTo>
                  <a:pt x="21600" y="21600"/>
                </a:lnTo>
              </a:path>
            </a:pathLst>
          </a:custGeom>
          <a:noFill/>
          <a:ln cap="flat" cmpd="sng" w="19075">
            <a:solidFill>
              <a:srgbClr val="595959"/>
            </a:solidFill>
            <a:prstDash val="solid"/>
            <a:round/>
            <a:headEnd len="sm" w="sm" type="none"/>
            <a:tailEnd len="med" w="med" type="triangle"/>
          </a:ln>
        </p:spPr>
      </p:sp>
      <p:sp>
        <p:nvSpPr>
          <p:cNvPr id="197" name="Google Shape;197;p27"/>
          <p:cNvSpPr/>
          <p:nvPr/>
        </p:nvSpPr>
        <p:spPr>
          <a:xfrm>
            <a:off x="6134040" y="3782520"/>
            <a:ext cx="1580760" cy="610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Open Sans"/>
                <a:ea typeface="Open Sans"/>
                <a:cs typeface="Open Sans"/>
                <a:sym typeface="Open Sans"/>
              </a:rPr>
              <a:t>Soporte discreto</a:t>
            </a:r>
            <a:endParaRPr b="0" i="0" sz="1400" u="none" cap="none" strike="noStrike">
              <a:latin typeface="Arial"/>
              <a:ea typeface="Arial"/>
              <a:cs typeface="Arial"/>
              <a:sym typeface="Arial"/>
            </a:endParaRPr>
          </a:p>
        </p:txBody>
      </p:sp>
      <p:sp>
        <p:nvSpPr>
          <p:cNvPr id="198" name="Google Shape;198;p27"/>
          <p:cNvSpPr/>
          <p:nvPr/>
        </p:nvSpPr>
        <p:spPr>
          <a:xfrm>
            <a:off x="6404040" y="4240440"/>
            <a:ext cx="1040400" cy="9025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s-419" sz="4800" u="none" cap="none" strike="noStrike">
                <a:solidFill>
                  <a:srgbClr val="000000"/>
                </a:solidFill>
                <a:latin typeface="Arial"/>
                <a:ea typeface="Arial"/>
                <a:cs typeface="Arial"/>
                <a:sym typeface="Arial"/>
              </a:rPr>
              <a:t>❌</a:t>
            </a:r>
            <a:endParaRPr b="0" i="0" sz="4800" u="none" cap="none" strike="noStrike">
              <a:latin typeface="Arial"/>
              <a:ea typeface="Arial"/>
              <a:cs typeface="Arial"/>
              <a:sym typeface="Arial"/>
            </a:endParaRPr>
          </a:p>
        </p:txBody>
      </p:sp>
      <p:sp>
        <p:nvSpPr>
          <p:cNvPr id="199" name="Google Shape;199;p27"/>
          <p:cNvSpPr/>
          <p:nvPr/>
        </p:nvSpPr>
        <p:spPr>
          <a:xfrm>
            <a:off x="5823720" y="1661040"/>
            <a:ext cx="3141720" cy="1390680"/>
          </a:xfrm>
          <a:prstGeom prst="rect">
            <a:avLst/>
          </a:prstGeom>
          <a:no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None/>
            </a:pPr>
            <a:r>
              <a:rPr b="0" i="0" lang="es-419" sz="1400" u="none" cap="none" strike="noStrike">
                <a:solidFill>
                  <a:srgbClr val="000000"/>
                </a:solidFill>
                <a:latin typeface="Open Sans"/>
                <a:ea typeface="Open Sans"/>
                <a:cs typeface="Open Sans"/>
                <a:sym typeface="Open Sans"/>
              </a:rPr>
              <a:t>Uno de los errores más comunes cuando se empieza a hacer visualizaciones es confundir cuales tienen que tipo de soporte</a:t>
            </a:r>
            <a:endParaRPr b="0" i="0" sz="1400" u="none" cap="none" strike="noStrike">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8"/>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Histograma</a:t>
            </a:r>
            <a:endParaRPr b="0" i="0" sz="3600" u="none" cap="none" strike="noStrike">
              <a:latin typeface="Arial"/>
              <a:ea typeface="Arial"/>
              <a:cs typeface="Arial"/>
              <a:sym typeface="Arial"/>
            </a:endParaRPr>
          </a:p>
        </p:txBody>
      </p:sp>
      <p:pic>
        <p:nvPicPr>
          <p:cNvPr id="205" name="Google Shape;205;p28"/>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206" name="Google Shape;206;p28"/>
          <p:cNvPicPr preferRelativeResize="0"/>
          <p:nvPr/>
        </p:nvPicPr>
        <p:blipFill rotWithShape="1">
          <a:blip r:embed="rId4">
            <a:alphaModFix/>
          </a:blip>
          <a:srcRect b="0" l="0" r="0" t="0"/>
          <a:stretch/>
        </p:blipFill>
        <p:spPr>
          <a:xfrm>
            <a:off x="2122920" y="996120"/>
            <a:ext cx="4897800" cy="3960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9"/>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Histograma</a:t>
            </a:r>
            <a:endParaRPr b="0" i="0" sz="3600" u="none" cap="none" strike="noStrike">
              <a:latin typeface="Arial"/>
              <a:ea typeface="Arial"/>
              <a:cs typeface="Arial"/>
              <a:sym typeface="Arial"/>
            </a:endParaRPr>
          </a:p>
        </p:txBody>
      </p:sp>
      <p:pic>
        <p:nvPicPr>
          <p:cNvPr id="212" name="Google Shape;212;p29"/>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213" name="Google Shape;213;p29"/>
          <p:cNvPicPr preferRelativeResize="0"/>
          <p:nvPr/>
        </p:nvPicPr>
        <p:blipFill rotWithShape="1">
          <a:blip r:embed="rId4">
            <a:alphaModFix/>
          </a:blip>
          <a:srcRect b="0" l="0" r="0" t="0"/>
          <a:stretch/>
        </p:blipFill>
        <p:spPr>
          <a:xfrm>
            <a:off x="3126600" y="1828800"/>
            <a:ext cx="2890440" cy="2373840"/>
          </a:xfrm>
          <a:prstGeom prst="rect">
            <a:avLst/>
          </a:prstGeom>
          <a:noFill/>
          <a:ln>
            <a:noFill/>
          </a:ln>
        </p:spPr>
      </p:pic>
      <p:pic>
        <p:nvPicPr>
          <p:cNvPr id="214" name="Google Shape;214;p29"/>
          <p:cNvPicPr preferRelativeResize="0"/>
          <p:nvPr/>
        </p:nvPicPr>
        <p:blipFill rotWithShape="1">
          <a:blip r:embed="rId5">
            <a:alphaModFix/>
          </a:blip>
          <a:srcRect b="0" l="0" r="0" t="0"/>
          <a:stretch/>
        </p:blipFill>
        <p:spPr>
          <a:xfrm>
            <a:off x="6166440" y="1857240"/>
            <a:ext cx="2821320" cy="2316960"/>
          </a:xfrm>
          <a:prstGeom prst="rect">
            <a:avLst/>
          </a:prstGeom>
          <a:noFill/>
          <a:ln>
            <a:noFill/>
          </a:ln>
        </p:spPr>
      </p:pic>
      <p:pic>
        <p:nvPicPr>
          <p:cNvPr id="215" name="Google Shape;215;p29"/>
          <p:cNvPicPr preferRelativeResize="0"/>
          <p:nvPr/>
        </p:nvPicPr>
        <p:blipFill rotWithShape="1">
          <a:blip r:embed="rId6">
            <a:alphaModFix/>
          </a:blip>
          <a:srcRect b="0" l="0" r="0" t="0"/>
          <a:stretch/>
        </p:blipFill>
        <p:spPr>
          <a:xfrm>
            <a:off x="155880" y="1921320"/>
            <a:ext cx="2821320" cy="2280960"/>
          </a:xfrm>
          <a:prstGeom prst="rect">
            <a:avLst/>
          </a:prstGeom>
          <a:noFill/>
          <a:ln>
            <a:noFill/>
          </a:ln>
        </p:spPr>
      </p:pic>
      <p:sp>
        <p:nvSpPr>
          <p:cNvPr id="216" name="Google Shape;216;p29"/>
          <p:cNvSpPr/>
          <p:nvPr/>
        </p:nvSpPr>
        <p:spPr>
          <a:xfrm>
            <a:off x="210600" y="1230840"/>
            <a:ext cx="2821320" cy="60012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s-419" sz="1900" u="none" cap="none" strike="noStrike">
                <a:solidFill>
                  <a:srgbClr val="000000"/>
                </a:solidFill>
                <a:latin typeface="Open Sans"/>
                <a:ea typeface="Open Sans"/>
                <a:cs typeface="Open Sans"/>
                <a:sym typeface="Open Sans"/>
              </a:rPr>
              <a:t>10 bins</a:t>
            </a:r>
            <a:endParaRPr b="0" i="0" sz="1900" u="none" cap="none" strike="noStrike">
              <a:latin typeface="Arial"/>
              <a:ea typeface="Arial"/>
              <a:cs typeface="Arial"/>
              <a:sym typeface="Arial"/>
            </a:endParaRPr>
          </a:p>
        </p:txBody>
      </p:sp>
      <p:sp>
        <p:nvSpPr>
          <p:cNvPr id="217" name="Google Shape;217;p29"/>
          <p:cNvSpPr/>
          <p:nvPr/>
        </p:nvSpPr>
        <p:spPr>
          <a:xfrm>
            <a:off x="3188520" y="1230840"/>
            <a:ext cx="2821320" cy="60012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s-419" sz="1900" u="none" cap="none" strike="noStrike">
                <a:solidFill>
                  <a:srgbClr val="000000"/>
                </a:solidFill>
                <a:latin typeface="Open Sans"/>
                <a:ea typeface="Open Sans"/>
                <a:cs typeface="Open Sans"/>
                <a:sym typeface="Open Sans"/>
              </a:rPr>
              <a:t>50 bins</a:t>
            </a:r>
            <a:endParaRPr b="0" i="0" sz="1900" u="none" cap="none" strike="noStrike">
              <a:latin typeface="Arial"/>
              <a:ea typeface="Arial"/>
              <a:cs typeface="Arial"/>
              <a:sym typeface="Arial"/>
            </a:endParaRPr>
          </a:p>
        </p:txBody>
      </p:sp>
      <p:sp>
        <p:nvSpPr>
          <p:cNvPr id="218" name="Google Shape;218;p29"/>
          <p:cNvSpPr/>
          <p:nvPr/>
        </p:nvSpPr>
        <p:spPr>
          <a:xfrm>
            <a:off x="6111720" y="1230840"/>
            <a:ext cx="2821320" cy="60012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s-419" sz="1900" u="none" cap="none" strike="noStrike">
                <a:solidFill>
                  <a:srgbClr val="000000"/>
                </a:solidFill>
                <a:latin typeface="Open Sans"/>
                <a:ea typeface="Open Sans"/>
                <a:cs typeface="Open Sans"/>
                <a:sym typeface="Open Sans"/>
              </a:rPr>
              <a:t>200 bins</a:t>
            </a:r>
            <a:endParaRPr b="0" i="0" sz="19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gtEl>
                                        <p:attrNameLst>
                                          <p:attrName>style.visibility</p:attrName>
                                        </p:attrNameLst>
                                      </p:cBhvr>
                                      <p:to>
                                        <p:strVal val="visible"/>
                                      </p:to>
                                    </p:set>
                                    <p:animEffect filter="fade" transition="in">
                                      <p:cBhvr>
                                        <p:cTn dur="1000"/>
                                        <p:tgtEl>
                                          <p:spTgt spid="216"/>
                                        </p:tgtEl>
                                      </p:cBhvr>
                                    </p:animEffect>
                                  </p:childTnLst>
                                </p:cTn>
                              </p:par>
                              <p:par>
                                <p:cTn fill="hold" nodeType="withEffect" presetClass="entr" presetID="10" presetSubtype="0">
                                  <p:stCondLst>
                                    <p:cond delay="0"/>
                                  </p:stCondLst>
                                  <p:childTnLst>
                                    <p:set>
                                      <p:cBhvr>
                                        <p:cTn dur="1" fill="hold">
                                          <p:stCondLst>
                                            <p:cond delay="0"/>
                                          </p:stCondLst>
                                        </p:cTn>
                                        <p:tgtEl>
                                          <p:spTgt spid="215"/>
                                        </p:tgtEl>
                                        <p:attrNameLst>
                                          <p:attrName>style.visibility</p:attrName>
                                        </p:attrNameLst>
                                      </p:cBhvr>
                                      <p:to>
                                        <p:strVal val="visible"/>
                                      </p:to>
                                    </p:set>
                                    <p:animEffect filter="fade" transition="in">
                                      <p:cBhvr>
                                        <p:cTn dur="1000"/>
                                        <p:tgtEl>
                                          <p:spTgt spid="2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gtEl>
                                        <p:attrNameLst>
                                          <p:attrName>style.visibility</p:attrName>
                                        </p:attrNameLst>
                                      </p:cBhvr>
                                      <p:to>
                                        <p:strVal val="visible"/>
                                      </p:to>
                                    </p:set>
                                    <p:animEffect filter="fade" transition="in">
                                      <p:cBhvr>
                                        <p:cTn dur="1000"/>
                                        <p:tgtEl>
                                          <p:spTgt spid="217"/>
                                        </p:tgtEl>
                                      </p:cBhvr>
                                    </p:animEffect>
                                  </p:childTnLst>
                                </p:cTn>
                              </p:par>
                              <p:par>
                                <p:cTn fill="hold" nodeType="withEffect" presetClass="entr" presetID="10" presetSubtype="0">
                                  <p:stCondLst>
                                    <p:cond delay="0"/>
                                  </p:stCondLst>
                                  <p:childTnLst>
                                    <p:set>
                                      <p:cBhvr>
                                        <p:cTn dur="1" fill="hold">
                                          <p:stCondLst>
                                            <p:cond delay="0"/>
                                          </p:stCondLst>
                                        </p:cTn>
                                        <p:tgtEl>
                                          <p:spTgt spid="213"/>
                                        </p:tgtEl>
                                        <p:attrNameLst>
                                          <p:attrName>style.visibility</p:attrName>
                                        </p:attrNameLst>
                                      </p:cBhvr>
                                      <p:to>
                                        <p:strVal val="visible"/>
                                      </p:to>
                                    </p:set>
                                    <p:animEffect filter="fade" transition="in">
                                      <p:cBhvr>
                                        <p:cTn dur="1000"/>
                                        <p:tgtEl>
                                          <p:spTgt spid="2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1000"/>
                                        <p:tgtEl>
                                          <p:spTgt spid="218"/>
                                        </p:tgtEl>
                                      </p:cBhvr>
                                    </p:animEffect>
                                  </p:childTnLst>
                                </p:cTn>
                              </p:par>
                              <p:par>
                                <p:cTn fill="hold" nodeType="withEffect" presetClass="entr" presetID="10" presetSubtype="0">
                                  <p:stCondLst>
                                    <p:cond delay="0"/>
                                  </p:stCondLst>
                                  <p:childTnLst>
                                    <p:set>
                                      <p:cBhvr>
                                        <p:cTn dur="1" fill="hold">
                                          <p:stCondLst>
                                            <p:cond delay="0"/>
                                          </p:stCondLst>
                                        </p:cTn>
                                        <p:tgtEl>
                                          <p:spTgt spid="214"/>
                                        </p:tgtEl>
                                        <p:attrNameLst>
                                          <p:attrName>style.visibility</p:attrName>
                                        </p:attrNameLst>
                                      </p:cBhvr>
                                      <p:to>
                                        <p:strVal val="visible"/>
                                      </p:to>
                                    </p:set>
                                    <p:animEffect filter="fade" transition="in">
                                      <p:cBhvr>
                                        <p:cTn dur="1000"/>
                                        <p:tgtEl>
                                          <p:spTgt spid="2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0"/>
          <p:cNvSpPr/>
          <p:nvPr/>
        </p:nvSpPr>
        <p:spPr>
          <a:xfrm>
            <a:off x="0" y="0"/>
            <a:ext cx="9143700" cy="8355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Histograma</a:t>
            </a:r>
            <a:endParaRPr b="0" i="0" sz="3600" u="none" cap="none" strike="noStrike">
              <a:latin typeface="Arial"/>
              <a:ea typeface="Arial"/>
              <a:cs typeface="Arial"/>
              <a:sym typeface="Arial"/>
            </a:endParaRPr>
          </a:p>
        </p:txBody>
      </p:sp>
      <p:pic>
        <p:nvPicPr>
          <p:cNvPr id="224" name="Google Shape;224;p30"/>
          <p:cNvPicPr preferRelativeResize="0"/>
          <p:nvPr/>
        </p:nvPicPr>
        <p:blipFill rotWithShape="1">
          <a:blip r:embed="rId3">
            <a:alphaModFix/>
          </a:blip>
          <a:srcRect b="0" l="0" r="0" t="0"/>
          <a:stretch/>
        </p:blipFill>
        <p:spPr>
          <a:xfrm>
            <a:off x="8308080" y="0"/>
            <a:ext cx="835561" cy="835561"/>
          </a:xfrm>
          <a:prstGeom prst="rect">
            <a:avLst/>
          </a:prstGeom>
          <a:noFill/>
          <a:ln>
            <a:noFill/>
          </a:ln>
        </p:spPr>
      </p:pic>
      <p:pic>
        <p:nvPicPr>
          <p:cNvPr id="225" name="Google Shape;225;p30"/>
          <p:cNvPicPr preferRelativeResize="0"/>
          <p:nvPr/>
        </p:nvPicPr>
        <p:blipFill>
          <a:blip r:embed="rId4">
            <a:alphaModFix/>
          </a:blip>
          <a:stretch>
            <a:fillRect/>
          </a:stretch>
        </p:blipFill>
        <p:spPr>
          <a:xfrm>
            <a:off x="1663100" y="1269011"/>
            <a:ext cx="5505450" cy="33718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1"/>
          <p:cNvSpPr/>
          <p:nvPr/>
        </p:nvSpPr>
        <p:spPr>
          <a:xfrm>
            <a:off x="0" y="0"/>
            <a:ext cx="9143700" cy="8355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Histograma</a:t>
            </a:r>
            <a:endParaRPr b="0" i="0" sz="3600" u="none" cap="none" strike="noStrike">
              <a:latin typeface="Arial"/>
              <a:ea typeface="Arial"/>
              <a:cs typeface="Arial"/>
              <a:sym typeface="Arial"/>
            </a:endParaRPr>
          </a:p>
        </p:txBody>
      </p:sp>
      <p:pic>
        <p:nvPicPr>
          <p:cNvPr id="231" name="Google Shape;231;p31"/>
          <p:cNvPicPr preferRelativeResize="0"/>
          <p:nvPr/>
        </p:nvPicPr>
        <p:blipFill rotWithShape="1">
          <a:blip r:embed="rId3">
            <a:alphaModFix/>
          </a:blip>
          <a:srcRect b="0" l="0" r="0" t="0"/>
          <a:stretch/>
        </p:blipFill>
        <p:spPr>
          <a:xfrm>
            <a:off x="8308080" y="0"/>
            <a:ext cx="835561" cy="835561"/>
          </a:xfrm>
          <a:prstGeom prst="rect">
            <a:avLst/>
          </a:prstGeom>
          <a:noFill/>
          <a:ln>
            <a:noFill/>
          </a:ln>
        </p:spPr>
      </p:pic>
      <p:pic>
        <p:nvPicPr>
          <p:cNvPr id="232" name="Google Shape;232;p31"/>
          <p:cNvPicPr preferRelativeResize="0"/>
          <p:nvPr/>
        </p:nvPicPr>
        <p:blipFill>
          <a:blip r:embed="rId4">
            <a:alphaModFix/>
          </a:blip>
          <a:stretch>
            <a:fillRect/>
          </a:stretch>
        </p:blipFill>
        <p:spPr>
          <a:xfrm>
            <a:off x="1347775" y="1353361"/>
            <a:ext cx="6448425" cy="3257550"/>
          </a:xfrm>
          <a:prstGeom prst="rect">
            <a:avLst/>
          </a:prstGeom>
          <a:noFill/>
          <a:ln>
            <a:noFill/>
          </a:ln>
        </p:spPr>
      </p:pic>
      <p:sp>
        <p:nvSpPr>
          <p:cNvPr id="233" name="Google Shape;233;p31"/>
          <p:cNvSpPr txBox="1"/>
          <p:nvPr/>
        </p:nvSpPr>
        <p:spPr>
          <a:xfrm>
            <a:off x="3405650" y="4610900"/>
            <a:ext cx="2595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a:t>Use a zero-valued baseline</a:t>
            </a:r>
            <a:endParaRPr b="1"/>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2"/>
          <p:cNvSpPr/>
          <p:nvPr/>
        </p:nvSpPr>
        <p:spPr>
          <a:xfrm>
            <a:off x="0" y="0"/>
            <a:ext cx="9143700" cy="8355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Histograma</a:t>
            </a:r>
            <a:endParaRPr b="0" i="0" sz="3600" u="none" cap="none" strike="noStrike">
              <a:latin typeface="Arial"/>
              <a:ea typeface="Arial"/>
              <a:cs typeface="Arial"/>
              <a:sym typeface="Arial"/>
            </a:endParaRPr>
          </a:p>
        </p:txBody>
      </p:sp>
      <p:pic>
        <p:nvPicPr>
          <p:cNvPr id="239" name="Google Shape;239;p32"/>
          <p:cNvPicPr preferRelativeResize="0"/>
          <p:nvPr/>
        </p:nvPicPr>
        <p:blipFill rotWithShape="1">
          <a:blip r:embed="rId3">
            <a:alphaModFix/>
          </a:blip>
          <a:srcRect b="0" l="0" r="0" t="0"/>
          <a:stretch/>
        </p:blipFill>
        <p:spPr>
          <a:xfrm>
            <a:off x="8308080" y="0"/>
            <a:ext cx="835561" cy="835561"/>
          </a:xfrm>
          <a:prstGeom prst="rect">
            <a:avLst/>
          </a:prstGeom>
          <a:noFill/>
          <a:ln>
            <a:noFill/>
          </a:ln>
        </p:spPr>
      </p:pic>
      <p:sp>
        <p:nvSpPr>
          <p:cNvPr id="240" name="Google Shape;240;p32"/>
          <p:cNvSpPr txBox="1"/>
          <p:nvPr/>
        </p:nvSpPr>
        <p:spPr>
          <a:xfrm>
            <a:off x="3014425" y="4610900"/>
            <a:ext cx="3604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a:t>Choose an appropriate number of bins</a:t>
            </a:r>
            <a:endParaRPr b="1"/>
          </a:p>
        </p:txBody>
      </p:sp>
      <p:pic>
        <p:nvPicPr>
          <p:cNvPr id="241" name="Google Shape;241;p32"/>
          <p:cNvPicPr preferRelativeResize="0"/>
          <p:nvPr/>
        </p:nvPicPr>
        <p:blipFill>
          <a:blip r:embed="rId4">
            <a:alphaModFix/>
          </a:blip>
          <a:stretch>
            <a:fillRect/>
          </a:stretch>
        </p:blipFill>
        <p:spPr>
          <a:xfrm>
            <a:off x="609600" y="973886"/>
            <a:ext cx="7924800" cy="33623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3"/>
          <p:cNvSpPr/>
          <p:nvPr/>
        </p:nvSpPr>
        <p:spPr>
          <a:xfrm>
            <a:off x="0" y="0"/>
            <a:ext cx="9143700" cy="8355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Histograma</a:t>
            </a:r>
            <a:endParaRPr b="0" i="0" sz="3600" u="none" cap="none" strike="noStrike">
              <a:latin typeface="Arial"/>
              <a:ea typeface="Arial"/>
              <a:cs typeface="Arial"/>
              <a:sym typeface="Arial"/>
            </a:endParaRPr>
          </a:p>
        </p:txBody>
      </p:sp>
      <p:pic>
        <p:nvPicPr>
          <p:cNvPr id="247" name="Google Shape;247;p33"/>
          <p:cNvPicPr preferRelativeResize="0"/>
          <p:nvPr/>
        </p:nvPicPr>
        <p:blipFill rotWithShape="1">
          <a:blip r:embed="rId3">
            <a:alphaModFix/>
          </a:blip>
          <a:srcRect b="0" l="0" r="0" t="0"/>
          <a:stretch/>
        </p:blipFill>
        <p:spPr>
          <a:xfrm>
            <a:off x="8308080" y="0"/>
            <a:ext cx="835561" cy="835561"/>
          </a:xfrm>
          <a:prstGeom prst="rect">
            <a:avLst/>
          </a:prstGeom>
          <a:noFill/>
          <a:ln>
            <a:noFill/>
          </a:ln>
        </p:spPr>
      </p:pic>
      <p:sp>
        <p:nvSpPr>
          <p:cNvPr id="248" name="Google Shape;248;p33"/>
          <p:cNvSpPr txBox="1"/>
          <p:nvPr/>
        </p:nvSpPr>
        <p:spPr>
          <a:xfrm>
            <a:off x="3014425" y="4610900"/>
            <a:ext cx="3604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a:t>Choose interpretable bin boundaries</a:t>
            </a:r>
            <a:endParaRPr b="1"/>
          </a:p>
        </p:txBody>
      </p:sp>
      <p:pic>
        <p:nvPicPr>
          <p:cNvPr id="249" name="Google Shape;249;p33"/>
          <p:cNvPicPr preferRelativeResize="0"/>
          <p:nvPr/>
        </p:nvPicPr>
        <p:blipFill>
          <a:blip r:embed="rId4">
            <a:alphaModFix/>
          </a:blip>
          <a:stretch>
            <a:fillRect/>
          </a:stretch>
        </p:blipFill>
        <p:spPr>
          <a:xfrm>
            <a:off x="1272188" y="1711711"/>
            <a:ext cx="6962775" cy="23050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4"/>
          <p:cNvSpPr/>
          <p:nvPr/>
        </p:nvSpPr>
        <p:spPr>
          <a:xfrm>
            <a:off x="0" y="0"/>
            <a:ext cx="9143700" cy="8355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Histograma</a:t>
            </a:r>
            <a:endParaRPr b="0" i="0" sz="3600" u="none" cap="none" strike="noStrike">
              <a:latin typeface="Arial"/>
              <a:ea typeface="Arial"/>
              <a:cs typeface="Arial"/>
              <a:sym typeface="Arial"/>
            </a:endParaRPr>
          </a:p>
        </p:txBody>
      </p:sp>
      <p:pic>
        <p:nvPicPr>
          <p:cNvPr id="255" name="Google Shape;255;p34"/>
          <p:cNvPicPr preferRelativeResize="0"/>
          <p:nvPr/>
        </p:nvPicPr>
        <p:blipFill rotWithShape="1">
          <a:blip r:embed="rId3">
            <a:alphaModFix/>
          </a:blip>
          <a:srcRect b="0" l="0" r="0" t="0"/>
          <a:stretch/>
        </p:blipFill>
        <p:spPr>
          <a:xfrm>
            <a:off x="8308080" y="0"/>
            <a:ext cx="835561" cy="835561"/>
          </a:xfrm>
          <a:prstGeom prst="rect">
            <a:avLst/>
          </a:prstGeom>
          <a:noFill/>
          <a:ln>
            <a:noFill/>
          </a:ln>
        </p:spPr>
      </p:pic>
      <p:sp>
        <p:nvSpPr>
          <p:cNvPr id="256" name="Google Shape;256;p34"/>
          <p:cNvSpPr txBox="1"/>
          <p:nvPr/>
        </p:nvSpPr>
        <p:spPr>
          <a:xfrm>
            <a:off x="730775" y="4223000"/>
            <a:ext cx="8312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t>El histograma puede verse anormalmente "desigual" simplemente debido a la cantidad de valores que posiblemente podría tomar cada contenedor.</a:t>
            </a:r>
            <a:endParaRPr/>
          </a:p>
        </p:txBody>
      </p:sp>
      <p:pic>
        <p:nvPicPr>
          <p:cNvPr id="257" name="Google Shape;257;p34"/>
          <p:cNvPicPr preferRelativeResize="0"/>
          <p:nvPr/>
        </p:nvPicPr>
        <p:blipFill>
          <a:blip r:embed="rId4">
            <a:alphaModFix/>
          </a:blip>
          <a:stretch>
            <a:fillRect/>
          </a:stretch>
        </p:blipFill>
        <p:spPr>
          <a:xfrm>
            <a:off x="685650" y="1002011"/>
            <a:ext cx="7772400" cy="32861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5"/>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Density plot</a:t>
            </a:r>
            <a:endParaRPr b="0" i="0" sz="3600" u="none" cap="none" strike="noStrike">
              <a:latin typeface="Arial"/>
              <a:ea typeface="Arial"/>
              <a:cs typeface="Arial"/>
              <a:sym typeface="Arial"/>
            </a:endParaRPr>
          </a:p>
        </p:txBody>
      </p:sp>
      <p:pic>
        <p:nvPicPr>
          <p:cNvPr id="263" name="Google Shape;263;p35"/>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264" name="Google Shape;264;p35"/>
          <p:cNvPicPr preferRelativeResize="0"/>
          <p:nvPr/>
        </p:nvPicPr>
        <p:blipFill rotWithShape="1">
          <a:blip r:embed="rId4">
            <a:alphaModFix/>
          </a:blip>
          <a:srcRect b="0" l="0" r="0" t="0"/>
          <a:stretch/>
        </p:blipFill>
        <p:spPr>
          <a:xfrm>
            <a:off x="2042640" y="978120"/>
            <a:ext cx="5058360" cy="400248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6"/>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Density plot</a:t>
            </a:r>
            <a:endParaRPr b="0" i="0" sz="3600" u="none" cap="none" strike="noStrike">
              <a:latin typeface="Arial"/>
              <a:ea typeface="Arial"/>
              <a:cs typeface="Arial"/>
              <a:sym typeface="Arial"/>
            </a:endParaRPr>
          </a:p>
        </p:txBody>
      </p:sp>
      <p:pic>
        <p:nvPicPr>
          <p:cNvPr id="270" name="Google Shape;270;p36"/>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271" name="Google Shape;271;p36"/>
          <p:cNvPicPr preferRelativeResize="0"/>
          <p:nvPr/>
        </p:nvPicPr>
        <p:blipFill rotWithShape="1">
          <a:blip r:embed="rId4">
            <a:alphaModFix/>
          </a:blip>
          <a:srcRect b="0" l="0" r="0" t="0"/>
          <a:stretch/>
        </p:blipFill>
        <p:spPr>
          <a:xfrm>
            <a:off x="2042640" y="978120"/>
            <a:ext cx="5058360" cy="4002480"/>
          </a:xfrm>
          <a:prstGeom prst="rect">
            <a:avLst/>
          </a:prstGeom>
          <a:noFill/>
          <a:ln>
            <a:noFill/>
          </a:ln>
        </p:spPr>
      </p:pic>
      <p:sp>
        <p:nvSpPr>
          <p:cNvPr id="272" name="Google Shape;272;p36"/>
          <p:cNvSpPr/>
          <p:nvPr/>
        </p:nvSpPr>
        <p:spPr>
          <a:xfrm>
            <a:off x="1891440" y="1040760"/>
            <a:ext cx="1270440" cy="3512160"/>
          </a:xfrm>
          <a:prstGeom prst="ellipse">
            <a:avLst/>
          </a:prstGeom>
          <a:noFill/>
          <a:ln cap="flat" cmpd="sng" w="1907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36"/>
          <p:cNvSpPr/>
          <p:nvPr/>
        </p:nvSpPr>
        <p:spPr>
          <a:xfrm flipH="1">
            <a:off x="1359360" y="1841400"/>
            <a:ext cx="830520" cy="249840"/>
          </a:xfrm>
          <a:custGeom>
            <a:rect b="b" l="l" r="r" t="t"/>
            <a:pathLst>
              <a:path extrusionOk="0" h="21600" w="21600">
                <a:moveTo>
                  <a:pt x="0" y="0"/>
                </a:moveTo>
                <a:lnTo>
                  <a:pt x="21600" y="21600"/>
                </a:lnTo>
              </a:path>
            </a:pathLst>
          </a:custGeom>
          <a:noFill/>
          <a:ln cap="flat" cmpd="sng" w="19075">
            <a:solidFill>
              <a:srgbClr val="595959"/>
            </a:solidFill>
            <a:prstDash val="solid"/>
            <a:round/>
            <a:headEnd len="sm" w="sm" type="none"/>
            <a:tailEnd len="med" w="med" type="triangle"/>
          </a:ln>
        </p:spPr>
      </p:sp>
      <p:sp>
        <p:nvSpPr>
          <p:cNvPr id="274" name="Google Shape;274;p36"/>
          <p:cNvSpPr/>
          <p:nvPr/>
        </p:nvSpPr>
        <p:spPr>
          <a:xfrm>
            <a:off x="159840" y="2091600"/>
            <a:ext cx="1580760" cy="610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Open Sans"/>
                <a:ea typeface="Open Sans"/>
                <a:cs typeface="Open Sans"/>
                <a:sym typeface="Open Sans"/>
              </a:rPr>
              <a:t>Densidad</a:t>
            </a:r>
            <a:endParaRPr b="0" i="0" sz="1400" u="none" cap="none" strike="noStrike">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7"/>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Density plot</a:t>
            </a:r>
            <a:endParaRPr b="0" i="0" sz="3600" u="none" cap="none" strike="noStrike">
              <a:latin typeface="Arial"/>
              <a:ea typeface="Arial"/>
              <a:cs typeface="Arial"/>
              <a:sym typeface="Arial"/>
            </a:endParaRPr>
          </a:p>
        </p:txBody>
      </p:sp>
      <p:pic>
        <p:nvPicPr>
          <p:cNvPr id="280" name="Google Shape;280;p37"/>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281" name="Google Shape;281;p37"/>
          <p:cNvPicPr preferRelativeResize="0"/>
          <p:nvPr/>
        </p:nvPicPr>
        <p:blipFill rotWithShape="1">
          <a:blip r:embed="rId4">
            <a:alphaModFix/>
          </a:blip>
          <a:srcRect b="0" l="0" r="0" t="0"/>
          <a:stretch/>
        </p:blipFill>
        <p:spPr>
          <a:xfrm>
            <a:off x="2042640" y="978120"/>
            <a:ext cx="5058360" cy="4002480"/>
          </a:xfrm>
          <a:prstGeom prst="rect">
            <a:avLst/>
          </a:prstGeom>
          <a:noFill/>
          <a:ln>
            <a:noFill/>
          </a:ln>
        </p:spPr>
      </p:pic>
      <p:sp>
        <p:nvSpPr>
          <p:cNvPr id="282" name="Google Shape;282;p37"/>
          <p:cNvSpPr/>
          <p:nvPr/>
        </p:nvSpPr>
        <p:spPr>
          <a:xfrm>
            <a:off x="1891440" y="1040760"/>
            <a:ext cx="1270440" cy="3512160"/>
          </a:xfrm>
          <a:prstGeom prst="ellipse">
            <a:avLst/>
          </a:prstGeom>
          <a:noFill/>
          <a:ln cap="flat" cmpd="sng" w="1907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7"/>
          <p:cNvSpPr/>
          <p:nvPr/>
        </p:nvSpPr>
        <p:spPr>
          <a:xfrm flipH="1">
            <a:off x="1359360" y="1841400"/>
            <a:ext cx="830520" cy="249840"/>
          </a:xfrm>
          <a:custGeom>
            <a:rect b="b" l="l" r="r" t="t"/>
            <a:pathLst>
              <a:path extrusionOk="0" h="21600" w="21600">
                <a:moveTo>
                  <a:pt x="0" y="0"/>
                </a:moveTo>
                <a:lnTo>
                  <a:pt x="21600" y="21600"/>
                </a:lnTo>
              </a:path>
            </a:pathLst>
          </a:custGeom>
          <a:noFill/>
          <a:ln cap="flat" cmpd="sng" w="19075">
            <a:solidFill>
              <a:srgbClr val="595959"/>
            </a:solidFill>
            <a:prstDash val="solid"/>
            <a:round/>
            <a:headEnd len="sm" w="sm" type="none"/>
            <a:tailEnd len="med" w="med" type="triangle"/>
          </a:ln>
        </p:spPr>
      </p:sp>
      <p:sp>
        <p:nvSpPr>
          <p:cNvPr id="284" name="Google Shape;284;p37"/>
          <p:cNvSpPr/>
          <p:nvPr/>
        </p:nvSpPr>
        <p:spPr>
          <a:xfrm>
            <a:off x="159840" y="2091600"/>
            <a:ext cx="1580760" cy="610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Open Sans"/>
                <a:ea typeface="Open Sans"/>
                <a:cs typeface="Open Sans"/>
                <a:sym typeface="Open Sans"/>
              </a:rPr>
              <a:t>Densidad</a:t>
            </a:r>
            <a:endParaRPr b="0" i="0" sz="1400" u="none" cap="none" strike="noStrike">
              <a:latin typeface="Arial"/>
              <a:ea typeface="Arial"/>
              <a:cs typeface="Arial"/>
              <a:sym typeface="Arial"/>
            </a:endParaRPr>
          </a:p>
        </p:txBody>
      </p:sp>
      <p:sp>
        <p:nvSpPr>
          <p:cNvPr id="285" name="Google Shape;285;p37"/>
          <p:cNvSpPr/>
          <p:nvPr/>
        </p:nvSpPr>
        <p:spPr>
          <a:xfrm>
            <a:off x="534960" y="2701800"/>
            <a:ext cx="830520" cy="79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s-419" sz="3600" u="none" cap="none" strike="noStrike">
                <a:solidFill>
                  <a:srgbClr val="000000"/>
                </a:solidFill>
                <a:latin typeface="Arial"/>
                <a:ea typeface="Arial"/>
                <a:cs typeface="Arial"/>
                <a:sym typeface="Arial"/>
              </a:rPr>
              <a:t>😕</a:t>
            </a:r>
            <a:endParaRPr b="0" i="0" sz="3600" u="none" cap="none" strike="noStrike">
              <a:latin typeface="Arial"/>
              <a:ea typeface="Arial"/>
              <a:cs typeface="Arial"/>
              <a:sym typeface="Arial"/>
            </a:endParaRPr>
          </a:p>
        </p:txBody>
      </p:sp>
      <p:sp>
        <p:nvSpPr>
          <p:cNvPr id="286" name="Google Shape;286;p37"/>
          <p:cNvSpPr/>
          <p:nvPr/>
        </p:nvSpPr>
        <p:spPr>
          <a:xfrm>
            <a:off x="150120" y="3482280"/>
            <a:ext cx="1791000" cy="1370520"/>
          </a:xfrm>
          <a:prstGeom prst="rect">
            <a:avLst/>
          </a:prstGeom>
          <a:noFill/>
          <a:ln>
            <a:noFill/>
          </a:ln>
        </p:spPr>
        <p:txBody>
          <a:bodyPr anchorCtr="0" anchor="t" bIns="91425" lIns="91425" spcFirstLastPara="1" rIns="91425" wrap="square" tIns="91425">
            <a:noAutofit/>
          </a:bodyPr>
          <a:lstStyle/>
          <a:p>
            <a:pPr indent="-317160" lvl="0" marL="457200" marR="0" rtl="0" algn="l">
              <a:lnSpc>
                <a:spcPct val="100000"/>
              </a:lnSpc>
              <a:spcBef>
                <a:spcPts val="0"/>
              </a:spcBef>
              <a:spcAft>
                <a:spcPts val="0"/>
              </a:spcAft>
              <a:buClr>
                <a:srgbClr val="000000"/>
              </a:buClr>
              <a:buSzPts val="1400"/>
              <a:buFont typeface="Open Sans"/>
              <a:buChar char="●"/>
            </a:pPr>
            <a:r>
              <a:rPr b="0" i="0" lang="es-419" sz="1400" u="none" cap="none" strike="noStrike">
                <a:solidFill>
                  <a:srgbClr val="000000"/>
                </a:solidFill>
                <a:latin typeface="Open Sans"/>
                <a:ea typeface="Open Sans"/>
                <a:cs typeface="Open Sans"/>
                <a:sym typeface="Open Sans"/>
              </a:rPr>
              <a:t>Poco interpretable</a:t>
            </a:r>
            <a:endParaRPr b="0" i="0" sz="1400" u="none" cap="none" strike="noStrike">
              <a:latin typeface="Arial"/>
              <a:ea typeface="Arial"/>
              <a:cs typeface="Arial"/>
              <a:sym typeface="Arial"/>
            </a:endParaRPr>
          </a:p>
          <a:p>
            <a:pPr indent="-317160" lvl="0" marL="457200" marR="0" rtl="0" algn="l">
              <a:lnSpc>
                <a:spcPct val="100000"/>
              </a:lnSpc>
              <a:spcBef>
                <a:spcPts val="0"/>
              </a:spcBef>
              <a:spcAft>
                <a:spcPts val="0"/>
              </a:spcAft>
              <a:buClr>
                <a:srgbClr val="000000"/>
              </a:buClr>
              <a:buSzPts val="1400"/>
              <a:buFont typeface="Open Sans"/>
              <a:buChar char="●"/>
            </a:pPr>
            <a:r>
              <a:rPr b="0" i="0" lang="es-419" sz="1400" u="none" cap="none" strike="noStrike">
                <a:solidFill>
                  <a:srgbClr val="000000"/>
                </a:solidFill>
                <a:latin typeface="Open Sans"/>
                <a:ea typeface="Open Sans"/>
                <a:cs typeface="Open Sans"/>
                <a:sym typeface="Open Sans"/>
              </a:rPr>
              <a:t>Ya no sabemos las cantidades</a:t>
            </a:r>
            <a:endParaRPr b="0" i="0" sz="1400" u="none" cap="none" strike="noStrike">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8"/>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Density plot</a:t>
            </a:r>
            <a:endParaRPr b="0" i="0" sz="3600" u="none" cap="none" strike="noStrike">
              <a:latin typeface="Arial"/>
              <a:ea typeface="Arial"/>
              <a:cs typeface="Arial"/>
              <a:sym typeface="Arial"/>
            </a:endParaRPr>
          </a:p>
        </p:txBody>
      </p:sp>
      <p:pic>
        <p:nvPicPr>
          <p:cNvPr id="292" name="Google Shape;292;p38"/>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293" name="Google Shape;293;p38"/>
          <p:cNvPicPr preferRelativeResize="0"/>
          <p:nvPr/>
        </p:nvPicPr>
        <p:blipFill rotWithShape="1">
          <a:blip r:embed="rId4">
            <a:alphaModFix/>
          </a:blip>
          <a:srcRect b="0" l="0" r="0" t="0"/>
          <a:stretch/>
        </p:blipFill>
        <p:spPr>
          <a:xfrm>
            <a:off x="2377440" y="998280"/>
            <a:ext cx="4388760" cy="400248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9"/>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Density plot</a:t>
            </a:r>
            <a:endParaRPr b="0" i="0" sz="3600" u="none" cap="none" strike="noStrike">
              <a:latin typeface="Arial"/>
              <a:ea typeface="Arial"/>
              <a:cs typeface="Arial"/>
              <a:sym typeface="Arial"/>
            </a:endParaRPr>
          </a:p>
        </p:txBody>
      </p:sp>
      <p:pic>
        <p:nvPicPr>
          <p:cNvPr id="299" name="Google Shape;299;p39"/>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300" name="Google Shape;300;p39"/>
          <p:cNvPicPr preferRelativeResize="0"/>
          <p:nvPr/>
        </p:nvPicPr>
        <p:blipFill rotWithShape="1">
          <a:blip r:embed="rId4">
            <a:alphaModFix/>
          </a:blip>
          <a:srcRect b="0" l="0" r="0" t="0"/>
          <a:stretch/>
        </p:blipFill>
        <p:spPr>
          <a:xfrm>
            <a:off x="2377440" y="998280"/>
            <a:ext cx="4388760" cy="4002480"/>
          </a:xfrm>
          <a:prstGeom prst="rect">
            <a:avLst/>
          </a:prstGeom>
          <a:noFill/>
          <a:ln>
            <a:noFill/>
          </a:ln>
        </p:spPr>
      </p:pic>
      <p:sp>
        <p:nvSpPr>
          <p:cNvPr id="301" name="Google Shape;301;p39"/>
          <p:cNvSpPr/>
          <p:nvPr/>
        </p:nvSpPr>
        <p:spPr>
          <a:xfrm>
            <a:off x="2481840" y="3732480"/>
            <a:ext cx="550080" cy="580320"/>
          </a:xfrm>
          <a:prstGeom prst="ellipse">
            <a:avLst/>
          </a:prstGeom>
          <a:noFill/>
          <a:ln cap="flat" cmpd="sng" w="1907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9"/>
          <p:cNvSpPr/>
          <p:nvPr/>
        </p:nvSpPr>
        <p:spPr>
          <a:xfrm>
            <a:off x="300240" y="1851480"/>
            <a:ext cx="1991160" cy="92052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s-419" sz="1700" u="none" cap="none" strike="noStrike">
                <a:solidFill>
                  <a:srgbClr val="000000"/>
                </a:solidFill>
                <a:latin typeface="Open Sans"/>
                <a:ea typeface="Open Sans"/>
                <a:cs typeface="Open Sans"/>
                <a:sym typeface="Open Sans"/>
              </a:rPr>
              <a:t>¿Alguien cobra 0?</a:t>
            </a:r>
            <a:endParaRPr b="0" i="0" sz="1700" u="none" cap="none" strike="noStrike">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0"/>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Density plot</a:t>
            </a:r>
            <a:endParaRPr b="0" i="0" sz="3600" u="none" cap="none" strike="noStrike">
              <a:latin typeface="Arial"/>
              <a:ea typeface="Arial"/>
              <a:cs typeface="Arial"/>
              <a:sym typeface="Arial"/>
            </a:endParaRPr>
          </a:p>
        </p:txBody>
      </p:sp>
      <p:pic>
        <p:nvPicPr>
          <p:cNvPr id="308" name="Google Shape;308;p40"/>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309" name="Google Shape;309;p40"/>
          <p:cNvPicPr preferRelativeResize="0"/>
          <p:nvPr/>
        </p:nvPicPr>
        <p:blipFill rotWithShape="1">
          <a:blip r:embed="rId4">
            <a:alphaModFix/>
          </a:blip>
          <a:srcRect b="0" l="0" r="0" t="0"/>
          <a:stretch/>
        </p:blipFill>
        <p:spPr>
          <a:xfrm>
            <a:off x="2377440" y="998280"/>
            <a:ext cx="4388760" cy="4002480"/>
          </a:xfrm>
          <a:prstGeom prst="rect">
            <a:avLst/>
          </a:prstGeom>
          <a:noFill/>
          <a:ln>
            <a:noFill/>
          </a:ln>
        </p:spPr>
      </p:pic>
      <p:sp>
        <p:nvSpPr>
          <p:cNvPr id="310" name="Google Shape;310;p40"/>
          <p:cNvSpPr/>
          <p:nvPr/>
        </p:nvSpPr>
        <p:spPr>
          <a:xfrm>
            <a:off x="2481840" y="3732480"/>
            <a:ext cx="550080" cy="580320"/>
          </a:xfrm>
          <a:prstGeom prst="ellipse">
            <a:avLst/>
          </a:prstGeom>
          <a:noFill/>
          <a:ln cap="flat" cmpd="sng" w="1907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40"/>
          <p:cNvSpPr/>
          <p:nvPr/>
        </p:nvSpPr>
        <p:spPr>
          <a:xfrm>
            <a:off x="905400" y="2701800"/>
            <a:ext cx="830520" cy="79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s-419" sz="3600" u="none" cap="none" strike="noStrike">
                <a:solidFill>
                  <a:srgbClr val="000000"/>
                </a:solidFill>
                <a:latin typeface="Arial"/>
                <a:ea typeface="Arial"/>
                <a:cs typeface="Arial"/>
                <a:sym typeface="Arial"/>
              </a:rPr>
              <a:t>😕</a:t>
            </a:r>
            <a:endParaRPr b="0" i="0" sz="3600" u="none" cap="none" strike="noStrike">
              <a:latin typeface="Arial"/>
              <a:ea typeface="Arial"/>
              <a:cs typeface="Arial"/>
              <a:sym typeface="Arial"/>
            </a:endParaRPr>
          </a:p>
        </p:txBody>
      </p:sp>
      <p:sp>
        <p:nvSpPr>
          <p:cNvPr id="312" name="Google Shape;312;p40"/>
          <p:cNvSpPr/>
          <p:nvPr/>
        </p:nvSpPr>
        <p:spPr>
          <a:xfrm>
            <a:off x="180000" y="3492360"/>
            <a:ext cx="2196720" cy="1370520"/>
          </a:xfrm>
          <a:prstGeom prst="rect">
            <a:avLst/>
          </a:prstGeom>
          <a:noFill/>
          <a:ln>
            <a:noFill/>
          </a:ln>
        </p:spPr>
        <p:txBody>
          <a:bodyPr anchorCtr="0" anchor="t" bIns="91425" lIns="91425" spcFirstLastPara="1" rIns="91425" wrap="square" tIns="91425">
            <a:noAutofit/>
          </a:bodyPr>
          <a:lstStyle/>
          <a:p>
            <a:pPr indent="-317160" lvl="0" marL="457200" marR="0" rtl="0" algn="l">
              <a:lnSpc>
                <a:spcPct val="100000"/>
              </a:lnSpc>
              <a:spcBef>
                <a:spcPts val="0"/>
              </a:spcBef>
              <a:spcAft>
                <a:spcPts val="0"/>
              </a:spcAft>
              <a:buClr>
                <a:srgbClr val="000000"/>
              </a:buClr>
              <a:buSzPts val="1400"/>
              <a:buFont typeface="Open Sans"/>
              <a:buChar char="●"/>
            </a:pPr>
            <a:r>
              <a:rPr b="0" i="0" lang="es-419" sz="1400" u="none" cap="none" strike="noStrike">
                <a:solidFill>
                  <a:srgbClr val="000000"/>
                </a:solidFill>
                <a:latin typeface="Open Sans"/>
                <a:ea typeface="Open Sans"/>
                <a:cs typeface="Open Sans"/>
                <a:sym typeface="Open Sans"/>
              </a:rPr>
              <a:t>Suaviza los bordes para lograr la densidad, no sabe que no tiene sentido &lt; 0</a:t>
            </a:r>
            <a:endParaRPr b="0" i="0" sz="1400" u="none" cap="none" strike="noStrike">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1"/>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Density plot</a:t>
            </a:r>
            <a:endParaRPr b="0" i="0" sz="3600" u="none" cap="none" strike="noStrike">
              <a:latin typeface="Arial"/>
              <a:ea typeface="Arial"/>
              <a:cs typeface="Arial"/>
              <a:sym typeface="Arial"/>
            </a:endParaRPr>
          </a:p>
        </p:txBody>
      </p:sp>
      <p:pic>
        <p:nvPicPr>
          <p:cNvPr id="318" name="Google Shape;318;p41"/>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319" name="Google Shape;319;p41"/>
          <p:cNvPicPr preferRelativeResize="0"/>
          <p:nvPr/>
        </p:nvPicPr>
        <p:blipFill rotWithShape="1">
          <a:blip r:embed="rId4">
            <a:alphaModFix/>
          </a:blip>
          <a:srcRect b="0" l="0" r="0" t="0"/>
          <a:stretch/>
        </p:blipFill>
        <p:spPr>
          <a:xfrm>
            <a:off x="2332440" y="988200"/>
            <a:ext cx="4478760" cy="400248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2"/>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Algunos números útiles</a:t>
            </a:r>
            <a:endParaRPr b="0" i="0" sz="3600" u="none" cap="none" strike="noStrike">
              <a:latin typeface="Arial"/>
              <a:ea typeface="Arial"/>
              <a:cs typeface="Arial"/>
              <a:sym typeface="Arial"/>
            </a:endParaRPr>
          </a:p>
        </p:txBody>
      </p:sp>
      <p:pic>
        <p:nvPicPr>
          <p:cNvPr id="325" name="Google Shape;325;p42"/>
          <p:cNvPicPr preferRelativeResize="0"/>
          <p:nvPr/>
        </p:nvPicPr>
        <p:blipFill rotWithShape="1">
          <a:blip r:embed="rId3">
            <a:alphaModFix/>
          </a:blip>
          <a:srcRect b="0" l="0" r="0" t="0"/>
          <a:stretch/>
        </p:blipFill>
        <p:spPr>
          <a:xfrm>
            <a:off x="8308080" y="0"/>
            <a:ext cx="835560" cy="835560"/>
          </a:xfrm>
          <a:prstGeom prst="rect">
            <a:avLst/>
          </a:prstGeom>
          <a:noFill/>
          <a:ln>
            <a:noFill/>
          </a:ln>
        </p:spPr>
      </p:pic>
      <p:sp>
        <p:nvSpPr>
          <p:cNvPr id="326" name="Google Shape;326;p42"/>
          <p:cNvSpPr/>
          <p:nvPr/>
        </p:nvSpPr>
        <p:spPr>
          <a:xfrm>
            <a:off x="76320" y="911880"/>
            <a:ext cx="8981640" cy="4126320"/>
          </a:xfrm>
          <a:prstGeom prst="rect">
            <a:avLst/>
          </a:prstGeom>
          <a:noFill/>
          <a:ln>
            <a:noFill/>
          </a:ln>
        </p:spPr>
        <p:txBody>
          <a:bodyPr anchorCtr="0" anchor="ctr" bIns="91425" lIns="91425" spcFirstLastPara="1" rIns="91425" wrap="square" tIns="91425">
            <a:noAutofit/>
          </a:bodyPr>
          <a:lstStyle/>
          <a:p>
            <a:pPr indent="-342720" lvl="0" marL="457200" marR="0" rtl="0" algn="l">
              <a:lnSpc>
                <a:spcPct val="115000"/>
              </a:lnSpc>
              <a:spcBef>
                <a:spcPts val="0"/>
              </a:spcBef>
              <a:spcAft>
                <a:spcPts val="0"/>
              </a:spcAft>
              <a:buClr>
                <a:srgbClr val="424242"/>
              </a:buClr>
              <a:buSzPts val="1800"/>
              <a:buFont typeface="Open Sans"/>
              <a:buChar char="●"/>
            </a:pPr>
            <a:r>
              <a:rPr b="1" i="0" lang="es-419" sz="1800" u="none" cap="none" strike="noStrike">
                <a:solidFill>
                  <a:srgbClr val="424242"/>
                </a:solidFill>
                <a:latin typeface="Open Sans"/>
                <a:ea typeface="Open Sans"/>
                <a:cs typeface="Open Sans"/>
                <a:sym typeface="Open Sans"/>
              </a:rPr>
              <a:t>Media</a:t>
            </a:r>
            <a:r>
              <a:rPr b="0" i="0" lang="es-419" sz="1800" u="none" cap="none" strike="noStrike">
                <a:solidFill>
                  <a:srgbClr val="424242"/>
                </a:solidFill>
                <a:latin typeface="Open Sans"/>
                <a:ea typeface="Open Sans"/>
                <a:cs typeface="Open Sans"/>
                <a:sym typeface="Open Sans"/>
              </a:rPr>
              <a:t>: Es el promedio</a:t>
            </a:r>
            <a:endParaRPr b="0" i="0" sz="1800" u="none" cap="none" strike="noStrike">
              <a:latin typeface="Arial"/>
              <a:ea typeface="Arial"/>
              <a:cs typeface="Arial"/>
              <a:sym typeface="Arial"/>
            </a:endParaRPr>
          </a:p>
          <a:p>
            <a:pPr indent="-342720" lvl="0" marL="457200" marR="0" rtl="0" algn="l">
              <a:lnSpc>
                <a:spcPct val="115000"/>
              </a:lnSpc>
              <a:spcBef>
                <a:spcPts val="1599"/>
              </a:spcBef>
              <a:spcAft>
                <a:spcPts val="0"/>
              </a:spcAft>
              <a:buClr>
                <a:srgbClr val="424242"/>
              </a:buClr>
              <a:buSzPts val="1800"/>
              <a:buFont typeface="Open Sans"/>
              <a:buChar char="●"/>
            </a:pPr>
            <a:r>
              <a:rPr b="1" i="0" lang="es-419" sz="1800" u="none" cap="none" strike="noStrike">
                <a:solidFill>
                  <a:srgbClr val="424242"/>
                </a:solidFill>
                <a:latin typeface="Open Sans"/>
                <a:ea typeface="Open Sans"/>
                <a:cs typeface="Open Sans"/>
                <a:sym typeface="Open Sans"/>
              </a:rPr>
              <a:t>Mediana</a:t>
            </a:r>
            <a:r>
              <a:rPr b="0" i="0" lang="es-419" sz="1800" u="none" cap="none" strike="noStrike">
                <a:solidFill>
                  <a:srgbClr val="424242"/>
                </a:solidFill>
                <a:latin typeface="Open Sans"/>
                <a:ea typeface="Open Sans"/>
                <a:cs typeface="Open Sans"/>
                <a:sym typeface="Open Sans"/>
              </a:rPr>
              <a:t>: es el valor que está en la mitad de la población</a:t>
            </a:r>
            <a:endParaRPr b="0" i="0" sz="1800" u="none" cap="none" strike="noStrike">
              <a:latin typeface="Arial"/>
              <a:ea typeface="Arial"/>
              <a:cs typeface="Arial"/>
              <a:sym typeface="Arial"/>
            </a:endParaRPr>
          </a:p>
          <a:p>
            <a:pPr indent="-342720" lvl="0" marL="457200" marR="0" rtl="0" algn="l">
              <a:lnSpc>
                <a:spcPct val="115000"/>
              </a:lnSpc>
              <a:spcBef>
                <a:spcPts val="1599"/>
              </a:spcBef>
              <a:spcAft>
                <a:spcPts val="0"/>
              </a:spcAft>
              <a:buClr>
                <a:srgbClr val="424242"/>
              </a:buClr>
              <a:buSzPts val="1800"/>
              <a:buFont typeface="Open Sans"/>
              <a:buChar char="●"/>
            </a:pPr>
            <a:r>
              <a:rPr b="1" i="0" lang="es-419" sz="1800" u="none" cap="none" strike="noStrike">
                <a:solidFill>
                  <a:srgbClr val="424242"/>
                </a:solidFill>
                <a:latin typeface="Open Sans"/>
                <a:ea typeface="Open Sans"/>
                <a:cs typeface="Open Sans"/>
                <a:sym typeface="Open Sans"/>
              </a:rPr>
              <a:t>Cuartil</a:t>
            </a:r>
            <a:r>
              <a:rPr b="0" i="0" lang="es-419" sz="1800" u="none" cap="none" strike="noStrike">
                <a:solidFill>
                  <a:srgbClr val="424242"/>
                </a:solidFill>
                <a:latin typeface="Open Sans"/>
                <a:ea typeface="Open Sans"/>
                <a:cs typeface="Open Sans"/>
                <a:sym typeface="Open Sans"/>
              </a:rPr>
              <a:t>: son los valores límite que dejan al 25% de la población entre ellos</a:t>
            </a:r>
            <a:endParaRPr b="0" i="0" sz="1800" u="none" cap="none" strike="noStrike">
              <a:latin typeface="Arial"/>
              <a:ea typeface="Arial"/>
              <a:cs typeface="Arial"/>
              <a:sym typeface="Arial"/>
            </a:endParaRPr>
          </a:p>
          <a:p>
            <a:pPr indent="-342720" lvl="0" marL="457200" marR="0" rtl="0" algn="l">
              <a:lnSpc>
                <a:spcPct val="115000"/>
              </a:lnSpc>
              <a:spcBef>
                <a:spcPts val="1599"/>
              </a:spcBef>
              <a:spcAft>
                <a:spcPts val="0"/>
              </a:spcAft>
              <a:buClr>
                <a:srgbClr val="424242"/>
              </a:buClr>
              <a:buSzPts val="1800"/>
              <a:buFont typeface="Open Sans"/>
              <a:buChar char="●"/>
            </a:pPr>
            <a:r>
              <a:rPr b="1" i="0" lang="es-419" sz="1800" u="none" cap="none" strike="noStrike">
                <a:solidFill>
                  <a:srgbClr val="424242"/>
                </a:solidFill>
                <a:latin typeface="Open Sans"/>
                <a:ea typeface="Open Sans"/>
                <a:cs typeface="Open Sans"/>
                <a:sym typeface="Open Sans"/>
              </a:rPr>
              <a:t>Rango intercuartílico</a:t>
            </a:r>
            <a:r>
              <a:rPr b="0" i="0" lang="es-419" sz="1800" u="none" cap="none" strike="noStrike">
                <a:solidFill>
                  <a:srgbClr val="424242"/>
                </a:solidFill>
                <a:latin typeface="Open Sans"/>
                <a:ea typeface="Open Sans"/>
                <a:cs typeface="Open Sans"/>
                <a:sym typeface="Open Sans"/>
              </a:rPr>
              <a:t>: el rango entre el cuartil 1 y el cuartil 3</a:t>
            </a:r>
            <a:endParaRPr b="0" i="0" sz="1800" u="none" cap="none" strike="noStrike">
              <a:latin typeface="Arial"/>
              <a:ea typeface="Arial"/>
              <a:cs typeface="Arial"/>
              <a:sym typeface="Arial"/>
            </a:endParaRPr>
          </a:p>
          <a:p>
            <a:pPr indent="0" lvl="0" marL="457200" marR="0" rtl="0" algn="l">
              <a:lnSpc>
                <a:spcPct val="100000"/>
              </a:lnSpc>
              <a:spcBef>
                <a:spcPts val="1599"/>
              </a:spcBef>
              <a:spcAft>
                <a:spcPts val="0"/>
              </a:spcAft>
              <a:buNone/>
            </a:pPr>
            <a:r>
              <a:t/>
            </a:r>
            <a:endParaRPr b="0" i="0" sz="1800" u="none" cap="none" strike="noStrike">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3"/>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Población de salarios</a:t>
            </a:r>
            <a:endParaRPr b="0" i="0" sz="3600" u="none" cap="none" strike="noStrike">
              <a:latin typeface="Arial"/>
              <a:ea typeface="Arial"/>
              <a:cs typeface="Arial"/>
              <a:sym typeface="Arial"/>
            </a:endParaRPr>
          </a:p>
        </p:txBody>
      </p:sp>
      <p:pic>
        <p:nvPicPr>
          <p:cNvPr id="332" name="Google Shape;332;p43"/>
          <p:cNvPicPr preferRelativeResize="0"/>
          <p:nvPr/>
        </p:nvPicPr>
        <p:blipFill rotWithShape="1">
          <a:blip r:embed="rId3">
            <a:alphaModFix/>
          </a:blip>
          <a:srcRect b="0" l="0" r="0" t="0"/>
          <a:stretch/>
        </p:blipFill>
        <p:spPr>
          <a:xfrm>
            <a:off x="8308080" y="0"/>
            <a:ext cx="835560" cy="835560"/>
          </a:xfrm>
          <a:prstGeom prst="rect">
            <a:avLst/>
          </a:prstGeom>
          <a:noFill/>
          <a:ln>
            <a:noFill/>
          </a:ln>
        </p:spPr>
      </p:pic>
      <p:grpSp>
        <p:nvGrpSpPr>
          <p:cNvPr id="333" name="Google Shape;333;p43"/>
          <p:cNvGrpSpPr/>
          <p:nvPr/>
        </p:nvGrpSpPr>
        <p:grpSpPr>
          <a:xfrm>
            <a:off x="635400" y="905760"/>
            <a:ext cx="1170720" cy="1289520"/>
            <a:chOff x="635400" y="905760"/>
            <a:chExt cx="1170720" cy="1289520"/>
          </a:xfrm>
        </p:grpSpPr>
        <p:pic>
          <p:nvPicPr>
            <p:cNvPr id="334" name="Google Shape;334;p43"/>
            <p:cNvPicPr preferRelativeResize="0"/>
            <p:nvPr/>
          </p:nvPicPr>
          <p:blipFill rotWithShape="1">
            <a:blip r:embed="rId4">
              <a:alphaModFix/>
            </a:blip>
            <a:srcRect b="0" l="0" r="0" t="0"/>
            <a:stretch/>
          </p:blipFill>
          <p:spPr>
            <a:xfrm>
              <a:off x="802800" y="905760"/>
              <a:ext cx="835560" cy="889200"/>
            </a:xfrm>
            <a:prstGeom prst="rect">
              <a:avLst/>
            </a:prstGeom>
            <a:noFill/>
            <a:ln>
              <a:noFill/>
            </a:ln>
          </p:spPr>
        </p:pic>
        <p:sp>
          <p:nvSpPr>
            <p:cNvPr id="335" name="Google Shape;335;p43"/>
            <p:cNvSpPr/>
            <p:nvPr/>
          </p:nvSpPr>
          <p:spPr>
            <a:xfrm>
              <a:off x="63540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$ 50000</a:t>
              </a:r>
              <a:endParaRPr b="0" i="0" sz="1400" u="none" cap="none" strike="noStrike">
                <a:latin typeface="Arial"/>
                <a:ea typeface="Arial"/>
                <a:cs typeface="Arial"/>
                <a:sym typeface="Arial"/>
              </a:endParaRPr>
            </a:p>
          </p:txBody>
        </p:sp>
      </p:grpSp>
      <p:grpSp>
        <p:nvGrpSpPr>
          <p:cNvPr id="336" name="Google Shape;336;p43"/>
          <p:cNvGrpSpPr/>
          <p:nvPr/>
        </p:nvGrpSpPr>
        <p:grpSpPr>
          <a:xfrm>
            <a:off x="635400" y="2057040"/>
            <a:ext cx="1170720" cy="1289520"/>
            <a:chOff x="635400" y="2057040"/>
            <a:chExt cx="1170720" cy="1289520"/>
          </a:xfrm>
        </p:grpSpPr>
        <p:pic>
          <p:nvPicPr>
            <p:cNvPr id="337" name="Google Shape;337;p43"/>
            <p:cNvPicPr preferRelativeResize="0"/>
            <p:nvPr/>
          </p:nvPicPr>
          <p:blipFill rotWithShape="1">
            <a:blip r:embed="rId4">
              <a:alphaModFix/>
            </a:blip>
            <a:srcRect b="0" l="0" r="0" t="0"/>
            <a:stretch/>
          </p:blipFill>
          <p:spPr>
            <a:xfrm>
              <a:off x="802800" y="2057040"/>
              <a:ext cx="835560" cy="889200"/>
            </a:xfrm>
            <a:prstGeom prst="rect">
              <a:avLst/>
            </a:prstGeom>
            <a:noFill/>
            <a:ln>
              <a:noFill/>
            </a:ln>
          </p:spPr>
        </p:pic>
        <p:sp>
          <p:nvSpPr>
            <p:cNvPr id="338" name="Google Shape;338;p43"/>
            <p:cNvSpPr/>
            <p:nvPr/>
          </p:nvSpPr>
          <p:spPr>
            <a:xfrm>
              <a:off x="635400" y="294660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$ 50000</a:t>
              </a:r>
              <a:endParaRPr b="0" i="0" sz="1400" u="none" cap="none" strike="noStrike">
                <a:latin typeface="Arial"/>
                <a:ea typeface="Arial"/>
                <a:cs typeface="Arial"/>
                <a:sym typeface="Arial"/>
              </a:endParaRPr>
            </a:p>
          </p:txBody>
        </p:sp>
      </p:grpSp>
      <p:grpSp>
        <p:nvGrpSpPr>
          <p:cNvPr id="339" name="Google Shape;339;p43"/>
          <p:cNvGrpSpPr/>
          <p:nvPr/>
        </p:nvGrpSpPr>
        <p:grpSpPr>
          <a:xfrm>
            <a:off x="1847160" y="905760"/>
            <a:ext cx="1170720" cy="1289520"/>
            <a:chOff x="1847160" y="905760"/>
            <a:chExt cx="1170720" cy="1289520"/>
          </a:xfrm>
        </p:grpSpPr>
        <p:pic>
          <p:nvPicPr>
            <p:cNvPr id="340" name="Google Shape;340;p43"/>
            <p:cNvPicPr preferRelativeResize="0"/>
            <p:nvPr/>
          </p:nvPicPr>
          <p:blipFill rotWithShape="1">
            <a:blip r:embed="rId4">
              <a:alphaModFix/>
            </a:blip>
            <a:srcRect b="0" l="0" r="0" t="0"/>
            <a:stretch/>
          </p:blipFill>
          <p:spPr>
            <a:xfrm>
              <a:off x="2014920" y="905760"/>
              <a:ext cx="835560" cy="889200"/>
            </a:xfrm>
            <a:prstGeom prst="rect">
              <a:avLst/>
            </a:prstGeom>
            <a:noFill/>
            <a:ln>
              <a:noFill/>
            </a:ln>
          </p:spPr>
        </p:pic>
        <p:sp>
          <p:nvSpPr>
            <p:cNvPr id="341" name="Google Shape;341;p43"/>
            <p:cNvSpPr/>
            <p:nvPr/>
          </p:nvSpPr>
          <p:spPr>
            <a:xfrm>
              <a:off x="184716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$ 100000</a:t>
              </a:r>
              <a:endParaRPr b="0" i="0" sz="1400" u="none" cap="none" strike="noStrike">
                <a:latin typeface="Arial"/>
                <a:ea typeface="Arial"/>
                <a:cs typeface="Arial"/>
                <a:sym typeface="Arial"/>
              </a:endParaRPr>
            </a:p>
          </p:txBody>
        </p:sp>
      </p:grpSp>
      <p:grpSp>
        <p:nvGrpSpPr>
          <p:cNvPr id="342" name="Google Shape;342;p43"/>
          <p:cNvGrpSpPr/>
          <p:nvPr/>
        </p:nvGrpSpPr>
        <p:grpSpPr>
          <a:xfrm>
            <a:off x="3058920" y="905760"/>
            <a:ext cx="1170720" cy="1289520"/>
            <a:chOff x="3058920" y="905760"/>
            <a:chExt cx="1170720" cy="1289520"/>
          </a:xfrm>
        </p:grpSpPr>
        <p:pic>
          <p:nvPicPr>
            <p:cNvPr id="343" name="Google Shape;343;p43"/>
            <p:cNvPicPr preferRelativeResize="0"/>
            <p:nvPr/>
          </p:nvPicPr>
          <p:blipFill rotWithShape="1">
            <a:blip r:embed="rId4">
              <a:alphaModFix/>
            </a:blip>
            <a:srcRect b="0" l="0" r="0" t="0"/>
            <a:stretch/>
          </p:blipFill>
          <p:spPr>
            <a:xfrm>
              <a:off x="3226680" y="905760"/>
              <a:ext cx="835560" cy="889200"/>
            </a:xfrm>
            <a:prstGeom prst="rect">
              <a:avLst/>
            </a:prstGeom>
            <a:noFill/>
            <a:ln>
              <a:noFill/>
            </a:ln>
          </p:spPr>
        </p:pic>
        <p:sp>
          <p:nvSpPr>
            <p:cNvPr id="344" name="Google Shape;344;p43"/>
            <p:cNvSpPr/>
            <p:nvPr/>
          </p:nvSpPr>
          <p:spPr>
            <a:xfrm>
              <a:off x="305892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$ 120000</a:t>
              </a:r>
              <a:endParaRPr b="0" i="0" sz="1400" u="none" cap="none" strike="noStrike">
                <a:latin typeface="Arial"/>
                <a:ea typeface="Arial"/>
                <a:cs typeface="Arial"/>
                <a:sym typeface="Arial"/>
              </a:endParaRPr>
            </a:p>
          </p:txBody>
        </p:sp>
      </p:grpSp>
      <p:grpSp>
        <p:nvGrpSpPr>
          <p:cNvPr id="345" name="Google Shape;345;p43"/>
          <p:cNvGrpSpPr/>
          <p:nvPr/>
        </p:nvGrpSpPr>
        <p:grpSpPr>
          <a:xfrm>
            <a:off x="4210920" y="905760"/>
            <a:ext cx="1170720" cy="1289520"/>
            <a:chOff x="4210920" y="905760"/>
            <a:chExt cx="1170720" cy="1289520"/>
          </a:xfrm>
        </p:grpSpPr>
        <p:pic>
          <p:nvPicPr>
            <p:cNvPr id="346" name="Google Shape;346;p43"/>
            <p:cNvPicPr preferRelativeResize="0"/>
            <p:nvPr/>
          </p:nvPicPr>
          <p:blipFill rotWithShape="1">
            <a:blip r:embed="rId4">
              <a:alphaModFix/>
            </a:blip>
            <a:srcRect b="0" l="0" r="0" t="0"/>
            <a:stretch/>
          </p:blipFill>
          <p:spPr>
            <a:xfrm>
              <a:off x="4378680" y="905760"/>
              <a:ext cx="835560" cy="889200"/>
            </a:xfrm>
            <a:prstGeom prst="rect">
              <a:avLst/>
            </a:prstGeom>
            <a:noFill/>
            <a:ln>
              <a:noFill/>
            </a:ln>
          </p:spPr>
        </p:pic>
        <p:sp>
          <p:nvSpPr>
            <p:cNvPr id="347" name="Google Shape;347;p43"/>
            <p:cNvSpPr/>
            <p:nvPr/>
          </p:nvSpPr>
          <p:spPr>
            <a:xfrm>
              <a:off x="421092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$ 130000</a:t>
              </a:r>
              <a:endParaRPr b="0" i="0" sz="1400" u="none" cap="none" strike="noStrike">
                <a:latin typeface="Arial"/>
                <a:ea typeface="Arial"/>
                <a:cs typeface="Arial"/>
                <a:sym typeface="Arial"/>
              </a:endParaRPr>
            </a:p>
          </p:txBody>
        </p:sp>
      </p:grpSp>
      <p:grpSp>
        <p:nvGrpSpPr>
          <p:cNvPr id="348" name="Google Shape;348;p43"/>
          <p:cNvGrpSpPr/>
          <p:nvPr/>
        </p:nvGrpSpPr>
        <p:grpSpPr>
          <a:xfrm>
            <a:off x="5382000" y="905760"/>
            <a:ext cx="1170720" cy="1289520"/>
            <a:chOff x="5382000" y="905760"/>
            <a:chExt cx="1170720" cy="1289520"/>
          </a:xfrm>
        </p:grpSpPr>
        <p:pic>
          <p:nvPicPr>
            <p:cNvPr id="349" name="Google Shape;349;p43"/>
            <p:cNvPicPr preferRelativeResize="0"/>
            <p:nvPr/>
          </p:nvPicPr>
          <p:blipFill rotWithShape="1">
            <a:blip r:embed="rId4">
              <a:alphaModFix/>
            </a:blip>
            <a:srcRect b="0" l="0" r="0" t="0"/>
            <a:stretch/>
          </p:blipFill>
          <p:spPr>
            <a:xfrm>
              <a:off x="5549400" y="905760"/>
              <a:ext cx="835560" cy="889200"/>
            </a:xfrm>
            <a:prstGeom prst="rect">
              <a:avLst/>
            </a:prstGeom>
            <a:noFill/>
            <a:ln>
              <a:noFill/>
            </a:ln>
          </p:spPr>
        </p:pic>
        <p:sp>
          <p:nvSpPr>
            <p:cNvPr id="350" name="Google Shape;350;p43"/>
            <p:cNvSpPr/>
            <p:nvPr/>
          </p:nvSpPr>
          <p:spPr>
            <a:xfrm>
              <a:off x="538200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$ 200000</a:t>
              </a:r>
              <a:endParaRPr b="0" i="0" sz="1400" u="none" cap="none" strike="noStrike">
                <a:latin typeface="Arial"/>
                <a:ea typeface="Arial"/>
                <a:cs typeface="Arial"/>
                <a:sym typeface="Arial"/>
              </a:endParaRPr>
            </a:p>
          </p:txBody>
        </p:sp>
      </p:grpSp>
      <p:grpSp>
        <p:nvGrpSpPr>
          <p:cNvPr id="351" name="Google Shape;351;p43"/>
          <p:cNvGrpSpPr/>
          <p:nvPr/>
        </p:nvGrpSpPr>
        <p:grpSpPr>
          <a:xfrm>
            <a:off x="6460200" y="905760"/>
            <a:ext cx="1170720" cy="1289520"/>
            <a:chOff x="6460200" y="905760"/>
            <a:chExt cx="1170720" cy="1289520"/>
          </a:xfrm>
        </p:grpSpPr>
        <p:pic>
          <p:nvPicPr>
            <p:cNvPr id="352" name="Google Shape;352;p43"/>
            <p:cNvPicPr preferRelativeResize="0"/>
            <p:nvPr/>
          </p:nvPicPr>
          <p:blipFill rotWithShape="1">
            <a:blip r:embed="rId4">
              <a:alphaModFix/>
            </a:blip>
            <a:srcRect b="0" l="0" r="0" t="0"/>
            <a:stretch/>
          </p:blipFill>
          <p:spPr>
            <a:xfrm>
              <a:off x="6627600" y="905760"/>
              <a:ext cx="835560" cy="889200"/>
            </a:xfrm>
            <a:prstGeom prst="rect">
              <a:avLst/>
            </a:prstGeom>
            <a:noFill/>
            <a:ln>
              <a:noFill/>
            </a:ln>
          </p:spPr>
        </p:pic>
        <p:sp>
          <p:nvSpPr>
            <p:cNvPr id="353" name="Google Shape;353;p43"/>
            <p:cNvSpPr/>
            <p:nvPr/>
          </p:nvSpPr>
          <p:spPr>
            <a:xfrm>
              <a:off x="646020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$ 210000</a:t>
              </a:r>
              <a:endParaRPr b="0" i="0" sz="1400" u="none" cap="none" strike="noStrike">
                <a:latin typeface="Arial"/>
                <a:ea typeface="Arial"/>
                <a:cs typeface="Arial"/>
                <a:sym typeface="Arial"/>
              </a:endParaRPr>
            </a:p>
          </p:txBody>
        </p:sp>
      </p:grpSp>
      <p:grpSp>
        <p:nvGrpSpPr>
          <p:cNvPr id="354" name="Google Shape;354;p43"/>
          <p:cNvGrpSpPr/>
          <p:nvPr/>
        </p:nvGrpSpPr>
        <p:grpSpPr>
          <a:xfrm>
            <a:off x="7516080" y="905760"/>
            <a:ext cx="1170720" cy="1289520"/>
            <a:chOff x="7516080" y="905760"/>
            <a:chExt cx="1170720" cy="1289520"/>
          </a:xfrm>
        </p:grpSpPr>
        <p:pic>
          <p:nvPicPr>
            <p:cNvPr id="355" name="Google Shape;355;p43"/>
            <p:cNvPicPr preferRelativeResize="0"/>
            <p:nvPr/>
          </p:nvPicPr>
          <p:blipFill rotWithShape="1">
            <a:blip r:embed="rId4">
              <a:alphaModFix/>
            </a:blip>
            <a:srcRect b="0" l="0" r="0" t="0"/>
            <a:stretch/>
          </p:blipFill>
          <p:spPr>
            <a:xfrm>
              <a:off x="7683480" y="905760"/>
              <a:ext cx="835560" cy="889200"/>
            </a:xfrm>
            <a:prstGeom prst="rect">
              <a:avLst/>
            </a:prstGeom>
            <a:noFill/>
            <a:ln>
              <a:noFill/>
            </a:ln>
          </p:spPr>
        </p:pic>
        <p:sp>
          <p:nvSpPr>
            <p:cNvPr id="356" name="Google Shape;356;p43"/>
            <p:cNvSpPr/>
            <p:nvPr/>
          </p:nvSpPr>
          <p:spPr>
            <a:xfrm>
              <a:off x="751608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$ 220000</a:t>
              </a:r>
              <a:endParaRPr b="0" i="0" sz="1400" u="none" cap="none" strike="noStrike">
                <a:latin typeface="Arial"/>
                <a:ea typeface="Arial"/>
                <a:cs typeface="Arial"/>
                <a:sym typeface="Arial"/>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4"/>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Población de salarios</a:t>
            </a:r>
            <a:endParaRPr b="0" i="0" sz="3600" u="none" cap="none" strike="noStrike">
              <a:latin typeface="Arial"/>
              <a:ea typeface="Arial"/>
              <a:cs typeface="Arial"/>
              <a:sym typeface="Arial"/>
            </a:endParaRPr>
          </a:p>
        </p:txBody>
      </p:sp>
      <p:pic>
        <p:nvPicPr>
          <p:cNvPr id="362" name="Google Shape;362;p44"/>
          <p:cNvPicPr preferRelativeResize="0"/>
          <p:nvPr/>
        </p:nvPicPr>
        <p:blipFill rotWithShape="1">
          <a:blip r:embed="rId3">
            <a:alphaModFix/>
          </a:blip>
          <a:srcRect b="0" l="0" r="0" t="0"/>
          <a:stretch/>
        </p:blipFill>
        <p:spPr>
          <a:xfrm>
            <a:off x="8308080" y="0"/>
            <a:ext cx="835560" cy="835560"/>
          </a:xfrm>
          <a:prstGeom prst="rect">
            <a:avLst/>
          </a:prstGeom>
          <a:noFill/>
          <a:ln>
            <a:noFill/>
          </a:ln>
        </p:spPr>
      </p:pic>
      <p:grpSp>
        <p:nvGrpSpPr>
          <p:cNvPr id="363" name="Google Shape;363;p44"/>
          <p:cNvGrpSpPr/>
          <p:nvPr/>
        </p:nvGrpSpPr>
        <p:grpSpPr>
          <a:xfrm>
            <a:off x="635400" y="905760"/>
            <a:ext cx="1170720" cy="1289520"/>
            <a:chOff x="635400" y="905760"/>
            <a:chExt cx="1170720" cy="1289520"/>
          </a:xfrm>
        </p:grpSpPr>
        <p:pic>
          <p:nvPicPr>
            <p:cNvPr id="364" name="Google Shape;364;p44"/>
            <p:cNvPicPr preferRelativeResize="0"/>
            <p:nvPr/>
          </p:nvPicPr>
          <p:blipFill rotWithShape="1">
            <a:blip r:embed="rId4">
              <a:alphaModFix/>
            </a:blip>
            <a:srcRect b="0" l="0" r="0" t="0"/>
            <a:stretch/>
          </p:blipFill>
          <p:spPr>
            <a:xfrm>
              <a:off x="802800" y="905760"/>
              <a:ext cx="835560" cy="889200"/>
            </a:xfrm>
            <a:prstGeom prst="rect">
              <a:avLst/>
            </a:prstGeom>
            <a:noFill/>
            <a:ln>
              <a:noFill/>
            </a:ln>
          </p:spPr>
        </p:pic>
        <p:sp>
          <p:nvSpPr>
            <p:cNvPr id="365" name="Google Shape;365;p44"/>
            <p:cNvSpPr/>
            <p:nvPr/>
          </p:nvSpPr>
          <p:spPr>
            <a:xfrm>
              <a:off x="63540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$ 50000</a:t>
              </a:r>
              <a:endParaRPr b="0" i="0" sz="1400" u="none" cap="none" strike="noStrike">
                <a:latin typeface="Arial"/>
                <a:ea typeface="Arial"/>
                <a:cs typeface="Arial"/>
                <a:sym typeface="Arial"/>
              </a:endParaRPr>
            </a:p>
          </p:txBody>
        </p:sp>
      </p:grpSp>
      <p:grpSp>
        <p:nvGrpSpPr>
          <p:cNvPr id="366" name="Google Shape;366;p44"/>
          <p:cNvGrpSpPr/>
          <p:nvPr/>
        </p:nvGrpSpPr>
        <p:grpSpPr>
          <a:xfrm>
            <a:off x="635400" y="2057040"/>
            <a:ext cx="1170720" cy="1289520"/>
            <a:chOff x="635400" y="2057040"/>
            <a:chExt cx="1170720" cy="1289520"/>
          </a:xfrm>
        </p:grpSpPr>
        <p:pic>
          <p:nvPicPr>
            <p:cNvPr id="367" name="Google Shape;367;p44"/>
            <p:cNvPicPr preferRelativeResize="0"/>
            <p:nvPr/>
          </p:nvPicPr>
          <p:blipFill rotWithShape="1">
            <a:blip r:embed="rId4">
              <a:alphaModFix/>
            </a:blip>
            <a:srcRect b="0" l="0" r="0" t="0"/>
            <a:stretch/>
          </p:blipFill>
          <p:spPr>
            <a:xfrm>
              <a:off x="802800" y="2057040"/>
              <a:ext cx="835560" cy="889200"/>
            </a:xfrm>
            <a:prstGeom prst="rect">
              <a:avLst/>
            </a:prstGeom>
            <a:noFill/>
            <a:ln>
              <a:noFill/>
            </a:ln>
          </p:spPr>
        </p:pic>
        <p:sp>
          <p:nvSpPr>
            <p:cNvPr id="368" name="Google Shape;368;p44"/>
            <p:cNvSpPr/>
            <p:nvPr/>
          </p:nvSpPr>
          <p:spPr>
            <a:xfrm>
              <a:off x="635400" y="294660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$ 50000</a:t>
              </a:r>
              <a:endParaRPr b="0" i="0" sz="1400" u="none" cap="none" strike="noStrike">
                <a:latin typeface="Arial"/>
                <a:ea typeface="Arial"/>
                <a:cs typeface="Arial"/>
                <a:sym typeface="Arial"/>
              </a:endParaRPr>
            </a:p>
          </p:txBody>
        </p:sp>
      </p:grpSp>
      <p:grpSp>
        <p:nvGrpSpPr>
          <p:cNvPr id="369" name="Google Shape;369;p44"/>
          <p:cNvGrpSpPr/>
          <p:nvPr/>
        </p:nvGrpSpPr>
        <p:grpSpPr>
          <a:xfrm>
            <a:off x="1847160" y="905760"/>
            <a:ext cx="1170720" cy="1289520"/>
            <a:chOff x="1847160" y="905760"/>
            <a:chExt cx="1170720" cy="1289520"/>
          </a:xfrm>
        </p:grpSpPr>
        <p:pic>
          <p:nvPicPr>
            <p:cNvPr id="370" name="Google Shape;370;p44"/>
            <p:cNvPicPr preferRelativeResize="0"/>
            <p:nvPr/>
          </p:nvPicPr>
          <p:blipFill rotWithShape="1">
            <a:blip r:embed="rId4">
              <a:alphaModFix/>
            </a:blip>
            <a:srcRect b="0" l="0" r="0" t="0"/>
            <a:stretch/>
          </p:blipFill>
          <p:spPr>
            <a:xfrm>
              <a:off x="2014920" y="905760"/>
              <a:ext cx="835560" cy="889200"/>
            </a:xfrm>
            <a:prstGeom prst="rect">
              <a:avLst/>
            </a:prstGeom>
            <a:noFill/>
            <a:ln>
              <a:noFill/>
            </a:ln>
          </p:spPr>
        </p:pic>
        <p:sp>
          <p:nvSpPr>
            <p:cNvPr id="371" name="Google Shape;371;p44"/>
            <p:cNvSpPr/>
            <p:nvPr/>
          </p:nvSpPr>
          <p:spPr>
            <a:xfrm>
              <a:off x="184716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$ 100000</a:t>
              </a:r>
              <a:endParaRPr b="0" i="0" sz="1400" u="none" cap="none" strike="noStrike">
                <a:latin typeface="Arial"/>
                <a:ea typeface="Arial"/>
                <a:cs typeface="Arial"/>
                <a:sym typeface="Arial"/>
              </a:endParaRPr>
            </a:p>
          </p:txBody>
        </p:sp>
      </p:grpSp>
      <p:grpSp>
        <p:nvGrpSpPr>
          <p:cNvPr id="372" name="Google Shape;372;p44"/>
          <p:cNvGrpSpPr/>
          <p:nvPr/>
        </p:nvGrpSpPr>
        <p:grpSpPr>
          <a:xfrm>
            <a:off x="3058920" y="905760"/>
            <a:ext cx="1170720" cy="1289520"/>
            <a:chOff x="3058920" y="905760"/>
            <a:chExt cx="1170720" cy="1289520"/>
          </a:xfrm>
        </p:grpSpPr>
        <p:pic>
          <p:nvPicPr>
            <p:cNvPr id="373" name="Google Shape;373;p44"/>
            <p:cNvPicPr preferRelativeResize="0"/>
            <p:nvPr/>
          </p:nvPicPr>
          <p:blipFill rotWithShape="1">
            <a:blip r:embed="rId4">
              <a:alphaModFix/>
            </a:blip>
            <a:srcRect b="0" l="0" r="0" t="0"/>
            <a:stretch/>
          </p:blipFill>
          <p:spPr>
            <a:xfrm>
              <a:off x="3226680" y="905760"/>
              <a:ext cx="835560" cy="889200"/>
            </a:xfrm>
            <a:prstGeom prst="rect">
              <a:avLst/>
            </a:prstGeom>
            <a:noFill/>
            <a:ln>
              <a:noFill/>
            </a:ln>
          </p:spPr>
        </p:pic>
        <p:sp>
          <p:nvSpPr>
            <p:cNvPr id="374" name="Google Shape;374;p44"/>
            <p:cNvSpPr/>
            <p:nvPr/>
          </p:nvSpPr>
          <p:spPr>
            <a:xfrm>
              <a:off x="305892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$ 120000</a:t>
              </a:r>
              <a:endParaRPr b="0" i="0" sz="1400" u="none" cap="none" strike="noStrike">
                <a:latin typeface="Arial"/>
                <a:ea typeface="Arial"/>
                <a:cs typeface="Arial"/>
                <a:sym typeface="Arial"/>
              </a:endParaRPr>
            </a:p>
          </p:txBody>
        </p:sp>
      </p:grpSp>
      <p:sp>
        <p:nvSpPr>
          <p:cNvPr id="375" name="Google Shape;375;p44"/>
          <p:cNvSpPr/>
          <p:nvPr/>
        </p:nvSpPr>
        <p:spPr>
          <a:xfrm>
            <a:off x="230040" y="3322080"/>
            <a:ext cx="8665560" cy="161064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s-419" sz="1700" u="none" cap="none" strike="noStrike">
                <a:solidFill>
                  <a:srgbClr val="000000"/>
                </a:solidFill>
                <a:latin typeface="Open Sans"/>
                <a:ea typeface="Open Sans"/>
                <a:cs typeface="Open Sans"/>
                <a:sym typeface="Open Sans"/>
              </a:rPr>
              <a:t>Media: 135000</a:t>
            </a:r>
            <a:endParaRPr b="0" i="0" sz="17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1700" u="none" cap="none" strike="noStrike">
              <a:latin typeface="Arial"/>
              <a:ea typeface="Arial"/>
              <a:cs typeface="Arial"/>
              <a:sym typeface="Arial"/>
            </a:endParaRPr>
          </a:p>
        </p:txBody>
      </p:sp>
      <p:grpSp>
        <p:nvGrpSpPr>
          <p:cNvPr id="376" name="Google Shape;376;p44"/>
          <p:cNvGrpSpPr/>
          <p:nvPr/>
        </p:nvGrpSpPr>
        <p:grpSpPr>
          <a:xfrm>
            <a:off x="4210920" y="905760"/>
            <a:ext cx="1170720" cy="1289520"/>
            <a:chOff x="4210920" y="905760"/>
            <a:chExt cx="1170720" cy="1289520"/>
          </a:xfrm>
        </p:grpSpPr>
        <p:pic>
          <p:nvPicPr>
            <p:cNvPr id="377" name="Google Shape;377;p44"/>
            <p:cNvPicPr preferRelativeResize="0"/>
            <p:nvPr/>
          </p:nvPicPr>
          <p:blipFill rotWithShape="1">
            <a:blip r:embed="rId4">
              <a:alphaModFix/>
            </a:blip>
            <a:srcRect b="0" l="0" r="0" t="0"/>
            <a:stretch/>
          </p:blipFill>
          <p:spPr>
            <a:xfrm>
              <a:off x="4378680" y="905760"/>
              <a:ext cx="835560" cy="889200"/>
            </a:xfrm>
            <a:prstGeom prst="rect">
              <a:avLst/>
            </a:prstGeom>
            <a:noFill/>
            <a:ln>
              <a:noFill/>
            </a:ln>
          </p:spPr>
        </p:pic>
        <p:sp>
          <p:nvSpPr>
            <p:cNvPr id="378" name="Google Shape;378;p44"/>
            <p:cNvSpPr/>
            <p:nvPr/>
          </p:nvSpPr>
          <p:spPr>
            <a:xfrm>
              <a:off x="421092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$ 130000</a:t>
              </a:r>
              <a:endParaRPr b="0" i="0" sz="1400" u="none" cap="none" strike="noStrike">
                <a:latin typeface="Arial"/>
                <a:ea typeface="Arial"/>
                <a:cs typeface="Arial"/>
                <a:sym typeface="Arial"/>
              </a:endParaRPr>
            </a:p>
          </p:txBody>
        </p:sp>
      </p:grpSp>
      <p:grpSp>
        <p:nvGrpSpPr>
          <p:cNvPr id="379" name="Google Shape;379;p44"/>
          <p:cNvGrpSpPr/>
          <p:nvPr/>
        </p:nvGrpSpPr>
        <p:grpSpPr>
          <a:xfrm>
            <a:off x="5382000" y="905760"/>
            <a:ext cx="1170720" cy="1289520"/>
            <a:chOff x="5382000" y="905760"/>
            <a:chExt cx="1170720" cy="1289520"/>
          </a:xfrm>
        </p:grpSpPr>
        <p:pic>
          <p:nvPicPr>
            <p:cNvPr id="380" name="Google Shape;380;p44"/>
            <p:cNvPicPr preferRelativeResize="0"/>
            <p:nvPr/>
          </p:nvPicPr>
          <p:blipFill rotWithShape="1">
            <a:blip r:embed="rId4">
              <a:alphaModFix/>
            </a:blip>
            <a:srcRect b="0" l="0" r="0" t="0"/>
            <a:stretch/>
          </p:blipFill>
          <p:spPr>
            <a:xfrm>
              <a:off x="5549400" y="905760"/>
              <a:ext cx="835560" cy="889200"/>
            </a:xfrm>
            <a:prstGeom prst="rect">
              <a:avLst/>
            </a:prstGeom>
            <a:noFill/>
            <a:ln>
              <a:noFill/>
            </a:ln>
          </p:spPr>
        </p:pic>
        <p:sp>
          <p:nvSpPr>
            <p:cNvPr id="381" name="Google Shape;381;p44"/>
            <p:cNvSpPr/>
            <p:nvPr/>
          </p:nvSpPr>
          <p:spPr>
            <a:xfrm>
              <a:off x="538200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$ 200000</a:t>
              </a:r>
              <a:endParaRPr b="0" i="0" sz="1400" u="none" cap="none" strike="noStrike">
                <a:latin typeface="Arial"/>
                <a:ea typeface="Arial"/>
                <a:cs typeface="Arial"/>
                <a:sym typeface="Arial"/>
              </a:endParaRPr>
            </a:p>
          </p:txBody>
        </p:sp>
      </p:grpSp>
      <p:grpSp>
        <p:nvGrpSpPr>
          <p:cNvPr id="382" name="Google Shape;382;p44"/>
          <p:cNvGrpSpPr/>
          <p:nvPr/>
        </p:nvGrpSpPr>
        <p:grpSpPr>
          <a:xfrm>
            <a:off x="6460200" y="905760"/>
            <a:ext cx="1170720" cy="1289520"/>
            <a:chOff x="6460200" y="905760"/>
            <a:chExt cx="1170720" cy="1289520"/>
          </a:xfrm>
        </p:grpSpPr>
        <p:pic>
          <p:nvPicPr>
            <p:cNvPr id="383" name="Google Shape;383;p44"/>
            <p:cNvPicPr preferRelativeResize="0"/>
            <p:nvPr/>
          </p:nvPicPr>
          <p:blipFill rotWithShape="1">
            <a:blip r:embed="rId4">
              <a:alphaModFix/>
            </a:blip>
            <a:srcRect b="0" l="0" r="0" t="0"/>
            <a:stretch/>
          </p:blipFill>
          <p:spPr>
            <a:xfrm>
              <a:off x="6627600" y="905760"/>
              <a:ext cx="835560" cy="889200"/>
            </a:xfrm>
            <a:prstGeom prst="rect">
              <a:avLst/>
            </a:prstGeom>
            <a:noFill/>
            <a:ln>
              <a:noFill/>
            </a:ln>
          </p:spPr>
        </p:pic>
        <p:sp>
          <p:nvSpPr>
            <p:cNvPr id="384" name="Google Shape;384;p44"/>
            <p:cNvSpPr/>
            <p:nvPr/>
          </p:nvSpPr>
          <p:spPr>
            <a:xfrm>
              <a:off x="646020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$ 210000</a:t>
              </a:r>
              <a:endParaRPr b="0" i="0" sz="1400" u="none" cap="none" strike="noStrike">
                <a:latin typeface="Arial"/>
                <a:ea typeface="Arial"/>
                <a:cs typeface="Arial"/>
                <a:sym typeface="Arial"/>
              </a:endParaRPr>
            </a:p>
          </p:txBody>
        </p:sp>
      </p:grpSp>
      <p:grpSp>
        <p:nvGrpSpPr>
          <p:cNvPr id="385" name="Google Shape;385;p44"/>
          <p:cNvGrpSpPr/>
          <p:nvPr/>
        </p:nvGrpSpPr>
        <p:grpSpPr>
          <a:xfrm>
            <a:off x="7516080" y="905760"/>
            <a:ext cx="1170720" cy="1289520"/>
            <a:chOff x="7516080" y="905760"/>
            <a:chExt cx="1170720" cy="1289520"/>
          </a:xfrm>
        </p:grpSpPr>
        <p:pic>
          <p:nvPicPr>
            <p:cNvPr id="386" name="Google Shape;386;p44"/>
            <p:cNvPicPr preferRelativeResize="0"/>
            <p:nvPr/>
          </p:nvPicPr>
          <p:blipFill rotWithShape="1">
            <a:blip r:embed="rId4">
              <a:alphaModFix/>
            </a:blip>
            <a:srcRect b="0" l="0" r="0" t="0"/>
            <a:stretch/>
          </p:blipFill>
          <p:spPr>
            <a:xfrm>
              <a:off x="7683480" y="905760"/>
              <a:ext cx="835560" cy="889200"/>
            </a:xfrm>
            <a:prstGeom prst="rect">
              <a:avLst/>
            </a:prstGeom>
            <a:noFill/>
            <a:ln>
              <a:noFill/>
            </a:ln>
          </p:spPr>
        </p:pic>
        <p:sp>
          <p:nvSpPr>
            <p:cNvPr id="387" name="Google Shape;387;p44"/>
            <p:cNvSpPr/>
            <p:nvPr/>
          </p:nvSpPr>
          <p:spPr>
            <a:xfrm>
              <a:off x="751608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$ 220000</a:t>
              </a:r>
              <a:endParaRPr b="0" i="0" sz="1400" u="none" cap="none" strike="noStrike">
                <a:latin typeface="Arial"/>
                <a:ea typeface="Arial"/>
                <a:cs typeface="Arial"/>
                <a:sym typeface="Arial"/>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45"/>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Población de salarios</a:t>
            </a:r>
            <a:endParaRPr b="0" i="0" sz="3600" u="none" cap="none" strike="noStrike">
              <a:latin typeface="Arial"/>
              <a:ea typeface="Arial"/>
              <a:cs typeface="Arial"/>
              <a:sym typeface="Arial"/>
            </a:endParaRPr>
          </a:p>
        </p:txBody>
      </p:sp>
      <p:pic>
        <p:nvPicPr>
          <p:cNvPr id="393" name="Google Shape;393;p45"/>
          <p:cNvPicPr preferRelativeResize="0"/>
          <p:nvPr/>
        </p:nvPicPr>
        <p:blipFill rotWithShape="1">
          <a:blip r:embed="rId3">
            <a:alphaModFix/>
          </a:blip>
          <a:srcRect b="0" l="0" r="0" t="0"/>
          <a:stretch/>
        </p:blipFill>
        <p:spPr>
          <a:xfrm>
            <a:off x="8308080" y="0"/>
            <a:ext cx="835560" cy="835560"/>
          </a:xfrm>
          <a:prstGeom prst="rect">
            <a:avLst/>
          </a:prstGeom>
          <a:noFill/>
          <a:ln>
            <a:noFill/>
          </a:ln>
        </p:spPr>
      </p:pic>
      <p:grpSp>
        <p:nvGrpSpPr>
          <p:cNvPr id="394" name="Google Shape;394;p45"/>
          <p:cNvGrpSpPr/>
          <p:nvPr/>
        </p:nvGrpSpPr>
        <p:grpSpPr>
          <a:xfrm>
            <a:off x="635400" y="905760"/>
            <a:ext cx="1170720" cy="1289520"/>
            <a:chOff x="635400" y="905760"/>
            <a:chExt cx="1170720" cy="1289520"/>
          </a:xfrm>
        </p:grpSpPr>
        <p:pic>
          <p:nvPicPr>
            <p:cNvPr id="395" name="Google Shape;395;p45"/>
            <p:cNvPicPr preferRelativeResize="0"/>
            <p:nvPr/>
          </p:nvPicPr>
          <p:blipFill rotWithShape="1">
            <a:blip r:embed="rId4">
              <a:alphaModFix/>
            </a:blip>
            <a:srcRect b="0" l="0" r="0" t="0"/>
            <a:stretch/>
          </p:blipFill>
          <p:spPr>
            <a:xfrm>
              <a:off x="802800" y="905760"/>
              <a:ext cx="835560" cy="889200"/>
            </a:xfrm>
            <a:prstGeom prst="rect">
              <a:avLst/>
            </a:prstGeom>
            <a:noFill/>
            <a:ln>
              <a:noFill/>
            </a:ln>
          </p:spPr>
        </p:pic>
        <p:sp>
          <p:nvSpPr>
            <p:cNvPr id="396" name="Google Shape;396;p45"/>
            <p:cNvSpPr/>
            <p:nvPr/>
          </p:nvSpPr>
          <p:spPr>
            <a:xfrm>
              <a:off x="63540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$ 50000</a:t>
              </a:r>
              <a:endParaRPr b="0" i="0" sz="1400" u="none" cap="none" strike="noStrike">
                <a:latin typeface="Arial"/>
                <a:ea typeface="Arial"/>
                <a:cs typeface="Arial"/>
                <a:sym typeface="Arial"/>
              </a:endParaRPr>
            </a:p>
          </p:txBody>
        </p:sp>
      </p:grpSp>
      <p:grpSp>
        <p:nvGrpSpPr>
          <p:cNvPr id="397" name="Google Shape;397;p45"/>
          <p:cNvGrpSpPr/>
          <p:nvPr/>
        </p:nvGrpSpPr>
        <p:grpSpPr>
          <a:xfrm>
            <a:off x="635400" y="2057040"/>
            <a:ext cx="1170720" cy="1289520"/>
            <a:chOff x="635400" y="2057040"/>
            <a:chExt cx="1170720" cy="1289520"/>
          </a:xfrm>
        </p:grpSpPr>
        <p:pic>
          <p:nvPicPr>
            <p:cNvPr id="398" name="Google Shape;398;p45"/>
            <p:cNvPicPr preferRelativeResize="0"/>
            <p:nvPr/>
          </p:nvPicPr>
          <p:blipFill rotWithShape="1">
            <a:blip r:embed="rId4">
              <a:alphaModFix/>
            </a:blip>
            <a:srcRect b="0" l="0" r="0" t="0"/>
            <a:stretch/>
          </p:blipFill>
          <p:spPr>
            <a:xfrm>
              <a:off x="802800" y="2057040"/>
              <a:ext cx="835560" cy="889200"/>
            </a:xfrm>
            <a:prstGeom prst="rect">
              <a:avLst/>
            </a:prstGeom>
            <a:noFill/>
            <a:ln>
              <a:noFill/>
            </a:ln>
          </p:spPr>
        </p:pic>
        <p:sp>
          <p:nvSpPr>
            <p:cNvPr id="399" name="Google Shape;399;p45"/>
            <p:cNvSpPr/>
            <p:nvPr/>
          </p:nvSpPr>
          <p:spPr>
            <a:xfrm>
              <a:off x="635400" y="294660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$ 50000</a:t>
              </a:r>
              <a:endParaRPr b="0" i="0" sz="1400" u="none" cap="none" strike="noStrike">
                <a:latin typeface="Arial"/>
                <a:ea typeface="Arial"/>
                <a:cs typeface="Arial"/>
                <a:sym typeface="Arial"/>
              </a:endParaRPr>
            </a:p>
          </p:txBody>
        </p:sp>
      </p:grpSp>
      <p:grpSp>
        <p:nvGrpSpPr>
          <p:cNvPr id="400" name="Google Shape;400;p45"/>
          <p:cNvGrpSpPr/>
          <p:nvPr/>
        </p:nvGrpSpPr>
        <p:grpSpPr>
          <a:xfrm>
            <a:off x="1847160" y="905760"/>
            <a:ext cx="1170720" cy="1289520"/>
            <a:chOff x="1847160" y="905760"/>
            <a:chExt cx="1170720" cy="1289520"/>
          </a:xfrm>
        </p:grpSpPr>
        <p:pic>
          <p:nvPicPr>
            <p:cNvPr id="401" name="Google Shape;401;p45"/>
            <p:cNvPicPr preferRelativeResize="0"/>
            <p:nvPr/>
          </p:nvPicPr>
          <p:blipFill rotWithShape="1">
            <a:blip r:embed="rId4">
              <a:alphaModFix/>
            </a:blip>
            <a:srcRect b="0" l="0" r="0" t="0"/>
            <a:stretch/>
          </p:blipFill>
          <p:spPr>
            <a:xfrm>
              <a:off x="2014920" y="905760"/>
              <a:ext cx="835560" cy="889200"/>
            </a:xfrm>
            <a:prstGeom prst="rect">
              <a:avLst/>
            </a:prstGeom>
            <a:noFill/>
            <a:ln>
              <a:noFill/>
            </a:ln>
          </p:spPr>
        </p:pic>
        <p:sp>
          <p:nvSpPr>
            <p:cNvPr id="402" name="Google Shape;402;p45"/>
            <p:cNvSpPr/>
            <p:nvPr/>
          </p:nvSpPr>
          <p:spPr>
            <a:xfrm>
              <a:off x="184716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$ 100000</a:t>
              </a:r>
              <a:endParaRPr b="0" i="0" sz="1400" u="none" cap="none" strike="noStrike">
                <a:latin typeface="Arial"/>
                <a:ea typeface="Arial"/>
                <a:cs typeface="Arial"/>
                <a:sym typeface="Arial"/>
              </a:endParaRPr>
            </a:p>
          </p:txBody>
        </p:sp>
      </p:grpSp>
      <p:grpSp>
        <p:nvGrpSpPr>
          <p:cNvPr id="403" name="Google Shape;403;p45"/>
          <p:cNvGrpSpPr/>
          <p:nvPr/>
        </p:nvGrpSpPr>
        <p:grpSpPr>
          <a:xfrm>
            <a:off x="3058920" y="905760"/>
            <a:ext cx="1170720" cy="1289520"/>
            <a:chOff x="3058920" y="905760"/>
            <a:chExt cx="1170720" cy="1289520"/>
          </a:xfrm>
        </p:grpSpPr>
        <p:pic>
          <p:nvPicPr>
            <p:cNvPr id="404" name="Google Shape;404;p45"/>
            <p:cNvPicPr preferRelativeResize="0"/>
            <p:nvPr/>
          </p:nvPicPr>
          <p:blipFill rotWithShape="1">
            <a:blip r:embed="rId4">
              <a:alphaModFix/>
            </a:blip>
            <a:srcRect b="0" l="0" r="0" t="0"/>
            <a:stretch/>
          </p:blipFill>
          <p:spPr>
            <a:xfrm>
              <a:off x="3226680" y="905760"/>
              <a:ext cx="835560" cy="889200"/>
            </a:xfrm>
            <a:prstGeom prst="rect">
              <a:avLst/>
            </a:prstGeom>
            <a:noFill/>
            <a:ln>
              <a:noFill/>
            </a:ln>
          </p:spPr>
        </p:pic>
        <p:sp>
          <p:nvSpPr>
            <p:cNvPr id="405" name="Google Shape;405;p45"/>
            <p:cNvSpPr/>
            <p:nvPr/>
          </p:nvSpPr>
          <p:spPr>
            <a:xfrm>
              <a:off x="305892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$ 120000</a:t>
              </a:r>
              <a:endParaRPr b="0" i="0" sz="1400" u="none" cap="none" strike="noStrike">
                <a:latin typeface="Arial"/>
                <a:ea typeface="Arial"/>
                <a:cs typeface="Arial"/>
                <a:sym typeface="Arial"/>
              </a:endParaRPr>
            </a:p>
          </p:txBody>
        </p:sp>
      </p:grpSp>
      <p:sp>
        <p:nvSpPr>
          <p:cNvPr id="406" name="Google Shape;406;p45"/>
          <p:cNvSpPr/>
          <p:nvPr/>
        </p:nvSpPr>
        <p:spPr>
          <a:xfrm>
            <a:off x="230040" y="3322080"/>
            <a:ext cx="8665560" cy="161064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s-419" sz="1700" u="none" cap="none" strike="noStrike">
                <a:solidFill>
                  <a:srgbClr val="000000"/>
                </a:solidFill>
                <a:latin typeface="Open Sans"/>
                <a:ea typeface="Open Sans"/>
                <a:cs typeface="Open Sans"/>
                <a:sym typeface="Open Sans"/>
              </a:rPr>
              <a:t>Media: 135000</a:t>
            </a:r>
            <a:endParaRPr b="0" i="0" sz="1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s-419" sz="1700" u="none" cap="none" strike="noStrike">
                <a:solidFill>
                  <a:srgbClr val="000000"/>
                </a:solidFill>
                <a:latin typeface="Open Sans"/>
                <a:ea typeface="Open Sans"/>
                <a:cs typeface="Open Sans"/>
                <a:sym typeface="Open Sans"/>
              </a:rPr>
              <a:t>Mediana: 125000</a:t>
            </a:r>
            <a:endParaRPr b="0" i="0" sz="1700" u="none" cap="none" strike="noStrike">
              <a:latin typeface="Arial"/>
              <a:ea typeface="Arial"/>
              <a:cs typeface="Arial"/>
              <a:sym typeface="Arial"/>
            </a:endParaRPr>
          </a:p>
        </p:txBody>
      </p:sp>
      <p:grpSp>
        <p:nvGrpSpPr>
          <p:cNvPr id="407" name="Google Shape;407;p45"/>
          <p:cNvGrpSpPr/>
          <p:nvPr/>
        </p:nvGrpSpPr>
        <p:grpSpPr>
          <a:xfrm>
            <a:off x="4210920" y="905760"/>
            <a:ext cx="1170720" cy="1289520"/>
            <a:chOff x="4210920" y="905760"/>
            <a:chExt cx="1170720" cy="1289520"/>
          </a:xfrm>
        </p:grpSpPr>
        <p:pic>
          <p:nvPicPr>
            <p:cNvPr id="408" name="Google Shape;408;p45"/>
            <p:cNvPicPr preferRelativeResize="0"/>
            <p:nvPr/>
          </p:nvPicPr>
          <p:blipFill rotWithShape="1">
            <a:blip r:embed="rId4">
              <a:alphaModFix/>
            </a:blip>
            <a:srcRect b="0" l="0" r="0" t="0"/>
            <a:stretch/>
          </p:blipFill>
          <p:spPr>
            <a:xfrm>
              <a:off x="4378680" y="905760"/>
              <a:ext cx="835560" cy="889200"/>
            </a:xfrm>
            <a:prstGeom prst="rect">
              <a:avLst/>
            </a:prstGeom>
            <a:noFill/>
            <a:ln>
              <a:noFill/>
            </a:ln>
          </p:spPr>
        </p:pic>
        <p:sp>
          <p:nvSpPr>
            <p:cNvPr id="409" name="Google Shape;409;p45"/>
            <p:cNvSpPr/>
            <p:nvPr/>
          </p:nvSpPr>
          <p:spPr>
            <a:xfrm>
              <a:off x="421092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$ 130000</a:t>
              </a:r>
              <a:endParaRPr b="0" i="0" sz="1400" u="none" cap="none" strike="noStrike">
                <a:latin typeface="Arial"/>
                <a:ea typeface="Arial"/>
                <a:cs typeface="Arial"/>
                <a:sym typeface="Arial"/>
              </a:endParaRPr>
            </a:p>
          </p:txBody>
        </p:sp>
      </p:grpSp>
      <p:grpSp>
        <p:nvGrpSpPr>
          <p:cNvPr id="410" name="Google Shape;410;p45"/>
          <p:cNvGrpSpPr/>
          <p:nvPr/>
        </p:nvGrpSpPr>
        <p:grpSpPr>
          <a:xfrm>
            <a:off x="5382000" y="905760"/>
            <a:ext cx="1170720" cy="1289520"/>
            <a:chOff x="5382000" y="905760"/>
            <a:chExt cx="1170720" cy="1289520"/>
          </a:xfrm>
        </p:grpSpPr>
        <p:pic>
          <p:nvPicPr>
            <p:cNvPr id="411" name="Google Shape;411;p45"/>
            <p:cNvPicPr preferRelativeResize="0"/>
            <p:nvPr/>
          </p:nvPicPr>
          <p:blipFill rotWithShape="1">
            <a:blip r:embed="rId4">
              <a:alphaModFix/>
            </a:blip>
            <a:srcRect b="0" l="0" r="0" t="0"/>
            <a:stretch/>
          </p:blipFill>
          <p:spPr>
            <a:xfrm>
              <a:off x="5549400" y="905760"/>
              <a:ext cx="835560" cy="889200"/>
            </a:xfrm>
            <a:prstGeom prst="rect">
              <a:avLst/>
            </a:prstGeom>
            <a:noFill/>
            <a:ln>
              <a:noFill/>
            </a:ln>
          </p:spPr>
        </p:pic>
        <p:sp>
          <p:nvSpPr>
            <p:cNvPr id="412" name="Google Shape;412;p45"/>
            <p:cNvSpPr/>
            <p:nvPr/>
          </p:nvSpPr>
          <p:spPr>
            <a:xfrm>
              <a:off x="538200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$ 200000</a:t>
              </a:r>
              <a:endParaRPr b="0" i="0" sz="1400" u="none" cap="none" strike="noStrike">
                <a:latin typeface="Arial"/>
                <a:ea typeface="Arial"/>
                <a:cs typeface="Arial"/>
                <a:sym typeface="Arial"/>
              </a:endParaRPr>
            </a:p>
          </p:txBody>
        </p:sp>
      </p:grpSp>
      <p:grpSp>
        <p:nvGrpSpPr>
          <p:cNvPr id="413" name="Google Shape;413;p45"/>
          <p:cNvGrpSpPr/>
          <p:nvPr/>
        </p:nvGrpSpPr>
        <p:grpSpPr>
          <a:xfrm>
            <a:off x="6460200" y="905760"/>
            <a:ext cx="1170720" cy="1289520"/>
            <a:chOff x="6460200" y="905760"/>
            <a:chExt cx="1170720" cy="1289520"/>
          </a:xfrm>
        </p:grpSpPr>
        <p:pic>
          <p:nvPicPr>
            <p:cNvPr id="414" name="Google Shape;414;p45"/>
            <p:cNvPicPr preferRelativeResize="0"/>
            <p:nvPr/>
          </p:nvPicPr>
          <p:blipFill rotWithShape="1">
            <a:blip r:embed="rId4">
              <a:alphaModFix/>
            </a:blip>
            <a:srcRect b="0" l="0" r="0" t="0"/>
            <a:stretch/>
          </p:blipFill>
          <p:spPr>
            <a:xfrm>
              <a:off x="6627600" y="905760"/>
              <a:ext cx="835560" cy="889200"/>
            </a:xfrm>
            <a:prstGeom prst="rect">
              <a:avLst/>
            </a:prstGeom>
            <a:noFill/>
            <a:ln>
              <a:noFill/>
            </a:ln>
          </p:spPr>
        </p:pic>
        <p:sp>
          <p:nvSpPr>
            <p:cNvPr id="415" name="Google Shape;415;p45"/>
            <p:cNvSpPr/>
            <p:nvPr/>
          </p:nvSpPr>
          <p:spPr>
            <a:xfrm>
              <a:off x="646020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$ 210000</a:t>
              </a:r>
              <a:endParaRPr b="0" i="0" sz="1400" u="none" cap="none" strike="noStrike">
                <a:latin typeface="Arial"/>
                <a:ea typeface="Arial"/>
                <a:cs typeface="Arial"/>
                <a:sym typeface="Arial"/>
              </a:endParaRPr>
            </a:p>
          </p:txBody>
        </p:sp>
      </p:grpSp>
      <p:grpSp>
        <p:nvGrpSpPr>
          <p:cNvPr id="416" name="Google Shape;416;p45"/>
          <p:cNvGrpSpPr/>
          <p:nvPr/>
        </p:nvGrpSpPr>
        <p:grpSpPr>
          <a:xfrm>
            <a:off x="7516080" y="905760"/>
            <a:ext cx="1170720" cy="1289520"/>
            <a:chOff x="7516080" y="905760"/>
            <a:chExt cx="1170720" cy="1289520"/>
          </a:xfrm>
        </p:grpSpPr>
        <p:pic>
          <p:nvPicPr>
            <p:cNvPr id="417" name="Google Shape;417;p45"/>
            <p:cNvPicPr preferRelativeResize="0"/>
            <p:nvPr/>
          </p:nvPicPr>
          <p:blipFill rotWithShape="1">
            <a:blip r:embed="rId4">
              <a:alphaModFix/>
            </a:blip>
            <a:srcRect b="0" l="0" r="0" t="0"/>
            <a:stretch/>
          </p:blipFill>
          <p:spPr>
            <a:xfrm>
              <a:off x="7683480" y="905760"/>
              <a:ext cx="835560" cy="889200"/>
            </a:xfrm>
            <a:prstGeom prst="rect">
              <a:avLst/>
            </a:prstGeom>
            <a:noFill/>
            <a:ln>
              <a:noFill/>
            </a:ln>
          </p:spPr>
        </p:pic>
        <p:sp>
          <p:nvSpPr>
            <p:cNvPr id="418" name="Google Shape;418;p45"/>
            <p:cNvSpPr/>
            <p:nvPr/>
          </p:nvSpPr>
          <p:spPr>
            <a:xfrm>
              <a:off x="751608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$ 220000</a:t>
              </a:r>
              <a:endParaRPr b="0" i="0" sz="1400" u="none" cap="none" strike="noStrike">
                <a:latin typeface="Arial"/>
                <a:ea typeface="Arial"/>
                <a:cs typeface="Arial"/>
                <a:sym typeface="Arial"/>
              </a:endParaRPr>
            </a:p>
          </p:txBody>
        </p:sp>
      </p:grpSp>
      <p:sp>
        <p:nvSpPr>
          <p:cNvPr id="419" name="Google Shape;419;p45"/>
          <p:cNvSpPr/>
          <p:nvPr/>
        </p:nvSpPr>
        <p:spPr>
          <a:xfrm>
            <a:off x="4165920" y="905760"/>
            <a:ext cx="67680" cy="1901160"/>
          </a:xfrm>
          <a:prstGeom prst="rect">
            <a:avLst/>
          </a:prstGeom>
          <a:solidFill>
            <a:srgbClr val="E0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46"/>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Población de salarios</a:t>
            </a:r>
            <a:endParaRPr b="0" i="0" sz="3600" u="none" cap="none" strike="noStrike">
              <a:latin typeface="Arial"/>
              <a:ea typeface="Arial"/>
              <a:cs typeface="Arial"/>
              <a:sym typeface="Arial"/>
            </a:endParaRPr>
          </a:p>
        </p:txBody>
      </p:sp>
      <p:pic>
        <p:nvPicPr>
          <p:cNvPr id="425" name="Google Shape;425;p46"/>
          <p:cNvPicPr preferRelativeResize="0"/>
          <p:nvPr/>
        </p:nvPicPr>
        <p:blipFill rotWithShape="1">
          <a:blip r:embed="rId3">
            <a:alphaModFix/>
          </a:blip>
          <a:srcRect b="0" l="0" r="0" t="0"/>
          <a:stretch/>
        </p:blipFill>
        <p:spPr>
          <a:xfrm>
            <a:off x="8308080" y="0"/>
            <a:ext cx="835560" cy="835560"/>
          </a:xfrm>
          <a:prstGeom prst="rect">
            <a:avLst/>
          </a:prstGeom>
          <a:noFill/>
          <a:ln>
            <a:noFill/>
          </a:ln>
        </p:spPr>
      </p:pic>
      <p:grpSp>
        <p:nvGrpSpPr>
          <p:cNvPr id="426" name="Google Shape;426;p46"/>
          <p:cNvGrpSpPr/>
          <p:nvPr/>
        </p:nvGrpSpPr>
        <p:grpSpPr>
          <a:xfrm>
            <a:off x="635400" y="905760"/>
            <a:ext cx="1170720" cy="1289520"/>
            <a:chOff x="635400" y="905760"/>
            <a:chExt cx="1170720" cy="1289520"/>
          </a:xfrm>
        </p:grpSpPr>
        <p:pic>
          <p:nvPicPr>
            <p:cNvPr id="427" name="Google Shape;427;p46"/>
            <p:cNvPicPr preferRelativeResize="0"/>
            <p:nvPr/>
          </p:nvPicPr>
          <p:blipFill rotWithShape="1">
            <a:blip r:embed="rId4">
              <a:alphaModFix/>
            </a:blip>
            <a:srcRect b="0" l="0" r="0" t="0"/>
            <a:stretch/>
          </p:blipFill>
          <p:spPr>
            <a:xfrm>
              <a:off x="802800" y="905760"/>
              <a:ext cx="835560" cy="889200"/>
            </a:xfrm>
            <a:prstGeom prst="rect">
              <a:avLst/>
            </a:prstGeom>
            <a:noFill/>
            <a:ln>
              <a:noFill/>
            </a:ln>
          </p:spPr>
        </p:pic>
        <p:sp>
          <p:nvSpPr>
            <p:cNvPr id="428" name="Google Shape;428;p46"/>
            <p:cNvSpPr/>
            <p:nvPr/>
          </p:nvSpPr>
          <p:spPr>
            <a:xfrm>
              <a:off x="63540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$ 50000</a:t>
              </a:r>
              <a:endParaRPr b="0" i="0" sz="1400" u="none" cap="none" strike="noStrike">
                <a:latin typeface="Arial"/>
                <a:ea typeface="Arial"/>
                <a:cs typeface="Arial"/>
                <a:sym typeface="Arial"/>
              </a:endParaRPr>
            </a:p>
          </p:txBody>
        </p:sp>
      </p:grpSp>
      <p:grpSp>
        <p:nvGrpSpPr>
          <p:cNvPr id="429" name="Google Shape;429;p46"/>
          <p:cNvGrpSpPr/>
          <p:nvPr/>
        </p:nvGrpSpPr>
        <p:grpSpPr>
          <a:xfrm>
            <a:off x="635400" y="2057040"/>
            <a:ext cx="1170720" cy="1289520"/>
            <a:chOff x="635400" y="2057040"/>
            <a:chExt cx="1170720" cy="1289520"/>
          </a:xfrm>
        </p:grpSpPr>
        <p:pic>
          <p:nvPicPr>
            <p:cNvPr id="430" name="Google Shape;430;p46"/>
            <p:cNvPicPr preferRelativeResize="0"/>
            <p:nvPr/>
          </p:nvPicPr>
          <p:blipFill rotWithShape="1">
            <a:blip r:embed="rId4">
              <a:alphaModFix/>
            </a:blip>
            <a:srcRect b="0" l="0" r="0" t="0"/>
            <a:stretch/>
          </p:blipFill>
          <p:spPr>
            <a:xfrm>
              <a:off x="802800" y="2057040"/>
              <a:ext cx="835560" cy="889200"/>
            </a:xfrm>
            <a:prstGeom prst="rect">
              <a:avLst/>
            </a:prstGeom>
            <a:noFill/>
            <a:ln>
              <a:noFill/>
            </a:ln>
          </p:spPr>
        </p:pic>
        <p:sp>
          <p:nvSpPr>
            <p:cNvPr id="431" name="Google Shape;431;p46"/>
            <p:cNvSpPr/>
            <p:nvPr/>
          </p:nvSpPr>
          <p:spPr>
            <a:xfrm>
              <a:off x="635400" y="294660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$ 50000</a:t>
              </a:r>
              <a:endParaRPr b="0" i="0" sz="1400" u="none" cap="none" strike="noStrike">
                <a:latin typeface="Arial"/>
                <a:ea typeface="Arial"/>
                <a:cs typeface="Arial"/>
                <a:sym typeface="Arial"/>
              </a:endParaRPr>
            </a:p>
          </p:txBody>
        </p:sp>
      </p:grpSp>
      <p:grpSp>
        <p:nvGrpSpPr>
          <p:cNvPr id="432" name="Google Shape;432;p46"/>
          <p:cNvGrpSpPr/>
          <p:nvPr/>
        </p:nvGrpSpPr>
        <p:grpSpPr>
          <a:xfrm>
            <a:off x="1847160" y="905760"/>
            <a:ext cx="1170720" cy="1289520"/>
            <a:chOff x="1847160" y="905760"/>
            <a:chExt cx="1170720" cy="1289520"/>
          </a:xfrm>
        </p:grpSpPr>
        <p:pic>
          <p:nvPicPr>
            <p:cNvPr id="433" name="Google Shape;433;p46"/>
            <p:cNvPicPr preferRelativeResize="0"/>
            <p:nvPr/>
          </p:nvPicPr>
          <p:blipFill rotWithShape="1">
            <a:blip r:embed="rId4">
              <a:alphaModFix/>
            </a:blip>
            <a:srcRect b="0" l="0" r="0" t="0"/>
            <a:stretch/>
          </p:blipFill>
          <p:spPr>
            <a:xfrm>
              <a:off x="2014920" y="905760"/>
              <a:ext cx="835560" cy="889200"/>
            </a:xfrm>
            <a:prstGeom prst="rect">
              <a:avLst/>
            </a:prstGeom>
            <a:noFill/>
            <a:ln>
              <a:noFill/>
            </a:ln>
          </p:spPr>
        </p:pic>
        <p:sp>
          <p:nvSpPr>
            <p:cNvPr id="434" name="Google Shape;434;p46"/>
            <p:cNvSpPr/>
            <p:nvPr/>
          </p:nvSpPr>
          <p:spPr>
            <a:xfrm>
              <a:off x="184716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$ 100000</a:t>
              </a:r>
              <a:endParaRPr b="0" i="0" sz="1400" u="none" cap="none" strike="noStrike">
                <a:latin typeface="Arial"/>
                <a:ea typeface="Arial"/>
                <a:cs typeface="Arial"/>
                <a:sym typeface="Arial"/>
              </a:endParaRPr>
            </a:p>
          </p:txBody>
        </p:sp>
      </p:grpSp>
      <p:grpSp>
        <p:nvGrpSpPr>
          <p:cNvPr id="435" name="Google Shape;435;p46"/>
          <p:cNvGrpSpPr/>
          <p:nvPr/>
        </p:nvGrpSpPr>
        <p:grpSpPr>
          <a:xfrm>
            <a:off x="3058920" y="905760"/>
            <a:ext cx="1170720" cy="1289520"/>
            <a:chOff x="3058920" y="905760"/>
            <a:chExt cx="1170720" cy="1289520"/>
          </a:xfrm>
        </p:grpSpPr>
        <p:pic>
          <p:nvPicPr>
            <p:cNvPr id="436" name="Google Shape;436;p46"/>
            <p:cNvPicPr preferRelativeResize="0"/>
            <p:nvPr/>
          </p:nvPicPr>
          <p:blipFill rotWithShape="1">
            <a:blip r:embed="rId4">
              <a:alphaModFix/>
            </a:blip>
            <a:srcRect b="0" l="0" r="0" t="0"/>
            <a:stretch/>
          </p:blipFill>
          <p:spPr>
            <a:xfrm>
              <a:off x="3226680" y="905760"/>
              <a:ext cx="835560" cy="889200"/>
            </a:xfrm>
            <a:prstGeom prst="rect">
              <a:avLst/>
            </a:prstGeom>
            <a:noFill/>
            <a:ln>
              <a:noFill/>
            </a:ln>
          </p:spPr>
        </p:pic>
        <p:sp>
          <p:nvSpPr>
            <p:cNvPr id="437" name="Google Shape;437;p46"/>
            <p:cNvSpPr/>
            <p:nvPr/>
          </p:nvSpPr>
          <p:spPr>
            <a:xfrm>
              <a:off x="305892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$ 120000</a:t>
              </a:r>
              <a:endParaRPr b="0" i="0" sz="1400" u="none" cap="none" strike="noStrike">
                <a:latin typeface="Arial"/>
                <a:ea typeface="Arial"/>
                <a:cs typeface="Arial"/>
                <a:sym typeface="Arial"/>
              </a:endParaRPr>
            </a:p>
          </p:txBody>
        </p:sp>
      </p:grpSp>
      <p:sp>
        <p:nvSpPr>
          <p:cNvPr id="438" name="Google Shape;438;p46"/>
          <p:cNvSpPr/>
          <p:nvPr/>
        </p:nvSpPr>
        <p:spPr>
          <a:xfrm>
            <a:off x="230040" y="3322080"/>
            <a:ext cx="8665560" cy="161064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s-419" sz="1700" u="none" cap="none" strike="noStrike">
                <a:solidFill>
                  <a:srgbClr val="000000"/>
                </a:solidFill>
                <a:latin typeface="Open Sans"/>
                <a:ea typeface="Open Sans"/>
                <a:cs typeface="Open Sans"/>
                <a:sym typeface="Open Sans"/>
              </a:rPr>
              <a:t>Media: 135000</a:t>
            </a:r>
            <a:endParaRPr b="0" i="0" sz="1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s-419" sz="1700" u="none" cap="none" strike="noStrike">
                <a:solidFill>
                  <a:srgbClr val="000000"/>
                </a:solidFill>
                <a:latin typeface="Open Sans"/>
                <a:ea typeface="Open Sans"/>
                <a:cs typeface="Open Sans"/>
                <a:sym typeface="Open Sans"/>
              </a:rPr>
              <a:t>Mediana: 125000</a:t>
            </a:r>
            <a:endParaRPr b="0" i="0" sz="1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s-419" sz="1700" u="none" cap="none" strike="noStrike">
                <a:solidFill>
                  <a:srgbClr val="000000"/>
                </a:solidFill>
                <a:latin typeface="Open Sans"/>
                <a:ea typeface="Open Sans"/>
                <a:cs typeface="Open Sans"/>
                <a:sym typeface="Open Sans"/>
              </a:rPr>
              <a:t>Cuartil 1:  87500</a:t>
            </a:r>
            <a:endParaRPr b="0" i="0" sz="1700" u="none" cap="none" strike="noStrike">
              <a:latin typeface="Arial"/>
              <a:ea typeface="Arial"/>
              <a:cs typeface="Arial"/>
              <a:sym typeface="Arial"/>
            </a:endParaRPr>
          </a:p>
        </p:txBody>
      </p:sp>
      <p:grpSp>
        <p:nvGrpSpPr>
          <p:cNvPr id="439" name="Google Shape;439;p46"/>
          <p:cNvGrpSpPr/>
          <p:nvPr/>
        </p:nvGrpSpPr>
        <p:grpSpPr>
          <a:xfrm>
            <a:off x="4210920" y="905760"/>
            <a:ext cx="1170720" cy="1289520"/>
            <a:chOff x="4210920" y="905760"/>
            <a:chExt cx="1170720" cy="1289520"/>
          </a:xfrm>
        </p:grpSpPr>
        <p:pic>
          <p:nvPicPr>
            <p:cNvPr id="440" name="Google Shape;440;p46"/>
            <p:cNvPicPr preferRelativeResize="0"/>
            <p:nvPr/>
          </p:nvPicPr>
          <p:blipFill rotWithShape="1">
            <a:blip r:embed="rId4">
              <a:alphaModFix/>
            </a:blip>
            <a:srcRect b="0" l="0" r="0" t="0"/>
            <a:stretch/>
          </p:blipFill>
          <p:spPr>
            <a:xfrm>
              <a:off x="4378680" y="905760"/>
              <a:ext cx="835560" cy="889200"/>
            </a:xfrm>
            <a:prstGeom prst="rect">
              <a:avLst/>
            </a:prstGeom>
            <a:noFill/>
            <a:ln>
              <a:noFill/>
            </a:ln>
          </p:spPr>
        </p:pic>
        <p:sp>
          <p:nvSpPr>
            <p:cNvPr id="441" name="Google Shape;441;p46"/>
            <p:cNvSpPr/>
            <p:nvPr/>
          </p:nvSpPr>
          <p:spPr>
            <a:xfrm>
              <a:off x="421092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$ 130000</a:t>
              </a:r>
              <a:endParaRPr b="0" i="0" sz="1400" u="none" cap="none" strike="noStrike">
                <a:latin typeface="Arial"/>
                <a:ea typeface="Arial"/>
                <a:cs typeface="Arial"/>
                <a:sym typeface="Arial"/>
              </a:endParaRPr>
            </a:p>
          </p:txBody>
        </p:sp>
      </p:grpSp>
      <p:grpSp>
        <p:nvGrpSpPr>
          <p:cNvPr id="442" name="Google Shape;442;p46"/>
          <p:cNvGrpSpPr/>
          <p:nvPr/>
        </p:nvGrpSpPr>
        <p:grpSpPr>
          <a:xfrm>
            <a:off x="5382000" y="905760"/>
            <a:ext cx="1170720" cy="1289520"/>
            <a:chOff x="5382000" y="905760"/>
            <a:chExt cx="1170720" cy="1289520"/>
          </a:xfrm>
        </p:grpSpPr>
        <p:pic>
          <p:nvPicPr>
            <p:cNvPr id="443" name="Google Shape;443;p46"/>
            <p:cNvPicPr preferRelativeResize="0"/>
            <p:nvPr/>
          </p:nvPicPr>
          <p:blipFill rotWithShape="1">
            <a:blip r:embed="rId4">
              <a:alphaModFix/>
            </a:blip>
            <a:srcRect b="0" l="0" r="0" t="0"/>
            <a:stretch/>
          </p:blipFill>
          <p:spPr>
            <a:xfrm>
              <a:off x="5549400" y="905760"/>
              <a:ext cx="835560" cy="889200"/>
            </a:xfrm>
            <a:prstGeom prst="rect">
              <a:avLst/>
            </a:prstGeom>
            <a:noFill/>
            <a:ln>
              <a:noFill/>
            </a:ln>
          </p:spPr>
        </p:pic>
        <p:sp>
          <p:nvSpPr>
            <p:cNvPr id="444" name="Google Shape;444;p46"/>
            <p:cNvSpPr/>
            <p:nvPr/>
          </p:nvSpPr>
          <p:spPr>
            <a:xfrm>
              <a:off x="538200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$ 200000</a:t>
              </a:r>
              <a:endParaRPr b="0" i="0" sz="1400" u="none" cap="none" strike="noStrike">
                <a:latin typeface="Arial"/>
                <a:ea typeface="Arial"/>
                <a:cs typeface="Arial"/>
                <a:sym typeface="Arial"/>
              </a:endParaRPr>
            </a:p>
          </p:txBody>
        </p:sp>
      </p:grpSp>
      <p:grpSp>
        <p:nvGrpSpPr>
          <p:cNvPr id="445" name="Google Shape;445;p46"/>
          <p:cNvGrpSpPr/>
          <p:nvPr/>
        </p:nvGrpSpPr>
        <p:grpSpPr>
          <a:xfrm>
            <a:off x="6460200" y="905760"/>
            <a:ext cx="1170720" cy="1289520"/>
            <a:chOff x="6460200" y="905760"/>
            <a:chExt cx="1170720" cy="1289520"/>
          </a:xfrm>
        </p:grpSpPr>
        <p:pic>
          <p:nvPicPr>
            <p:cNvPr id="446" name="Google Shape;446;p46"/>
            <p:cNvPicPr preferRelativeResize="0"/>
            <p:nvPr/>
          </p:nvPicPr>
          <p:blipFill rotWithShape="1">
            <a:blip r:embed="rId4">
              <a:alphaModFix/>
            </a:blip>
            <a:srcRect b="0" l="0" r="0" t="0"/>
            <a:stretch/>
          </p:blipFill>
          <p:spPr>
            <a:xfrm>
              <a:off x="6627600" y="905760"/>
              <a:ext cx="835560" cy="889200"/>
            </a:xfrm>
            <a:prstGeom prst="rect">
              <a:avLst/>
            </a:prstGeom>
            <a:noFill/>
            <a:ln>
              <a:noFill/>
            </a:ln>
          </p:spPr>
        </p:pic>
        <p:sp>
          <p:nvSpPr>
            <p:cNvPr id="447" name="Google Shape;447;p46"/>
            <p:cNvSpPr/>
            <p:nvPr/>
          </p:nvSpPr>
          <p:spPr>
            <a:xfrm>
              <a:off x="646020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$ 210000</a:t>
              </a:r>
              <a:endParaRPr b="0" i="0" sz="1400" u="none" cap="none" strike="noStrike">
                <a:latin typeface="Arial"/>
                <a:ea typeface="Arial"/>
                <a:cs typeface="Arial"/>
                <a:sym typeface="Arial"/>
              </a:endParaRPr>
            </a:p>
          </p:txBody>
        </p:sp>
      </p:grpSp>
      <p:grpSp>
        <p:nvGrpSpPr>
          <p:cNvPr id="448" name="Google Shape;448;p46"/>
          <p:cNvGrpSpPr/>
          <p:nvPr/>
        </p:nvGrpSpPr>
        <p:grpSpPr>
          <a:xfrm>
            <a:off x="7516080" y="905760"/>
            <a:ext cx="1170720" cy="1289520"/>
            <a:chOff x="7516080" y="905760"/>
            <a:chExt cx="1170720" cy="1289520"/>
          </a:xfrm>
        </p:grpSpPr>
        <p:pic>
          <p:nvPicPr>
            <p:cNvPr id="449" name="Google Shape;449;p46"/>
            <p:cNvPicPr preferRelativeResize="0"/>
            <p:nvPr/>
          </p:nvPicPr>
          <p:blipFill rotWithShape="1">
            <a:blip r:embed="rId4">
              <a:alphaModFix/>
            </a:blip>
            <a:srcRect b="0" l="0" r="0" t="0"/>
            <a:stretch/>
          </p:blipFill>
          <p:spPr>
            <a:xfrm>
              <a:off x="7683480" y="905760"/>
              <a:ext cx="835560" cy="889200"/>
            </a:xfrm>
            <a:prstGeom prst="rect">
              <a:avLst/>
            </a:prstGeom>
            <a:noFill/>
            <a:ln>
              <a:noFill/>
            </a:ln>
          </p:spPr>
        </p:pic>
        <p:sp>
          <p:nvSpPr>
            <p:cNvPr id="450" name="Google Shape;450;p46"/>
            <p:cNvSpPr/>
            <p:nvPr/>
          </p:nvSpPr>
          <p:spPr>
            <a:xfrm>
              <a:off x="751608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$ 220000</a:t>
              </a:r>
              <a:endParaRPr b="0" i="0" sz="1400" u="none" cap="none" strike="noStrike">
                <a:latin typeface="Arial"/>
                <a:ea typeface="Arial"/>
                <a:cs typeface="Arial"/>
                <a:sym typeface="Arial"/>
              </a:endParaRPr>
            </a:p>
          </p:txBody>
        </p:sp>
      </p:grpSp>
      <p:sp>
        <p:nvSpPr>
          <p:cNvPr id="451" name="Google Shape;451;p46"/>
          <p:cNvSpPr/>
          <p:nvPr/>
        </p:nvSpPr>
        <p:spPr>
          <a:xfrm>
            <a:off x="1738080" y="1128240"/>
            <a:ext cx="67680" cy="1901160"/>
          </a:xfrm>
          <a:prstGeom prst="rect">
            <a:avLst/>
          </a:prstGeom>
          <a:solidFill>
            <a:srgbClr val="E0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46"/>
          <p:cNvSpPr/>
          <p:nvPr/>
        </p:nvSpPr>
        <p:spPr>
          <a:xfrm>
            <a:off x="2736360" y="3322080"/>
            <a:ext cx="6159240" cy="14619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s-419" sz="1400" u="none" cap="none" strike="noStrike">
                <a:solidFill>
                  <a:srgbClr val="000000"/>
                </a:solidFill>
                <a:latin typeface="Arial"/>
                <a:ea typeface="Arial"/>
                <a:cs typeface="Arial"/>
                <a:sym typeface="Arial"/>
              </a:rPr>
              <a:t>Para calcular el cuartil hay varias posibilidades, en todas se debe cumplir que se descarta la misma porción de la población. </a:t>
            </a:r>
            <a:br>
              <a:rPr b="0" i="0" lang="es-419" sz="1800" u="none" cap="none" strike="noStrike">
                <a:latin typeface="Arial"/>
                <a:ea typeface="Arial"/>
                <a:cs typeface="Arial"/>
                <a:sym typeface="Arial"/>
              </a:rPr>
            </a:br>
            <a:r>
              <a:rPr b="0" i="0" lang="es-419" sz="1400" u="none" cap="none" strike="noStrike">
                <a:solidFill>
                  <a:srgbClr val="000000"/>
                </a:solidFill>
                <a:latin typeface="Arial"/>
                <a:ea typeface="Arial"/>
                <a:cs typeface="Arial"/>
                <a:sym typeface="Arial"/>
              </a:rPr>
              <a:t>En </a:t>
            </a:r>
            <a:r>
              <a:rPr b="1" i="0" lang="es-419" sz="1400" u="none" cap="none" strike="noStrike">
                <a:solidFill>
                  <a:srgbClr val="000000"/>
                </a:solidFill>
                <a:latin typeface="Arial"/>
                <a:ea typeface="Arial"/>
                <a:cs typeface="Arial"/>
                <a:sym typeface="Arial"/>
              </a:rPr>
              <a:t>numpy</a:t>
            </a:r>
            <a:r>
              <a:rPr b="0" i="0" lang="es-419" sz="1400" u="none" cap="none" strike="noStrike">
                <a:solidFill>
                  <a:srgbClr val="000000"/>
                </a:solidFill>
                <a:latin typeface="Arial"/>
                <a:ea typeface="Arial"/>
                <a:cs typeface="Arial"/>
                <a:sym typeface="Arial"/>
              </a:rPr>
              <a:t>, si queremos calcular el </a:t>
            </a:r>
            <a:r>
              <a:rPr b="1" i="0" lang="es-419" sz="1400" u="none" cap="none" strike="noStrike">
                <a:solidFill>
                  <a:srgbClr val="000000"/>
                </a:solidFill>
                <a:latin typeface="Arial"/>
                <a:ea typeface="Arial"/>
                <a:cs typeface="Arial"/>
                <a:sym typeface="Arial"/>
              </a:rPr>
              <a:t>cuartil 1</a:t>
            </a:r>
            <a:r>
              <a:rPr b="0" i="0" lang="es-419" sz="1400" u="none" cap="none" strike="noStrike">
                <a:solidFill>
                  <a:srgbClr val="000000"/>
                </a:solidFill>
                <a:latin typeface="Arial"/>
                <a:ea typeface="Arial"/>
                <a:cs typeface="Arial"/>
                <a:sym typeface="Arial"/>
              </a:rPr>
              <a:t> se hace la siguiente cuenta:</a:t>
            </a:r>
            <a:endParaRPr b="0" i="0" sz="1400" u="none" cap="none" strike="noStrike">
              <a:latin typeface="Arial"/>
              <a:ea typeface="Arial"/>
              <a:cs typeface="Arial"/>
              <a:sym typeface="Arial"/>
            </a:endParaRPr>
          </a:p>
          <a:p>
            <a:pPr indent="-317160" lvl="0" marL="457200" marR="0" rtl="0" algn="l">
              <a:lnSpc>
                <a:spcPct val="100000"/>
              </a:lnSpc>
              <a:spcBef>
                <a:spcPts val="0"/>
              </a:spcBef>
              <a:spcAft>
                <a:spcPts val="0"/>
              </a:spcAft>
              <a:buClr>
                <a:srgbClr val="000000"/>
              </a:buClr>
              <a:buSzPts val="1400"/>
              <a:buFont typeface="Arial"/>
              <a:buChar char="-"/>
            </a:pPr>
            <a:r>
              <a:rPr b="0" i="0" lang="es-419" sz="1400" u="none" cap="none" strike="noStrike">
                <a:solidFill>
                  <a:srgbClr val="000000"/>
                </a:solidFill>
                <a:latin typeface="Arial"/>
                <a:ea typeface="Arial"/>
                <a:cs typeface="Arial"/>
                <a:sym typeface="Arial"/>
              </a:rPr>
              <a:t>(N-1) * 0.25 ⇒ en este caso (8-1)*0.25 = </a:t>
            </a:r>
            <a:r>
              <a:rPr b="1" i="0" lang="es-419" sz="1400" u="none" cap="none" strike="noStrike">
                <a:solidFill>
                  <a:srgbClr val="000000"/>
                </a:solidFill>
                <a:latin typeface="Arial"/>
                <a:ea typeface="Arial"/>
                <a:cs typeface="Arial"/>
                <a:sym typeface="Arial"/>
              </a:rPr>
              <a:t>1.75</a:t>
            </a:r>
            <a:endParaRPr b="0" i="0" sz="1400" u="none" cap="none" strike="noStrike">
              <a:latin typeface="Arial"/>
              <a:ea typeface="Arial"/>
              <a:cs typeface="Arial"/>
              <a:sym typeface="Arial"/>
            </a:endParaRPr>
          </a:p>
          <a:p>
            <a:pPr indent="-317160" lvl="0" marL="457200" marR="0" rtl="0" algn="l">
              <a:lnSpc>
                <a:spcPct val="100000"/>
              </a:lnSpc>
              <a:spcBef>
                <a:spcPts val="0"/>
              </a:spcBef>
              <a:spcAft>
                <a:spcPts val="0"/>
              </a:spcAft>
              <a:buClr>
                <a:srgbClr val="000000"/>
              </a:buClr>
              <a:buSzPts val="1400"/>
              <a:buFont typeface="Arial"/>
              <a:buChar char="-"/>
            </a:pPr>
            <a:r>
              <a:rPr b="0" i="0" lang="es-419" sz="1400" u="none" cap="none" strike="noStrike">
                <a:solidFill>
                  <a:srgbClr val="000000"/>
                </a:solidFill>
                <a:latin typeface="Arial"/>
                <a:ea typeface="Arial"/>
                <a:cs typeface="Arial"/>
                <a:sym typeface="Arial"/>
              </a:rPr>
              <a:t>Luego se devolvería: array[1] + (array[2]-array[1])*0.75</a:t>
            </a:r>
            <a:endParaRPr b="0" i="0" sz="1400" u="none" cap="none" strike="noStrike">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1400"/>
              <a:buFont typeface="Arial"/>
              <a:buChar char="-"/>
            </a:pPr>
            <a:r>
              <a:rPr b="0" i="0" lang="es-419" sz="1400" u="none" cap="none" strike="noStrike">
                <a:solidFill>
                  <a:srgbClr val="000000"/>
                </a:solidFill>
                <a:latin typeface="Arial"/>
                <a:ea typeface="Arial"/>
                <a:cs typeface="Arial"/>
                <a:sym typeface="Arial"/>
              </a:rPr>
              <a:t>En este caso: 50000+(100000-50000)*0.75=87500</a:t>
            </a:r>
            <a:endParaRPr b="0" i="0" sz="1400" u="none" cap="none" strike="noStrike">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47"/>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Población de salarios</a:t>
            </a:r>
            <a:endParaRPr b="0" i="0" sz="3600" u="none" cap="none" strike="noStrike">
              <a:latin typeface="Arial"/>
              <a:ea typeface="Arial"/>
              <a:cs typeface="Arial"/>
              <a:sym typeface="Arial"/>
            </a:endParaRPr>
          </a:p>
        </p:txBody>
      </p:sp>
      <p:pic>
        <p:nvPicPr>
          <p:cNvPr id="458" name="Google Shape;458;p47"/>
          <p:cNvPicPr preferRelativeResize="0"/>
          <p:nvPr/>
        </p:nvPicPr>
        <p:blipFill rotWithShape="1">
          <a:blip r:embed="rId3">
            <a:alphaModFix/>
          </a:blip>
          <a:srcRect b="0" l="0" r="0" t="0"/>
          <a:stretch/>
        </p:blipFill>
        <p:spPr>
          <a:xfrm>
            <a:off x="8308080" y="0"/>
            <a:ext cx="835560" cy="835560"/>
          </a:xfrm>
          <a:prstGeom prst="rect">
            <a:avLst/>
          </a:prstGeom>
          <a:noFill/>
          <a:ln>
            <a:noFill/>
          </a:ln>
        </p:spPr>
      </p:pic>
      <p:grpSp>
        <p:nvGrpSpPr>
          <p:cNvPr id="459" name="Google Shape;459;p47"/>
          <p:cNvGrpSpPr/>
          <p:nvPr/>
        </p:nvGrpSpPr>
        <p:grpSpPr>
          <a:xfrm>
            <a:off x="635400" y="905760"/>
            <a:ext cx="1170720" cy="1289520"/>
            <a:chOff x="635400" y="905760"/>
            <a:chExt cx="1170720" cy="1289520"/>
          </a:xfrm>
        </p:grpSpPr>
        <p:pic>
          <p:nvPicPr>
            <p:cNvPr id="460" name="Google Shape;460;p47"/>
            <p:cNvPicPr preferRelativeResize="0"/>
            <p:nvPr/>
          </p:nvPicPr>
          <p:blipFill rotWithShape="1">
            <a:blip r:embed="rId4">
              <a:alphaModFix/>
            </a:blip>
            <a:srcRect b="0" l="0" r="0" t="0"/>
            <a:stretch/>
          </p:blipFill>
          <p:spPr>
            <a:xfrm>
              <a:off x="802800" y="905760"/>
              <a:ext cx="835560" cy="889200"/>
            </a:xfrm>
            <a:prstGeom prst="rect">
              <a:avLst/>
            </a:prstGeom>
            <a:noFill/>
            <a:ln>
              <a:noFill/>
            </a:ln>
          </p:spPr>
        </p:pic>
        <p:sp>
          <p:nvSpPr>
            <p:cNvPr id="461" name="Google Shape;461;p47"/>
            <p:cNvSpPr/>
            <p:nvPr/>
          </p:nvSpPr>
          <p:spPr>
            <a:xfrm>
              <a:off x="63540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$ 50000</a:t>
              </a:r>
              <a:endParaRPr b="0" i="0" sz="1400" u="none" cap="none" strike="noStrike">
                <a:latin typeface="Arial"/>
                <a:ea typeface="Arial"/>
                <a:cs typeface="Arial"/>
                <a:sym typeface="Arial"/>
              </a:endParaRPr>
            </a:p>
          </p:txBody>
        </p:sp>
      </p:grpSp>
      <p:grpSp>
        <p:nvGrpSpPr>
          <p:cNvPr id="462" name="Google Shape;462;p47"/>
          <p:cNvGrpSpPr/>
          <p:nvPr/>
        </p:nvGrpSpPr>
        <p:grpSpPr>
          <a:xfrm>
            <a:off x="635400" y="2057040"/>
            <a:ext cx="1170720" cy="1289520"/>
            <a:chOff x="635400" y="2057040"/>
            <a:chExt cx="1170720" cy="1289520"/>
          </a:xfrm>
        </p:grpSpPr>
        <p:pic>
          <p:nvPicPr>
            <p:cNvPr id="463" name="Google Shape;463;p47"/>
            <p:cNvPicPr preferRelativeResize="0"/>
            <p:nvPr/>
          </p:nvPicPr>
          <p:blipFill rotWithShape="1">
            <a:blip r:embed="rId4">
              <a:alphaModFix/>
            </a:blip>
            <a:srcRect b="0" l="0" r="0" t="0"/>
            <a:stretch/>
          </p:blipFill>
          <p:spPr>
            <a:xfrm>
              <a:off x="802800" y="2057040"/>
              <a:ext cx="835560" cy="889200"/>
            </a:xfrm>
            <a:prstGeom prst="rect">
              <a:avLst/>
            </a:prstGeom>
            <a:noFill/>
            <a:ln>
              <a:noFill/>
            </a:ln>
          </p:spPr>
        </p:pic>
        <p:sp>
          <p:nvSpPr>
            <p:cNvPr id="464" name="Google Shape;464;p47"/>
            <p:cNvSpPr/>
            <p:nvPr/>
          </p:nvSpPr>
          <p:spPr>
            <a:xfrm>
              <a:off x="635400" y="294660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$ 50000</a:t>
              </a:r>
              <a:endParaRPr b="0" i="0" sz="1400" u="none" cap="none" strike="noStrike">
                <a:latin typeface="Arial"/>
                <a:ea typeface="Arial"/>
                <a:cs typeface="Arial"/>
                <a:sym typeface="Arial"/>
              </a:endParaRPr>
            </a:p>
          </p:txBody>
        </p:sp>
      </p:grpSp>
      <p:grpSp>
        <p:nvGrpSpPr>
          <p:cNvPr id="465" name="Google Shape;465;p47"/>
          <p:cNvGrpSpPr/>
          <p:nvPr/>
        </p:nvGrpSpPr>
        <p:grpSpPr>
          <a:xfrm>
            <a:off x="1847160" y="905760"/>
            <a:ext cx="1170720" cy="1289520"/>
            <a:chOff x="1847160" y="905760"/>
            <a:chExt cx="1170720" cy="1289520"/>
          </a:xfrm>
        </p:grpSpPr>
        <p:pic>
          <p:nvPicPr>
            <p:cNvPr id="466" name="Google Shape;466;p47"/>
            <p:cNvPicPr preferRelativeResize="0"/>
            <p:nvPr/>
          </p:nvPicPr>
          <p:blipFill rotWithShape="1">
            <a:blip r:embed="rId4">
              <a:alphaModFix/>
            </a:blip>
            <a:srcRect b="0" l="0" r="0" t="0"/>
            <a:stretch/>
          </p:blipFill>
          <p:spPr>
            <a:xfrm>
              <a:off x="2014920" y="905760"/>
              <a:ext cx="835560" cy="889200"/>
            </a:xfrm>
            <a:prstGeom prst="rect">
              <a:avLst/>
            </a:prstGeom>
            <a:noFill/>
            <a:ln>
              <a:noFill/>
            </a:ln>
          </p:spPr>
        </p:pic>
        <p:sp>
          <p:nvSpPr>
            <p:cNvPr id="467" name="Google Shape;467;p47"/>
            <p:cNvSpPr/>
            <p:nvPr/>
          </p:nvSpPr>
          <p:spPr>
            <a:xfrm>
              <a:off x="184716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$ 100000</a:t>
              </a:r>
              <a:endParaRPr b="0" i="0" sz="1400" u="none" cap="none" strike="noStrike">
                <a:latin typeface="Arial"/>
                <a:ea typeface="Arial"/>
                <a:cs typeface="Arial"/>
                <a:sym typeface="Arial"/>
              </a:endParaRPr>
            </a:p>
          </p:txBody>
        </p:sp>
      </p:grpSp>
      <p:grpSp>
        <p:nvGrpSpPr>
          <p:cNvPr id="468" name="Google Shape;468;p47"/>
          <p:cNvGrpSpPr/>
          <p:nvPr/>
        </p:nvGrpSpPr>
        <p:grpSpPr>
          <a:xfrm>
            <a:off x="3058920" y="905760"/>
            <a:ext cx="1170720" cy="1289520"/>
            <a:chOff x="3058920" y="905760"/>
            <a:chExt cx="1170720" cy="1289520"/>
          </a:xfrm>
        </p:grpSpPr>
        <p:pic>
          <p:nvPicPr>
            <p:cNvPr id="469" name="Google Shape;469;p47"/>
            <p:cNvPicPr preferRelativeResize="0"/>
            <p:nvPr/>
          </p:nvPicPr>
          <p:blipFill rotWithShape="1">
            <a:blip r:embed="rId4">
              <a:alphaModFix/>
            </a:blip>
            <a:srcRect b="0" l="0" r="0" t="0"/>
            <a:stretch/>
          </p:blipFill>
          <p:spPr>
            <a:xfrm>
              <a:off x="3226680" y="905760"/>
              <a:ext cx="835560" cy="889200"/>
            </a:xfrm>
            <a:prstGeom prst="rect">
              <a:avLst/>
            </a:prstGeom>
            <a:noFill/>
            <a:ln>
              <a:noFill/>
            </a:ln>
          </p:spPr>
        </p:pic>
        <p:sp>
          <p:nvSpPr>
            <p:cNvPr id="470" name="Google Shape;470;p47"/>
            <p:cNvSpPr/>
            <p:nvPr/>
          </p:nvSpPr>
          <p:spPr>
            <a:xfrm>
              <a:off x="305892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$ 120000</a:t>
              </a:r>
              <a:endParaRPr b="0" i="0" sz="1400" u="none" cap="none" strike="noStrike">
                <a:latin typeface="Arial"/>
                <a:ea typeface="Arial"/>
                <a:cs typeface="Arial"/>
                <a:sym typeface="Arial"/>
              </a:endParaRPr>
            </a:p>
          </p:txBody>
        </p:sp>
      </p:grpSp>
      <p:sp>
        <p:nvSpPr>
          <p:cNvPr id="471" name="Google Shape;471;p47"/>
          <p:cNvSpPr/>
          <p:nvPr/>
        </p:nvSpPr>
        <p:spPr>
          <a:xfrm>
            <a:off x="245160" y="3322080"/>
            <a:ext cx="4123800" cy="161064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s-419" sz="1700" u="none" cap="none" strike="noStrike">
                <a:solidFill>
                  <a:srgbClr val="000000"/>
                </a:solidFill>
                <a:latin typeface="Open Sans"/>
                <a:ea typeface="Open Sans"/>
                <a:cs typeface="Open Sans"/>
                <a:sym typeface="Open Sans"/>
              </a:rPr>
              <a:t>Media: 135000</a:t>
            </a:r>
            <a:endParaRPr b="0" i="0" sz="1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s-419" sz="1700" u="none" cap="none" strike="noStrike">
                <a:solidFill>
                  <a:srgbClr val="000000"/>
                </a:solidFill>
                <a:latin typeface="Open Sans"/>
                <a:ea typeface="Open Sans"/>
                <a:cs typeface="Open Sans"/>
                <a:sym typeface="Open Sans"/>
              </a:rPr>
              <a:t>Mediana: 125000</a:t>
            </a:r>
            <a:endParaRPr b="0" i="0" sz="1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s-419" sz="1700" u="none" cap="none" strike="noStrike">
                <a:solidFill>
                  <a:srgbClr val="000000"/>
                </a:solidFill>
                <a:latin typeface="Open Sans"/>
                <a:ea typeface="Open Sans"/>
                <a:cs typeface="Open Sans"/>
                <a:sym typeface="Open Sans"/>
              </a:rPr>
              <a:t>Cuartil 1:  87500</a:t>
            </a:r>
            <a:endParaRPr b="0" i="0" sz="1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s-419" sz="1700" u="none" cap="none" strike="noStrike">
                <a:solidFill>
                  <a:srgbClr val="000000"/>
                </a:solidFill>
                <a:latin typeface="Open Sans"/>
                <a:ea typeface="Open Sans"/>
                <a:cs typeface="Open Sans"/>
                <a:sym typeface="Open Sans"/>
              </a:rPr>
              <a:t>Cuartil 2: 125000</a:t>
            </a:r>
            <a:endParaRPr b="0" i="0" sz="1700" u="none" cap="none" strike="noStrike">
              <a:latin typeface="Arial"/>
              <a:ea typeface="Arial"/>
              <a:cs typeface="Arial"/>
              <a:sym typeface="Arial"/>
            </a:endParaRPr>
          </a:p>
        </p:txBody>
      </p:sp>
      <p:grpSp>
        <p:nvGrpSpPr>
          <p:cNvPr id="472" name="Google Shape;472;p47"/>
          <p:cNvGrpSpPr/>
          <p:nvPr/>
        </p:nvGrpSpPr>
        <p:grpSpPr>
          <a:xfrm>
            <a:off x="4210920" y="905760"/>
            <a:ext cx="1170720" cy="1289520"/>
            <a:chOff x="4210920" y="905760"/>
            <a:chExt cx="1170720" cy="1289520"/>
          </a:xfrm>
        </p:grpSpPr>
        <p:pic>
          <p:nvPicPr>
            <p:cNvPr id="473" name="Google Shape;473;p47"/>
            <p:cNvPicPr preferRelativeResize="0"/>
            <p:nvPr/>
          </p:nvPicPr>
          <p:blipFill rotWithShape="1">
            <a:blip r:embed="rId4">
              <a:alphaModFix/>
            </a:blip>
            <a:srcRect b="0" l="0" r="0" t="0"/>
            <a:stretch/>
          </p:blipFill>
          <p:spPr>
            <a:xfrm>
              <a:off x="4378680" y="905760"/>
              <a:ext cx="835560" cy="889200"/>
            </a:xfrm>
            <a:prstGeom prst="rect">
              <a:avLst/>
            </a:prstGeom>
            <a:noFill/>
            <a:ln>
              <a:noFill/>
            </a:ln>
          </p:spPr>
        </p:pic>
        <p:sp>
          <p:nvSpPr>
            <p:cNvPr id="474" name="Google Shape;474;p47"/>
            <p:cNvSpPr/>
            <p:nvPr/>
          </p:nvSpPr>
          <p:spPr>
            <a:xfrm>
              <a:off x="421092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$ 130000</a:t>
              </a:r>
              <a:endParaRPr b="0" i="0" sz="1400" u="none" cap="none" strike="noStrike">
                <a:latin typeface="Arial"/>
                <a:ea typeface="Arial"/>
                <a:cs typeface="Arial"/>
                <a:sym typeface="Arial"/>
              </a:endParaRPr>
            </a:p>
          </p:txBody>
        </p:sp>
      </p:grpSp>
      <p:grpSp>
        <p:nvGrpSpPr>
          <p:cNvPr id="475" name="Google Shape;475;p47"/>
          <p:cNvGrpSpPr/>
          <p:nvPr/>
        </p:nvGrpSpPr>
        <p:grpSpPr>
          <a:xfrm>
            <a:off x="5382000" y="905760"/>
            <a:ext cx="1170720" cy="1289520"/>
            <a:chOff x="5382000" y="905760"/>
            <a:chExt cx="1170720" cy="1289520"/>
          </a:xfrm>
        </p:grpSpPr>
        <p:pic>
          <p:nvPicPr>
            <p:cNvPr id="476" name="Google Shape;476;p47"/>
            <p:cNvPicPr preferRelativeResize="0"/>
            <p:nvPr/>
          </p:nvPicPr>
          <p:blipFill rotWithShape="1">
            <a:blip r:embed="rId4">
              <a:alphaModFix/>
            </a:blip>
            <a:srcRect b="0" l="0" r="0" t="0"/>
            <a:stretch/>
          </p:blipFill>
          <p:spPr>
            <a:xfrm>
              <a:off x="5549400" y="905760"/>
              <a:ext cx="835560" cy="889200"/>
            </a:xfrm>
            <a:prstGeom prst="rect">
              <a:avLst/>
            </a:prstGeom>
            <a:noFill/>
            <a:ln>
              <a:noFill/>
            </a:ln>
          </p:spPr>
        </p:pic>
        <p:sp>
          <p:nvSpPr>
            <p:cNvPr id="477" name="Google Shape;477;p47"/>
            <p:cNvSpPr/>
            <p:nvPr/>
          </p:nvSpPr>
          <p:spPr>
            <a:xfrm>
              <a:off x="538200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$ 200000</a:t>
              </a:r>
              <a:endParaRPr b="0" i="0" sz="1400" u="none" cap="none" strike="noStrike">
                <a:latin typeface="Arial"/>
                <a:ea typeface="Arial"/>
                <a:cs typeface="Arial"/>
                <a:sym typeface="Arial"/>
              </a:endParaRPr>
            </a:p>
          </p:txBody>
        </p:sp>
      </p:grpSp>
      <p:grpSp>
        <p:nvGrpSpPr>
          <p:cNvPr id="478" name="Google Shape;478;p47"/>
          <p:cNvGrpSpPr/>
          <p:nvPr/>
        </p:nvGrpSpPr>
        <p:grpSpPr>
          <a:xfrm>
            <a:off x="6460200" y="905760"/>
            <a:ext cx="1170720" cy="1289520"/>
            <a:chOff x="6460200" y="905760"/>
            <a:chExt cx="1170720" cy="1289520"/>
          </a:xfrm>
        </p:grpSpPr>
        <p:pic>
          <p:nvPicPr>
            <p:cNvPr id="479" name="Google Shape;479;p47"/>
            <p:cNvPicPr preferRelativeResize="0"/>
            <p:nvPr/>
          </p:nvPicPr>
          <p:blipFill rotWithShape="1">
            <a:blip r:embed="rId4">
              <a:alphaModFix/>
            </a:blip>
            <a:srcRect b="0" l="0" r="0" t="0"/>
            <a:stretch/>
          </p:blipFill>
          <p:spPr>
            <a:xfrm>
              <a:off x="6627600" y="905760"/>
              <a:ext cx="835560" cy="889200"/>
            </a:xfrm>
            <a:prstGeom prst="rect">
              <a:avLst/>
            </a:prstGeom>
            <a:noFill/>
            <a:ln>
              <a:noFill/>
            </a:ln>
          </p:spPr>
        </p:pic>
        <p:sp>
          <p:nvSpPr>
            <p:cNvPr id="480" name="Google Shape;480;p47"/>
            <p:cNvSpPr/>
            <p:nvPr/>
          </p:nvSpPr>
          <p:spPr>
            <a:xfrm>
              <a:off x="646020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$ 210000</a:t>
              </a:r>
              <a:endParaRPr b="0" i="0" sz="1400" u="none" cap="none" strike="noStrike">
                <a:latin typeface="Arial"/>
                <a:ea typeface="Arial"/>
                <a:cs typeface="Arial"/>
                <a:sym typeface="Arial"/>
              </a:endParaRPr>
            </a:p>
          </p:txBody>
        </p:sp>
      </p:grpSp>
      <p:grpSp>
        <p:nvGrpSpPr>
          <p:cNvPr id="481" name="Google Shape;481;p47"/>
          <p:cNvGrpSpPr/>
          <p:nvPr/>
        </p:nvGrpSpPr>
        <p:grpSpPr>
          <a:xfrm>
            <a:off x="7516080" y="905760"/>
            <a:ext cx="1170720" cy="1289520"/>
            <a:chOff x="7516080" y="905760"/>
            <a:chExt cx="1170720" cy="1289520"/>
          </a:xfrm>
        </p:grpSpPr>
        <p:pic>
          <p:nvPicPr>
            <p:cNvPr id="482" name="Google Shape;482;p47"/>
            <p:cNvPicPr preferRelativeResize="0"/>
            <p:nvPr/>
          </p:nvPicPr>
          <p:blipFill rotWithShape="1">
            <a:blip r:embed="rId4">
              <a:alphaModFix/>
            </a:blip>
            <a:srcRect b="0" l="0" r="0" t="0"/>
            <a:stretch/>
          </p:blipFill>
          <p:spPr>
            <a:xfrm>
              <a:off x="7683480" y="905760"/>
              <a:ext cx="835560" cy="889200"/>
            </a:xfrm>
            <a:prstGeom prst="rect">
              <a:avLst/>
            </a:prstGeom>
            <a:noFill/>
            <a:ln>
              <a:noFill/>
            </a:ln>
          </p:spPr>
        </p:pic>
        <p:sp>
          <p:nvSpPr>
            <p:cNvPr id="483" name="Google Shape;483;p47"/>
            <p:cNvSpPr/>
            <p:nvPr/>
          </p:nvSpPr>
          <p:spPr>
            <a:xfrm>
              <a:off x="751608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$ 220000</a:t>
              </a:r>
              <a:endParaRPr b="0" i="0" sz="1400" u="none" cap="none" strike="noStrike">
                <a:latin typeface="Arial"/>
                <a:ea typeface="Arial"/>
                <a:cs typeface="Arial"/>
                <a:sym typeface="Arial"/>
              </a:endParaRPr>
            </a:p>
          </p:txBody>
        </p:sp>
      </p:grpSp>
      <p:sp>
        <p:nvSpPr>
          <p:cNvPr id="484" name="Google Shape;484;p47"/>
          <p:cNvSpPr/>
          <p:nvPr/>
        </p:nvSpPr>
        <p:spPr>
          <a:xfrm>
            <a:off x="4165920" y="905760"/>
            <a:ext cx="67680" cy="1901160"/>
          </a:xfrm>
          <a:prstGeom prst="rect">
            <a:avLst/>
          </a:prstGeom>
          <a:solidFill>
            <a:srgbClr val="E0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47"/>
          <p:cNvSpPr/>
          <p:nvPr/>
        </p:nvSpPr>
        <p:spPr>
          <a:xfrm>
            <a:off x="2736360" y="3322080"/>
            <a:ext cx="6159240" cy="14619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s-419" sz="1400" u="none" cap="none" strike="noStrike">
                <a:solidFill>
                  <a:srgbClr val="000000"/>
                </a:solidFill>
                <a:latin typeface="Arial"/>
                <a:ea typeface="Arial"/>
                <a:cs typeface="Arial"/>
                <a:sym typeface="Arial"/>
              </a:rPr>
              <a:t>Para calcular el cuartil hay varias posibilidades, en todas se debe cumplir que se descarta la misma porción de la población. </a:t>
            </a:r>
            <a:br>
              <a:rPr b="0" i="0" lang="es-419" sz="1800" u="none" cap="none" strike="noStrike">
                <a:latin typeface="Arial"/>
                <a:ea typeface="Arial"/>
                <a:cs typeface="Arial"/>
                <a:sym typeface="Arial"/>
              </a:rPr>
            </a:br>
            <a:r>
              <a:rPr b="0" i="0" lang="es-419" sz="1400" u="none" cap="none" strike="noStrike">
                <a:solidFill>
                  <a:srgbClr val="000000"/>
                </a:solidFill>
                <a:latin typeface="Arial"/>
                <a:ea typeface="Arial"/>
                <a:cs typeface="Arial"/>
                <a:sym typeface="Arial"/>
              </a:rPr>
              <a:t>En </a:t>
            </a:r>
            <a:r>
              <a:rPr b="1" i="0" lang="es-419" sz="1400" u="none" cap="none" strike="noStrike">
                <a:solidFill>
                  <a:srgbClr val="000000"/>
                </a:solidFill>
                <a:latin typeface="Arial"/>
                <a:ea typeface="Arial"/>
                <a:cs typeface="Arial"/>
                <a:sym typeface="Arial"/>
              </a:rPr>
              <a:t>numpy</a:t>
            </a:r>
            <a:r>
              <a:rPr b="0" i="0" lang="es-419" sz="1400" u="none" cap="none" strike="noStrike">
                <a:solidFill>
                  <a:srgbClr val="000000"/>
                </a:solidFill>
                <a:latin typeface="Arial"/>
                <a:ea typeface="Arial"/>
                <a:cs typeface="Arial"/>
                <a:sym typeface="Arial"/>
              </a:rPr>
              <a:t>, si queremos calcular el </a:t>
            </a:r>
            <a:r>
              <a:rPr b="1" i="0" lang="es-419" sz="1400" u="none" cap="none" strike="noStrike">
                <a:solidFill>
                  <a:srgbClr val="000000"/>
                </a:solidFill>
                <a:latin typeface="Arial"/>
                <a:ea typeface="Arial"/>
                <a:cs typeface="Arial"/>
                <a:sym typeface="Arial"/>
              </a:rPr>
              <a:t>cuartil 1</a:t>
            </a:r>
            <a:r>
              <a:rPr b="0" i="0" lang="es-419" sz="1400" u="none" cap="none" strike="noStrike">
                <a:solidFill>
                  <a:srgbClr val="000000"/>
                </a:solidFill>
                <a:latin typeface="Arial"/>
                <a:ea typeface="Arial"/>
                <a:cs typeface="Arial"/>
                <a:sym typeface="Arial"/>
              </a:rPr>
              <a:t> se hace la siguiente cuenta:</a:t>
            </a:r>
            <a:endParaRPr b="0" i="0" sz="1400" u="none" cap="none" strike="noStrike">
              <a:latin typeface="Arial"/>
              <a:ea typeface="Arial"/>
              <a:cs typeface="Arial"/>
              <a:sym typeface="Arial"/>
            </a:endParaRPr>
          </a:p>
          <a:p>
            <a:pPr indent="-317160" lvl="0" marL="457200" marR="0" rtl="0" algn="l">
              <a:lnSpc>
                <a:spcPct val="100000"/>
              </a:lnSpc>
              <a:spcBef>
                <a:spcPts val="0"/>
              </a:spcBef>
              <a:spcAft>
                <a:spcPts val="0"/>
              </a:spcAft>
              <a:buClr>
                <a:srgbClr val="000000"/>
              </a:buClr>
              <a:buSzPts val="1400"/>
              <a:buFont typeface="Arial"/>
              <a:buChar char="-"/>
            </a:pPr>
            <a:r>
              <a:rPr b="0" i="0" lang="es-419" sz="1400" u="none" cap="none" strike="noStrike">
                <a:solidFill>
                  <a:srgbClr val="000000"/>
                </a:solidFill>
                <a:latin typeface="Arial"/>
                <a:ea typeface="Arial"/>
                <a:cs typeface="Arial"/>
                <a:sym typeface="Arial"/>
              </a:rPr>
              <a:t>(N-1) * 0.25 ⇒ en este caso (8-1)*0.25 = </a:t>
            </a:r>
            <a:r>
              <a:rPr b="1" i="0" lang="es-419" sz="1400" u="none" cap="none" strike="noStrike">
                <a:solidFill>
                  <a:srgbClr val="000000"/>
                </a:solidFill>
                <a:latin typeface="Arial"/>
                <a:ea typeface="Arial"/>
                <a:cs typeface="Arial"/>
                <a:sym typeface="Arial"/>
              </a:rPr>
              <a:t>1.75</a:t>
            </a:r>
            <a:endParaRPr b="0" i="0" sz="1400" u="none" cap="none" strike="noStrike">
              <a:latin typeface="Arial"/>
              <a:ea typeface="Arial"/>
              <a:cs typeface="Arial"/>
              <a:sym typeface="Arial"/>
            </a:endParaRPr>
          </a:p>
          <a:p>
            <a:pPr indent="-317160" lvl="0" marL="457200" marR="0" rtl="0" algn="l">
              <a:lnSpc>
                <a:spcPct val="100000"/>
              </a:lnSpc>
              <a:spcBef>
                <a:spcPts val="0"/>
              </a:spcBef>
              <a:spcAft>
                <a:spcPts val="0"/>
              </a:spcAft>
              <a:buClr>
                <a:srgbClr val="000000"/>
              </a:buClr>
              <a:buSzPts val="1400"/>
              <a:buFont typeface="Arial"/>
              <a:buChar char="-"/>
            </a:pPr>
            <a:r>
              <a:rPr b="0" i="0" lang="es-419" sz="1400" u="none" cap="none" strike="noStrike">
                <a:solidFill>
                  <a:srgbClr val="000000"/>
                </a:solidFill>
                <a:latin typeface="Arial"/>
                <a:ea typeface="Arial"/>
                <a:cs typeface="Arial"/>
                <a:sym typeface="Arial"/>
              </a:rPr>
              <a:t>Luego se devolvería: array[1] + (array[2]-array[1])*0.75</a:t>
            </a:r>
            <a:endParaRPr b="0" i="0" sz="1400" u="none" cap="none" strike="noStrike">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1400"/>
              <a:buFont typeface="Arial"/>
              <a:buChar char="-"/>
            </a:pPr>
            <a:r>
              <a:rPr b="0" i="0" lang="es-419" sz="1400" u="none" cap="none" strike="noStrike">
                <a:solidFill>
                  <a:srgbClr val="000000"/>
                </a:solidFill>
                <a:latin typeface="Arial"/>
                <a:ea typeface="Arial"/>
                <a:cs typeface="Arial"/>
                <a:sym typeface="Arial"/>
              </a:rPr>
              <a:t>En este caso: 50000+(100000-50000)*0.75=87500</a:t>
            </a:r>
            <a:endParaRPr b="0" i="0" sz="1400" u="none" cap="none" strike="noStrike">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48"/>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Población de salarios</a:t>
            </a:r>
            <a:endParaRPr b="0" i="0" sz="3600" u="none" cap="none" strike="noStrike">
              <a:latin typeface="Arial"/>
              <a:ea typeface="Arial"/>
              <a:cs typeface="Arial"/>
              <a:sym typeface="Arial"/>
            </a:endParaRPr>
          </a:p>
        </p:txBody>
      </p:sp>
      <p:pic>
        <p:nvPicPr>
          <p:cNvPr id="491" name="Google Shape;491;p48"/>
          <p:cNvPicPr preferRelativeResize="0"/>
          <p:nvPr/>
        </p:nvPicPr>
        <p:blipFill rotWithShape="1">
          <a:blip r:embed="rId3">
            <a:alphaModFix/>
          </a:blip>
          <a:srcRect b="0" l="0" r="0" t="0"/>
          <a:stretch/>
        </p:blipFill>
        <p:spPr>
          <a:xfrm>
            <a:off x="8308080" y="0"/>
            <a:ext cx="835560" cy="835560"/>
          </a:xfrm>
          <a:prstGeom prst="rect">
            <a:avLst/>
          </a:prstGeom>
          <a:noFill/>
          <a:ln>
            <a:noFill/>
          </a:ln>
        </p:spPr>
      </p:pic>
      <p:grpSp>
        <p:nvGrpSpPr>
          <p:cNvPr id="492" name="Google Shape;492;p48"/>
          <p:cNvGrpSpPr/>
          <p:nvPr/>
        </p:nvGrpSpPr>
        <p:grpSpPr>
          <a:xfrm>
            <a:off x="635400" y="905760"/>
            <a:ext cx="1170720" cy="1289520"/>
            <a:chOff x="635400" y="905760"/>
            <a:chExt cx="1170720" cy="1289520"/>
          </a:xfrm>
        </p:grpSpPr>
        <p:pic>
          <p:nvPicPr>
            <p:cNvPr id="493" name="Google Shape;493;p48"/>
            <p:cNvPicPr preferRelativeResize="0"/>
            <p:nvPr/>
          </p:nvPicPr>
          <p:blipFill rotWithShape="1">
            <a:blip r:embed="rId4">
              <a:alphaModFix/>
            </a:blip>
            <a:srcRect b="0" l="0" r="0" t="0"/>
            <a:stretch/>
          </p:blipFill>
          <p:spPr>
            <a:xfrm>
              <a:off x="802800" y="905760"/>
              <a:ext cx="835560" cy="889200"/>
            </a:xfrm>
            <a:prstGeom prst="rect">
              <a:avLst/>
            </a:prstGeom>
            <a:noFill/>
            <a:ln>
              <a:noFill/>
            </a:ln>
          </p:spPr>
        </p:pic>
        <p:sp>
          <p:nvSpPr>
            <p:cNvPr id="494" name="Google Shape;494;p48"/>
            <p:cNvSpPr/>
            <p:nvPr/>
          </p:nvSpPr>
          <p:spPr>
            <a:xfrm>
              <a:off x="63540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$ 50000</a:t>
              </a:r>
              <a:endParaRPr b="0" i="0" sz="1400" u="none" cap="none" strike="noStrike">
                <a:latin typeface="Arial"/>
                <a:ea typeface="Arial"/>
                <a:cs typeface="Arial"/>
                <a:sym typeface="Arial"/>
              </a:endParaRPr>
            </a:p>
          </p:txBody>
        </p:sp>
      </p:grpSp>
      <p:grpSp>
        <p:nvGrpSpPr>
          <p:cNvPr id="495" name="Google Shape;495;p48"/>
          <p:cNvGrpSpPr/>
          <p:nvPr/>
        </p:nvGrpSpPr>
        <p:grpSpPr>
          <a:xfrm>
            <a:off x="635400" y="2057040"/>
            <a:ext cx="1170720" cy="1289520"/>
            <a:chOff x="635400" y="2057040"/>
            <a:chExt cx="1170720" cy="1289520"/>
          </a:xfrm>
        </p:grpSpPr>
        <p:pic>
          <p:nvPicPr>
            <p:cNvPr id="496" name="Google Shape;496;p48"/>
            <p:cNvPicPr preferRelativeResize="0"/>
            <p:nvPr/>
          </p:nvPicPr>
          <p:blipFill rotWithShape="1">
            <a:blip r:embed="rId4">
              <a:alphaModFix/>
            </a:blip>
            <a:srcRect b="0" l="0" r="0" t="0"/>
            <a:stretch/>
          </p:blipFill>
          <p:spPr>
            <a:xfrm>
              <a:off x="802800" y="2057040"/>
              <a:ext cx="835560" cy="889200"/>
            </a:xfrm>
            <a:prstGeom prst="rect">
              <a:avLst/>
            </a:prstGeom>
            <a:noFill/>
            <a:ln>
              <a:noFill/>
            </a:ln>
          </p:spPr>
        </p:pic>
        <p:sp>
          <p:nvSpPr>
            <p:cNvPr id="497" name="Google Shape;497;p48"/>
            <p:cNvSpPr/>
            <p:nvPr/>
          </p:nvSpPr>
          <p:spPr>
            <a:xfrm>
              <a:off x="635400" y="294660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$ 50000</a:t>
              </a:r>
              <a:endParaRPr b="0" i="0" sz="1400" u="none" cap="none" strike="noStrike">
                <a:latin typeface="Arial"/>
                <a:ea typeface="Arial"/>
                <a:cs typeface="Arial"/>
                <a:sym typeface="Arial"/>
              </a:endParaRPr>
            </a:p>
          </p:txBody>
        </p:sp>
      </p:grpSp>
      <p:grpSp>
        <p:nvGrpSpPr>
          <p:cNvPr id="498" name="Google Shape;498;p48"/>
          <p:cNvGrpSpPr/>
          <p:nvPr/>
        </p:nvGrpSpPr>
        <p:grpSpPr>
          <a:xfrm>
            <a:off x="1847160" y="905760"/>
            <a:ext cx="1170720" cy="1289520"/>
            <a:chOff x="1847160" y="905760"/>
            <a:chExt cx="1170720" cy="1289520"/>
          </a:xfrm>
        </p:grpSpPr>
        <p:pic>
          <p:nvPicPr>
            <p:cNvPr id="499" name="Google Shape;499;p48"/>
            <p:cNvPicPr preferRelativeResize="0"/>
            <p:nvPr/>
          </p:nvPicPr>
          <p:blipFill rotWithShape="1">
            <a:blip r:embed="rId4">
              <a:alphaModFix/>
            </a:blip>
            <a:srcRect b="0" l="0" r="0" t="0"/>
            <a:stretch/>
          </p:blipFill>
          <p:spPr>
            <a:xfrm>
              <a:off x="2014920" y="905760"/>
              <a:ext cx="835560" cy="889200"/>
            </a:xfrm>
            <a:prstGeom prst="rect">
              <a:avLst/>
            </a:prstGeom>
            <a:noFill/>
            <a:ln>
              <a:noFill/>
            </a:ln>
          </p:spPr>
        </p:pic>
        <p:sp>
          <p:nvSpPr>
            <p:cNvPr id="500" name="Google Shape;500;p48"/>
            <p:cNvSpPr/>
            <p:nvPr/>
          </p:nvSpPr>
          <p:spPr>
            <a:xfrm>
              <a:off x="184716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$ 100000</a:t>
              </a:r>
              <a:endParaRPr b="0" i="0" sz="1400" u="none" cap="none" strike="noStrike">
                <a:latin typeface="Arial"/>
                <a:ea typeface="Arial"/>
                <a:cs typeface="Arial"/>
                <a:sym typeface="Arial"/>
              </a:endParaRPr>
            </a:p>
          </p:txBody>
        </p:sp>
      </p:grpSp>
      <p:grpSp>
        <p:nvGrpSpPr>
          <p:cNvPr id="501" name="Google Shape;501;p48"/>
          <p:cNvGrpSpPr/>
          <p:nvPr/>
        </p:nvGrpSpPr>
        <p:grpSpPr>
          <a:xfrm>
            <a:off x="3058920" y="905760"/>
            <a:ext cx="1170720" cy="1289520"/>
            <a:chOff x="3058920" y="905760"/>
            <a:chExt cx="1170720" cy="1289520"/>
          </a:xfrm>
        </p:grpSpPr>
        <p:pic>
          <p:nvPicPr>
            <p:cNvPr id="502" name="Google Shape;502;p48"/>
            <p:cNvPicPr preferRelativeResize="0"/>
            <p:nvPr/>
          </p:nvPicPr>
          <p:blipFill rotWithShape="1">
            <a:blip r:embed="rId4">
              <a:alphaModFix/>
            </a:blip>
            <a:srcRect b="0" l="0" r="0" t="0"/>
            <a:stretch/>
          </p:blipFill>
          <p:spPr>
            <a:xfrm>
              <a:off x="3226680" y="905760"/>
              <a:ext cx="835560" cy="889200"/>
            </a:xfrm>
            <a:prstGeom prst="rect">
              <a:avLst/>
            </a:prstGeom>
            <a:noFill/>
            <a:ln>
              <a:noFill/>
            </a:ln>
          </p:spPr>
        </p:pic>
        <p:sp>
          <p:nvSpPr>
            <p:cNvPr id="503" name="Google Shape;503;p48"/>
            <p:cNvSpPr/>
            <p:nvPr/>
          </p:nvSpPr>
          <p:spPr>
            <a:xfrm>
              <a:off x="305892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$ 120000</a:t>
              </a:r>
              <a:endParaRPr b="0" i="0" sz="1400" u="none" cap="none" strike="noStrike">
                <a:latin typeface="Arial"/>
                <a:ea typeface="Arial"/>
                <a:cs typeface="Arial"/>
                <a:sym typeface="Arial"/>
              </a:endParaRPr>
            </a:p>
          </p:txBody>
        </p:sp>
      </p:grpSp>
      <p:sp>
        <p:nvSpPr>
          <p:cNvPr id="504" name="Google Shape;504;p48"/>
          <p:cNvSpPr/>
          <p:nvPr/>
        </p:nvSpPr>
        <p:spPr>
          <a:xfrm>
            <a:off x="245160" y="3322080"/>
            <a:ext cx="4123800" cy="161064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s-419" sz="1700" u="none" cap="none" strike="noStrike">
                <a:solidFill>
                  <a:srgbClr val="000000"/>
                </a:solidFill>
                <a:latin typeface="Open Sans"/>
                <a:ea typeface="Open Sans"/>
                <a:cs typeface="Open Sans"/>
                <a:sym typeface="Open Sans"/>
              </a:rPr>
              <a:t>Media: 135000</a:t>
            </a:r>
            <a:endParaRPr b="0" i="0" sz="1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s-419" sz="1700" u="none" cap="none" strike="noStrike">
                <a:solidFill>
                  <a:srgbClr val="000000"/>
                </a:solidFill>
                <a:latin typeface="Open Sans"/>
                <a:ea typeface="Open Sans"/>
                <a:cs typeface="Open Sans"/>
                <a:sym typeface="Open Sans"/>
              </a:rPr>
              <a:t>Mediana: 125000</a:t>
            </a:r>
            <a:endParaRPr b="0" i="0" sz="1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s-419" sz="1700" u="none" cap="none" strike="noStrike">
                <a:solidFill>
                  <a:srgbClr val="000000"/>
                </a:solidFill>
                <a:latin typeface="Open Sans"/>
                <a:ea typeface="Open Sans"/>
                <a:cs typeface="Open Sans"/>
                <a:sym typeface="Open Sans"/>
              </a:rPr>
              <a:t>Cuartil 1:  87500</a:t>
            </a:r>
            <a:endParaRPr b="0" i="0" sz="1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s-419" sz="1700" u="none" cap="none" strike="noStrike">
                <a:solidFill>
                  <a:srgbClr val="000000"/>
                </a:solidFill>
                <a:latin typeface="Open Sans"/>
                <a:ea typeface="Open Sans"/>
                <a:cs typeface="Open Sans"/>
                <a:sym typeface="Open Sans"/>
              </a:rPr>
              <a:t>Cuartil 2: 125000</a:t>
            </a:r>
            <a:endParaRPr b="0" i="0" sz="1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s-419" sz="1700" u="none" cap="none" strike="noStrike">
                <a:solidFill>
                  <a:srgbClr val="000000"/>
                </a:solidFill>
                <a:latin typeface="Open Sans"/>
                <a:ea typeface="Open Sans"/>
                <a:cs typeface="Open Sans"/>
                <a:sym typeface="Open Sans"/>
              </a:rPr>
              <a:t>Cuartil 3: 202500</a:t>
            </a:r>
            <a:endParaRPr b="0" i="0" sz="1700" u="none" cap="none" strike="noStrike">
              <a:latin typeface="Arial"/>
              <a:ea typeface="Arial"/>
              <a:cs typeface="Arial"/>
              <a:sym typeface="Arial"/>
            </a:endParaRPr>
          </a:p>
        </p:txBody>
      </p:sp>
      <p:grpSp>
        <p:nvGrpSpPr>
          <p:cNvPr id="505" name="Google Shape;505;p48"/>
          <p:cNvGrpSpPr/>
          <p:nvPr/>
        </p:nvGrpSpPr>
        <p:grpSpPr>
          <a:xfrm>
            <a:off x="4210920" y="905760"/>
            <a:ext cx="1170720" cy="1289520"/>
            <a:chOff x="4210920" y="905760"/>
            <a:chExt cx="1170720" cy="1289520"/>
          </a:xfrm>
        </p:grpSpPr>
        <p:pic>
          <p:nvPicPr>
            <p:cNvPr id="506" name="Google Shape;506;p48"/>
            <p:cNvPicPr preferRelativeResize="0"/>
            <p:nvPr/>
          </p:nvPicPr>
          <p:blipFill rotWithShape="1">
            <a:blip r:embed="rId4">
              <a:alphaModFix/>
            </a:blip>
            <a:srcRect b="0" l="0" r="0" t="0"/>
            <a:stretch/>
          </p:blipFill>
          <p:spPr>
            <a:xfrm>
              <a:off x="4378680" y="905760"/>
              <a:ext cx="835560" cy="889200"/>
            </a:xfrm>
            <a:prstGeom prst="rect">
              <a:avLst/>
            </a:prstGeom>
            <a:noFill/>
            <a:ln>
              <a:noFill/>
            </a:ln>
          </p:spPr>
        </p:pic>
        <p:sp>
          <p:nvSpPr>
            <p:cNvPr id="507" name="Google Shape;507;p48"/>
            <p:cNvSpPr/>
            <p:nvPr/>
          </p:nvSpPr>
          <p:spPr>
            <a:xfrm>
              <a:off x="421092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$ 130000</a:t>
              </a:r>
              <a:endParaRPr b="0" i="0" sz="1400" u="none" cap="none" strike="noStrike">
                <a:latin typeface="Arial"/>
                <a:ea typeface="Arial"/>
                <a:cs typeface="Arial"/>
                <a:sym typeface="Arial"/>
              </a:endParaRPr>
            </a:p>
          </p:txBody>
        </p:sp>
      </p:grpSp>
      <p:grpSp>
        <p:nvGrpSpPr>
          <p:cNvPr id="508" name="Google Shape;508;p48"/>
          <p:cNvGrpSpPr/>
          <p:nvPr/>
        </p:nvGrpSpPr>
        <p:grpSpPr>
          <a:xfrm>
            <a:off x="5382000" y="905760"/>
            <a:ext cx="1170720" cy="1289520"/>
            <a:chOff x="5382000" y="905760"/>
            <a:chExt cx="1170720" cy="1289520"/>
          </a:xfrm>
        </p:grpSpPr>
        <p:pic>
          <p:nvPicPr>
            <p:cNvPr id="509" name="Google Shape;509;p48"/>
            <p:cNvPicPr preferRelativeResize="0"/>
            <p:nvPr/>
          </p:nvPicPr>
          <p:blipFill rotWithShape="1">
            <a:blip r:embed="rId4">
              <a:alphaModFix/>
            </a:blip>
            <a:srcRect b="0" l="0" r="0" t="0"/>
            <a:stretch/>
          </p:blipFill>
          <p:spPr>
            <a:xfrm>
              <a:off x="5549400" y="905760"/>
              <a:ext cx="835560" cy="889200"/>
            </a:xfrm>
            <a:prstGeom prst="rect">
              <a:avLst/>
            </a:prstGeom>
            <a:noFill/>
            <a:ln>
              <a:noFill/>
            </a:ln>
          </p:spPr>
        </p:pic>
        <p:sp>
          <p:nvSpPr>
            <p:cNvPr id="510" name="Google Shape;510;p48"/>
            <p:cNvSpPr/>
            <p:nvPr/>
          </p:nvSpPr>
          <p:spPr>
            <a:xfrm>
              <a:off x="538200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$ 200000</a:t>
              </a:r>
              <a:endParaRPr b="0" i="0" sz="1400" u="none" cap="none" strike="noStrike">
                <a:latin typeface="Arial"/>
                <a:ea typeface="Arial"/>
                <a:cs typeface="Arial"/>
                <a:sym typeface="Arial"/>
              </a:endParaRPr>
            </a:p>
          </p:txBody>
        </p:sp>
      </p:grpSp>
      <p:grpSp>
        <p:nvGrpSpPr>
          <p:cNvPr id="511" name="Google Shape;511;p48"/>
          <p:cNvGrpSpPr/>
          <p:nvPr/>
        </p:nvGrpSpPr>
        <p:grpSpPr>
          <a:xfrm>
            <a:off x="6460200" y="905760"/>
            <a:ext cx="1170720" cy="1289520"/>
            <a:chOff x="6460200" y="905760"/>
            <a:chExt cx="1170720" cy="1289520"/>
          </a:xfrm>
        </p:grpSpPr>
        <p:pic>
          <p:nvPicPr>
            <p:cNvPr id="512" name="Google Shape;512;p48"/>
            <p:cNvPicPr preferRelativeResize="0"/>
            <p:nvPr/>
          </p:nvPicPr>
          <p:blipFill rotWithShape="1">
            <a:blip r:embed="rId4">
              <a:alphaModFix/>
            </a:blip>
            <a:srcRect b="0" l="0" r="0" t="0"/>
            <a:stretch/>
          </p:blipFill>
          <p:spPr>
            <a:xfrm>
              <a:off x="6627600" y="905760"/>
              <a:ext cx="835560" cy="889200"/>
            </a:xfrm>
            <a:prstGeom prst="rect">
              <a:avLst/>
            </a:prstGeom>
            <a:noFill/>
            <a:ln>
              <a:noFill/>
            </a:ln>
          </p:spPr>
        </p:pic>
        <p:sp>
          <p:nvSpPr>
            <p:cNvPr id="513" name="Google Shape;513;p48"/>
            <p:cNvSpPr/>
            <p:nvPr/>
          </p:nvSpPr>
          <p:spPr>
            <a:xfrm>
              <a:off x="646020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$ 210000</a:t>
              </a:r>
              <a:endParaRPr b="0" i="0" sz="1400" u="none" cap="none" strike="noStrike">
                <a:latin typeface="Arial"/>
                <a:ea typeface="Arial"/>
                <a:cs typeface="Arial"/>
                <a:sym typeface="Arial"/>
              </a:endParaRPr>
            </a:p>
          </p:txBody>
        </p:sp>
      </p:grpSp>
      <p:grpSp>
        <p:nvGrpSpPr>
          <p:cNvPr id="514" name="Google Shape;514;p48"/>
          <p:cNvGrpSpPr/>
          <p:nvPr/>
        </p:nvGrpSpPr>
        <p:grpSpPr>
          <a:xfrm>
            <a:off x="7516080" y="905760"/>
            <a:ext cx="1170720" cy="1289520"/>
            <a:chOff x="7516080" y="905760"/>
            <a:chExt cx="1170720" cy="1289520"/>
          </a:xfrm>
        </p:grpSpPr>
        <p:pic>
          <p:nvPicPr>
            <p:cNvPr id="515" name="Google Shape;515;p48"/>
            <p:cNvPicPr preferRelativeResize="0"/>
            <p:nvPr/>
          </p:nvPicPr>
          <p:blipFill rotWithShape="1">
            <a:blip r:embed="rId4">
              <a:alphaModFix/>
            </a:blip>
            <a:srcRect b="0" l="0" r="0" t="0"/>
            <a:stretch/>
          </p:blipFill>
          <p:spPr>
            <a:xfrm>
              <a:off x="7683480" y="905760"/>
              <a:ext cx="835560" cy="889200"/>
            </a:xfrm>
            <a:prstGeom prst="rect">
              <a:avLst/>
            </a:prstGeom>
            <a:noFill/>
            <a:ln>
              <a:noFill/>
            </a:ln>
          </p:spPr>
        </p:pic>
        <p:sp>
          <p:nvSpPr>
            <p:cNvPr id="516" name="Google Shape;516;p48"/>
            <p:cNvSpPr/>
            <p:nvPr/>
          </p:nvSpPr>
          <p:spPr>
            <a:xfrm>
              <a:off x="7516080" y="179532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$ 220000</a:t>
              </a:r>
              <a:endParaRPr b="0" i="0" sz="1400" u="none" cap="none" strike="noStrike">
                <a:latin typeface="Arial"/>
                <a:ea typeface="Arial"/>
                <a:cs typeface="Arial"/>
                <a:sym typeface="Arial"/>
              </a:endParaRPr>
            </a:p>
          </p:txBody>
        </p:sp>
      </p:grpSp>
      <p:sp>
        <p:nvSpPr>
          <p:cNvPr id="517" name="Google Shape;517;p48"/>
          <p:cNvSpPr/>
          <p:nvPr/>
        </p:nvSpPr>
        <p:spPr>
          <a:xfrm>
            <a:off x="6484680" y="905760"/>
            <a:ext cx="67680" cy="1901160"/>
          </a:xfrm>
          <a:prstGeom prst="rect">
            <a:avLst/>
          </a:prstGeom>
          <a:solidFill>
            <a:srgbClr val="E0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48"/>
          <p:cNvSpPr/>
          <p:nvPr/>
        </p:nvSpPr>
        <p:spPr>
          <a:xfrm>
            <a:off x="2736360" y="3322080"/>
            <a:ext cx="6159240" cy="14619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s-419" sz="1400" u="none" cap="none" strike="noStrike">
                <a:solidFill>
                  <a:srgbClr val="000000"/>
                </a:solidFill>
                <a:latin typeface="Arial"/>
                <a:ea typeface="Arial"/>
                <a:cs typeface="Arial"/>
                <a:sym typeface="Arial"/>
              </a:rPr>
              <a:t>Para calcular el cuartil hay varias posibilidades, en todas se debe cumplir que se descarta la misma porción de la población. </a:t>
            </a:r>
            <a:br>
              <a:rPr b="0" i="0" lang="es-419" sz="1800" u="none" cap="none" strike="noStrike">
                <a:latin typeface="Arial"/>
                <a:ea typeface="Arial"/>
                <a:cs typeface="Arial"/>
                <a:sym typeface="Arial"/>
              </a:rPr>
            </a:br>
            <a:r>
              <a:rPr b="0" i="0" lang="es-419" sz="1400" u="none" cap="none" strike="noStrike">
                <a:solidFill>
                  <a:srgbClr val="000000"/>
                </a:solidFill>
                <a:latin typeface="Arial"/>
                <a:ea typeface="Arial"/>
                <a:cs typeface="Arial"/>
                <a:sym typeface="Arial"/>
              </a:rPr>
              <a:t>En </a:t>
            </a:r>
            <a:r>
              <a:rPr b="1" i="0" lang="es-419" sz="1400" u="none" cap="none" strike="noStrike">
                <a:solidFill>
                  <a:srgbClr val="000000"/>
                </a:solidFill>
                <a:latin typeface="Arial"/>
                <a:ea typeface="Arial"/>
                <a:cs typeface="Arial"/>
                <a:sym typeface="Arial"/>
              </a:rPr>
              <a:t>numpy</a:t>
            </a:r>
            <a:r>
              <a:rPr b="0" i="0" lang="es-419" sz="1400" u="none" cap="none" strike="noStrike">
                <a:solidFill>
                  <a:srgbClr val="000000"/>
                </a:solidFill>
                <a:latin typeface="Arial"/>
                <a:ea typeface="Arial"/>
                <a:cs typeface="Arial"/>
                <a:sym typeface="Arial"/>
              </a:rPr>
              <a:t>, si queremos calcular el </a:t>
            </a:r>
            <a:r>
              <a:rPr b="1" i="0" lang="es-419" sz="1400" u="none" cap="none" strike="noStrike">
                <a:solidFill>
                  <a:srgbClr val="000000"/>
                </a:solidFill>
                <a:latin typeface="Arial"/>
                <a:ea typeface="Arial"/>
                <a:cs typeface="Arial"/>
                <a:sym typeface="Arial"/>
              </a:rPr>
              <a:t>cuartil 1</a:t>
            </a:r>
            <a:r>
              <a:rPr b="0" i="0" lang="es-419" sz="1400" u="none" cap="none" strike="noStrike">
                <a:solidFill>
                  <a:srgbClr val="000000"/>
                </a:solidFill>
                <a:latin typeface="Arial"/>
                <a:ea typeface="Arial"/>
                <a:cs typeface="Arial"/>
                <a:sym typeface="Arial"/>
              </a:rPr>
              <a:t> se hace la siguiente cuenta:</a:t>
            </a:r>
            <a:endParaRPr b="0" i="0" sz="1400" u="none" cap="none" strike="noStrike">
              <a:latin typeface="Arial"/>
              <a:ea typeface="Arial"/>
              <a:cs typeface="Arial"/>
              <a:sym typeface="Arial"/>
            </a:endParaRPr>
          </a:p>
          <a:p>
            <a:pPr indent="-317160" lvl="0" marL="457200" marR="0" rtl="0" algn="l">
              <a:lnSpc>
                <a:spcPct val="100000"/>
              </a:lnSpc>
              <a:spcBef>
                <a:spcPts val="0"/>
              </a:spcBef>
              <a:spcAft>
                <a:spcPts val="0"/>
              </a:spcAft>
              <a:buClr>
                <a:srgbClr val="000000"/>
              </a:buClr>
              <a:buSzPts val="1400"/>
              <a:buFont typeface="Arial"/>
              <a:buChar char="-"/>
            </a:pPr>
            <a:r>
              <a:rPr b="0" i="0" lang="es-419" sz="1400" u="none" cap="none" strike="noStrike">
                <a:solidFill>
                  <a:srgbClr val="000000"/>
                </a:solidFill>
                <a:latin typeface="Arial"/>
                <a:ea typeface="Arial"/>
                <a:cs typeface="Arial"/>
                <a:sym typeface="Arial"/>
              </a:rPr>
              <a:t>(N-1) * 0.25 ⇒ en este caso (8-1)*0.25 = </a:t>
            </a:r>
            <a:r>
              <a:rPr b="1" i="0" lang="es-419" sz="1400" u="none" cap="none" strike="noStrike">
                <a:solidFill>
                  <a:srgbClr val="000000"/>
                </a:solidFill>
                <a:latin typeface="Arial"/>
                <a:ea typeface="Arial"/>
                <a:cs typeface="Arial"/>
                <a:sym typeface="Arial"/>
              </a:rPr>
              <a:t>1.75</a:t>
            </a:r>
            <a:endParaRPr b="0" i="0" sz="1400" u="none" cap="none" strike="noStrike">
              <a:latin typeface="Arial"/>
              <a:ea typeface="Arial"/>
              <a:cs typeface="Arial"/>
              <a:sym typeface="Arial"/>
            </a:endParaRPr>
          </a:p>
          <a:p>
            <a:pPr indent="-317160" lvl="0" marL="457200" marR="0" rtl="0" algn="l">
              <a:lnSpc>
                <a:spcPct val="100000"/>
              </a:lnSpc>
              <a:spcBef>
                <a:spcPts val="0"/>
              </a:spcBef>
              <a:spcAft>
                <a:spcPts val="0"/>
              </a:spcAft>
              <a:buClr>
                <a:srgbClr val="000000"/>
              </a:buClr>
              <a:buSzPts val="1400"/>
              <a:buFont typeface="Arial"/>
              <a:buChar char="-"/>
            </a:pPr>
            <a:r>
              <a:rPr b="0" i="0" lang="es-419" sz="1400" u="none" cap="none" strike="noStrike">
                <a:solidFill>
                  <a:srgbClr val="000000"/>
                </a:solidFill>
                <a:latin typeface="Arial"/>
                <a:ea typeface="Arial"/>
                <a:cs typeface="Arial"/>
                <a:sym typeface="Arial"/>
              </a:rPr>
              <a:t>Luego se devolvería: array[1] + (array[2]-array[1])*0.75</a:t>
            </a:r>
            <a:endParaRPr b="0" i="0" sz="1400" u="none" cap="none" strike="noStrike">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1400"/>
              <a:buFont typeface="Arial"/>
              <a:buChar char="-"/>
            </a:pPr>
            <a:r>
              <a:rPr b="0" i="0" lang="es-419" sz="1400" u="none" cap="none" strike="noStrike">
                <a:solidFill>
                  <a:srgbClr val="000000"/>
                </a:solidFill>
                <a:latin typeface="Arial"/>
                <a:ea typeface="Arial"/>
                <a:cs typeface="Arial"/>
                <a:sym typeface="Arial"/>
              </a:rPr>
              <a:t>En este caso: 50000+(100000-50000)*0.75=87500</a:t>
            </a:r>
            <a:endParaRPr b="0" i="0" sz="1400" u="none" cap="none" strike="noStrike">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49"/>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Población de salarios</a:t>
            </a:r>
            <a:endParaRPr b="0" i="0" sz="3600" u="none" cap="none" strike="noStrike">
              <a:latin typeface="Arial"/>
              <a:ea typeface="Arial"/>
              <a:cs typeface="Arial"/>
              <a:sym typeface="Arial"/>
            </a:endParaRPr>
          </a:p>
        </p:txBody>
      </p:sp>
      <p:pic>
        <p:nvPicPr>
          <p:cNvPr id="524" name="Google Shape;524;p49"/>
          <p:cNvPicPr preferRelativeResize="0"/>
          <p:nvPr/>
        </p:nvPicPr>
        <p:blipFill rotWithShape="1">
          <a:blip r:embed="rId3">
            <a:alphaModFix/>
          </a:blip>
          <a:srcRect b="0" l="0" r="0" t="0"/>
          <a:stretch/>
        </p:blipFill>
        <p:spPr>
          <a:xfrm>
            <a:off x="8308080" y="0"/>
            <a:ext cx="835560" cy="835560"/>
          </a:xfrm>
          <a:prstGeom prst="rect">
            <a:avLst/>
          </a:prstGeom>
          <a:noFill/>
          <a:ln>
            <a:noFill/>
          </a:ln>
        </p:spPr>
      </p:pic>
      <p:grpSp>
        <p:nvGrpSpPr>
          <p:cNvPr id="525" name="Google Shape;525;p49"/>
          <p:cNvGrpSpPr/>
          <p:nvPr/>
        </p:nvGrpSpPr>
        <p:grpSpPr>
          <a:xfrm>
            <a:off x="635400" y="1438920"/>
            <a:ext cx="1170720" cy="1289520"/>
            <a:chOff x="635400" y="1438920"/>
            <a:chExt cx="1170720" cy="1289520"/>
          </a:xfrm>
        </p:grpSpPr>
        <p:pic>
          <p:nvPicPr>
            <p:cNvPr id="526" name="Google Shape;526;p49"/>
            <p:cNvPicPr preferRelativeResize="0"/>
            <p:nvPr/>
          </p:nvPicPr>
          <p:blipFill rotWithShape="1">
            <a:blip r:embed="rId4">
              <a:alphaModFix/>
            </a:blip>
            <a:srcRect b="0" l="0" r="0" t="0"/>
            <a:stretch/>
          </p:blipFill>
          <p:spPr>
            <a:xfrm>
              <a:off x="802800" y="1438920"/>
              <a:ext cx="835560" cy="889200"/>
            </a:xfrm>
            <a:prstGeom prst="rect">
              <a:avLst/>
            </a:prstGeom>
            <a:noFill/>
            <a:ln>
              <a:noFill/>
            </a:ln>
          </p:spPr>
        </p:pic>
        <p:sp>
          <p:nvSpPr>
            <p:cNvPr id="527" name="Google Shape;527;p49"/>
            <p:cNvSpPr/>
            <p:nvPr/>
          </p:nvSpPr>
          <p:spPr>
            <a:xfrm>
              <a:off x="635400" y="232848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$ 50000</a:t>
              </a:r>
              <a:endParaRPr b="0" i="0" sz="1400" u="none" cap="none" strike="noStrike">
                <a:latin typeface="Arial"/>
                <a:ea typeface="Arial"/>
                <a:cs typeface="Arial"/>
                <a:sym typeface="Arial"/>
              </a:endParaRPr>
            </a:p>
          </p:txBody>
        </p:sp>
      </p:grpSp>
      <p:grpSp>
        <p:nvGrpSpPr>
          <p:cNvPr id="528" name="Google Shape;528;p49"/>
          <p:cNvGrpSpPr/>
          <p:nvPr/>
        </p:nvGrpSpPr>
        <p:grpSpPr>
          <a:xfrm>
            <a:off x="635400" y="2590200"/>
            <a:ext cx="1170720" cy="1289520"/>
            <a:chOff x="635400" y="2590200"/>
            <a:chExt cx="1170720" cy="1289520"/>
          </a:xfrm>
        </p:grpSpPr>
        <p:pic>
          <p:nvPicPr>
            <p:cNvPr id="529" name="Google Shape;529;p49"/>
            <p:cNvPicPr preferRelativeResize="0"/>
            <p:nvPr/>
          </p:nvPicPr>
          <p:blipFill rotWithShape="1">
            <a:blip r:embed="rId4">
              <a:alphaModFix/>
            </a:blip>
            <a:srcRect b="0" l="0" r="0" t="0"/>
            <a:stretch/>
          </p:blipFill>
          <p:spPr>
            <a:xfrm>
              <a:off x="802800" y="2590200"/>
              <a:ext cx="835560" cy="889200"/>
            </a:xfrm>
            <a:prstGeom prst="rect">
              <a:avLst/>
            </a:prstGeom>
            <a:noFill/>
            <a:ln>
              <a:noFill/>
            </a:ln>
          </p:spPr>
        </p:pic>
        <p:sp>
          <p:nvSpPr>
            <p:cNvPr id="530" name="Google Shape;530;p49"/>
            <p:cNvSpPr/>
            <p:nvPr/>
          </p:nvSpPr>
          <p:spPr>
            <a:xfrm>
              <a:off x="635400" y="347976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$ 50000</a:t>
              </a:r>
              <a:endParaRPr b="0" i="0" sz="1400" u="none" cap="none" strike="noStrike">
                <a:latin typeface="Arial"/>
                <a:ea typeface="Arial"/>
                <a:cs typeface="Arial"/>
                <a:sym typeface="Arial"/>
              </a:endParaRPr>
            </a:p>
          </p:txBody>
        </p:sp>
      </p:grpSp>
      <p:grpSp>
        <p:nvGrpSpPr>
          <p:cNvPr id="531" name="Google Shape;531;p49"/>
          <p:cNvGrpSpPr/>
          <p:nvPr/>
        </p:nvGrpSpPr>
        <p:grpSpPr>
          <a:xfrm>
            <a:off x="1847160" y="1438920"/>
            <a:ext cx="1170720" cy="1289520"/>
            <a:chOff x="1847160" y="1438920"/>
            <a:chExt cx="1170720" cy="1289520"/>
          </a:xfrm>
        </p:grpSpPr>
        <p:pic>
          <p:nvPicPr>
            <p:cNvPr id="532" name="Google Shape;532;p49"/>
            <p:cNvPicPr preferRelativeResize="0"/>
            <p:nvPr/>
          </p:nvPicPr>
          <p:blipFill rotWithShape="1">
            <a:blip r:embed="rId4">
              <a:alphaModFix/>
            </a:blip>
            <a:srcRect b="0" l="0" r="0" t="0"/>
            <a:stretch/>
          </p:blipFill>
          <p:spPr>
            <a:xfrm>
              <a:off x="2014920" y="1438920"/>
              <a:ext cx="835560" cy="889200"/>
            </a:xfrm>
            <a:prstGeom prst="rect">
              <a:avLst/>
            </a:prstGeom>
            <a:noFill/>
            <a:ln>
              <a:noFill/>
            </a:ln>
          </p:spPr>
        </p:pic>
        <p:sp>
          <p:nvSpPr>
            <p:cNvPr id="533" name="Google Shape;533;p49"/>
            <p:cNvSpPr/>
            <p:nvPr/>
          </p:nvSpPr>
          <p:spPr>
            <a:xfrm>
              <a:off x="1847160" y="232848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$ 100000</a:t>
              </a:r>
              <a:endParaRPr b="0" i="0" sz="1400" u="none" cap="none" strike="noStrike">
                <a:latin typeface="Arial"/>
                <a:ea typeface="Arial"/>
                <a:cs typeface="Arial"/>
                <a:sym typeface="Arial"/>
              </a:endParaRPr>
            </a:p>
          </p:txBody>
        </p:sp>
      </p:grpSp>
      <p:grpSp>
        <p:nvGrpSpPr>
          <p:cNvPr id="534" name="Google Shape;534;p49"/>
          <p:cNvGrpSpPr/>
          <p:nvPr/>
        </p:nvGrpSpPr>
        <p:grpSpPr>
          <a:xfrm>
            <a:off x="3058920" y="1438920"/>
            <a:ext cx="1170720" cy="1289520"/>
            <a:chOff x="3058920" y="1438920"/>
            <a:chExt cx="1170720" cy="1289520"/>
          </a:xfrm>
        </p:grpSpPr>
        <p:pic>
          <p:nvPicPr>
            <p:cNvPr id="535" name="Google Shape;535;p49"/>
            <p:cNvPicPr preferRelativeResize="0"/>
            <p:nvPr/>
          </p:nvPicPr>
          <p:blipFill rotWithShape="1">
            <a:blip r:embed="rId4">
              <a:alphaModFix/>
            </a:blip>
            <a:srcRect b="0" l="0" r="0" t="0"/>
            <a:stretch/>
          </p:blipFill>
          <p:spPr>
            <a:xfrm>
              <a:off x="3226680" y="1438920"/>
              <a:ext cx="835560" cy="889200"/>
            </a:xfrm>
            <a:prstGeom prst="rect">
              <a:avLst/>
            </a:prstGeom>
            <a:noFill/>
            <a:ln>
              <a:noFill/>
            </a:ln>
          </p:spPr>
        </p:pic>
        <p:sp>
          <p:nvSpPr>
            <p:cNvPr id="536" name="Google Shape;536;p49"/>
            <p:cNvSpPr/>
            <p:nvPr/>
          </p:nvSpPr>
          <p:spPr>
            <a:xfrm>
              <a:off x="3058920" y="232848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$ 120000</a:t>
              </a:r>
              <a:endParaRPr b="0" i="0" sz="1400" u="none" cap="none" strike="noStrike">
                <a:latin typeface="Arial"/>
                <a:ea typeface="Arial"/>
                <a:cs typeface="Arial"/>
                <a:sym typeface="Arial"/>
              </a:endParaRPr>
            </a:p>
          </p:txBody>
        </p:sp>
      </p:grpSp>
      <p:grpSp>
        <p:nvGrpSpPr>
          <p:cNvPr id="537" name="Google Shape;537;p49"/>
          <p:cNvGrpSpPr/>
          <p:nvPr/>
        </p:nvGrpSpPr>
        <p:grpSpPr>
          <a:xfrm>
            <a:off x="4210920" y="1438920"/>
            <a:ext cx="1170720" cy="1289520"/>
            <a:chOff x="4210920" y="1438920"/>
            <a:chExt cx="1170720" cy="1289520"/>
          </a:xfrm>
        </p:grpSpPr>
        <p:pic>
          <p:nvPicPr>
            <p:cNvPr id="538" name="Google Shape;538;p49"/>
            <p:cNvPicPr preferRelativeResize="0"/>
            <p:nvPr/>
          </p:nvPicPr>
          <p:blipFill rotWithShape="1">
            <a:blip r:embed="rId4">
              <a:alphaModFix/>
            </a:blip>
            <a:srcRect b="0" l="0" r="0" t="0"/>
            <a:stretch/>
          </p:blipFill>
          <p:spPr>
            <a:xfrm>
              <a:off x="4378680" y="1438920"/>
              <a:ext cx="835560" cy="889200"/>
            </a:xfrm>
            <a:prstGeom prst="rect">
              <a:avLst/>
            </a:prstGeom>
            <a:noFill/>
            <a:ln>
              <a:noFill/>
            </a:ln>
          </p:spPr>
        </p:pic>
        <p:sp>
          <p:nvSpPr>
            <p:cNvPr id="539" name="Google Shape;539;p49"/>
            <p:cNvSpPr/>
            <p:nvPr/>
          </p:nvSpPr>
          <p:spPr>
            <a:xfrm>
              <a:off x="4210920" y="232848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$ 130000</a:t>
              </a:r>
              <a:endParaRPr b="0" i="0" sz="1400" u="none" cap="none" strike="noStrike">
                <a:latin typeface="Arial"/>
                <a:ea typeface="Arial"/>
                <a:cs typeface="Arial"/>
                <a:sym typeface="Arial"/>
              </a:endParaRPr>
            </a:p>
          </p:txBody>
        </p:sp>
      </p:grpSp>
      <p:grpSp>
        <p:nvGrpSpPr>
          <p:cNvPr id="540" name="Google Shape;540;p49"/>
          <p:cNvGrpSpPr/>
          <p:nvPr/>
        </p:nvGrpSpPr>
        <p:grpSpPr>
          <a:xfrm>
            <a:off x="5382000" y="1438920"/>
            <a:ext cx="1170720" cy="1289520"/>
            <a:chOff x="5382000" y="1438920"/>
            <a:chExt cx="1170720" cy="1289520"/>
          </a:xfrm>
        </p:grpSpPr>
        <p:pic>
          <p:nvPicPr>
            <p:cNvPr id="541" name="Google Shape;541;p49"/>
            <p:cNvPicPr preferRelativeResize="0"/>
            <p:nvPr/>
          </p:nvPicPr>
          <p:blipFill rotWithShape="1">
            <a:blip r:embed="rId4">
              <a:alphaModFix/>
            </a:blip>
            <a:srcRect b="0" l="0" r="0" t="0"/>
            <a:stretch/>
          </p:blipFill>
          <p:spPr>
            <a:xfrm>
              <a:off x="5549400" y="1438920"/>
              <a:ext cx="835560" cy="889200"/>
            </a:xfrm>
            <a:prstGeom prst="rect">
              <a:avLst/>
            </a:prstGeom>
            <a:noFill/>
            <a:ln>
              <a:noFill/>
            </a:ln>
          </p:spPr>
        </p:pic>
        <p:sp>
          <p:nvSpPr>
            <p:cNvPr id="542" name="Google Shape;542;p49"/>
            <p:cNvSpPr/>
            <p:nvPr/>
          </p:nvSpPr>
          <p:spPr>
            <a:xfrm>
              <a:off x="5382000" y="232848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$ 200000</a:t>
              </a:r>
              <a:endParaRPr b="0" i="0" sz="1400" u="none" cap="none" strike="noStrike">
                <a:latin typeface="Arial"/>
                <a:ea typeface="Arial"/>
                <a:cs typeface="Arial"/>
                <a:sym typeface="Arial"/>
              </a:endParaRPr>
            </a:p>
          </p:txBody>
        </p:sp>
      </p:grpSp>
      <p:grpSp>
        <p:nvGrpSpPr>
          <p:cNvPr id="543" name="Google Shape;543;p49"/>
          <p:cNvGrpSpPr/>
          <p:nvPr/>
        </p:nvGrpSpPr>
        <p:grpSpPr>
          <a:xfrm>
            <a:off x="6460200" y="1438920"/>
            <a:ext cx="1170720" cy="1289520"/>
            <a:chOff x="6460200" y="1438920"/>
            <a:chExt cx="1170720" cy="1289520"/>
          </a:xfrm>
        </p:grpSpPr>
        <p:pic>
          <p:nvPicPr>
            <p:cNvPr id="544" name="Google Shape;544;p49"/>
            <p:cNvPicPr preferRelativeResize="0"/>
            <p:nvPr/>
          </p:nvPicPr>
          <p:blipFill rotWithShape="1">
            <a:blip r:embed="rId4">
              <a:alphaModFix/>
            </a:blip>
            <a:srcRect b="0" l="0" r="0" t="0"/>
            <a:stretch/>
          </p:blipFill>
          <p:spPr>
            <a:xfrm>
              <a:off x="6627600" y="1438920"/>
              <a:ext cx="835560" cy="889200"/>
            </a:xfrm>
            <a:prstGeom prst="rect">
              <a:avLst/>
            </a:prstGeom>
            <a:noFill/>
            <a:ln>
              <a:noFill/>
            </a:ln>
          </p:spPr>
        </p:pic>
        <p:sp>
          <p:nvSpPr>
            <p:cNvPr id="545" name="Google Shape;545;p49"/>
            <p:cNvSpPr/>
            <p:nvPr/>
          </p:nvSpPr>
          <p:spPr>
            <a:xfrm>
              <a:off x="6460200" y="232848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$ 210000</a:t>
              </a:r>
              <a:endParaRPr b="0" i="0" sz="1400" u="none" cap="none" strike="noStrike">
                <a:latin typeface="Arial"/>
                <a:ea typeface="Arial"/>
                <a:cs typeface="Arial"/>
                <a:sym typeface="Arial"/>
              </a:endParaRPr>
            </a:p>
          </p:txBody>
        </p:sp>
      </p:grpSp>
      <p:grpSp>
        <p:nvGrpSpPr>
          <p:cNvPr id="546" name="Google Shape;546;p49"/>
          <p:cNvGrpSpPr/>
          <p:nvPr/>
        </p:nvGrpSpPr>
        <p:grpSpPr>
          <a:xfrm>
            <a:off x="7516080" y="1438920"/>
            <a:ext cx="1170720" cy="1289520"/>
            <a:chOff x="7516080" y="1438920"/>
            <a:chExt cx="1170720" cy="1289520"/>
          </a:xfrm>
        </p:grpSpPr>
        <p:pic>
          <p:nvPicPr>
            <p:cNvPr id="547" name="Google Shape;547;p49"/>
            <p:cNvPicPr preferRelativeResize="0"/>
            <p:nvPr/>
          </p:nvPicPr>
          <p:blipFill rotWithShape="1">
            <a:blip r:embed="rId4">
              <a:alphaModFix/>
            </a:blip>
            <a:srcRect b="0" l="0" r="0" t="0"/>
            <a:stretch/>
          </p:blipFill>
          <p:spPr>
            <a:xfrm>
              <a:off x="7683480" y="1438920"/>
              <a:ext cx="835560" cy="889200"/>
            </a:xfrm>
            <a:prstGeom prst="rect">
              <a:avLst/>
            </a:prstGeom>
            <a:noFill/>
            <a:ln>
              <a:noFill/>
            </a:ln>
          </p:spPr>
        </p:pic>
        <p:sp>
          <p:nvSpPr>
            <p:cNvPr id="548" name="Google Shape;548;p49"/>
            <p:cNvSpPr/>
            <p:nvPr/>
          </p:nvSpPr>
          <p:spPr>
            <a:xfrm>
              <a:off x="7516080" y="232848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$ 220000</a:t>
              </a:r>
              <a:endParaRPr b="0" i="0" sz="1400" u="none" cap="none" strike="noStrike">
                <a:latin typeface="Arial"/>
                <a:ea typeface="Arial"/>
                <a:cs typeface="Arial"/>
                <a:sym typeface="Arial"/>
              </a:endParaRPr>
            </a:p>
          </p:txBody>
        </p:sp>
      </p:grpSp>
      <p:sp>
        <p:nvSpPr>
          <p:cNvPr id="549" name="Google Shape;549;p49"/>
          <p:cNvSpPr/>
          <p:nvPr/>
        </p:nvSpPr>
        <p:spPr>
          <a:xfrm>
            <a:off x="6484680" y="1438920"/>
            <a:ext cx="67680" cy="1901160"/>
          </a:xfrm>
          <a:prstGeom prst="rect">
            <a:avLst/>
          </a:prstGeom>
          <a:solidFill>
            <a:srgbClr val="E0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49"/>
          <p:cNvSpPr/>
          <p:nvPr/>
        </p:nvSpPr>
        <p:spPr>
          <a:xfrm>
            <a:off x="4210920" y="1438920"/>
            <a:ext cx="67680" cy="1901160"/>
          </a:xfrm>
          <a:prstGeom prst="rect">
            <a:avLst/>
          </a:prstGeom>
          <a:solidFill>
            <a:srgbClr val="E0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49"/>
          <p:cNvSpPr/>
          <p:nvPr/>
        </p:nvSpPr>
        <p:spPr>
          <a:xfrm>
            <a:off x="1738080" y="1438920"/>
            <a:ext cx="67680" cy="1901160"/>
          </a:xfrm>
          <a:prstGeom prst="rect">
            <a:avLst/>
          </a:prstGeom>
          <a:solidFill>
            <a:srgbClr val="E0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49"/>
          <p:cNvSpPr/>
          <p:nvPr/>
        </p:nvSpPr>
        <p:spPr>
          <a:xfrm>
            <a:off x="1547280" y="1438920"/>
            <a:ext cx="450000" cy="444240"/>
          </a:xfrm>
          <a:prstGeom prst="rect">
            <a:avLst/>
          </a:prstGeom>
          <a:solidFill>
            <a:srgbClr val="FFFFFF"/>
          </a:solidFill>
          <a:ln cap="flat" cmpd="sng" w="19075">
            <a:solidFill>
              <a:srgbClr val="E0666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s-419" sz="1400" u="none" cap="none" strike="noStrike">
                <a:solidFill>
                  <a:srgbClr val="000000"/>
                </a:solidFill>
                <a:latin typeface="Montserrat"/>
                <a:ea typeface="Montserrat"/>
                <a:cs typeface="Montserrat"/>
                <a:sym typeface="Montserrat"/>
              </a:rPr>
              <a:t>Q1</a:t>
            </a:r>
            <a:endParaRPr b="0" i="0" sz="1400" u="none" cap="none" strike="noStrike">
              <a:latin typeface="Arial"/>
              <a:ea typeface="Arial"/>
              <a:cs typeface="Arial"/>
              <a:sym typeface="Arial"/>
            </a:endParaRPr>
          </a:p>
        </p:txBody>
      </p:sp>
      <p:sp>
        <p:nvSpPr>
          <p:cNvPr id="553" name="Google Shape;553;p49"/>
          <p:cNvSpPr/>
          <p:nvPr/>
        </p:nvSpPr>
        <p:spPr>
          <a:xfrm>
            <a:off x="4015800" y="1438920"/>
            <a:ext cx="450000" cy="444240"/>
          </a:xfrm>
          <a:prstGeom prst="rect">
            <a:avLst/>
          </a:prstGeom>
          <a:solidFill>
            <a:srgbClr val="FFFFFF"/>
          </a:solidFill>
          <a:ln cap="flat" cmpd="sng" w="19075">
            <a:solidFill>
              <a:srgbClr val="E0666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s-419" sz="1400" u="none" cap="none" strike="noStrike">
                <a:solidFill>
                  <a:srgbClr val="000000"/>
                </a:solidFill>
                <a:latin typeface="Montserrat"/>
                <a:ea typeface="Montserrat"/>
                <a:cs typeface="Montserrat"/>
                <a:sym typeface="Montserrat"/>
              </a:rPr>
              <a:t>Q2</a:t>
            </a:r>
            <a:endParaRPr b="0" i="0" sz="1400" u="none" cap="none" strike="noStrike">
              <a:latin typeface="Arial"/>
              <a:ea typeface="Arial"/>
              <a:cs typeface="Arial"/>
              <a:sym typeface="Arial"/>
            </a:endParaRPr>
          </a:p>
        </p:txBody>
      </p:sp>
      <p:sp>
        <p:nvSpPr>
          <p:cNvPr id="554" name="Google Shape;554;p49"/>
          <p:cNvSpPr/>
          <p:nvPr/>
        </p:nvSpPr>
        <p:spPr>
          <a:xfrm>
            <a:off x="6293520" y="1438920"/>
            <a:ext cx="450000" cy="444240"/>
          </a:xfrm>
          <a:prstGeom prst="rect">
            <a:avLst/>
          </a:prstGeom>
          <a:solidFill>
            <a:srgbClr val="FFFFFF"/>
          </a:solidFill>
          <a:ln cap="flat" cmpd="sng" w="19075">
            <a:solidFill>
              <a:srgbClr val="E0666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s-419" sz="1400" u="none" cap="none" strike="noStrike">
                <a:solidFill>
                  <a:srgbClr val="000000"/>
                </a:solidFill>
                <a:latin typeface="Montserrat"/>
                <a:ea typeface="Montserrat"/>
                <a:cs typeface="Montserrat"/>
                <a:sym typeface="Montserrat"/>
              </a:rPr>
              <a:t>Q3</a:t>
            </a:r>
            <a:endParaRPr b="0" i="0" sz="1400" u="none" cap="none" strike="noStrike">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50"/>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Población de salarios</a:t>
            </a:r>
            <a:endParaRPr b="0" i="0" sz="3600" u="none" cap="none" strike="noStrike">
              <a:latin typeface="Arial"/>
              <a:ea typeface="Arial"/>
              <a:cs typeface="Arial"/>
              <a:sym typeface="Arial"/>
            </a:endParaRPr>
          </a:p>
        </p:txBody>
      </p:sp>
      <p:pic>
        <p:nvPicPr>
          <p:cNvPr id="560" name="Google Shape;560;p50"/>
          <p:cNvPicPr preferRelativeResize="0"/>
          <p:nvPr/>
        </p:nvPicPr>
        <p:blipFill rotWithShape="1">
          <a:blip r:embed="rId3">
            <a:alphaModFix/>
          </a:blip>
          <a:srcRect b="0" l="0" r="0" t="0"/>
          <a:stretch/>
        </p:blipFill>
        <p:spPr>
          <a:xfrm>
            <a:off x="8308080" y="0"/>
            <a:ext cx="835560" cy="835560"/>
          </a:xfrm>
          <a:prstGeom prst="rect">
            <a:avLst/>
          </a:prstGeom>
          <a:noFill/>
          <a:ln>
            <a:noFill/>
          </a:ln>
        </p:spPr>
      </p:pic>
      <p:grpSp>
        <p:nvGrpSpPr>
          <p:cNvPr id="561" name="Google Shape;561;p50"/>
          <p:cNvGrpSpPr/>
          <p:nvPr/>
        </p:nvGrpSpPr>
        <p:grpSpPr>
          <a:xfrm>
            <a:off x="635400" y="1438920"/>
            <a:ext cx="1170720" cy="1289520"/>
            <a:chOff x="635400" y="1438920"/>
            <a:chExt cx="1170720" cy="1289520"/>
          </a:xfrm>
        </p:grpSpPr>
        <p:pic>
          <p:nvPicPr>
            <p:cNvPr id="562" name="Google Shape;562;p50"/>
            <p:cNvPicPr preferRelativeResize="0"/>
            <p:nvPr/>
          </p:nvPicPr>
          <p:blipFill rotWithShape="1">
            <a:blip r:embed="rId4">
              <a:alphaModFix/>
            </a:blip>
            <a:srcRect b="0" l="0" r="0" t="0"/>
            <a:stretch/>
          </p:blipFill>
          <p:spPr>
            <a:xfrm>
              <a:off x="802800" y="1438920"/>
              <a:ext cx="835560" cy="889200"/>
            </a:xfrm>
            <a:prstGeom prst="rect">
              <a:avLst/>
            </a:prstGeom>
            <a:noFill/>
            <a:ln>
              <a:noFill/>
            </a:ln>
          </p:spPr>
        </p:pic>
        <p:sp>
          <p:nvSpPr>
            <p:cNvPr id="563" name="Google Shape;563;p50"/>
            <p:cNvSpPr/>
            <p:nvPr/>
          </p:nvSpPr>
          <p:spPr>
            <a:xfrm>
              <a:off x="635400" y="232848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$ 50000</a:t>
              </a:r>
              <a:endParaRPr b="0" i="0" sz="1400" u="none" cap="none" strike="noStrike">
                <a:latin typeface="Arial"/>
                <a:ea typeface="Arial"/>
                <a:cs typeface="Arial"/>
                <a:sym typeface="Arial"/>
              </a:endParaRPr>
            </a:p>
          </p:txBody>
        </p:sp>
      </p:grpSp>
      <p:grpSp>
        <p:nvGrpSpPr>
          <p:cNvPr id="564" name="Google Shape;564;p50"/>
          <p:cNvGrpSpPr/>
          <p:nvPr/>
        </p:nvGrpSpPr>
        <p:grpSpPr>
          <a:xfrm>
            <a:off x="635400" y="2590200"/>
            <a:ext cx="1170720" cy="1289520"/>
            <a:chOff x="635400" y="2590200"/>
            <a:chExt cx="1170720" cy="1289520"/>
          </a:xfrm>
        </p:grpSpPr>
        <p:pic>
          <p:nvPicPr>
            <p:cNvPr id="565" name="Google Shape;565;p50"/>
            <p:cNvPicPr preferRelativeResize="0"/>
            <p:nvPr/>
          </p:nvPicPr>
          <p:blipFill rotWithShape="1">
            <a:blip r:embed="rId4">
              <a:alphaModFix/>
            </a:blip>
            <a:srcRect b="0" l="0" r="0" t="0"/>
            <a:stretch/>
          </p:blipFill>
          <p:spPr>
            <a:xfrm>
              <a:off x="802800" y="2590200"/>
              <a:ext cx="835560" cy="889200"/>
            </a:xfrm>
            <a:prstGeom prst="rect">
              <a:avLst/>
            </a:prstGeom>
            <a:noFill/>
            <a:ln>
              <a:noFill/>
            </a:ln>
          </p:spPr>
        </p:pic>
        <p:sp>
          <p:nvSpPr>
            <p:cNvPr id="566" name="Google Shape;566;p50"/>
            <p:cNvSpPr/>
            <p:nvPr/>
          </p:nvSpPr>
          <p:spPr>
            <a:xfrm>
              <a:off x="635400" y="347976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$ 50000</a:t>
              </a:r>
              <a:endParaRPr b="0" i="0" sz="1400" u="none" cap="none" strike="noStrike">
                <a:latin typeface="Arial"/>
                <a:ea typeface="Arial"/>
                <a:cs typeface="Arial"/>
                <a:sym typeface="Arial"/>
              </a:endParaRPr>
            </a:p>
          </p:txBody>
        </p:sp>
      </p:grpSp>
      <p:grpSp>
        <p:nvGrpSpPr>
          <p:cNvPr id="567" name="Google Shape;567;p50"/>
          <p:cNvGrpSpPr/>
          <p:nvPr/>
        </p:nvGrpSpPr>
        <p:grpSpPr>
          <a:xfrm>
            <a:off x="1847160" y="1438920"/>
            <a:ext cx="1170720" cy="1289520"/>
            <a:chOff x="1847160" y="1438920"/>
            <a:chExt cx="1170720" cy="1289520"/>
          </a:xfrm>
        </p:grpSpPr>
        <p:pic>
          <p:nvPicPr>
            <p:cNvPr id="568" name="Google Shape;568;p50"/>
            <p:cNvPicPr preferRelativeResize="0"/>
            <p:nvPr/>
          </p:nvPicPr>
          <p:blipFill rotWithShape="1">
            <a:blip r:embed="rId4">
              <a:alphaModFix/>
            </a:blip>
            <a:srcRect b="0" l="0" r="0" t="0"/>
            <a:stretch/>
          </p:blipFill>
          <p:spPr>
            <a:xfrm>
              <a:off x="2014920" y="1438920"/>
              <a:ext cx="835560" cy="889200"/>
            </a:xfrm>
            <a:prstGeom prst="rect">
              <a:avLst/>
            </a:prstGeom>
            <a:noFill/>
            <a:ln>
              <a:noFill/>
            </a:ln>
          </p:spPr>
        </p:pic>
        <p:sp>
          <p:nvSpPr>
            <p:cNvPr id="569" name="Google Shape;569;p50"/>
            <p:cNvSpPr/>
            <p:nvPr/>
          </p:nvSpPr>
          <p:spPr>
            <a:xfrm>
              <a:off x="1847160" y="232848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$ 100000</a:t>
              </a:r>
              <a:endParaRPr b="0" i="0" sz="1400" u="none" cap="none" strike="noStrike">
                <a:latin typeface="Arial"/>
                <a:ea typeface="Arial"/>
                <a:cs typeface="Arial"/>
                <a:sym typeface="Arial"/>
              </a:endParaRPr>
            </a:p>
          </p:txBody>
        </p:sp>
      </p:grpSp>
      <p:grpSp>
        <p:nvGrpSpPr>
          <p:cNvPr id="570" name="Google Shape;570;p50"/>
          <p:cNvGrpSpPr/>
          <p:nvPr/>
        </p:nvGrpSpPr>
        <p:grpSpPr>
          <a:xfrm>
            <a:off x="3058920" y="1438920"/>
            <a:ext cx="1170720" cy="1289520"/>
            <a:chOff x="3058920" y="1438920"/>
            <a:chExt cx="1170720" cy="1289520"/>
          </a:xfrm>
        </p:grpSpPr>
        <p:pic>
          <p:nvPicPr>
            <p:cNvPr id="571" name="Google Shape;571;p50"/>
            <p:cNvPicPr preferRelativeResize="0"/>
            <p:nvPr/>
          </p:nvPicPr>
          <p:blipFill rotWithShape="1">
            <a:blip r:embed="rId4">
              <a:alphaModFix/>
            </a:blip>
            <a:srcRect b="0" l="0" r="0" t="0"/>
            <a:stretch/>
          </p:blipFill>
          <p:spPr>
            <a:xfrm>
              <a:off x="3226680" y="1438920"/>
              <a:ext cx="835560" cy="889200"/>
            </a:xfrm>
            <a:prstGeom prst="rect">
              <a:avLst/>
            </a:prstGeom>
            <a:noFill/>
            <a:ln>
              <a:noFill/>
            </a:ln>
          </p:spPr>
        </p:pic>
        <p:sp>
          <p:nvSpPr>
            <p:cNvPr id="572" name="Google Shape;572;p50"/>
            <p:cNvSpPr/>
            <p:nvPr/>
          </p:nvSpPr>
          <p:spPr>
            <a:xfrm>
              <a:off x="3058920" y="232848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$ 120000</a:t>
              </a:r>
              <a:endParaRPr b="0" i="0" sz="1400" u="none" cap="none" strike="noStrike">
                <a:latin typeface="Arial"/>
                <a:ea typeface="Arial"/>
                <a:cs typeface="Arial"/>
                <a:sym typeface="Arial"/>
              </a:endParaRPr>
            </a:p>
          </p:txBody>
        </p:sp>
      </p:grpSp>
      <p:grpSp>
        <p:nvGrpSpPr>
          <p:cNvPr id="573" name="Google Shape;573;p50"/>
          <p:cNvGrpSpPr/>
          <p:nvPr/>
        </p:nvGrpSpPr>
        <p:grpSpPr>
          <a:xfrm>
            <a:off x="4210920" y="1438920"/>
            <a:ext cx="1170720" cy="1289520"/>
            <a:chOff x="4210920" y="1438920"/>
            <a:chExt cx="1170720" cy="1289520"/>
          </a:xfrm>
        </p:grpSpPr>
        <p:pic>
          <p:nvPicPr>
            <p:cNvPr id="574" name="Google Shape;574;p50"/>
            <p:cNvPicPr preferRelativeResize="0"/>
            <p:nvPr/>
          </p:nvPicPr>
          <p:blipFill rotWithShape="1">
            <a:blip r:embed="rId4">
              <a:alphaModFix/>
            </a:blip>
            <a:srcRect b="0" l="0" r="0" t="0"/>
            <a:stretch/>
          </p:blipFill>
          <p:spPr>
            <a:xfrm>
              <a:off x="4378680" y="1438920"/>
              <a:ext cx="835560" cy="889200"/>
            </a:xfrm>
            <a:prstGeom prst="rect">
              <a:avLst/>
            </a:prstGeom>
            <a:noFill/>
            <a:ln>
              <a:noFill/>
            </a:ln>
          </p:spPr>
        </p:pic>
        <p:sp>
          <p:nvSpPr>
            <p:cNvPr id="575" name="Google Shape;575;p50"/>
            <p:cNvSpPr/>
            <p:nvPr/>
          </p:nvSpPr>
          <p:spPr>
            <a:xfrm>
              <a:off x="4210920" y="232848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$ 130000</a:t>
              </a:r>
              <a:endParaRPr b="0" i="0" sz="1400" u="none" cap="none" strike="noStrike">
                <a:latin typeface="Arial"/>
                <a:ea typeface="Arial"/>
                <a:cs typeface="Arial"/>
                <a:sym typeface="Arial"/>
              </a:endParaRPr>
            </a:p>
          </p:txBody>
        </p:sp>
      </p:grpSp>
      <p:grpSp>
        <p:nvGrpSpPr>
          <p:cNvPr id="576" name="Google Shape;576;p50"/>
          <p:cNvGrpSpPr/>
          <p:nvPr/>
        </p:nvGrpSpPr>
        <p:grpSpPr>
          <a:xfrm>
            <a:off x="5382000" y="1438920"/>
            <a:ext cx="1170720" cy="1289520"/>
            <a:chOff x="5382000" y="1438920"/>
            <a:chExt cx="1170720" cy="1289520"/>
          </a:xfrm>
        </p:grpSpPr>
        <p:pic>
          <p:nvPicPr>
            <p:cNvPr id="577" name="Google Shape;577;p50"/>
            <p:cNvPicPr preferRelativeResize="0"/>
            <p:nvPr/>
          </p:nvPicPr>
          <p:blipFill rotWithShape="1">
            <a:blip r:embed="rId4">
              <a:alphaModFix/>
            </a:blip>
            <a:srcRect b="0" l="0" r="0" t="0"/>
            <a:stretch/>
          </p:blipFill>
          <p:spPr>
            <a:xfrm>
              <a:off x="5549400" y="1438920"/>
              <a:ext cx="835560" cy="889200"/>
            </a:xfrm>
            <a:prstGeom prst="rect">
              <a:avLst/>
            </a:prstGeom>
            <a:noFill/>
            <a:ln>
              <a:noFill/>
            </a:ln>
          </p:spPr>
        </p:pic>
        <p:sp>
          <p:nvSpPr>
            <p:cNvPr id="578" name="Google Shape;578;p50"/>
            <p:cNvSpPr/>
            <p:nvPr/>
          </p:nvSpPr>
          <p:spPr>
            <a:xfrm>
              <a:off x="5382000" y="232848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$ 200000</a:t>
              </a:r>
              <a:endParaRPr b="0" i="0" sz="1400" u="none" cap="none" strike="noStrike">
                <a:latin typeface="Arial"/>
                <a:ea typeface="Arial"/>
                <a:cs typeface="Arial"/>
                <a:sym typeface="Arial"/>
              </a:endParaRPr>
            </a:p>
          </p:txBody>
        </p:sp>
      </p:grpSp>
      <p:grpSp>
        <p:nvGrpSpPr>
          <p:cNvPr id="579" name="Google Shape;579;p50"/>
          <p:cNvGrpSpPr/>
          <p:nvPr/>
        </p:nvGrpSpPr>
        <p:grpSpPr>
          <a:xfrm>
            <a:off x="6460200" y="1438920"/>
            <a:ext cx="1170720" cy="1289520"/>
            <a:chOff x="6460200" y="1438920"/>
            <a:chExt cx="1170720" cy="1289520"/>
          </a:xfrm>
        </p:grpSpPr>
        <p:pic>
          <p:nvPicPr>
            <p:cNvPr id="580" name="Google Shape;580;p50"/>
            <p:cNvPicPr preferRelativeResize="0"/>
            <p:nvPr/>
          </p:nvPicPr>
          <p:blipFill rotWithShape="1">
            <a:blip r:embed="rId4">
              <a:alphaModFix/>
            </a:blip>
            <a:srcRect b="0" l="0" r="0" t="0"/>
            <a:stretch/>
          </p:blipFill>
          <p:spPr>
            <a:xfrm>
              <a:off x="6627600" y="1438920"/>
              <a:ext cx="835560" cy="889200"/>
            </a:xfrm>
            <a:prstGeom prst="rect">
              <a:avLst/>
            </a:prstGeom>
            <a:noFill/>
            <a:ln>
              <a:noFill/>
            </a:ln>
          </p:spPr>
        </p:pic>
        <p:sp>
          <p:nvSpPr>
            <p:cNvPr id="581" name="Google Shape;581;p50"/>
            <p:cNvSpPr/>
            <p:nvPr/>
          </p:nvSpPr>
          <p:spPr>
            <a:xfrm>
              <a:off x="6460200" y="232848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$ 210000</a:t>
              </a:r>
              <a:endParaRPr b="0" i="0" sz="1400" u="none" cap="none" strike="noStrike">
                <a:latin typeface="Arial"/>
                <a:ea typeface="Arial"/>
                <a:cs typeface="Arial"/>
                <a:sym typeface="Arial"/>
              </a:endParaRPr>
            </a:p>
          </p:txBody>
        </p:sp>
      </p:grpSp>
      <p:grpSp>
        <p:nvGrpSpPr>
          <p:cNvPr id="582" name="Google Shape;582;p50"/>
          <p:cNvGrpSpPr/>
          <p:nvPr/>
        </p:nvGrpSpPr>
        <p:grpSpPr>
          <a:xfrm>
            <a:off x="7516080" y="1438920"/>
            <a:ext cx="1170720" cy="1289520"/>
            <a:chOff x="7516080" y="1438920"/>
            <a:chExt cx="1170720" cy="1289520"/>
          </a:xfrm>
        </p:grpSpPr>
        <p:pic>
          <p:nvPicPr>
            <p:cNvPr id="583" name="Google Shape;583;p50"/>
            <p:cNvPicPr preferRelativeResize="0"/>
            <p:nvPr/>
          </p:nvPicPr>
          <p:blipFill rotWithShape="1">
            <a:blip r:embed="rId4">
              <a:alphaModFix/>
            </a:blip>
            <a:srcRect b="0" l="0" r="0" t="0"/>
            <a:stretch/>
          </p:blipFill>
          <p:spPr>
            <a:xfrm>
              <a:off x="7683480" y="1438920"/>
              <a:ext cx="835560" cy="889200"/>
            </a:xfrm>
            <a:prstGeom prst="rect">
              <a:avLst/>
            </a:prstGeom>
            <a:noFill/>
            <a:ln>
              <a:noFill/>
            </a:ln>
          </p:spPr>
        </p:pic>
        <p:sp>
          <p:nvSpPr>
            <p:cNvPr id="584" name="Google Shape;584;p50"/>
            <p:cNvSpPr/>
            <p:nvPr/>
          </p:nvSpPr>
          <p:spPr>
            <a:xfrm>
              <a:off x="7516080" y="2328480"/>
              <a:ext cx="117072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$ 220000</a:t>
              </a:r>
              <a:endParaRPr b="0" i="0" sz="1400" u="none" cap="none" strike="noStrike">
                <a:latin typeface="Arial"/>
                <a:ea typeface="Arial"/>
                <a:cs typeface="Arial"/>
                <a:sym typeface="Arial"/>
              </a:endParaRPr>
            </a:p>
          </p:txBody>
        </p:sp>
      </p:grpSp>
      <p:sp>
        <p:nvSpPr>
          <p:cNvPr id="585" name="Google Shape;585;p50"/>
          <p:cNvSpPr/>
          <p:nvPr/>
        </p:nvSpPr>
        <p:spPr>
          <a:xfrm>
            <a:off x="6484680" y="1438920"/>
            <a:ext cx="67680" cy="1901160"/>
          </a:xfrm>
          <a:prstGeom prst="rect">
            <a:avLst/>
          </a:prstGeom>
          <a:solidFill>
            <a:srgbClr val="E0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50"/>
          <p:cNvSpPr/>
          <p:nvPr/>
        </p:nvSpPr>
        <p:spPr>
          <a:xfrm>
            <a:off x="4210920" y="1438920"/>
            <a:ext cx="67680" cy="1901160"/>
          </a:xfrm>
          <a:prstGeom prst="rect">
            <a:avLst/>
          </a:prstGeom>
          <a:solidFill>
            <a:srgbClr val="E0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50"/>
          <p:cNvSpPr/>
          <p:nvPr/>
        </p:nvSpPr>
        <p:spPr>
          <a:xfrm>
            <a:off x="1738080" y="1438920"/>
            <a:ext cx="67680" cy="1901160"/>
          </a:xfrm>
          <a:prstGeom prst="rect">
            <a:avLst/>
          </a:prstGeom>
          <a:solidFill>
            <a:srgbClr val="E0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50"/>
          <p:cNvSpPr/>
          <p:nvPr/>
        </p:nvSpPr>
        <p:spPr>
          <a:xfrm>
            <a:off x="1547280" y="1438920"/>
            <a:ext cx="450000" cy="444240"/>
          </a:xfrm>
          <a:prstGeom prst="rect">
            <a:avLst/>
          </a:prstGeom>
          <a:solidFill>
            <a:srgbClr val="FFFFFF"/>
          </a:solidFill>
          <a:ln cap="flat" cmpd="sng" w="19075">
            <a:solidFill>
              <a:srgbClr val="E0666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s-419" sz="1400" u="none" cap="none" strike="noStrike">
                <a:solidFill>
                  <a:srgbClr val="000000"/>
                </a:solidFill>
                <a:latin typeface="Montserrat"/>
                <a:ea typeface="Montserrat"/>
                <a:cs typeface="Montserrat"/>
                <a:sym typeface="Montserrat"/>
              </a:rPr>
              <a:t>Q1</a:t>
            </a:r>
            <a:endParaRPr b="0" i="0" sz="1400" u="none" cap="none" strike="noStrike">
              <a:latin typeface="Arial"/>
              <a:ea typeface="Arial"/>
              <a:cs typeface="Arial"/>
              <a:sym typeface="Arial"/>
            </a:endParaRPr>
          </a:p>
        </p:txBody>
      </p:sp>
      <p:sp>
        <p:nvSpPr>
          <p:cNvPr id="589" name="Google Shape;589;p50"/>
          <p:cNvSpPr/>
          <p:nvPr/>
        </p:nvSpPr>
        <p:spPr>
          <a:xfrm>
            <a:off x="4015800" y="1438920"/>
            <a:ext cx="450000" cy="444240"/>
          </a:xfrm>
          <a:prstGeom prst="rect">
            <a:avLst/>
          </a:prstGeom>
          <a:solidFill>
            <a:srgbClr val="FFFFFF"/>
          </a:solidFill>
          <a:ln cap="flat" cmpd="sng" w="19075">
            <a:solidFill>
              <a:srgbClr val="E0666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s-419" sz="1400" u="none" cap="none" strike="noStrike">
                <a:solidFill>
                  <a:srgbClr val="000000"/>
                </a:solidFill>
                <a:latin typeface="Montserrat"/>
                <a:ea typeface="Montserrat"/>
                <a:cs typeface="Montserrat"/>
                <a:sym typeface="Montserrat"/>
              </a:rPr>
              <a:t>Q2</a:t>
            </a:r>
            <a:endParaRPr b="0" i="0" sz="1400" u="none" cap="none" strike="noStrike">
              <a:latin typeface="Arial"/>
              <a:ea typeface="Arial"/>
              <a:cs typeface="Arial"/>
              <a:sym typeface="Arial"/>
            </a:endParaRPr>
          </a:p>
        </p:txBody>
      </p:sp>
      <p:sp>
        <p:nvSpPr>
          <p:cNvPr id="590" name="Google Shape;590;p50"/>
          <p:cNvSpPr/>
          <p:nvPr/>
        </p:nvSpPr>
        <p:spPr>
          <a:xfrm>
            <a:off x="6293520" y="1438920"/>
            <a:ext cx="450000" cy="444240"/>
          </a:xfrm>
          <a:prstGeom prst="rect">
            <a:avLst/>
          </a:prstGeom>
          <a:solidFill>
            <a:srgbClr val="FFFFFF"/>
          </a:solidFill>
          <a:ln cap="flat" cmpd="sng" w="19075">
            <a:solidFill>
              <a:srgbClr val="E0666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s-419" sz="1400" u="none" cap="none" strike="noStrike">
                <a:solidFill>
                  <a:srgbClr val="000000"/>
                </a:solidFill>
                <a:latin typeface="Montserrat"/>
                <a:ea typeface="Montserrat"/>
                <a:cs typeface="Montserrat"/>
                <a:sym typeface="Montserrat"/>
              </a:rPr>
              <a:t>Q3</a:t>
            </a:r>
            <a:endParaRPr b="0" i="0" sz="1400" u="none" cap="none" strike="noStrike">
              <a:latin typeface="Arial"/>
              <a:ea typeface="Arial"/>
              <a:cs typeface="Arial"/>
              <a:sym typeface="Arial"/>
            </a:endParaRPr>
          </a:p>
        </p:txBody>
      </p:sp>
      <p:sp>
        <p:nvSpPr>
          <p:cNvPr id="591" name="Google Shape;591;p50"/>
          <p:cNvSpPr/>
          <p:nvPr/>
        </p:nvSpPr>
        <p:spPr>
          <a:xfrm rot="5400000">
            <a:off x="3881160" y="1382400"/>
            <a:ext cx="610200" cy="4896000"/>
          </a:xfrm>
          <a:prstGeom prst="rightBrace">
            <a:avLst>
              <a:gd fmla="val 50000" name="adj1"/>
              <a:gd fmla="val 50000" name="adj2"/>
            </a:avLst>
          </a:prstGeom>
          <a:noFill/>
          <a:ln cap="flat" cmpd="sng" w="190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50"/>
          <p:cNvSpPr/>
          <p:nvPr/>
        </p:nvSpPr>
        <p:spPr>
          <a:xfrm>
            <a:off x="1901160" y="4155840"/>
            <a:ext cx="4583160" cy="540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s-419" sz="1400" u="none" cap="none" strike="noStrike">
                <a:solidFill>
                  <a:srgbClr val="000000"/>
                </a:solidFill>
                <a:latin typeface="Montserrat"/>
                <a:ea typeface="Montserrat"/>
                <a:cs typeface="Montserrat"/>
                <a:sym typeface="Montserrat"/>
              </a:rPr>
              <a:t>Rango Intercuartílico (50% central)</a:t>
            </a:r>
            <a:endParaRPr b="0" i="0" sz="1400" u="none" cap="none" strike="noStrike">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51"/>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600" u="none" cap="none" strike="noStrike">
                <a:solidFill>
                  <a:srgbClr val="BD0000"/>
                </a:solidFill>
                <a:latin typeface="Open Sans"/>
                <a:ea typeface="Open Sans"/>
                <a:cs typeface="Open Sans"/>
                <a:sym typeface="Open Sans"/>
              </a:rPr>
              <a:t>Box plot</a:t>
            </a:r>
            <a:endParaRPr b="0" i="0" sz="3600" u="none" cap="none" strike="noStrike">
              <a:latin typeface="Arial"/>
              <a:ea typeface="Arial"/>
              <a:cs typeface="Arial"/>
              <a:sym typeface="Arial"/>
            </a:endParaRPr>
          </a:p>
        </p:txBody>
      </p:sp>
      <p:pic>
        <p:nvPicPr>
          <p:cNvPr id="598" name="Google Shape;598;p51"/>
          <p:cNvPicPr preferRelativeResize="0"/>
          <p:nvPr/>
        </p:nvPicPr>
        <p:blipFill rotWithShape="1">
          <a:blip r:embed="rId3">
            <a:alphaModFix/>
          </a:blip>
          <a:srcRect b="0" l="0" r="0" t="0"/>
          <a:stretch/>
        </p:blipFill>
        <p:spPr>
          <a:xfrm>
            <a:off x="8308080" y="0"/>
            <a:ext cx="835560" cy="835560"/>
          </a:xfrm>
          <a:prstGeom prst="rect">
            <a:avLst/>
          </a:prstGeom>
          <a:noFill/>
          <a:ln>
            <a:noFill/>
          </a:ln>
        </p:spPr>
      </p:pic>
      <p:sp>
        <p:nvSpPr>
          <p:cNvPr id="599" name="Google Shape;599;p51"/>
          <p:cNvSpPr txBox="1"/>
          <p:nvPr/>
        </p:nvSpPr>
        <p:spPr>
          <a:xfrm>
            <a:off x="182880" y="914400"/>
            <a:ext cx="7680960" cy="118872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i="0" lang="es-419" sz="1800" u="none" cap="none" strike="noStrike">
                <a:latin typeface="Arial"/>
                <a:ea typeface="Arial"/>
                <a:cs typeface="Arial"/>
                <a:sym typeface="Arial"/>
              </a:rPr>
              <a:t>Un diagrama de caja o Box plot muestra visualmente la distribución de los datos numéricos y la asimetría mediante la visualización de los cuartiles (o percentiles) y los promedios de los datos.</a:t>
            </a:r>
            <a:endParaRPr b="0" sz="1800" strike="noStrike">
              <a:latin typeface="Arial"/>
              <a:ea typeface="Arial"/>
              <a:cs typeface="Arial"/>
              <a:sym typeface="Arial"/>
            </a:endParaRPr>
          </a:p>
        </p:txBody>
      </p:sp>
      <p:pic>
        <p:nvPicPr>
          <p:cNvPr id="600" name="Google Shape;600;p51"/>
          <p:cNvPicPr preferRelativeResize="0"/>
          <p:nvPr/>
        </p:nvPicPr>
        <p:blipFill rotWithShape="1">
          <a:blip r:embed="rId4">
            <a:alphaModFix/>
          </a:blip>
          <a:srcRect b="0" l="0" r="0" t="0"/>
          <a:stretch/>
        </p:blipFill>
        <p:spPr>
          <a:xfrm>
            <a:off x="1280160" y="1951200"/>
            <a:ext cx="5266800" cy="289512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52"/>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Box plot</a:t>
            </a:r>
            <a:endParaRPr b="0" sz="3600" strike="noStrike">
              <a:latin typeface="Arial"/>
              <a:ea typeface="Arial"/>
              <a:cs typeface="Arial"/>
              <a:sym typeface="Arial"/>
            </a:endParaRPr>
          </a:p>
        </p:txBody>
      </p:sp>
      <p:pic>
        <p:nvPicPr>
          <p:cNvPr id="606" name="Google Shape;606;p52"/>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607" name="Google Shape;607;p52"/>
          <p:cNvPicPr preferRelativeResize="0"/>
          <p:nvPr/>
        </p:nvPicPr>
        <p:blipFill rotWithShape="1">
          <a:blip r:embed="rId4">
            <a:alphaModFix/>
          </a:blip>
          <a:srcRect b="0" l="0" r="0" t="0"/>
          <a:stretch/>
        </p:blipFill>
        <p:spPr>
          <a:xfrm>
            <a:off x="2105280" y="978120"/>
            <a:ext cx="4933080" cy="400248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53"/>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Box plot</a:t>
            </a:r>
            <a:endParaRPr b="0" sz="3600" strike="noStrike">
              <a:latin typeface="Arial"/>
              <a:ea typeface="Arial"/>
              <a:cs typeface="Arial"/>
              <a:sym typeface="Arial"/>
            </a:endParaRPr>
          </a:p>
        </p:txBody>
      </p:sp>
      <p:pic>
        <p:nvPicPr>
          <p:cNvPr id="613" name="Google Shape;613;p53"/>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614" name="Google Shape;614;p53"/>
          <p:cNvPicPr preferRelativeResize="0"/>
          <p:nvPr/>
        </p:nvPicPr>
        <p:blipFill rotWithShape="1">
          <a:blip r:embed="rId4">
            <a:alphaModFix/>
          </a:blip>
          <a:srcRect b="0" l="0" r="0" t="0"/>
          <a:stretch/>
        </p:blipFill>
        <p:spPr>
          <a:xfrm>
            <a:off x="2105280" y="978120"/>
            <a:ext cx="4933080" cy="4002480"/>
          </a:xfrm>
          <a:prstGeom prst="rect">
            <a:avLst/>
          </a:prstGeom>
          <a:noFill/>
          <a:ln>
            <a:noFill/>
          </a:ln>
        </p:spPr>
      </p:pic>
      <p:sp>
        <p:nvSpPr>
          <p:cNvPr id="615" name="Google Shape;615;p53"/>
          <p:cNvSpPr/>
          <p:nvPr/>
        </p:nvSpPr>
        <p:spPr>
          <a:xfrm>
            <a:off x="1675080" y="1366200"/>
            <a:ext cx="1316520" cy="495000"/>
          </a:xfrm>
          <a:custGeom>
            <a:rect b="b" l="l" r="r" t="t"/>
            <a:pathLst>
              <a:path extrusionOk="0" h="21600" w="21600">
                <a:moveTo>
                  <a:pt x="0" y="0"/>
                </a:moveTo>
                <a:lnTo>
                  <a:pt x="21600" y="21600"/>
                </a:lnTo>
              </a:path>
            </a:pathLst>
          </a:custGeom>
          <a:noFill/>
          <a:ln cap="flat" cmpd="sng" w="19075">
            <a:solidFill>
              <a:srgbClr val="000000"/>
            </a:solidFill>
            <a:prstDash val="solid"/>
            <a:round/>
            <a:headEnd len="med" w="med" type="triangle"/>
            <a:tailEnd len="sm" w="sm" type="none"/>
          </a:ln>
        </p:spPr>
      </p:sp>
      <p:sp>
        <p:nvSpPr>
          <p:cNvPr id="616" name="Google Shape;616;p53"/>
          <p:cNvSpPr/>
          <p:nvPr/>
        </p:nvSpPr>
        <p:spPr>
          <a:xfrm>
            <a:off x="93960" y="1060920"/>
            <a:ext cx="1580760" cy="610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es-419" sz="1400" strike="noStrike">
                <a:solidFill>
                  <a:srgbClr val="000000"/>
                </a:solidFill>
                <a:latin typeface="Open Sans"/>
                <a:ea typeface="Open Sans"/>
                <a:cs typeface="Open Sans"/>
                <a:sym typeface="Open Sans"/>
              </a:rPr>
              <a:t>Mediana (o Q2)</a:t>
            </a:r>
            <a:endParaRPr b="0" sz="1400" strike="noStrike">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54"/>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Box plot</a:t>
            </a:r>
            <a:endParaRPr b="0" sz="3600" strike="noStrike">
              <a:latin typeface="Arial"/>
              <a:ea typeface="Arial"/>
              <a:cs typeface="Arial"/>
              <a:sym typeface="Arial"/>
            </a:endParaRPr>
          </a:p>
        </p:txBody>
      </p:sp>
      <p:pic>
        <p:nvPicPr>
          <p:cNvPr id="622" name="Google Shape;622;p54"/>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623" name="Google Shape;623;p54"/>
          <p:cNvPicPr preferRelativeResize="0"/>
          <p:nvPr/>
        </p:nvPicPr>
        <p:blipFill rotWithShape="1">
          <a:blip r:embed="rId4">
            <a:alphaModFix/>
          </a:blip>
          <a:srcRect b="0" l="0" r="0" t="0"/>
          <a:stretch/>
        </p:blipFill>
        <p:spPr>
          <a:xfrm>
            <a:off x="2105280" y="978120"/>
            <a:ext cx="4933080" cy="4002480"/>
          </a:xfrm>
          <a:prstGeom prst="rect">
            <a:avLst/>
          </a:prstGeom>
          <a:noFill/>
          <a:ln>
            <a:noFill/>
          </a:ln>
        </p:spPr>
      </p:pic>
      <p:sp>
        <p:nvSpPr>
          <p:cNvPr id="624" name="Google Shape;624;p54"/>
          <p:cNvSpPr/>
          <p:nvPr/>
        </p:nvSpPr>
        <p:spPr>
          <a:xfrm>
            <a:off x="1895040" y="1356120"/>
            <a:ext cx="866520" cy="895320"/>
          </a:xfrm>
          <a:custGeom>
            <a:rect b="b" l="l" r="r" t="t"/>
            <a:pathLst>
              <a:path extrusionOk="0" h="21600" w="21600">
                <a:moveTo>
                  <a:pt x="0" y="0"/>
                </a:moveTo>
                <a:lnTo>
                  <a:pt x="21600" y="21600"/>
                </a:lnTo>
              </a:path>
            </a:pathLst>
          </a:custGeom>
          <a:noFill/>
          <a:ln cap="flat" cmpd="sng" w="19075">
            <a:solidFill>
              <a:srgbClr val="000000"/>
            </a:solidFill>
            <a:prstDash val="solid"/>
            <a:round/>
            <a:headEnd len="med" w="med" type="triangle"/>
            <a:tailEnd len="sm" w="sm" type="none"/>
          </a:ln>
        </p:spPr>
      </p:sp>
      <p:sp>
        <p:nvSpPr>
          <p:cNvPr id="625" name="Google Shape;625;p54"/>
          <p:cNvSpPr/>
          <p:nvPr/>
        </p:nvSpPr>
        <p:spPr>
          <a:xfrm>
            <a:off x="314280" y="1050840"/>
            <a:ext cx="1580760" cy="610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es-419" sz="1400" strike="noStrike">
                <a:solidFill>
                  <a:srgbClr val="000000"/>
                </a:solidFill>
                <a:latin typeface="Open Sans"/>
                <a:ea typeface="Open Sans"/>
                <a:cs typeface="Open Sans"/>
                <a:sym typeface="Open Sans"/>
              </a:rPr>
              <a:t>Cuartil 1 (Q1)</a:t>
            </a:r>
            <a:endParaRPr b="0" sz="1400" strike="noStrike">
              <a:latin typeface="Arial"/>
              <a:ea typeface="Arial"/>
              <a:cs typeface="Arial"/>
              <a:sym typeface="Arial"/>
            </a:endParaRPr>
          </a:p>
        </p:txBody>
      </p:sp>
      <p:sp>
        <p:nvSpPr>
          <p:cNvPr id="626" name="Google Shape;626;p54"/>
          <p:cNvSpPr/>
          <p:nvPr/>
        </p:nvSpPr>
        <p:spPr>
          <a:xfrm flipH="1" rot="10800000">
            <a:off x="3312720" y="2291400"/>
            <a:ext cx="1250640" cy="259920"/>
          </a:xfrm>
          <a:custGeom>
            <a:rect b="b" l="l" r="r" t="t"/>
            <a:pathLst>
              <a:path extrusionOk="0" h="21600" w="21600">
                <a:moveTo>
                  <a:pt x="0" y="0"/>
                </a:moveTo>
                <a:lnTo>
                  <a:pt x="21600" y="21600"/>
                </a:lnTo>
              </a:path>
            </a:pathLst>
          </a:custGeom>
          <a:noFill/>
          <a:ln cap="flat" cmpd="sng" w="19075">
            <a:solidFill>
              <a:srgbClr val="000000"/>
            </a:solidFill>
            <a:prstDash val="solid"/>
            <a:round/>
            <a:headEnd len="sm" w="sm" type="none"/>
            <a:tailEnd len="med" w="med" type="triangle"/>
          </a:ln>
        </p:spPr>
      </p:sp>
      <p:sp>
        <p:nvSpPr>
          <p:cNvPr id="627" name="Google Shape;627;p54"/>
          <p:cNvSpPr/>
          <p:nvPr/>
        </p:nvSpPr>
        <p:spPr>
          <a:xfrm>
            <a:off x="4563360" y="1661400"/>
            <a:ext cx="1580760" cy="610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es-419" sz="1400" strike="noStrike">
                <a:solidFill>
                  <a:srgbClr val="000000"/>
                </a:solidFill>
                <a:latin typeface="Open Sans"/>
                <a:ea typeface="Open Sans"/>
                <a:cs typeface="Open Sans"/>
                <a:sym typeface="Open Sans"/>
              </a:rPr>
              <a:t>Cuartil 3 (Q3)</a:t>
            </a:r>
            <a:endParaRPr b="0" sz="1400" strike="noStrike">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55"/>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Box plot</a:t>
            </a:r>
            <a:endParaRPr b="0" sz="3600" strike="noStrike">
              <a:latin typeface="Arial"/>
              <a:ea typeface="Arial"/>
              <a:cs typeface="Arial"/>
              <a:sym typeface="Arial"/>
            </a:endParaRPr>
          </a:p>
        </p:txBody>
      </p:sp>
      <p:pic>
        <p:nvPicPr>
          <p:cNvPr id="633" name="Google Shape;633;p55"/>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634" name="Google Shape;634;p55"/>
          <p:cNvPicPr preferRelativeResize="0"/>
          <p:nvPr/>
        </p:nvPicPr>
        <p:blipFill rotWithShape="1">
          <a:blip r:embed="rId4">
            <a:alphaModFix/>
          </a:blip>
          <a:srcRect b="0" l="0" r="0" t="0"/>
          <a:stretch/>
        </p:blipFill>
        <p:spPr>
          <a:xfrm>
            <a:off x="2105280" y="978120"/>
            <a:ext cx="4933080" cy="4002480"/>
          </a:xfrm>
          <a:prstGeom prst="rect">
            <a:avLst/>
          </a:prstGeom>
          <a:noFill/>
          <a:ln>
            <a:noFill/>
          </a:ln>
        </p:spPr>
      </p:pic>
      <p:sp>
        <p:nvSpPr>
          <p:cNvPr id="635" name="Google Shape;635;p55"/>
          <p:cNvSpPr/>
          <p:nvPr/>
        </p:nvSpPr>
        <p:spPr>
          <a:xfrm rot="5400000">
            <a:off x="2957400" y="3907800"/>
            <a:ext cx="149760" cy="660240"/>
          </a:xfrm>
          <a:prstGeom prst="rightBrace">
            <a:avLst>
              <a:gd fmla="val 50000" name="adj1"/>
              <a:gd fmla="val 50000" name="adj2"/>
            </a:avLst>
          </a:prstGeom>
          <a:noFill/>
          <a:ln cap="flat" cmpd="sng" w="190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55"/>
          <p:cNvSpPr/>
          <p:nvPr/>
        </p:nvSpPr>
        <p:spPr>
          <a:xfrm flipH="1" rot="10800000">
            <a:off x="3032280" y="4312800"/>
            <a:ext cx="1720800" cy="169920"/>
          </a:xfrm>
          <a:custGeom>
            <a:rect b="b" l="l" r="r" t="t"/>
            <a:pathLst>
              <a:path extrusionOk="0" h="21600" w="21600">
                <a:moveTo>
                  <a:pt x="0" y="0"/>
                </a:moveTo>
                <a:lnTo>
                  <a:pt x="21600" y="21600"/>
                </a:lnTo>
              </a:path>
            </a:pathLst>
          </a:custGeom>
          <a:noFill/>
          <a:ln cap="flat" cmpd="sng" w="19075">
            <a:solidFill>
              <a:srgbClr val="000000"/>
            </a:solidFill>
            <a:prstDash val="solid"/>
            <a:round/>
            <a:headEnd len="sm" w="sm" type="none"/>
            <a:tailEnd len="med" w="med" type="triangle"/>
          </a:ln>
        </p:spPr>
      </p:sp>
      <p:sp>
        <p:nvSpPr>
          <p:cNvPr id="637" name="Google Shape;637;p55"/>
          <p:cNvSpPr/>
          <p:nvPr/>
        </p:nvSpPr>
        <p:spPr>
          <a:xfrm>
            <a:off x="4753080" y="3622320"/>
            <a:ext cx="1580760" cy="69012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es-419" sz="1400" strike="noStrike">
                <a:solidFill>
                  <a:srgbClr val="000000"/>
                </a:solidFill>
                <a:latin typeface="Open Sans"/>
                <a:ea typeface="Open Sans"/>
                <a:cs typeface="Open Sans"/>
                <a:sym typeface="Open Sans"/>
              </a:rPr>
              <a:t>Rango Intercuartílico (IQR)</a:t>
            </a:r>
            <a:endParaRPr b="0" sz="1400" strike="noStrike">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56"/>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Box plot</a:t>
            </a:r>
            <a:endParaRPr b="0" sz="3600" strike="noStrike">
              <a:latin typeface="Arial"/>
              <a:ea typeface="Arial"/>
              <a:cs typeface="Arial"/>
              <a:sym typeface="Arial"/>
            </a:endParaRPr>
          </a:p>
        </p:txBody>
      </p:sp>
      <p:pic>
        <p:nvPicPr>
          <p:cNvPr id="643" name="Google Shape;643;p56"/>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644" name="Google Shape;644;p56"/>
          <p:cNvPicPr preferRelativeResize="0"/>
          <p:nvPr/>
        </p:nvPicPr>
        <p:blipFill rotWithShape="1">
          <a:blip r:embed="rId4">
            <a:alphaModFix/>
          </a:blip>
          <a:srcRect b="0" l="0" r="0" t="0"/>
          <a:stretch/>
        </p:blipFill>
        <p:spPr>
          <a:xfrm>
            <a:off x="2105280" y="978120"/>
            <a:ext cx="4933080" cy="4002480"/>
          </a:xfrm>
          <a:prstGeom prst="rect">
            <a:avLst/>
          </a:prstGeom>
          <a:noFill/>
          <a:ln>
            <a:noFill/>
          </a:ln>
        </p:spPr>
      </p:pic>
      <p:sp>
        <p:nvSpPr>
          <p:cNvPr id="645" name="Google Shape;645;p56"/>
          <p:cNvSpPr/>
          <p:nvPr/>
        </p:nvSpPr>
        <p:spPr>
          <a:xfrm>
            <a:off x="4062600" y="3022200"/>
            <a:ext cx="690120" cy="1120320"/>
          </a:xfrm>
          <a:custGeom>
            <a:rect b="b" l="l" r="r" t="t"/>
            <a:pathLst>
              <a:path extrusionOk="0" h="21600" w="21600">
                <a:moveTo>
                  <a:pt x="0" y="0"/>
                </a:moveTo>
                <a:lnTo>
                  <a:pt x="21600" y="21600"/>
                </a:lnTo>
              </a:path>
            </a:pathLst>
          </a:custGeom>
          <a:noFill/>
          <a:ln cap="flat" cmpd="sng" w="19075">
            <a:solidFill>
              <a:srgbClr val="000000"/>
            </a:solidFill>
            <a:prstDash val="solid"/>
            <a:round/>
            <a:headEnd len="sm" w="sm" type="none"/>
            <a:tailEnd len="med" w="med" type="triangle"/>
          </a:ln>
        </p:spPr>
      </p:sp>
      <p:sp>
        <p:nvSpPr>
          <p:cNvPr id="646" name="Google Shape;646;p56"/>
          <p:cNvSpPr/>
          <p:nvPr/>
        </p:nvSpPr>
        <p:spPr>
          <a:xfrm>
            <a:off x="4753080" y="3702600"/>
            <a:ext cx="1580760" cy="610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es-419" sz="1400" strike="noStrike">
                <a:solidFill>
                  <a:srgbClr val="000000"/>
                </a:solidFill>
                <a:latin typeface="Open Sans"/>
                <a:ea typeface="Open Sans"/>
                <a:cs typeface="Open Sans"/>
                <a:sym typeface="Open Sans"/>
              </a:rPr>
              <a:t>“Máximo”</a:t>
            </a:r>
            <a:endParaRPr b="0" sz="1400" strike="noStrike">
              <a:latin typeface="Arial"/>
              <a:ea typeface="Arial"/>
              <a:cs typeface="Arial"/>
              <a:sym typeface="Arial"/>
            </a:endParaRPr>
          </a:p>
        </p:txBody>
      </p:sp>
      <p:sp>
        <p:nvSpPr>
          <p:cNvPr id="647" name="Google Shape;647;p56"/>
          <p:cNvSpPr/>
          <p:nvPr/>
        </p:nvSpPr>
        <p:spPr>
          <a:xfrm>
            <a:off x="272520" y="3277080"/>
            <a:ext cx="1580760" cy="610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es-419" sz="1400" strike="noStrike">
                <a:solidFill>
                  <a:srgbClr val="000000"/>
                </a:solidFill>
                <a:latin typeface="Open Sans"/>
                <a:ea typeface="Open Sans"/>
                <a:cs typeface="Open Sans"/>
                <a:sym typeface="Open Sans"/>
              </a:rPr>
              <a:t>“Mínimo”</a:t>
            </a:r>
            <a:endParaRPr b="0" sz="1400" strike="noStrike">
              <a:latin typeface="Arial"/>
              <a:ea typeface="Arial"/>
              <a:cs typeface="Arial"/>
              <a:sym typeface="Arial"/>
            </a:endParaRPr>
          </a:p>
        </p:txBody>
      </p:sp>
      <p:sp>
        <p:nvSpPr>
          <p:cNvPr id="648" name="Google Shape;648;p56"/>
          <p:cNvSpPr/>
          <p:nvPr/>
        </p:nvSpPr>
        <p:spPr>
          <a:xfrm flipH="1">
            <a:off x="1061280" y="2981880"/>
            <a:ext cx="1378440" cy="294840"/>
          </a:xfrm>
          <a:custGeom>
            <a:rect b="b" l="l" r="r" t="t"/>
            <a:pathLst>
              <a:path extrusionOk="0" h="21600" w="21600">
                <a:moveTo>
                  <a:pt x="0" y="0"/>
                </a:moveTo>
                <a:lnTo>
                  <a:pt x="21600" y="21600"/>
                </a:lnTo>
              </a:path>
            </a:pathLst>
          </a:custGeom>
          <a:noFill/>
          <a:ln cap="flat" cmpd="sng" w="19075">
            <a:solidFill>
              <a:srgbClr val="000000"/>
            </a:solidFill>
            <a:prstDash val="solid"/>
            <a:round/>
            <a:headEnd len="sm" w="sm" type="none"/>
            <a:tailEnd len="med" w="med" type="triangle"/>
          </a:ln>
        </p:spPr>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57"/>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Box plot</a:t>
            </a:r>
            <a:endParaRPr b="0" sz="3600" strike="noStrike">
              <a:latin typeface="Arial"/>
              <a:ea typeface="Arial"/>
              <a:cs typeface="Arial"/>
              <a:sym typeface="Arial"/>
            </a:endParaRPr>
          </a:p>
        </p:txBody>
      </p:sp>
      <p:pic>
        <p:nvPicPr>
          <p:cNvPr id="654" name="Google Shape;654;p57"/>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655" name="Google Shape;655;p57"/>
          <p:cNvPicPr preferRelativeResize="0"/>
          <p:nvPr/>
        </p:nvPicPr>
        <p:blipFill rotWithShape="1">
          <a:blip r:embed="rId4">
            <a:alphaModFix/>
          </a:blip>
          <a:srcRect b="0" l="0" r="0" t="0"/>
          <a:stretch/>
        </p:blipFill>
        <p:spPr>
          <a:xfrm>
            <a:off x="2105280" y="978120"/>
            <a:ext cx="4933080" cy="4002480"/>
          </a:xfrm>
          <a:prstGeom prst="rect">
            <a:avLst/>
          </a:prstGeom>
          <a:noFill/>
          <a:ln>
            <a:noFill/>
          </a:ln>
        </p:spPr>
      </p:pic>
      <p:sp>
        <p:nvSpPr>
          <p:cNvPr id="656" name="Google Shape;656;p57"/>
          <p:cNvSpPr/>
          <p:nvPr/>
        </p:nvSpPr>
        <p:spPr>
          <a:xfrm>
            <a:off x="3862800" y="2665800"/>
            <a:ext cx="3051720" cy="627480"/>
          </a:xfrm>
          <a:prstGeom prst="ellipse">
            <a:avLst/>
          </a:prstGeom>
          <a:noFill/>
          <a:ln cap="flat" cmpd="sng" w="190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57"/>
          <p:cNvSpPr/>
          <p:nvPr/>
        </p:nvSpPr>
        <p:spPr>
          <a:xfrm flipH="1" rot="10800000">
            <a:off x="5932800" y="2791800"/>
            <a:ext cx="1290600" cy="660240"/>
          </a:xfrm>
          <a:custGeom>
            <a:rect b="b" l="l" r="r" t="t"/>
            <a:pathLst>
              <a:path extrusionOk="0" h="21600" w="21600">
                <a:moveTo>
                  <a:pt x="0" y="0"/>
                </a:moveTo>
                <a:lnTo>
                  <a:pt x="21600" y="21600"/>
                </a:lnTo>
              </a:path>
            </a:pathLst>
          </a:custGeom>
          <a:noFill/>
          <a:ln cap="flat" cmpd="sng" w="19075">
            <a:solidFill>
              <a:srgbClr val="000000"/>
            </a:solidFill>
            <a:prstDash val="solid"/>
            <a:round/>
            <a:headEnd len="sm" w="sm" type="none"/>
            <a:tailEnd len="med" w="med" type="triangle"/>
          </a:ln>
        </p:spPr>
      </p:sp>
      <p:sp>
        <p:nvSpPr>
          <p:cNvPr id="658" name="Google Shape;658;p57"/>
          <p:cNvSpPr/>
          <p:nvPr/>
        </p:nvSpPr>
        <p:spPr>
          <a:xfrm>
            <a:off x="7224840" y="1816200"/>
            <a:ext cx="1580760" cy="610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es-419" sz="1400" strike="noStrike">
                <a:solidFill>
                  <a:srgbClr val="000000"/>
                </a:solidFill>
                <a:latin typeface="Open Sans"/>
                <a:ea typeface="Open Sans"/>
                <a:cs typeface="Open Sans"/>
                <a:sym typeface="Open Sans"/>
              </a:rPr>
              <a:t>Outliers</a:t>
            </a:r>
            <a:endParaRPr b="0" sz="1400" strike="noStrike">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58"/>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De distribución discreta</a:t>
            </a:r>
            <a:endParaRPr b="0" sz="3600" strike="noStrike">
              <a:latin typeface="Arial"/>
              <a:ea typeface="Arial"/>
              <a:cs typeface="Arial"/>
              <a:sym typeface="Arial"/>
            </a:endParaRPr>
          </a:p>
        </p:txBody>
      </p:sp>
      <p:pic>
        <p:nvPicPr>
          <p:cNvPr id="664" name="Google Shape;664;p58"/>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665" name="Google Shape;665;p58"/>
          <p:cNvPicPr preferRelativeResize="0"/>
          <p:nvPr/>
        </p:nvPicPr>
        <p:blipFill rotWithShape="1">
          <a:blip r:embed="rId4">
            <a:alphaModFix/>
          </a:blip>
          <a:srcRect b="0" l="0" r="0" t="0"/>
          <a:stretch/>
        </p:blipFill>
        <p:spPr>
          <a:xfrm>
            <a:off x="4745520" y="1008360"/>
            <a:ext cx="4002480" cy="4002480"/>
          </a:xfrm>
          <a:prstGeom prst="rect">
            <a:avLst/>
          </a:prstGeom>
          <a:noFill/>
          <a:ln>
            <a:noFill/>
          </a:ln>
        </p:spPr>
      </p:pic>
      <p:pic>
        <p:nvPicPr>
          <p:cNvPr id="666" name="Google Shape;666;p58"/>
          <p:cNvPicPr preferRelativeResize="0"/>
          <p:nvPr/>
        </p:nvPicPr>
        <p:blipFill rotWithShape="1">
          <a:blip r:embed="rId5">
            <a:alphaModFix/>
          </a:blip>
          <a:srcRect b="44996" l="0" r="0" t="0"/>
          <a:stretch/>
        </p:blipFill>
        <p:spPr>
          <a:xfrm>
            <a:off x="472680" y="2318040"/>
            <a:ext cx="3504960" cy="138312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59"/>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Bar plot</a:t>
            </a:r>
            <a:endParaRPr b="0" sz="3600" strike="noStrike">
              <a:latin typeface="Arial"/>
              <a:ea typeface="Arial"/>
              <a:cs typeface="Arial"/>
              <a:sym typeface="Arial"/>
            </a:endParaRPr>
          </a:p>
        </p:txBody>
      </p:sp>
      <p:pic>
        <p:nvPicPr>
          <p:cNvPr id="672" name="Google Shape;672;p59"/>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673" name="Google Shape;673;p59"/>
          <p:cNvPicPr preferRelativeResize="0"/>
          <p:nvPr/>
        </p:nvPicPr>
        <p:blipFill rotWithShape="1">
          <a:blip r:embed="rId4">
            <a:alphaModFix/>
          </a:blip>
          <a:srcRect b="0" l="0" r="0" t="0"/>
          <a:stretch/>
        </p:blipFill>
        <p:spPr>
          <a:xfrm>
            <a:off x="1675440" y="998280"/>
            <a:ext cx="5792400" cy="400248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60"/>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Bar plot</a:t>
            </a:r>
            <a:endParaRPr b="0" sz="3600" strike="noStrike">
              <a:latin typeface="Arial"/>
              <a:ea typeface="Arial"/>
              <a:cs typeface="Arial"/>
              <a:sym typeface="Arial"/>
            </a:endParaRPr>
          </a:p>
        </p:txBody>
      </p:sp>
      <p:pic>
        <p:nvPicPr>
          <p:cNvPr id="679" name="Google Shape;679;p60"/>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680" name="Google Shape;680;p60"/>
          <p:cNvPicPr preferRelativeResize="0"/>
          <p:nvPr/>
        </p:nvPicPr>
        <p:blipFill rotWithShape="1">
          <a:blip r:embed="rId4">
            <a:alphaModFix/>
          </a:blip>
          <a:srcRect b="0" l="0" r="0" t="0"/>
          <a:stretch/>
        </p:blipFill>
        <p:spPr>
          <a:xfrm>
            <a:off x="1652400" y="998280"/>
            <a:ext cx="5838840" cy="400248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61"/>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Bar plot</a:t>
            </a:r>
            <a:endParaRPr b="0" sz="3600" strike="noStrike">
              <a:latin typeface="Arial"/>
              <a:ea typeface="Arial"/>
              <a:cs typeface="Arial"/>
              <a:sym typeface="Arial"/>
            </a:endParaRPr>
          </a:p>
        </p:txBody>
      </p:sp>
      <p:pic>
        <p:nvPicPr>
          <p:cNvPr id="686" name="Google Shape;686;p61"/>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687" name="Google Shape;687;p61"/>
          <p:cNvPicPr preferRelativeResize="0"/>
          <p:nvPr/>
        </p:nvPicPr>
        <p:blipFill rotWithShape="1">
          <a:blip r:embed="rId4">
            <a:alphaModFix/>
          </a:blip>
          <a:srcRect b="0" l="0" r="0" t="0"/>
          <a:stretch/>
        </p:blipFill>
        <p:spPr>
          <a:xfrm>
            <a:off x="2369520" y="968040"/>
            <a:ext cx="4404600" cy="400248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62"/>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Stacked bar plot</a:t>
            </a:r>
            <a:endParaRPr b="0" sz="3600" strike="noStrike">
              <a:latin typeface="Arial"/>
              <a:ea typeface="Arial"/>
              <a:cs typeface="Arial"/>
              <a:sym typeface="Arial"/>
            </a:endParaRPr>
          </a:p>
        </p:txBody>
      </p:sp>
      <p:pic>
        <p:nvPicPr>
          <p:cNvPr id="693" name="Google Shape;693;p62"/>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694" name="Google Shape;694;p62"/>
          <p:cNvPicPr preferRelativeResize="0"/>
          <p:nvPr/>
        </p:nvPicPr>
        <p:blipFill rotWithShape="1">
          <a:blip r:embed="rId4">
            <a:alphaModFix/>
          </a:blip>
          <a:srcRect b="0" l="0" r="0" t="0"/>
          <a:stretch/>
        </p:blipFill>
        <p:spPr>
          <a:xfrm>
            <a:off x="2724120" y="934560"/>
            <a:ext cx="3588120" cy="400248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63"/>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Treemap</a:t>
            </a:r>
            <a:endParaRPr b="0" sz="3600" strike="noStrike">
              <a:latin typeface="Arial"/>
              <a:ea typeface="Arial"/>
              <a:cs typeface="Arial"/>
              <a:sym typeface="Arial"/>
            </a:endParaRPr>
          </a:p>
        </p:txBody>
      </p:sp>
      <p:pic>
        <p:nvPicPr>
          <p:cNvPr id="700" name="Google Shape;700;p63"/>
          <p:cNvPicPr preferRelativeResize="0"/>
          <p:nvPr/>
        </p:nvPicPr>
        <p:blipFill rotWithShape="1">
          <a:blip r:embed="rId3">
            <a:alphaModFix/>
          </a:blip>
          <a:srcRect b="0" l="0" r="0" t="0"/>
          <a:stretch/>
        </p:blipFill>
        <p:spPr>
          <a:xfrm>
            <a:off x="8308080" y="0"/>
            <a:ext cx="835560" cy="835560"/>
          </a:xfrm>
          <a:prstGeom prst="rect">
            <a:avLst/>
          </a:prstGeom>
          <a:noFill/>
          <a:ln>
            <a:noFill/>
          </a:ln>
        </p:spPr>
      </p:pic>
      <p:sp>
        <p:nvSpPr>
          <p:cNvPr id="701" name="Google Shape;701;p63"/>
          <p:cNvSpPr/>
          <p:nvPr/>
        </p:nvSpPr>
        <p:spPr>
          <a:xfrm>
            <a:off x="50040" y="4722480"/>
            <a:ext cx="5483520" cy="4399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lang="es-419" sz="1400" u="sng" strike="noStrike">
                <a:solidFill>
                  <a:schemeClr val="hlink"/>
                </a:solidFill>
                <a:latin typeface="Arial"/>
                <a:ea typeface="Arial"/>
                <a:cs typeface="Arial"/>
                <a:sym typeface="Arial"/>
                <a:hlinkClick r:id="rId4"/>
              </a:rPr>
              <a:t>https://www.presupuestoabierto.gob.ar/sici/destacado-quien-gasta</a:t>
            </a:r>
            <a:endParaRPr b="0" sz="1400" strike="noStrike">
              <a:latin typeface="Arial"/>
              <a:ea typeface="Arial"/>
              <a:cs typeface="Arial"/>
              <a:sym typeface="Arial"/>
            </a:endParaRPr>
          </a:p>
        </p:txBody>
      </p:sp>
      <p:pic>
        <p:nvPicPr>
          <p:cNvPr id="702" name="Google Shape;702;p63"/>
          <p:cNvPicPr preferRelativeResize="0"/>
          <p:nvPr/>
        </p:nvPicPr>
        <p:blipFill rotWithShape="1">
          <a:blip r:embed="rId5">
            <a:alphaModFix/>
          </a:blip>
          <a:srcRect b="0" l="0" r="0" t="0"/>
          <a:stretch/>
        </p:blipFill>
        <p:spPr>
          <a:xfrm>
            <a:off x="457200" y="1005840"/>
            <a:ext cx="8298720" cy="359244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64"/>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De relación</a:t>
            </a:r>
            <a:endParaRPr b="0" sz="3600" strike="noStrike">
              <a:latin typeface="Arial"/>
              <a:ea typeface="Arial"/>
              <a:cs typeface="Arial"/>
              <a:sym typeface="Arial"/>
            </a:endParaRPr>
          </a:p>
        </p:txBody>
      </p:sp>
      <p:pic>
        <p:nvPicPr>
          <p:cNvPr id="708" name="Google Shape;708;p64"/>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709" name="Google Shape;709;p64"/>
          <p:cNvPicPr preferRelativeResize="0"/>
          <p:nvPr/>
        </p:nvPicPr>
        <p:blipFill rotWithShape="1">
          <a:blip r:embed="rId4">
            <a:alphaModFix/>
          </a:blip>
          <a:srcRect b="0" l="0" r="0" t="0"/>
          <a:stretch/>
        </p:blipFill>
        <p:spPr>
          <a:xfrm>
            <a:off x="152280" y="988200"/>
            <a:ext cx="8838720" cy="3484440"/>
          </a:xfrm>
          <a:prstGeom prst="rect">
            <a:avLst/>
          </a:prstGeom>
          <a:noFill/>
          <a:ln>
            <a:noFill/>
          </a:ln>
        </p:spPr>
      </p:pic>
      <p:sp>
        <p:nvSpPr>
          <p:cNvPr id="710" name="Google Shape;710;p64"/>
          <p:cNvSpPr/>
          <p:nvPr/>
        </p:nvSpPr>
        <p:spPr>
          <a:xfrm>
            <a:off x="152280" y="4733280"/>
            <a:ext cx="5603400" cy="41004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lang="es-419" sz="1400" u="sng" strike="noStrike">
                <a:solidFill>
                  <a:schemeClr val="hlink"/>
                </a:solidFill>
                <a:latin typeface="Arial"/>
                <a:ea typeface="Arial"/>
                <a:cs typeface="Arial"/>
                <a:sym typeface="Arial"/>
                <a:hlinkClick r:id="rId5"/>
              </a:rPr>
              <a:t>https://www.tylervigen.com/spurious-correlations</a:t>
            </a:r>
            <a:endParaRPr b="0" sz="1400" strike="noStrike">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65"/>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Scatter plot (de dispersión)</a:t>
            </a:r>
            <a:endParaRPr b="0" sz="3600" strike="noStrike">
              <a:latin typeface="Arial"/>
              <a:ea typeface="Arial"/>
              <a:cs typeface="Arial"/>
              <a:sym typeface="Arial"/>
            </a:endParaRPr>
          </a:p>
        </p:txBody>
      </p:sp>
      <p:pic>
        <p:nvPicPr>
          <p:cNvPr id="716" name="Google Shape;716;p65"/>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717" name="Google Shape;717;p65"/>
          <p:cNvPicPr preferRelativeResize="0"/>
          <p:nvPr/>
        </p:nvPicPr>
        <p:blipFill rotWithShape="1">
          <a:blip r:embed="rId4">
            <a:alphaModFix/>
          </a:blip>
          <a:srcRect b="0" l="0" r="0" t="0"/>
          <a:stretch/>
        </p:blipFill>
        <p:spPr>
          <a:xfrm>
            <a:off x="1704600" y="983160"/>
            <a:ext cx="4056120" cy="4048200"/>
          </a:xfrm>
          <a:prstGeom prst="rect">
            <a:avLst/>
          </a:prstGeom>
          <a:noFill/>
          <a:ln>
            <a:noFill/>
          </a:ln>
        </p:spPr>
      </p:pic>
      <p:sp>
        <p:nvSpPr>
          <p:cNvPr id="718" name="Google Shape;718;p65"/>
          <p:cNvSpPr txBox="1"/>
          <p:nvPr/>
        </p:nvSpPr>
        <p:spPr>
          <a:xfrm>
            <a:off x="5943600" y="1463040"/>
            <a:ext cx="2926080" cy="2286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s-419" sz="1800" strike="noStrike">
                <a:latin typeface="Arial"/>
                <a:ea typeface="Arial"/>
                <a:cs typeface="Arial"/>
                <a:sym typeface="Arial"/>
              </a:rPr>
              <a:t>Utiliza las coordenadas cartesianas para mostrar los valores de dos variables</a:t>
            </a:r>
            <a:endParaRPr b="0" sz="1800" strike="noStrike">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66"/>
          <p:cNvSpPr/>
          <p:nvPr/>
        </p:nvSpPr>
        <p:spPr>
          <a:xfrm>
            <a:off x="0" y="0"/>
            <a:ext cx="9143700" cy="8355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s-419" sz="2600">
                <a:solidFill>
                  <a:schemeClr val="dk2"/>
                </a:solidFill>
                <a:latin typeface="Raleway"/>
                <a:ea typeface="Raleway"/>
                <a:cs typeface="Raleway"/>
                <a:sym typeface="Raleway"/>
              </a:rPr>
              <a:t>Correlación de Pearson</a:t>
            </a:r>
            <a:endParaRPr b="1" sz="3600">
              <a:solidFill>
                <a:srgbClr val="BD0000"/>
              </a:solidFill>
              <a:latin typeface="Open Sans"/>
              <a:ea typeface="Open Sans"/>
              <a:cs typeface="Open Sans"/>
              <a:sym typeface="Open Sans"/>
            </a:endParaRPr>
          </a:p>
        </p:txBody>
      </p:sp>
      <p:pic>
        <p:nvPicPr>
          <p:cNvPr id="724" name="Google Shape;724;p66"/>
          <p:cNvPicPr preferRelativeResize="0"/>
          <p:nvPr/>
        </p:nvPicPr>
        <p:blipFill rotWithShape="1">
          <a:blip r:embed="rId3">
            <a:alphaModFix/>
          </a:blip>
          <a:srcRect b="0" l="0" r="0" t="0"/>
          <a:stretch/>
        </p:blipFill>
        <p:spPr>
          <a:xfrm>
            <a:off x="8308080" y="0"/>
            <a:ext cx="835561" cy="835561"/>
          </a:xfrm>
          <a:prstGeom prst="rect">
            <a:avLst/>
          </a:prstGeom>
          <a:noFill/>
          <a:ln>
            <a:noFill/>
          </a:ln>
        </p:spPr>
      </p:pic>
      <p:sp>
        <p:nvSpPr>
          <p:cNvPr id="725" name="Google Shape;725;p66"/>
          <p:cNvSpPr txBox="1"/>
          <p:nvPr/>
        </p:nvSpPr>
        <p:spPr>
          <a:xfrm>
            <a:off x="266475" y="973900"/>
            <a:ext cx="8486400" cy="6714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lang="es-419" sz="1800"/>
              <a:t>Los diagramas de dispersión son </a:t>
            </a:r>
            <a:r>
              <a:rPr lang="es-419" sz="1800"/>
              <a:t>útiles</a:t>
            </a:r>
            <a:r>
              <a:rPr lang="es-419" sz="1800"/>
              <a:t> para ver si dos </a:t>
            </a:r>
            <a:r>
              <a:rPr lang="es-419" sz="1800"/>
              <a:t>variables</a:t>
            </a:r>
            <a:r>
              <a:rPr lang="es-419" sz="1800"/>
              <a:t> están correlacionadas</a:t>
            </a:r>
            <a:endParaRPr b="0" sz="1800" strike="noStrike">
              <a:latin typeface="Arial"/>
              <a:ea typeface="Arial"/>
              <a:cs typeface="Arial"/>
              <a:sym typeface="Arial"/>
            </a:endParaRPr>
          </a:p>
        </p:txBody>
      </p:sp>
      <p:sp>
        <p:nvSpPr>
          <p:cNvPr id="726" name="Google Shape;726;p66"/>
          <p:cNvSpPr txBox="1"/>
          <p:nvPr/>
        </p:nvSpPr>
        <p:spPr>
          <a:xfrm>
            <a:off x="266475" y="1519325"/>
            <a:ext cx="5581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2600">
              <a:solidFill>
                <a:schemeClr val="dk2"/>
              </a:solidFill>
              <a:latin typeface="Raleway"/>
              <a:ea typeface="Raleway"/>
              <a:cs typeface="Raleway"/>
              <a:sym typeface="Raleway"/>
            </a:endParaRPr>
          </a:p>
        </p:txBody>
      </p:sp>
      <p:sp>
        <p:nvSpPr>
          <p:cNvPr id="727" name="Google Shape;727;p66"/>
          <p:cNvSpPr txBox="1"/>
          <p:nvPr/>
        </p:nvSpPr>
        <p:spPr>
          <a:xfrm>
            <a:off x="388525" y="1823200"/>
            <a:ext cx="7688700" cy="2542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sz="1100"/>
              <a:t>Para 2 variables podemos medir su correlación lineal con el coeficiente de correlación r (Pearson). Este coeficiente, es una función que mide cuán relacionada estan 2 variables de forma lineal.</a:t>
            </a:r>
            <a:endParaRPr sz="1100"/>
          </a:p>
          <a:p>
            <a:pPr indent="0" lvl="0" marL="0" rtl="0" algn="l">
              <a:lnSpc>
                <a:spcPct val="115000"/>
              </a:lnSpc>
              <a:spcBef>
                <a:spcPts val="0"/>
              </a:spcBef>
              <a:spcAft>
                <a:spcPts val="0"/>
              </a:spcAft>
              <a:buNone/>
            </a:pPr>
            <a:r>
              <a:t/>
            </a:r>
            <a:endParaRPr sz="1100"/>
          </a:p>
          <a:p>
            <a:pPr indent="-317500" lvl="0" marL="457200" rtl="0" algn="l">
              <a:lnSpc>
                <a:spcPct val="115000"/>
              </a:lnSpc>
              <a:spcBef>
                <a:spcPts val="0"/>
              </a:spcBef>
              <a:spcAft>
                <a:spcPts val="0"/>
              </a:spcAft>
              <a:buClr>
                <a:srgbClr val="000000"/>
              </a:buClr>
              <a:buSzPts val="1400"/>
              <a:buFont typeface="Arial"/>
              <a:buChar char="●"/>
            </a:pPr>
            <a:r>
              <a:rPr lang="es-419"/>
              <a:t>Si da 0 NO existe correlación</a:t>
            </a:r>
            <a:endParaRPr/>
          </a:p>
          <a:p>
            <a:pPr indent="0" lvl="0" marL="457200" rtl="0" algn="l">
              <a:lnSpc>
                <a:spcPct val="115000"/>
              </a:lnSpc>
              <a:spcBef>
                <a:spcPts val="0"/>
              </a:spcBef>
              <a:spcAft>
                <a:spcPts val="0"/>
              </a:spcAft>
              <a:buNone/>
            </a:pPr>
            <a:r>
              <a:t/>
            </a:r>
            <a:endParaRPr/>
          </a:p>
          <a:p>
            <a:pPr indent="-317500" lvl="0" marL="457200" rtl="0" algn="l">
              <a:lnSpc>
                <a:spcPct val="115000"/>
              </a:lnSpc>
              <a:spcBef>
                <a:spcPts val="0"/>
              </a:spcBef>
              <a:spcAft>
                <a:spcPts val="0"/>
              </a:spcAft>
              <a:buClr>
                <a:srgbClr val="000000"/>
              </a:buClr>
              <a:buSzPts val="1400"/>
              <a:buFont typeface="Arial"/>
              <a:buChar char="●"/>
            </a:pPr>
            <a:r>
              <a:rPr lang="es-419"/>
              <a:t>Si da 1 Están relacionadas linealmente de forma perfecta (todos los puntos están en una línea)</a:t>
            </a:r>
            <a:endParaRPr/>
          </a:p>
          <a:p>
            <a:pPr indent="-317500" lvl="0" marL="457200" rtl="0" algn="l">
              <a:lnSpc>
                <a:spcPct val="115000"/>
              </a:lnSpc>
              <a:spcBef>
                <a:spcPts val="0"/>
              </a:spcBef>
              <a:spcAft>
                <a:spcPts val="0"/>
              </a:spcAft>
              <a:buClr>
                <a:srgbClr val="000000"/>
              </a:buClr>
              <a:buSzPts val="1400"/>
              <a:buFont typeface="Arial"/>
              <a:buChar char="●"/>
            </a:pPr>
            <a:r>
              <a:t/>
            </a:r>
            <a:endParaRPr/>
          </a:p>
          <a:p>
            <a:pPr indent="-317500" lvl="0" marL="457200" rtl="0" algn="l">
              <a:lnSpc>
                <a:spcPct val="115000"/>
              </a:lnSpc>
              <a:spcBef>
                <a:spcPts val="0"/>
              </a:spcBef>
              <a:spcAft>
                <a:spcPts val="0"/>
              </a:spcAft>
              <a:buClr>
                <a:srgbClr val="000000"/>
              </a:buClr>
              <a:buSzPts val="1400"/>
              <a:buFont typeface="Arial"/>
              <a:buChar char="●"/>
            </a:pPr>
            <a:r>
              <a:rPr lang="es-419"/>
              <a:t>Si da -1 Existe una correlación negativa perfecta.</a:t>
            </a:r>
            <a:endParaRPr/>
          </a:p>
          <a:p>
            <a:pPr indent="0" lvl="0" marL="0" rtl="0" algn="l">
              <a:lnSpc>
                <a:spcPct val="115000"/>
              </a:lnSpc>
              <a:spcBef>
                <a:spcPts val="0"/>
              </a:spcBef>
              <a:spcAft>
                <a:spcPts val="1600"/>
              </a:spcAft>
              <a:buNone/>
            </a:pPr>
            <a:r>
              <a:t/>
            </a:r>
            <a:endParaRPr sz="1300">
              <a:solidFill>
                <a:srgbClr val="595959"/>
              </a:solidFill>
              <a:latin typeface="Lato"/>
              <a:ea typeface="Lato"/>
              <a:cs typeface="Lato"/>
              <a:sym typeface="Lato"/>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67"/>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Scatter plot (de dispersión)</a:t>
            </a:r>
            <a:endParaRPr b="0" sz="3600" strike="noStrike">
              <a:latin typeface="Arial"/>
              <a:ea typeface="Arial"/>
              <a:cs typeface="Arial"/>
              <a:sym typeface="Arial"/>
            </a:endParaRPr>
          </a:p>
        </p:txBody>
      </p:sp>
      <p:pic>
        <p:nvPicPr>
          <p:cNvPr id="733" name="Google Shape;733;p67"/>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734" name="Google Shape;734;p67"/>
          <p:cNvPicPr preferRelativeResize="0"/>
          <p:nvPr/>
        </p:nvPicPr>
        <p:blipFill rotWithShape="1">
          <a:blip r:embed="rId4">
            <a:alphaModFix/>
          </a:blip>
          <a:srcRect b="0" l="0" r="0" t="0"/>
          <a:stretch/>
        </p:blipFill>
        <p:spPr>
          <a:xfrm>
            <a:off x="1569960" y="988200"/>
            <a:ext cx="6004080" cy="4002480"/>
          </a:xfrm>
          <a:prstGeom prst="rect">
            <a:avLst/>
          </a:prstGeom>
          <a:noFill/>
          <a:ln>
            <a:noFill/>
          </a:ln>
        </p:spPr>
      </p:pic>
      <p:sp>
        <p:nvSpPr>
          <p:cNvPr id="735" name="Google Shape;735;p67"/>
          <p:cNvSpPr/>
          <p:nvPr/>
        </p:nvSpPr>
        <p:spPr>
          <a:xfrm>
            <a:off x="1581120" y="4322880"/>
            <a:ext cx="5923800" cy="690120"/>
          </a:xfrm>
          <a:prstGeom prst="ellipse">
            <a:avLst/>
          </a:prstGeom>
          <a:noFill/>
          <a:ln cap="flat" cmpd="sng" w="1907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67"/>
          <p:cNvSpPr/>
          <p:nvPr/>
        </p:nvSpPr>
        <p:spPr>
          <a:xfrm>
            <a:off x="1360800" y="1050840"/>
            <a:ext cx="1230480" cy="4002480"/>
          </a:xfrm>
          <a:prstGeom prst="ellipse">
            <a:avLst/>
          </a:prstGeom>
          <a:noFill/>
          <a:ln cap="flat" cmpd="sng" w="1907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67"/>
          <p:cNvSpPr/>
          <p:nvPr/>
        </p:nvSpPr>
        <p:spPr>
          <a:xfrm>
            <a:off x="7214760" y="1080720"/>
            <a:ext cx="1831320" cy="210132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lang="es-419" sz="1400" strike="noStrike">
                <a:solidFill>
                  <a:srgbClr val="000000"/>
                </a:solidFill>
                <a:latin typeface="Open Sans"/>
                <a:ea typeface="Open Sans"/>
                <a:cs typeface="Open Sans"/>
                <a:sym typeface="Open Sans"/>
              </a:rPr>
              <a:t>Ambos ejes o bien son continuos o tienen una buena granularidad (lo que los vuelve indistintos del continuo)</a:t>
            </a:r>
            <a:endParaRPr b="0" sz="1400" strike="noStrike">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68"/>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Regression plot</a:t>
            </a:r>
            <a:endParaRPr b="0" sz="3600" strike="noStrike">
              <a:latin typeface="Arial"/>
              <a:ea typeface="Arial"/>
              <a:cs typeface="Arial"/>
              <a:sym typeface="Arial"/>
            </a:endParaRPr>
          </a:p>
        </p:txBody>
      </p:sp>
      <p:pic>
        <p:nvPicPr>
          <p:cNvPr id="743" name="Google Shape;743;p68"/>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744" name="Google Shape;744;p68"/>
          <p:cNvPicPr preferRelativeResize="0"/>
          <p:nvPr/>
        </p:nvPicPr>
        <p:blipFill rotWithShape="1">
          <a:blip r:embed="rId4">
            <a:alphaModFix/>
          </a:blip>
          <a:srcRect b="0" l="0" r="0" t="0"/>
          <a:stretch/>
        </p:blipFill>
        <p:spPr>
          <a:xfrm>
            <a:off x="274320" y="1005840"/>
            <a:ext cx="5394960" cy="3853440"/>
          </a:xfrm>
          <a:prstGeom prst="rect">
            <a:avLst/>
          </a:prstGeom>
          <a:noFill/>
          <a:ln>
            <a:noFill/>
          </a:ln>
        </p:spPr>
      </p:pic>
      <p:sp>
        <p:nvSpPr>
          <p:cNvPr id="745" name="Google Shape;745;p68"/>
          <p:cNvSpPr txBox="1"/>
          <p:nvPr/>
        </p:nvSpPr>
        <p:spPr>
          <a:xfrm>
            <a:off x="5760720" y="1645920"/>
            <a:ext cx="3336840" cy="85824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s-419" sz="1800" strike="noStrike">
                <a:latin typeface="Arial"/>
                <a:ea typeface="Arial"/>
                <a:cs typeface="Arial"/>
                <a:sym typeface="Arial"/>
              </a:rPr>
              <a:t>Se incluye una guía visual que </a:t>
            </a:r>
            <a:endParaRPr b="0" sz="1800" strike="noStrike">
              <a:latin typeface="Arial"/>
              <a:ea typeface="Arial"/>
              <a:cs typeface="Arial"/>
              <a:sym typeface="Arial"/>
            </a:endParaRPr>
          </a:p>
          <a:p>
            <a:pPr indent="0" lvl="0" marL="0" marR="0" rtl="0" algn="l">
              <a:spcBef>
                <a:spcPts val="0"/>
              </a:spcBef>
              <a:spcAft>
                <a:spcPts val="0"/>
              </a:spcAft>
              <a:buNone/>
            </a:pPr>
            <a:r>
              <a:rPr b="0" lang="es-419" sz="1800" strike="noStrike">
                <a:latin typeface="Arial"/>
                <a:ea typeface="Arial"/>
                <a:cs typeface="Arial"/>
                <a:sym typeface="Arial"/>
              </a:rPr>
              <a:t>muestra la relación entre </a:t>
            </a:r>
            <a:endParaRPr b="0" sz="1800" strike="noStrike">
              <a:latin typeface="Arial"/>
              <a:ea typeface="Arial"/>
              <a:cs typeface="Arial"/>
              <a:sym typeface="Arial"/>
            </a:endParaRPr>
          </a:p>
          <a:p>
            <a:pPr indent="0" lvl="0" marL="0" marR="0" rtl="0" algn="l">
              <a:spcBef>
                <a:spcPts val="0"/>
              </a:spcBef>
              <a:spcAft>
                <a:spcPts val="0"/>
              </a:spcAft>
              <a:buNone/>
            </a:pPr>
            <a:r>
              <a:rPr b="0" lang="es-419" sz="1800" strike="noStrike">
                <a:latin typeface="Arial"/>
                <a:ea typeface="Arial"/>
                <a:cs typeface="Arial"/>
                <a:sym typeface="Arial"/>
              </a:rPr>
              <a:t>las variables</a:t>
            </a:r>
            <a:endParaRPr b="0" sz="1800" strike="noStrike">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69"/>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Ejemplo confuso</a:t>
            </a:r>
            <a:endParaRPr b="0" sz="3600" strike="noStrike">
              <a:latin typeface="Arial"/>
              <a:ea typeface="Arial"/>
              <a:cs typeface="Arial"/>
              <a:sym typeface="Arial"/>
            </a:endParaRPr>
          </a:p>
        </p:txBody>
      </p:sp>
      <p:pic>
        <p:nvPicPr>
          <p:cNvPr id="751" name="Google Shape;751;p69"/>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752" name="Google Shape;752;p69"/>
          <p:cNvPicPr preferRelativeResize="0"/>
          <p:nvPr/>
        </p:nvPicPr>
        <p:blipFill rotWithShape="1">
          <a:blip r:embed="rId4">
            <a:alphaModFix/>
          </a:blip>
          <a:srcRect b="0" l="0" r="0" t="0"/>
          <a:stretch/>
        </p:blipFill>
        <p:spPr>
          <a:xfrm>
            <a:off x="195840" y="998280"/>
            <a:ext cx="5609520" cy="400248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70"/>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Ejemplo confuso</a:t>
            </a:r>
            <a:endParaRPr b="0" sz="3600" strike="noStrike">
              <a:latin typeface="Arial"/>
              <a:ea typeface="Arial"/>
              <a:cs typeface="Arial"/>
              <a:sym typeface="Arial"/>
            </a:endParaRPr>
          </a:p>
        </p:txBody>
      </p:sp>
      <p:pic>
        <p:nvPicPr>
          <p:cNvPr id="758" name="Google Shape;758;p70"/>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759" name="Google Shape;759;p70"/>
          <p:cNvPicPr preferRelativeResize="0"/>
          <p:nvPr/>
        </p:nvPicPr>
        <p:blipFill rotWithShape="1">
          <a:blip r:embed="rId4">
            <a:alphaModFix/>
          </a:blip>
          <a:srcRect b="0" l="0" r="0" t="0"/>
          <a:stretch/>
        </p:blipFill>
        <p:spPr>
          <a:xfrm>
            <a:off x="195840" y="998280"/>
            <a:ext cx="5609520" cy="4002480"/>
          </a:xfrm>
          <a:prstGeom prst="rect">
            <a:avLst/>
          </a:prstGeom>
          <a:noFill/>
          <a:ln>
            <a:noFill/>
          </a:ln>
        </p:spPr>
      </p:pic>
      <p:sp>
        <p:nvSpPr>
          <p:cNvPr id="760" name="Google Shape;760;p70"/>
          <p:cNvSpPr/>
          <p:nvPr/>
        </p:nvSpPr>
        <p:spPr>
          <a:xfrm>
            <a:off x="6248880" y="998280"/>
            <a:ext cx="830520" cy="79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lang="es-419" sz="3600" strike="noStrike">
                <a:solidFill>
                  <a:srgbClr val="000000"/>
                </a:solidFill>
                <a:latin typeface="Arial"/>
                <a:ea typeface="Arial"/>
                <a:cs typeface="Arial"/>
                <a:sym typeface="Arial"/>
              </a:rPr>
              <a:t>😕</a:t>
            </a:r>
            <a:endParaRPr b="0" sz="3600" strike="noStrike">
              <a:latin typeface="Arial"/>
              <a:ea typeface="Arial"/>
              <a:cs typeface="Arial"/>
              <a:sym typeface="Arial"/>
            </a:endParaRPr>
          </a:p>
        </p:txBody>
      </p:sp>
      <p:sp>
        <p:nvSpPr>
          <p:cNvPr id="761" name="Google Shape;761;p70"/>
          <p:cNvSpPr/>
          <p:nvPr/>
        </p:nvSpPr>
        <p:spPr>
          <a:xfrm>
            <a:off x="616320" y="1600920"/>
            <a:ext cx="5467320" cy="3231720"/>
          </a:xfrm>
          <a:prstGeom prst="ellipse">
            <a:avLst/>
          </a:prstGeom>
          <a:noFill/>
          <a:ln cap="flat" cmpd="sng" w="381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70"/>
          <p:cNvSpPr/>
          <p:nvPr/>
        </p:nvSpPr>
        <p:spPr>
          <a:xfrm>
            <a:off x="6224400" y="1731240"/>
            <a:ext cx="2801520" cy="31017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lang="es-419" sz="1400" strike="noStrike">
                <a:solidFill>
                  <a:srgbClr val="000000"/>
                </a:solidFill>
                <a:latin typeface="Open Sans"/>
                <a:ea typeface="Open Sans"/>
                <a:cs typeface="Open Sans"/>
                <a:sym typeface="Open Sans"/>
              </a:rPr>
              <a:t>Si bien los años de experiencia son una variable que puede ser real y continua, nadie va a contestar que tiene 3.253 años de experiencia, no hay buena granularidad, los valores más comunes son enteros.</a:t>
            </a:r>
            <a:endParaRPr b="0" sz="1400" strike="noStrike">
              <a:latin typeface="Arial"/>
              <a:ea typeface="Arial"/>
              <a:cs typeface="Arial"/>
              <a:sym typeface="Arial"/>
            </a:endParaRPr>
          </a:p>
          <a:p>
            <a:pPr indent="0" lvl="0" marL="0" marR="0" rtl="0" algn="l">
              <a:lnSpc>
                <a:spcPct val="100000"/>
              </a:lnSpc>
              <a:spcBef>
                <a:spcPts val="0"/>
              </a:spcBef>
              <a:spcAft>
                <a:spcPts val="0"/>
              </a:spcAft>
              <a:buNone/>
            </a:pPr>
            <a:r>
              <a:t/>
            </a:r>
            <a:endParaRPr b="0" sz="1400" strike="noStrike">
              <a:latin typeface="Arial"/>
              <a:ea typeface="Arial"/>
              <a:cs typeface="Arial"/>
              <a:sym typeface="Arial"/>
            </a:endParaRPr>
          </a:p>
          <a:p>
            <a:pPr indent="0" lvl="0" marL="0" marR="0" rtl="0" algn="l">
              <a:lnSpc>
                <a:spcPct val="100000"/>
              </a:lnSpc>
              <a:spcBef>
                <a:spcPts val="0"/>
              </a:spcBef>
              <a:spcAft>
                <a:spcPts val="0"/>
              </a:spcAft>
              <a:buNone/>
            </a:pPr>
            <a:r>
              <a:rPr b="0" lang="es-419" sz="1400" strike="noStrike">
                <a:solidFill>
                  <a:srgbClr val="000000"/>
                </a:solidFill>
                <a:latin typeface="Open Sans"/>
                <a:ea typeface="Open Sans"/>
                <a:cs typeface="Open Sans"/>
                <a:sym typeface="Open Sans"/>
              </a:rPr>
              <a:t>Podemos pensarlo como comparar distribuciones continuas.</a:t>
            </a:r>
            <a:endParaRPr b="0" sz="1400" strike="noStrike">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71"/>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Una mejora</a:t>
            </a:r>
            <a:endParaRPr b="0" sz="3600" strike="noStrike">
              <a:latin typeface="Arial"/>
              <a:ea typeface="Arial"/>
              <a:cs typeface="Arial"/>
              <a:sym typeface="Arial"/>
            </a:endParaRPr>
          </a:p>
        </p:txBody>
      </p:sp>
      <p:pic>
        <p:nvPicPr>
          <p:cNvPr id="768" name="Google Shape;768;p71"/>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769" name="Google Shape;769;p71"/>
          <p:cNvPicPr preferRelativeResize="0"/>
          <p:nvPr/>
        </p:nvPicPr>
        <p:blipFill rotWithShape="1">
          <a:blip r:embed="rId4">
            <a:alphaModFix/>
          </a:blip>
          <a:srcRect b="0" l="0" r="0" t="0"/>
          <a:stretch/>
        </p:blipFill>
        <p:spPr>
          <a:xfrm>
            <a:off x="1766880" y="928080"/>
            <a:ext cx="5609520" cy="400248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72"/>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Una mejora</a:t>
            </a:r>
            <a:endParaRPr b="0" sz="3600" strike="noStrike">
              <a:latin typeface="Arial"/>
              <a:ea typeface="Arial"/>
              <a:cs typeface="Arial"/>
              <a:sym typeface="Arial"/>
            </a:endParaRPr>
          </a:p>
        </p:txBody>
      </p:sp>
      <p:pic>
        <p:nvPicPr>
          <p:cNvPr id="775" name="Google Shape;775;p72"/>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776" name="Google Shape;776;p72"/>
          <p:cNvPicPr preferRelativeResize="0"/>
          <p:nvPr/>
        </p:nvPicPr>
        <p:blipFill rotWithShape="1">
          <a:blip r:embed="rId4">
            <a:alphaModFix/>
          </a:blip>
          <a:srcRect b="0" l="0" r="0" t="0"/>
          <a:stretch/>
        </p:blipFill>
        <p:spPr>
          <a:xfrm>
            <a:off x="1766880" y="928080"/>
            <a:ext cx="5609520" cy="4002480"/>
          </a:xfrm>
          <a:prstGeom prst="rect">
            <a:avLst/>
          </a:prstGeom>
          <a:noFill/>
          <a:ln>
            <a:noFill/>
          </a:ln>
        </p:spPr>
      </p:pic>
      <p:sp>
        <p:nvSpPr>
          <p:cNvPr id="777" name="Google Shape;777;p72"/>
          <p:cNvSpPr/>
          <p:nvPr/>
        </p:nvSpPr>
        <p:spPr>
          <a:xfrm>
            <a:off x="129960" y="1220760"/>
            <a:ext cx="1800720" cy="9205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lang="es-419" sz="1800" strike="noStrike">
                <a:solidFill>
                  <a:srgbClr val="000000"/>
                </a:solidFill>
                <a:latin typeface="Open Sans"/>
                <a:ea typeface="Open Sans"/>
                <a:cs typeface="Open Sans"/>
                <a:sym typeface="Open Sans"/>
              </a:rPr>
              <a:t>Y si queremos también verlo por profesión?</a:t>
            </a:r>
            <a:endParaRPr b="0" sz="1800" strike="noStrike">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73"/>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Heatmap</a:t>
            </a:r>
            <a:endParaRPr b="0" sz="3600" strike="noStrike">
              <a:latin typeface="Arial"/>
              <a:ea typeface="Arial"/>
              <a:cs typeface="Arial"/>
              <a:sym typeface="Arial"/>
            </a:endParaRPr>
          </a:p>
        </p:txBody>
      </p:sp>
      <p:pic>
        <p:nvPicPr>
          <p:cNvPr id="783" name="Google Shape;783;p73"/>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784" name="Google Shape;784;p73"/>
          <p:cNvPicPr preferRelativeResize="0"/>
          <p:nvPr/>
        </p:nvPicPr>
        <p:blipFill rotWithShape="1">
          <a:blip r:embed="rId4">
            <a:alphaModFix/>
          </a:blip>
          <a:srcRect b="0" l="0" r="0" t="0"/>
          <a:stretch/>
        </p:blipFill>
        <p:spPr>
          <a:xfrm>
            <a:off x="1828080" y="835920"/>
            <a:ext cx="5487840" cy="415512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74"/>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Heatmap</a:t>
            </a:r>
            <a:endParaRPr b="0" sz="3600" strike="noStrike">
              <a:latin typeface="Arial"/>
              <a:ea typeface="Arial"/>
              <a:cs typeface="Arial"/>
              <a:sym typeface="Arial"/>
            </a:endParaRPr>
          </a:p>
        </p:txBody>
      </p:sp>
      <p:pic>
        <p:nvPicPr>
          <p:cNvPr id="790" name="Google Shape;790;p74"/>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791" name="Google Shape;791;p74"/>
          <p:cNvPicPr preferRelativeResize="0"/>
          <p:nvPr/>
        </p:nvPicPr>
        <p:blipFill rotWithShape="1">
          <a:blip r:embed="rId4">
            <a:alphaModFix/>
          </a:blip>
          <a:srcRect b="0" l="0" r="0" t="0"/>
          <a:stretch/>
        </p:blipFill>
        <p:spPr>
          <a:xfrm>
            <a:off x="1828080" y="835920"/>
            <a:ext cx="5487840" cy="4155120"/>
          </a:xfrm>
          <a:prstGeom prst="rect">
            <a:avLst/>
          </a:prstGeom>
          <a:noFill/>
          <a:ln>
            <a:noFill/>
          </a:ln>
        </p:spPr>
      </p:pic>
      <p:sp>
        <p:nvSpPr>
          <p:cNvPr id="792" name="Google Shape;792;p74"/>
          <p:cNvSpPr/>
          <p:nvPr/>
        </p:nvSpPr>
        <p:spPr>
          <a:xfrm>
            <a:off x="100080" y="1000800"/>
            <a:ext cx="1727280" cy="31417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lang="es-419" sz="1400" strike="noStrike">
                <a:solidFill>
                  <a:srgbClr val="000000"/>
                </a:solidFill>
                <a:latin typeface="Arial"/>
                <a:ea typeface="Arial"/>
                <a:cs typeface="Arial"/>
                <a:sym typeface="Arial"/>
              </a:rPr>
              <a:t>Sirve para comprar distribuciones en donde ambos ejes son discretos y un tercero de “profundidad” numérico.</a:t>
            </a:r>
            <a:endParaRPr b="0" sz="1400" strike="noStrike">
              <a:latin typeface="Arial"/>
              <a:ea typeface="Arial"/>
              <a:cs typeface="Arial"/>
              <a:sym typeface="Arial"/>
            </a:endParaRPr>
          </a:p>
          <a:p>
            <a:pPr indent="0" lvl="0" marL="0" marR="0" rtl="0" algn="l">
              <a:lnSpc>
                <a:spcPct val="100000"/>
              </a:lnSpc>
              <a:spcBef>
                <a:spcPts val="0"/>
              </a:spcBef>
              <a:spcAft>
                <a:spcPts val="0"/>
              </a:spcAft>
              <a:buNone/>
            </a:pPr>
            <a:r>
              <a:t/>
            </a:r>
            <a:endParaRPr b="0" sz="1400" strike="noStrike">
              <a:latin typeface="Arial"/>
              <a:ea typeface="Arial"/>
              <a:cs typeface="Arial"/>
              <a:sym typeface="Arial"/>
            </a:endParaRPr>
          </a:p>
          <a:p>
            <a:pPr indent="0" lvl="0" marL="0" marR="0" rtl="0" algn="l">
              <a:lnSpc>
                <a:spcPct val="100000"/>
              </a:lnSpc>
              <a:spcBef>
                <a:spcPts val="0"/>
              </a:spcBef>
              <a:spcAft>
                <a:spcPts val="0"/>
              </a:spcAft>
              <a:buNone/>
            </a:pPr>
            <a:r>
              <a:rPr b="0" lang="es-419" sz="1400" strike="noStrike">
                <a:solidFill>
                  <a:srgbClr val="000000"/>
                </a:solidFill>
                <a:latin typeface="Arial"/>
                <a:ea typeface="Arial"/>
                <a:cs typeface="Arial"/>
                <a:sym typeface="Arial"/>
              </a:rPr>
              <a:t>Generalmente surge de calcular algún agregado del grupo al que corresponde el rectángulo.</a:t>
            </a:r>
            <a:endParaRPr b="0" sz="1400" strike="noStrike">
              <a:latin typeface="Arial"/>
              <a:ea typeface="Arial"/>
              <a:cs typeface="Arial"/>
              <a:sym typeface="Arial"/>
            </a:endParaRPr>
          </a:p>
        </p:txBody>
      </p:sp>
      <p:sp>
        <p:nvSpPr>
          <p:cNvPr id="793" name="Google Shape;793;p74"/>
          <p:cNvSpPr/>
          <p:nvPr/>
        </p:nvSpPr>
        <p:spPr>
          <a:xfrm>
            <a:off x="3542400" y="990720"/>
            <a:ext cx="835560" cy="270000"/>
          </a:xfrm>
          <a:prstGeom prst="ellipse">
            <a:avLst/>
          </a:prstGeom>
          <a:noFill/>
          <a:ln cap="flat" cmpd="sng" w="1907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74"/>
          <p:cNvSpPr/>
          <p:nvPr/>
        </p:nvSpPr>
        <p:spPr>
          <a:xfrm flipH="1">
            <a:off x="1769760" y="1210680"/>
            <a:ext cx="2140920" cy="1650960"/>
          </a:xfrm>
          <a:custGeom>
            <a:rect b="b" l="l" r="r" t="t"/>
            <a:pathLst>
              <a:path extrusionOk="0" h="21600" w="21600">
                <a:moveTo>
                  <a:pt x="0" y="0"/>
                </a:moveTo>
                <a:lnTo>
                  <a:pt x="21600" y="21600"/>
                </a:lnTo>
              </a:path>
            </a:pathLst>
          </a:custGeom>
          <a:noFill/>
          <a:ln cap="flat" cmpd="sng" w="19075">
            <a:solidFill>
              <a:srgbClr val="595959"/>
            </a:solidFill>
            <a:prstDash val="solid"/>
            <a:round/>
            <a:headEnd len="sm" w="sm" type="none"/>
            <a:tailEnd len="med" w="med" type="triangle"/>
          </a:ln>
        </p:spPr>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75"/>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Series de tiempo</a:t>
            </a:r>
            <a:endParaRPr b="0" sz="3600" strike="noStrike">
              <a:latin typeface="Arial"/>
              <a:ea typeface="Arial"/>
              <a:cs typeface="Arial"/>
              <a:sym typeface="Arial"/>
            </a:endParaRPr>
          </a:p>
        </p:txBody>
      </p:sp>
      <p:pic>
        <p:nvPicPr>
          <p:cNvPr id="800" name="Google Shape;800;p75"/>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801" name="Google Shape;801;p75"/>
          <p:cNvPicPr preferRelativeResize="0"/>
          <p:nvPr/>
        </p:nvPicPr>
        <p:blipFill rotWithShape="1">
          <a:blip r:embed="rId4">
            <a:alphaModFix/>
          </a:blip>
          <a:srcRect b="0" l="0" r="0" t="0"/>
          <a:stretch/>
        </p:blipFill>
        <p:spPr>
          <a:xfrm>
            <a:off x="745200" y="945000"/>
            <a:ext cx="7653240" cy="400248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76"/>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Lineplot</a:t>
            </a:r>
            <a:endParaRPr b="0" sz="3600" strike="noStrike">
              <a:latin typeface="Arial"/>
              <a:ea typeface="Arial"/>
              <a:cs typeface="Arial"/>
              <a:sym typeface="Arial"/>
            </a:endParaRPr>
          </a:p>
        </p:txBody>
      </p:sp>
      <p:pic>
        <p:nvPicPr>
          <p:cNvPr id="807" name="Google Shape;807;p76"/>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808" name="Google Shape;808;p76"/>
          <p:cNvPicPr preferRelativeResize="0"/>
          <p:nvPr/>
        </p:nvPicPr>
        <p:blipFill rotWithShape="1">
          <a:blip r:embed="rId4">
            <a:alphaModFix/>
          </a:blip>
          <a:srcRect b="0" l="0" r="0" t="0"/>
          <a:stretch/>
        </p:blipFill>
        <p:spPr>
          <a:xfrm>
            <a:off x="545760" y="852120"/>
            <a:ext cx="8051760" cy="4002480"/>
          </a:xfrm>
          <a:prstGeom prst="rect">
            <a:avLst/>
          </a:prstGeom>
          <a:noFill/>
          <a:ln>
            <a:noFill/>
          </a:ln>
        </p:spPr>
      </p:pic>
      <p:sp>
        <p:nvSpPr>
          <p:cNvPr id="809" name="Google Shape;809;p76"/>
          <p:cNvSpPr/>
          <p:nvPr/>
        </p:nvSpPr>
        <p:spPr>
          <a:xfrm>
            <a:off x="0" y="4797000"/>
            <a:ext cx="8815680" cy="5299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lang="es-419" sz="1400" u="sng" strike="noStrike">
                <a:solidFill>
                  <a:schemeClr val="hlink"/>
                </a:solidFill>
                <a:latin typeface="Arial"/>
                <a:ea typeface="Arial"/>
                <a:cs typeface="Arial"/>
                <a:sym typeface="Arial"/>
                <a:hlinkClick r:id="rId5"/>
              </a:rPr>
              <a:t>https://trends.google.com.ar/trends/explore?date=2020-03-01%202020-08-26&amp;geo=AR&amp;q=cuarentena</a:t>
            </a:r>
            <a:endParaRPr b="0" sz="1400" strike="noStrike">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sp>
        <p:nvSpPr>
          <p:cNvPr id="814" name="Google Shape;814;p77"/>
          <p:cNvSpPr/>
          <p:nvPr/>
        </p:nvSpPr>
        <p:spPr>
          <a:xfrm>
            <a:off x="0" y="0"/>
            <a:ext cx="9143700" cy="8355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a:solidFill>
                  <a:srgbClr val="BD0000"/>
                </a:solidFill>
                <a:latin typeface="Open Sans"/>
                <a:ea typeface="Open Sans"/>
                <a:cs typeface="Open Sans"/>
                <a:sym typeface="Open Sans"/>
              </a:rPr>
              <a:t>Violin plots</a:t>
            </a:r>
            <a:endParaRPr b="0" sz="3600" strike="noStrike">
              <a:latin typeface="Arial"/>
              <a:ea typeface="Arial"/>
              <a:cs typeface="Arial"/>
              <a:sym typeface="Arial"/>
            </a:endParaRPr>
          </a:p>
        </p:txBody>
      </p:sp>
      <p:pic>
        <p:nvPicPr>
          <p:cNvPr id="815" name="Google Shape;815;p77"/>
          <p:cNvPicPr preferRelativeResize="0"/>
          <p:nvPr/>
        </p:nvPicPr>
        <p:blipFill rotWithShape="1">
          <a:blip r:embed="rId3">
            <a:alphaModFix/>
          </a:blip>
          <a:srcRect b="0" l="0" r="0" t="0"/>
          <a:stretch/>
        </p:blipFill>
        <p:spPr>
          <a:xfrm>
            <a:off x="8308080" y="0"/>
            <a:ext cx="835561" cy="835561"/>
          </a:xfrm>
          <a:prstGeom prst="rect">
            <a:avLst/>
          </a:prstGeom>
          <a:noFill/>
          <a:ln>
            <a:noFill/>
          </a:ln>
        </p:spPr>
      </p:pic>
      <p:pic>
        <p:nvPicPr>
          <p:cNvPr id="816" name="Google Shape;816;p77"/>
          <p:cNvPicPr preferRelativeResize="0"/>
          <p:nvPr/>
        </p:nvPicPr>
        <p:blipFill>
          <a:blip r:embed="rId4">
            <a:alphaModFix/>
          </a:blip>
          <a:stretch>
            <a:fillRect/>
          </a:stretch>
        </p:blipFill>
        <p:spPr>
          <a:xfrm>
            <a:off x="1250550" y="994312"/>
            <a:ext cx="6561309" cy="2989863"/>
          </a:xfrm>
          <a:prstGeom prst="rect">
            <a:avLst/>
          </a:prstGeom>
          <a:noFill/>
          <a:ln>
            <a:noFill/>
          </a:ln>
        </p:spPr>
      </p:pic>
      <p:sp>
        <p:nvSpPr>
          <p:cNvPr id="817" name="Google Shape;817;p77"/>
          <p:cNvSpPr txBox="1"/>
          <p:nvPr/>
        </p:nvSpPr>
        <p:spPr>
          <a:xfrm>
            <a:off x="191100" y="4142975"/>
            <a:ext cx="8680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Lato"/>
                <a:ea typeface="Lato"/>
                <a:cs typeface="Lato"/>
                <a:sym typeface="Lato"/>
              </a:rPr>
              <a:t>Es un diagrama de caja con un diagrama de densidad kernel rotado en cada lado.</a:t>
            </a:r>
            <a:endParaRPr>
              <a:latin typeface="Lato"/>
              <a:ea typeface="Lato"/>
              <a:cs typeface="Lato"/>
              <a:sym typeface="Lato"/>
            </a:endParaRPr>
          </a:p>
          <a:p>
            <a:pPr indent="0" lvl="0" marL="0" rtl="0" algn="l">
              <a:spcBef>
                <a:spcPts val="0"/>
              </a:spcBef>
              <a:spcAft>
                <a:spcPts val="0"/>
              </a:spcAft>
              <a:buNone/>
            </a:pPr>
            <a:r>
              <a:rPr lang="es-419">
                <a:latin typeface="Lato"/>
                <a:ea typeface="Lato"/>
                <a:cs typeface="Lato"/>
                <a:sym typeface="Lato"/>
              </a:rPr>
              <a:t>El diagrama de violín es similar a los diagramas de caja, excepto que también muestran la densidad de probabilidad de los datos en diferentes valores. </a:t>
            </a:r>
            <a:endParaRPr>
              <a:latin typeface="Lato"/>
              <a:ea typeface="Lato"/>
              <a:cs typeface="Lato"/>
              <a:sym typeface="Lato"/>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78"/>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Otros plots</a:t>
            </a:r>
            <a:endParaRPr b="0" sz="3600" strike="noStrike">
              <a:latin typeface="Arial"/>
              <a:ea typeface="Arial"/>
              <a:cs typeface="Arial"/>
              <a:sym typeface="Arial"/>
            </a:endParaRPr>
          </a:p>
        </p:txBody>
      </p:sp>
      <p:pic>
        <p:nvPicPr>
          <p:cNvPr id="823" name="Google Shape;823;p78"/>
          <p:cNvPicPr preferRelativeResize="0"/>
          <p:nvPr/>
        </p:nvPicPr>
        <p:blipFill rotWithShape="1">
          <a:blip r:embed="rId3">
            <a:alphaModFix/>
          </a:blip>
          <a:srcRect b="0" l="0" r="0" t="0"/>
          <a:stretch/>
        </p:blipFill>
        <p:spPr>
          <a:xfrm>
            <a:off x="8308080" y="0"/>
            <a:ext cx="835560" cy="835560"/>
          </a:xfrm>
          <a:prstGeom prst="rect">
            <a:avLst/>
          </a:prstGeom>
          <a:noFill/>
          <a:ln>
            <a:noFill/>
          </a:ln>
        </p:spPr>
      </p:pic>
      <p:pic>
        <p:nvPicPr>
          <p:cNvPr id="824" name="Google Shape;824;p78"/>
          <p:cNvPicPr preferRelativeResize="0"/>
          <p:nvPr/>
        </p:nvPicPr>
        <p:blipFill rotWithShape="1">
          <a:blip r:embed="rId4">
            <a:alphaModFix/>
          </a:blip>
          <a:srcRect b="0" l="0" r="0" t="0"/>
          <a:stretch/>
        </p:blipFill>
        <p:spPr>
          <a:xfrm>
            <a:off x="0" y="835920"/>
            <a:ext cx="1306080" cy="1306080"/>
          </a:xfrm>
          <a:prstGeom prst="rect">
            <a:avLst/>
          </a:prstGeom>
          <a:noFill/>
          <a:ln>
            <a:noFill/>
          </a:ln>
        </p:spPr>
      </p:pic>
      <p:pic>
        <p:nvPicPr>
          <p:cNvPr id="825" name="Google Shape;825;p78"/>
          <p:cNvPicPr preferRelativeResize="0"/>
          <p:nvPr/>
        </p:nvPicPr>
        <p:blipFill rotWithShape="1">
          <a:blip r:embed="rId5">
            <a:alphaModFix/>
          </a:blip>
          <a:srcRect b="0" l="0" r="0" t="0"/>
          <a:stretch/>
        </p:blipFill>
        <p:spPr>
          <a:xfrm>
            <a:off x="1306440" y="835920"/>
            <a:ext cx="1306080" cy="1306080"/>
          </a:xfrm>
          <a:prstGeom prst="rect">
            <a:avLst/>
          </a:prstGeom>
          <a:noFill/>
          <a:ln>
            <a:noFill/>
          </a:ln>
        </p:spPr>
      </p:pic>
      <p:pic>
        <p:nvPicPr>
          <p:cNvPr id="826" name="Google Shape;826;p78"/>
          <p:cNvPicPr preferRelativeResize="0"/>
          <p:nvPr/>
        </p:nvPicPr>
        <p:blipFill rotWithShape="1">
          <a:blip r:embed="rId6">
            <a:alphaModFix/>
          </a:blip>
          <a:srcRect b="0" l="0" r="0" t="0"/>
          <a:stretch/>
        </p:blipFill>
        <p:spPr>
          <a:xfrm>
            <a:off x="2612520" y="835920"/>
            <a:ext cx="1306080" cy="1306080"/>
          </a:xfrm>
          <a:prstGeom prst="rect">
            <a:avLst/>
          </a:prstGeom>
          <a:noFill/>
          <a:ln>
            <a:noFill/>
          </a:ln>
        </p:spPr>
      </p:pic>
      <p:pic>
        <p:nvPicPr>
          <p:cNvPr id="827" name="Google Shape;827;p78"/>
          <p:cNvPicPr preferRelativeResize="0"/>
          <p:nvPr/>
        </p:nvPicPr>
        <p:blipFill rotWithShape="1">
          <a:blip r:embed="rId7">
            <a:alphaModFix/>
          </a:blip>
          <a:srcRect b="0" l="0" r="0" t="0"/>
          <a:stretch/>
        </p:blipFill>
        <p:spPr>
          <a:xfrm>
            <a:off x="3918960" y="835920"/>
            <a:ext cx="1306080" cy="1306080"/>
          </a:xfrm>
          <a:prstGeom prst="rect">
            <a:avLst/>
          </a:prstGeom>
          <a:noFill/>
          <a:ln>
            <a:noFill/>
          </a:ln>
        </p:spPr>
      </p:pic>
      <p:pic>
        <p:nvPicPr>
          <p:cNvPr id="828" name="Google Shape;828;p78"/>
          <p:cNvPicPr preferRelativeResize="0"/>
          <p:nvPr/>
        </p:nvPicPr>
        <p:blipFill rotWithShape="1">
          <a:blip r:embed="rId8">
            <a:alphaModFix/>
          </a:blip>
          <a:srcRect b="0" l="0" r="0" t="0"/>
          <a:stretch/>
        </p:blipFill>
        <p:spPr>
          <a:xfrm>
            <a:off x="5225040" y="835920"/>
            <a:ext cx="1306080" cy="1306080"/>
          </a:xfrm>
          <a:prstGeom prst="rect">
            <a:avLst/>
          </a:prstGeom>
          <a:noFill/>
          <a:ln>
            <a:noFill/>
          </a:ln>
        </p:spPr>
      </p:pic>
      <p:pic>
        <p:nvPicPr>
          <p:cNvPr id="829" name="Google Shape;829;p78"/>
          <p:cNvPicPr preferRelativeResize="0"/>
          <p:nvPr/>
        </p:nvPicPr>
        <p:blipFill rotWithShape="1">
          <a:blip r:embed="rId9">
            <a:alphaModFix/>
          </a:blip>
          <a:srcRect b="0" l="0" r="0" t="0"/>
          <a:stretch/>
        </p:blipFill>
        <p:spPr>
          <a:xfrm>
            <a:off x="6531480" y="835920"/>
            <a:ext cx="1306080" cy="1306080"/>
          </a:xfrm>
          <a:prstGeom prst="rect">
            <a:avLst/>
          </a:prstGeom>
          <a:noFill/>
          <a:ln>
            <a:noFill/>
          </a:ln>
        </p:spPr>
      </p:pic>
      <p:pic>
        <p:nvPicPr>
          <p:cNvPr id="830" name="Google Shape;830;p78"/>
          <p:cNvPicPr preferRelativeResize="0"/>
          <p:nvPr/>
        </p:nvPicPr>
        <p:blipFill rotWithShape="1">
          <a:blip r:embed="rId10">
            <a:alphaModFix/>
          </a:blip>
          <a:srcRect b="0" l="0" r="0" t="0"/>
          <a:stretch/>
        </p:blipFill>
        <p:spPr>
          <a:xfrm>
            <a:off x="7837560" y="835920"/>
            <a:ext cx="1306080" cy="1306080"/>
          </a:xfrm>
          <a:prstGeom prst="rect">
            <a:avLst/>
          </a:prstGeom>
          <a:noFill/>
          <a:ln>
            <a:noFill/>
          </a:ln>
        </p:spPr>
      </p:pic>
      <p:pic>
        <p:nvPicPr>
          <p:cNvPr id="831" name="Google Shape;831;p78"/>
          <p:cNvPicPr preferRelativeResize="0"/>
          <p:nvPr/>
        </p:nvPicPr>
        <p:blipFill rotWithShape="1">
          <a:blip r:embed="rId11">
            <a:alphaModFix/>
          </a:blip>
          <a:srcRect b="0" l="0" r="0" t="0"/>
          <a:stretch/>
        </p:blipFill>
        <p:spPr>
          <a:xfrm>
            <a:off x="0" y="2142000"/>
            <a:ext cx="1306080" cy="1306080"/>
          </a:xfrm>
          <a:prstGeom prst="rect">
            <a:avLst/>
          </a:prstGeom>
          <a:noFill/>
          <a:ln>
            <a:noFill/>
          </a:ln>
        </p:spPr>
      </p:pic>
      <p:pic>
        <p:nvPicPr>
          <p:cNvPr id="832" name="Google Shape;832;p78"/>
          <p:cNvPicPr preferRelativeResize="0"/>
          <p:nvPr/>
        </p:nvPicPr>
        <p:blipFill rotWithShape="1">
          <a:blip r:embed="rId12">
            <a:alphaModFix/>
          </a:blip>
          <a:srcRect b="0" l="0" r="0" t="0"/>
          <a:stretch/>
        </p:blipFill>
        <p:spPr>
          <a:xfrm>
            <a:off x="1306440" y="2142000"/>
            <a:ext cx="1306080" cy="1306080"/>
          </a:xfrm>
          <a:prstGeom prst="rect">
            <a:avLst/>
          </a:prstGeom>
          <a:noFill/>
          <a:ln>
            <a:noFill/>
          </a:ln>
        </p:spPr>
      </p:pic>
      <p:pic>
        <p:nvPicPr>
          <p:cNvPr id="833" name="Google Shape;833;p78"/>
          <p:cNvPicPr preferRelativeResize="0"/>
          <p:nvPr/>
        </p:nvPicPr>
        <p:blipFill rotWithShape="1">
          <a:blip r:embed="rId13">
            <a:alphaModFix/>
          </a:blip>
          <a:srcRect b="0" l="0" r="0" t="0"/>
          <a:stretch/>
        </p:blipFill>
        <p:spPr>
          <a:xfrm>
            <a:off x="2612520" y="2142000"/>
            <a:ext cx="1306080" cy="1306080"/>
          </a:xfrm>
          <a:prstGeom prst="rect">
            <a:avLst/>
          </a:prstGeom>
          <a:noFill/>
          <a:ln>
            <a:noFill/>
          </a:ln>
        </p:spPr>
      </p:pic>
      <p:pic>
        <p:nvPicPr>
          <p:cNvPr id="834" name="Google Shape;834;p78"/>
          <p:cNvPicPr preferRelativeResize="0"/>
          <p:nvPr/>
        </p:nvPicPr>
        <p:blipFill rotWithShape="1">
          <a:blip r:embed="rId14">
            <a:alphaModFix/>
          </a:blip>
          <a:srcRect b="0" l="0" r="0" t="0"/>
          <a:stretch/>
        </p:blipFill>
        <p:spPr>
          <a:xfrm>
            <a:off x="3918960" y="2142000"/>
            <a:ext cx="1306080" cy="1306080"/>
          </a:xfrm>
          <a:prstGeom prst="rect">
            <a:avLst/>
          </a:prstGeom>
          <a:noFill/>
          <a:ln>
            <a:noFill/>
          </a:ln>
        </p:spPr>
      </p:pic>
      <p:pic>
        <p:nvPicPr>
          <p:cNvPr id="835" name="Google Shape;835;p78"/>
          <p:cNvPicPr preferRelativeResize="0"/>
          <p:nvPr/>
        </p:nvPicPr>
        <p:blipFill rotWithShape="1">
          <a:blip r:embed="rId15">
            <a:alphaModFix/>
          </a:blip>
          <a:srcRect b="0" l="0" r="0" t="0"/>
          <a:stretch/>
        </p:blipFill>
        <p:spPr>
          <a:xfrm>
            <a:off x="5225040" y="2142000"/>
            <a:ext cx="1306080" cy="1306080"/>
          </a:xfrm>
          <a:prstGeom prst="rect">
            <a:avLst/>
          </a:prstGeom>
          <a:noFill/>
          <a:ln>
            <a:noFill/>
          </a:ln>
        </p:spPr>
      </p:pic>
      <p:pic>
        <p:nvPicPr>
          <p:cNvPr id="836" name="Google Shape;836;p78"/>
          <p:cNvPicPr preferRelativeResize="0"/>
          <p:nvPr/>
        </p:nvPicPr>
        <p:blipFill rotWithShape="1">
          <a:blip r:embed="rId16">
            <a:alphaModFix/>
          </a:blip>
          <a:srcRect b="0" l="0" r="0" t="0"/>
          <a:stretch/>
        </p:blipFill>
        <p:spPr>
          <a:xfrm>
            <a:off x="6531480" y="2142000"/>
            <a:ext cx="1306080" cy="1306080"/>
          </a:xfrm>
          <a:prstGeom prst="rect">
            <a:avLst/>
          </a:prstGeom>
          <a:noFill/>
          <a:ln>
            <a:noFill/>
          </a:ln>
        </p:spPr>
      </p:pic>
      <p:pic>
        <p:nvPicPr>
          <p:cNvPr id="837" name="Google Shape;837;p78"/>
          <p:cNvPicPr preferRelativeResize="0"/>
          <p:nvPr/>
        </p:nvPicPr>
        <p:blipFill rotWithShape="1">
          <a:blip r:embed="rId17">
            <a:alphaModFix/>
          </a:blip>
          <a:srcRect b="0" l="0" r="0" t="0"/>
          <a:stretch/>
        </p:blipFill>
        <p:spPr>
          <a:xfrm>
            <a:off x="7837560" y="2142000"/>
            <a:ext cx="1306080" cy="1306080"/>
          </a:xfrm>
          <a:prstGeom prst="rect">
            <a:avLst/>
          </a:prstGeom>
          <a:noFill/>
          <a:ln>
            <a:noFill/>
          </a:ln>
        </p:spPr>
      </p:pic>
      <p:pic>
        <p:nvPicPr>
          <p:cNvPr id="838" name="Google Shape;838;p78"/>
          <p:cNvPicPr preferRelativeResize="0"/>
          <p:nvPr/>
        </p:nvPicPr>
        <p:blipFill rotWithShape="1">
          <a:blip r:embed="rId18">
            <a:alphaModFix/>
          </a:blip>
          <a:srcRect b="0" l="0" r="0" t="0"/>
          <a:stretch/>
        </p:blipFill>
        <p:spPr>
          <a:xfrm>
            <a:off x="0" y="3448440"/>
            <a:ext cx="1306080" cy="1306080"/>
          </a:xfrm>
          <a:prstGeom prst="rect">
            <a:avLst/>
          </a:prstGeom>
          <a:noFill/>
          <a:ln>
            <a:noFill/>
          </a:ln>
        </p:spPr>
      </p:pic>
      <p:pic>
        <p:nvPicPr>
          <p:cNvPr id="839" name="Google Shape;839;p78"/>
          <p:cNvPicPr preferRelativeResize="0"/>
          <p:nvPr/>
        </p:nvPicPr>
        <p:blipFill rotWithShape="1">
          <a:blip r:embed="rId19">
            <a:alphaModFix/>
          </a:blip>
          <a:srcRect b="0" l="0" r="0" t="0"/>
          <a:stretch/>
        </p:blipFill>
        <p:spPr>
          <a:xfrm>
            <a:off x="1306440" y="3448440"/>
            <a:ext cx="1306080" cy="1306080"/>
          </a:xfrm>
          <a:prstGeom prst="rect">
            <a:avLst/>
          </a:prstGeom>
          <a:noFill/>
          <a:ln>
            <a:noFill/>
          </a:ln>
        </p:spPr>
      </p:pic>
      <p:pic>
        <p:nvPicPr>
          <p:cNvPr id="840" name="Google Shape;840;p78"/>
          <p:cNvPicPr preferRelativeResize="0"/>
          <p:nvPr/>
        </p:nvPicPr>
        <p:blipFill rotWithShape="1">
          <a:blip r:embed="rId20">
            <a:alphaModFix/>
          </a:blip>
          <a:srcRect b="0" l="0" r="0" t="0"/>
          <a:stretch/>
        </p:blipFill>
        <p:spPr>
          <a:xfrm>
            <a:off x="2612520" y="3448440"/>
            <a:ext cx="1306080" cy="1306080"/>
          </a:xfrm>
          <a:prstGeom prst="rect">
            <a:avLst/>
          </a:prstGeom>
          <a:noFill/>
          <a:ln>
            <a:noFill/>
          </a:ln>
        </p:spPr>
      </p:pic>
      <p:pic>
        <p:nvPicPr>
          <p:cNvPr id="841" name="Google Shape;841;p78"/>
          <p:cNvPicPr preferRelativeResize="0"/>
          <p:nvPr/>
        </p:nvPicPr>
        <p:blipFill rotWithShape="1">
          <a:blip r:embed="rId21">
            <a:alphaModFix/>
          </a:blip>
          <a:srcRect b="0" l="0" r="0" t="0"/>
          <a:stretch/>
        </p:blipFill>
        <p:spPr>
          <a:xfrm>
            <a:off x="3918960" y="3448440"/>
            <a:ext cx="1306080" cy="1306080"/>
          </a:xfrm>
          <a:prstGeom prst="rect">
            <a:avLst/>
          </a:prstGeom>
          <a:noFill/>
          <a:ln>
            <a:noFill/>
          </a:ln>
        </p:spPr>
      </p:pic>
      <p:pic>
        <p:nvPicPr>
          <p:cNvPr id="842" name="Google Shape;842;p78"/>
          <p:cNvPicPr preferRelativeResize="0"/>
          <p:nvPr/>
        </p:nvPicPr>
        <p:blipFill rotWithShape="1">
          <a:blip r:embed="rId22">
            <a:alphaModFix/>
          </a:blip>
          <a:srcRect b="0" l="0" r="0" t="0"/>
          <a:stretch/>
        </p:blipFill>
        <p:spPr>
          <a:xfrm>
            <a:off x="5225040" y="3448440"/>
            <a:ext cx="1306080" cy="1306080"/>
          </a:xfrm>
          <a:prstGeom prst="rect">
            <a:avLst/>
          </a:prstGeom>
          <a:noFill/>
          <a:ln>
            <a:noFill/>
          </a:ln>
        </p:spPr>
      </p:pic>
      <p:pic>
        <p:nvPicPr>
          <p:cNvPr id="843" name="Google Shape;843;p78"/>
          <p:cNvPicPr preferRelativeResize="0"/>
          <p:nvPr/>
        </p:nvPicPr>
        <p:blipFill rotWithShape="1">
          <a:blip r:embed="rId23">
            <a:alphaModFix/>
          </a:blip>
          <a:srcRect b="0" l="0" r="0" t="0"/>
          <a:stretch/>
        </p:blipFill>
        <p:spPr>
          <a:xfrm>
            <a:off x="6531480" y="3448440"/>
            <a:ext cx="1306080" cy="1306080"/>
          </a:xfrm>
          <a:prstGeom prst="rect">
            <a:avLst/>
          </a:prstGeom>
          <a:noFill/>
          <a:ln>
            <a:noFill/>
          </a:ln>
        </p:spPr>
      </p:pic>
      <p:pic>
        <p:nvPicPr>
          <p:cNvPr id="844" name="Google Shape;844;p78"/>
          <p:cNvPicPr preferRelativeResize="0"/>
          <p:nvPr/>
        </p:nvPicPr>
        <p:blipFill rotWithShape="1">
          <a:blip r:embed="rId24">
            <a:alphaModFix/>
          </a:blip>
          <a:srcRect b="0" l="0" r="0" t="0"/>
          <a:stretch/>
        </p:blipFill>
        <p:spPr>
          <a:xfrm>
            <a:off x="7837560" y="3448440"/>
            <a:ext cx="1306080" cy="1306080"/>
          </a:xfrm>
          <a:prstGeom prst="rect">
            <a:avLst/>
          </a:prstGeom>
          <a:noFill/>
          <a:ln>
            <a:noFill/>
          </a:ln>
        </p:spPr>
      </p:pic>
      <p:sp>
        <p:nvSpPr>
          <p:cNvPr id="845" name="Google Shape;845;p78"/>
          <p:cNvSpPr/>
          <p:nvPr/>
        </p:nvSpPr>
        <p:spPr>
          <a:xfrm>
            <a:off x="0" y="4673150"/>
            <a:ext cx="4343100" cy="470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lang="es-419" sz="2000" u="sng" strike="noStrike">
                <a:solidFill>
                  <a:schemeClr val="hlink"/>
                </a:solidFill>
                <a:latin typeface="Open Sans"/>
                <a:ea typeface="Open Sans"/>
                <a:cs typeface="Open Sans"/>
                <a:sym typeface="Open Sans"/>
                <a:hlinkClick r:id="rId25"/>
              </a:rPr>
              <a:t>https://python-graph-gallery.com/</a:t>
            </a:r>
            <a:endParaRPr b="0" sz="2000" strike="noStrike">
              <a:latin typeface="Arial"/>
              <a:ea typeface="Arial"/>
              <a:cs typeface="Arial"/>
              <a:sym typeface="Arial"/>
            </a:endParaRPr>
          </a:p>
        </p:txBody>
      </p:sp>
      <p:sp>
        <p:nvSpPr>
          <p:cNvPr id="846" name="Google Shape;846;p78"/>
          <p:cNvSpPr txBox="1"/>
          <p:nvPr/>
        </p:nvSpPr>
        <p:spPr>
          <a:xfrm>
            <a:off x="5193250" y="4661900"/>
            <a:ext cx="3950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2000" u="sng">
                <a:solidFill>
                  <a:schemeClr val="hlink"/>
                </a:solidFill>
                <a:hlinkClick r:id="rId26"/>
              </a:rPr>
              <a:t>https://datavizproject.com/</a:t>
            </a:r>
            <a:endParaRPr sz="2000"/>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p79"/>
          <p:cNvSpPr/>
          <p:nvPr/>
        </p:nvSpPr>
        <p:spPr>
          <a:xfrm>
            <a:off x="0" y="0"/>
            <a:ext cx="9143640" cy="83556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600" strike="noStrike">
                <a:solidFill>
                  <a:srgbClr val="BD0000"/>
                </a:solidFill>
                <a:latin typeface="Open Sans"/>
                <a:ea typeface="Open Sans"/>
                <a:cs typeface="Open Sans"/>
                <a:sym typeface="Open Sans"/>
              </a:rPr>
              <a:t>Más material</a:t>
            </a:r>
            <a:endParaRPr b="0" sz="3600" strike="noStrike">
              <a:latin typeface="Arial"/>
              <a:ea typeface="Arial"/>
              <a:cs typeface="Arial"/>
              <a:sym typeface="Arial"/>
            </a:endParaRPr>
          </a:p>
        </p:txBody>
      </p:sp>
      <p:pic>
        <p:nvPicPr>
          <p:cNvPr id="852" name="Google Shape;852;p79"/>
          <p:cNvPicPr preferRelativeResize="0"/>
          <p:nvPr/>
        </p:nvPicPr>
        <p:blipFill rotWithShape="1">
          <a:blip r:embed="rId3">
            <a:alphaModFix/>
          </a:blip>
          <a:srcRect b="0" l="0" r="0" t="0"/>
          <a:stretch/>
        </p:blipFill>
        <p:spPr>
          <a:xfrm>
            <a:off x="8308080" y="0"/>
            <a:ext cx="835560" cy="835560"/>
          </a:xfrm>
          <a:prstGeom prst="rect">
            <a:avLst/>
          </a:prstGeom>
          <a:noFill/>
          <a:ln>
            <a:noFill/>
          </a:ln>
        </p:spPr>
      </p:pic>
      <p:sp>
        <p:nvSpPr>
          <p:cNvPr id="853" name="Google Shape;853;p79"/>
          <p:cNvSpPr/>
          <p:nvPr/>
        </p:nvSpPr>
        <p:spPr>
          <a:xfrm>
            <a:off x="206640" y="1028880"/>
            <a:ext cx="8575920" cy="1707840"/>
          </a:xfrm>
          <a:prstGeom prst="rect">
            <a:avLst/>
          </a:prstGeom>
          <a:noFill/>
          <a:ln>
            <a:noFill/>
          </a:ln>
        </p:spPr>
        <p:txBody>
          <a:bodyPr anchorCtr="0" anchor="t" bIns="91425" lIns="91425" spcFirstLastPara="1" rIns="91425" wrap="square" tIns="91425">
            <a:noAutofit/>
          </a:bodyPr>
          <a:lstStyle/>
          <a:p>
            <a:pPr indent="-355320" lvl="0" marL="457200" marR="0" rtl="0" algn="l">
              <a:lnSpc>
                <a:spcPct val="100000"/>
              </a:lnSpc>
              <a:spcBef>
                <a:spcPts val="0"/>
              </a:spcBef>
              <a:spcAft>
                <a:spcPts val="0"/>
              </a:spcAft>
              <a:buClr>
                <a:srgbClr val="000000"/>
              </a:buClr>
              <a:buSzPts val="2000"/>
              <a:buFont typeface="Open Sans"/>
              <a:buChar char="●"/>
            </a:pPr>
            <a:r>
              <a:rPr b="0" lang="es-419" sz="2000" strike="noStrike">
                <a:solidFill>
                  <a:srgbClr val="000000"/>
                </a:solidFill>
                <a:latin typeface="Open Sans"/>
                <a:ea typeface="Open Sans"/>
                <a:cs typeface="Open Sans"/>
                <a:sym typeface="Open Sans"/>
              </a:rPr>
              <a:t>“Everything we know about how humans interpret graphics”, Kennedy Elliot. </a:t>
            </a:r>
            <a:r>
              <a:rPr b="0" lang="es-419" sz="2000" u="sng" strike="noStrike">
                <a:solidFill>
                  <a:schemeClr val="hlink"/>
                </a:solidFill>
                <a:latin typeface="Open Sans"/>
                <a:ea typeface="Open Sans"/>
                <a:cs typeface="Open Sans"/>
                <a:sym typeface="Open Sans"/>
                <a:hlinkClick r:id="rId4"/>
              </a:rPr>
              <a:t>https://www.youtube.com/watch?v=s0J6EDvlN30</a:t>
            </a:r>
            <a:endParaRPr b="0" sz="2000" strike="noStrike">
              <a:latin typeface="Arial"/>
              <a:ea typeface="Arial"/>
              <a:cs typeface="Arial"/>
              <a:sym typeface="Arial"/>
            </a:endParaRPr>
          </a:p>
          <a:p>
            <a:pPr indent="0" lvl="0" marL="0" marR="0" rtl="0" algn="l">
              <a:lnSpc>
                <a:spcPct val="100000"/>
              </a:lnSpc>
              <a:spcBef>
                <a:spcPts val="0"/>
              </a:spcBef>
              <a:spcAft>
                <a:spcPts val="0"/>
              </a:spcAft>
              <a:buNone/>
            </a:pPr>
            <a:r>
              <a:t/>
            </a:r>
            <a:endParaRPr b="0" sz="2000" strike="noStrike">
              <a:latin typeface="Arial"/>
              <a:ea typeface="Arial"/>
              <a:cs typeface="Arial"/>
              <a:sym typeface="Arial"/>
            </a:endParaRPr>
          </a:p>
          <a:p>
            <a:pPr indent="-355320" lvl="0" marL="457200" marR="0" rtl="0" algn="l">
              <a:lnSpc>
                <a:spcPct val="100000"/>
              </a:lnSpc>
              <a:spcBef>
                <a:spcPts val="0"/>
              </a:spcBef>
              <a:spcAft>
                <a:spcPts val="0"/>
              </a:spcAft>
              <a:buClr>
                <a:srgbClr val="000000"/>
              </a:buClr>
              <a:buSzPts val="2000"/>
              <a:buFont typeface="Open Sans"/>
              <a:buChar char="●"/>
            </a:pPr>
            <a:r>
              <a:rPr b="0" lang="es-419" sz="2000" strike="noStrike">
                <a:solidFill>
                  <a:srgbClr val="000000"/>
                </a:solidFill>
                <a:latin typeface="Open Sans"/>
                <a:ea typeface="Open Sans"/>
                <a:cs typeface="Open Sans"/>
                <a:sym typeface="Open Sans"/>
              </a:rPr>
              <a:t>Tufte, Edward R., 1942-. (2001). The visual display of quantitative information.</a:t>
            </a:r>
            <a:endParaRPr b="0" sz="2000" strike="noStrike">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